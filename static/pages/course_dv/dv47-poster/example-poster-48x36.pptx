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Effect on gift price</c:v>
                </c:pt>
              </c:strCache>
            </c:strRef>
          </c:tx>
          <c:dPt>
            <c:idx val="0"/>
            <c:spPr>
              <a:solidFill>
                <a:srgbClr val="BBBBBB"/>
              </a:solidFill>
              <a:ln>
                <a:noFill/>
              </a:ln>
            </c:spPr>
          </c:dPt>
          <c:dPt>
            <c:idx val="1"/>
            <c:spPr>
              <a:solidFill>
                <a:srgbClr val="0F5FA6"/>
              </a:solidFill>
              <a:ln>
                <a:noFill/>
              </a:ln>
            </c:spPr>
          </c:dPt>
          <c:dPt>
            <c:idx val="2"/>
            <c:spPr>
              <a:solidFill>
                <a:srgbClr val="BBBBBB"/>
              </a:solidFill>
              <a:ln>
                <a:noFill/>
              </a:ln>
            </c:spPr>
          </c:dPt>
          <c:dPt>
            <c:idx val="3"/>
            <c:spPr>
              <a:solidFill>
                <a:srgbClr val="BBBBBB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Each day closer
to 25 Dec</c:v>
                </c:pt>
                <c:pt idx="1">
                  <c:v>Santa label</c:v>
                </c:pt>
                <c:pt idx="2">
                  <c:v>Toy (vs. game)</c:v>
                </c:pt>
                <c:pt idx="3">
                  <c:v>Doll (vs. game)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0.09</c:v>
                </c:pt>
                <c:pt idx="1">
                  <c:v>0.42</c:v>
                </c:pt>
                <c:pt idx="2">
                  <c:v>4.3</c:v>
                </c:pt>
                <c:pt idx="3">
                  <c:v>12.1</c:v>
                </c:pt>
              </c:numCache>
            </c:numRef>
          </c:val>
        </c:ser>
        <c:dLbls>
          <c:numFmt formatCode="&quot;$&quot;#,##0.00" sourceLinked="0"/>
          <c:txPr>
            <a:bodyPr/>
            <a:lstStyle/>
            <a:p>
              <a:pPr>
                <a:defRPr sz="2600" b="1">
                  <a:solidFill>
                    <a:srgbClr val="222222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BBBBB"/>
            </a:solidFill>
          </a:ln>
        </c:spPr>
        <c:txPr>
          <a:bodyPr/>
          <a:lstStyle/>
          <a:p>
            <a:pPr>
              <a:defRPr sz="260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numFmt formatCode="&quot;$&quot;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2200">
                <a:solidFill>
                  <a:srgbClr val="666666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24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97280"/>
            <a:ext cx="41148000" cy="4023360"/>
          </a:xfrm>
          <a:prstGeom prst="rect">
            <a:avLst/>
          </a:prstGeom>
          <a:solidFill>
            <a:srgbClr val="0F5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spcAft>
                <a:spcPts val="600"/>
              </a:spcAft>
            </a:pPr>
            <a:r>
              <a:rPr sz="9600" b="1" i="0">
                <a:solidFill>
                  <a:srgbClr val="FFFFFF"/>
                </a:solidFill>
                <a:latin typeface="Calibri"/>
              </a:rPr>
              <a:t>Santa's Gifts Cost the Same as Ours</a:t>
            </a:r>
          </a:p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CFE0F0"/>
                </a:solidFill>
                <a:latin typeface="Calibri"/>
              </a:rPr>
              <a:t>Nathan Garrett  ·  Accounting and Information Systems  ·  West Virginia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5577840"/>
            <a:ext cx="41148000" cy="2286000"/>
          </a:xfrm>
          <a:prstGeom prst="rect">
            <a:avLst/>
          </a:prstGeom>
          <a:solidFill>
            <a:srgbClr val="DCE9F5"/>
          </a:solidFill>
          <a:ln w="38100">
            <a:solidFill>
              <a:srgbClr val="0F5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spcAft>
                <a:spcPts val="0"/>
              </a:spcAft>
            </a:pPr>
            <a:r>
              <a:rPr sz="4600" b="1" i="0">
                <a:solidFill>
                  <a:srgbClr val="0F5FA6"/>
                </a:solidFill>
                <a:latin typeface="Calibri"/>
              </a:rPr>
              <a:t>Gifts labeled from Santa cost $0.42 more than gifts labeled from parents — 1.2% of the average gift. Detectable, but meaningless.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8595360"/>
            <a:ext cx="12801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0F5FA6"/>
                </a:solidFill>
                <a:latin typeface="Calibri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692640"/>
            <a:ext cx="12801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Do gifts attributed to Santa differ in price from the gifts parents claim for themselves? If Santa were subsidizing Christmas, his gifts should be priced differently.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801600"/>
            <a:ext cx="12801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0F5FA6"/>
                </a:solidFill>
                <a:latin typeface="Calibri"/>
              </a:rPr>
              <a:t>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898880"/>
            <a:ext cx="128016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•  3,048,112 Amazon and Target orders, 1 Nov – 24 Dec, 2020–2021</a:t>
            </a:r>
          </a:p>
          <a:p>
            <a:pPr algn="l">
              <a:spcAft>
                <a:spcPts val="120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•  412,006 orders dropped for blank gift messages</a:t>
            </a:r>
          </a:p>
          <a:p>
            <a:pPr algn="l">
              <a:spcAft>
                <a:spcPts val="120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•  30,114 Hanukkah-related orders excluded as out of scope</a:t>
            </a:r>
          </a:p>
          <a:p>
            <a:pPr algn="l">
              <a:spcAft>
                <a:spcPts val="120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•  Analysis set: 2,605,992 orders</a:t>
            </a:r>
          </a:p>
          <a:p>
            <a:pPr algn="l">
              <a:spcAft>
                <a:spcPts val="120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•  Mean gift price $34.18 (SD $14.90)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568160"/>
            <a:ext cx="12801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0F5FA6"/>
                </a:solidFill>
                <a:latin typeface="Calibri"/>
              </a:rPr>
              <a:t>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665440"/>
            <a:ext cx="12801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Ordinary least squares predicting sale price in dollars from the giver label, item type, and days until Christmas. The outcome is continuous, so OLS and R² are the right tools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957280"/>
            <a:ext cx="12801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0F5FA6"/>
                </a:solidFill>
                <a:latin typeface="Calibri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054560"/>
            <a:ext cx="12801600" cy="5852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•  Gift messages record who a gift claims to be from, not who paid</a:t>
            </a:r>
          </a:p>
          <a:p>
            <a:pPr algn="l">
              <a:spcAft>
                <a:spcPts val="140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•  The 412,006 dropped orders may differ systematically</a:t>
            </a:r>
          </a:p>
          <a:p>
            <a:pPr algn="l">
              <a:spcAft>
                <a:spcPts val="140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•  Two general retailers; specialty toy stores are absent</a:t>
            </a:r>
          </a:p>
          <a:p>
            <a:pPr algn="l">
              <a:spcAft>
                <a:spcPts val="140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•  Observational data. No causal claim is made.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0" y="8595360"/>
            <a:ext cx="1600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0F5FA6"/>
                </a:solidFill>
                <a:latin typeface="Calibri"/>
              </a:rPr>
              <a:t>Results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15544800" y="9692640"/>
          <a:ext cx="16002000" cy="1408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5544800" y="24048720"/>
            <a:ext cx="1600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 i="1">
                <a:solidFill>
                  <a:srgbClr val="666666"/>
                </a:solidFill>
                <a:latin typeface="Calibri"/>
              </a:rPr>
              <a:t>Figure 1. Item type sets the price. The Santa label barely registers.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0" y="25786080"/>
            <a:ext cx="16002000" cy="4572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 bIns="365760"/>
          <a:lstStyle/>
          <a:p>
            <a:pPr algn="l">
              <a:spcAft>
                <a:spcPts val="1400"/>
              </a:spcAft>
            </a:pPr>
            <a:r>
              <a:rPr sz="3000" b="1" i="0">
                <a:solidFill>
                  <a:srgbClr val="0F5FA6"/>
                </a:solidFill>
                <a:latin typeface="Calibri"/>
              </a:rPr>
              <a:t>R² = 0.56   ·   RMSE = $9.20   ·   n = 2,605,992</a:t>
            </a:r>
          </a:p>
          <a:p>
            <a:pPr algn="l">
              <a:spcAft>
                <a:spcPts val="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The Santa coefficient is $0.42 (SE $0.011, p &lt; 0.001). With 2.6 million observations even a trivial effect clears any significance threshold — which is exactly why the p-value is the wrong number to read 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0" y="859536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0F5FA6"/>
                </a:solidFill>
                <a:latin typeface="Calibri"/>
              </a:rPr>
              <a:t>What It Means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0" y="9692640"/>
            <a:ext cx="96012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Santa's gifts are priced exactly like the ones parents buy, which is what we would expect if parents were buying them. The Grinch hypothesis survives.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0" y="1517904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0F5FA6"/>
                </a:solidFill>
                <a:latin typeface="Calibri"/>
              </a:rPr>
              <a:t>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0" y="16276320"/>
            <a:ext cx="9601200" cy="594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0" i="0">
                <a:solidFill>
                  <a:srgbClr val="222222"/>
                </a:solidFill>
                <a:latin typeface="Calibri"/>
              </a:rPr>
              <a:t>Do not segment holiday inventory or pricing on the giver label. Item type and order timing explain nearly all of the variation and are already captured in existing systems.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0" y="2249424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0F5FA6"/>
                </a:solidFill>
                <a:latin typeface="Calibri"/>
              </a:rPr>
              <a:t>References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0" y="23591520"/>
            <a:ext cx="9601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66666"/>
                </a:solidFill>
                <a:latin typeface="Calibri"/>
              </a:rPr>
              <a:t>Order extract via data request #4471. Not publicly available.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66666"/>
                </a:solidFill>
                <a:latin typeface="Calibri"/>
              </a:rPr>
              <a:t>R 4.4.1, lm() from stats. Figures built in Tableau 2024.2.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66666"/>
                </a:solidFill>
                <a:latin typeface="Calibri"/>
              </a:rPr>
              <a:t>ChatGPT (GPT-4o, 15 Jul 2026) debugged the date parser. Output checked against source.</a:t>
            </a:r>
          </a:p>
        </p:txBody>
      </p:sp>
      <p:pic>
        <p:nvPicPr>
          <p:cNvPr id="22" name="Picture 21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0" y="27797760"/>
            <a:ext cx="2560320" cy="2560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844480" y="28712160"/>
            <a:ext cx="6675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F5FA6"/>
                </a:solidFill>
                <a:latin typeface="Calibri"/>
              </a:rPr>
              <a:t>Full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