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2"/>
  </p:normalViewPr>
  <p:slideViewPr>
    <p:cSldViewPr snapToGrid="0" snapToObjects="1">
      <p:cViewPr varScale="1">
        <p:scale>
          <a:sx n="30" d="100"/>
          <a:sy n="30" d="100"/>
        </p:scale>
        <p:origin x="2600" y="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Effect on gift price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BBBB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1F8-CF44-B0C0-4523C6256ABF}"/>
              </c:ext>
            </c:extLst>
          </c:dPt>
          <c:dPt>
            <c:idx val="1"/>
            <c:invertIfNegative val="1"/>
            <c:bubble3D val="0"/>
            <c:spPr>
              <a:solidFill>
                <a:srgbClr val="0F5FA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1F8-CF44-B0C0-4523C6256ABF}"/>
              </c:ext>
            </c:extLst>
          </c:dPt>
          <c:dPt>
            <c:idx val="2"/>
            <c:invertIfNegative val="1"/>
            <c:bubble3D val="0"/>
            <c:spPr>
              <a:solidFill>
                <a:srgbClr val="BBBBB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C1F8-CF44-B0C0-4523C6256ABF}"/>
              </c:ext>
            </c:extLst>
          </c:dPt>
          <c:dPt>
            <c:idx val="3"/>
            <c:invertIfNegative val="1"/>
            <c:bubble3D val="0"/>
            <c:spPr>
              <a:solidFill>
                <a:srgbClr val="BBBBB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C1F8-CF44-B0C0-4523C6256ABF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Each day closer
to 25 Dec</c:v>
                </c:pt>
                <c:pt idx="1">
                  <c:v>Santa label</c:v>
                </c:pt>
                <c:pt idx="2">
                  <c:v>Toy (vs. game)</c:v>
                </c:pt>
                <c:pt idx="3">
                  <c:v>Doll (vs. game)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0.09</c:v>
                </c:pt>
                <c:pt idx="1">
                  <c:v>0.42</c:v>
                </c:pt>
                <c:pt idx="2">
                  <c:v>4.3</c:v>
                </c:pt>
                <c:pt idx="3">
                  <c:v>12.1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1F8-CF44-B0C0-4523C6256A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4000">
                <a:solidFill>
                  <a:srgbClr val="222222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numFmt formatCode="&quot;$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4400">
                <a:solidFill>
                  <a:srgbClr val="666666"/>
                </a:solidFill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24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73A0F-D950-784E-9296-00E69C377436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456F3-6FBD-E749-9920-17BD4DF4B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54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9456F3-6FBD-E749-9920-17BD4DF4BA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440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1097280"/>
            <a:ext cx="41148000" cy="4023360"/>
          </a:xfrm>
          <a:prstGeom prst="rect">
            <a:avLst/>
          </a:prstGeom>
          <a:solidFill>
            <a:srgbClr val="0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>
              <a:spcAft>
                <a:spcPts val="600"/>
              </a:spcAft>
            </a:pPr>
            <a:r>
              <a:rPr sz="9500" b="1" i="0" dirty="0">
                <a:solidFill>
                  <a:srgbClr val="FFFFFF"/>
                </a:solidFill>
                <a:latin typeface="Calibri"/>
              </a:rPr>
              <a:t>Santa's Gifts Cost the Same as Ours</a:t>
            </a:r>
          </a:p>
          <a:p>
            <a:pPr algn="ctr">
              <a:spcAft>
                <a:spcPts val="0"/>
              </a:spcAft>
            </a:pPr>
            <a:r>
              <a:rPr lang="en-US" sz="7000" b="0" i="0" dirty="0">
                <a:solidFill>
                  <a:srgbClr val="CFE0F0"/>
                </a:solidFill>
                <a:latin typeface="Calibri"/>
              </a:rPr>
              <a:t>Bob Smith,</a:t>
            </a:r>
            <a:r>
              <a:rPr sz="7000" b="0" i="0" dirty="0">
                <a:solidFill>
                  <a:srgbClr val="CFE0F0"/>
                </a:solidFill>
                <a:latin typeface="Calibri"/>
              </a:rPr>
              <a:t> </a:t>
            </a:r>
            <a:r>
              <a:rPr lang="en-US" sz="7000" b="0" i="0" dirty="0" err="1">
                <a:solidFill>
                  <a:srgbClr val="CFE0F0"/>
                </a:solidFill>
                <a:latin typeface="Calibri"/>
              </a:rPr>
              <a:t>bsmith@mail.wvu.edu</a:t>
            </a:r>
            <a:r>
              <a:rPr lang="en-US" sz="7000" dirty="0">
                <a:solidFill>
                  <a:srgbClr val="CFE0F0"/>
                </a:solidFill>
                <a:latin typeface="Calibri"/>
              </a:rPr>
              <a:t>,</a:t>
            </a:r>
            <a:r>
              <a:rPr lang="en-US" sz="7000" b="0" i="0" dirty="0">
                <a:solidFill>
                  <a:srgbClr val="CFE0F0"/>
                </a:solidFill>
                <a:latin typeface="Calibri"/>
              </a:rPr>
              <a:t> </a:t>
            </a:r>
            <a:r>
              <a:rPr sz="7000" b="0" i="0" dirty="0">
                <a:solidFill>
                  <a:srgbClr val="CFE0F0"/>
                </a:solidFill>
                <a:latin typeface="Calibri"/>
              </a:rPr>
              <a:t>West Virginia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5577840"/>
            <a:ext cx="41148000" cy="2286000"/>
          </a:xfrm>
          <a:prstGeom prst="rect">
            <a:avLst/>
          </a:prstGeom>
          <a:solidFill>
            <a:srgbClr val="DCE9F5"/>
          </a:solidFill>
          <a:ln w="38100">
            <a:solidFill>
              <a:srgbClr val="0F5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>
              <a:spcAft>
                <a:spcPts val="0"/>
              </a:spcAft>
            </a:pPr>
            <a:r>
              <a:rPr sz="4600" b="1" i="0" dirty="0">
                <a:solidFill>
                  <a:srgbClr val="0F5FA6"/>
                </a:solidFill>
                <a:latin typeface="Calibri"/>
              </a:rPr>
              <a:t>Gifts labeled from </a:t>
            </a:r>
            <a:r>
              <a:rPr sz="6000" b="1" i="0" dirty="0">
                <a:solidFill>
                  <a:srgbClr val="0F5FA6"/>
                </a:solidFill>
                <a:latin typeface="Calibri"/>
              </a:rPr>
              <a:t>Santa</a:t>
            </a:r>
            <a:r>
              <a:rPr sz="4600" b="1" i="0" dirty="0">
                <a:solidFill>
                  <a:srgbClr val="0F5FA6"/>
                </a:solidFill>
                <a:latin typeface="Calibri"/>
              </a:rPr>
              <a:t> cost $0.42 more </a:t>
            </a:r>
            <a:r>
              <a:rPr lang="en-US" sz="4600" b="1" i="0" dirty="0">
                <a:solidFill>
                  <a:srgbClr val="0F5FA6"/>
                </a:solidFill>
                <a:latin typeface="Calibri"/>
              </a:rPr>
              <a:t>then parents (</a:t>
            </a:r>
            <a:r>
              <a:rPr sz="4600" b="1" i="0" dirty="0">
                <a:solidFill>
                  <a:srgbClr val="0F5FA6"/>
                </a:solidFill>
                <a:latin typeface="Calibri"/>
              </a:rPr>
              <a:t>1.2%</a:t>
            </a:r>
            <a:r>
              <a:rPr lang="en-US" sz="4600" b="1" i="0" dirty="0">
                <a:solidFill>
                  <a:srgbClr val="0F5FA6"/>
                </a:solidFill>
                <a:latin typeface="Calibri"/>
              </a:rPr>
              <a:t>)</a:t>
            </a:r>
            <a:r>
              <a:rPr sz="4600" b="1" i="0" dirty="0">
                <a:solidFill>
                  <a:srgbClr val="0F5FA6"/>
                </a:solidFill>
                <a:latin typeface="Calibri"/>
              </a:rPr>
              <a:t>. </a:t>
            </a:r>
            <a:r>
              <a:rPr lang="en-US" sz="4600" b="1" i="0" dirty="0">
                <a:solidFill>
                  <a:srgbClr val="0F5FA6"/>
                </a:solidFill>
                <a:latin typeface="Calibri"/>
              </a:rPr>
              <a:t>Differences are statistically significant</a:t>
            </a:r>
            <a:r>
              <a:rPr sz="4600" b="1" i="0" dirty="0">
                <a:solidFill>
                  <a:srgbClr val="0F5FA6"/>
                </a:solidFill>
                <a:latin typeface="Calibri"/>
              </a:rPr>
              <a:t>, but meaningless.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595360"/>
            <a:ext cx="12801600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500" b="1" i="0" dirty="0">
                <a:solidFill>
                  <a:srgbClr val="0F5FA6"/>
                </a:solidFill>
                <a:latin typeface="Calibri"/>
              </a:rPr>
              <a:t>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692640"/>
            <a:ext cx="12801600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 dirty="0">
                <a:solidFill>
                  <a:srgbClr val="222222"/>
                </a:solidFill>
                <a:latin typeface="Calibri"/>
              </a:rPr>
              <a:t>Do gifts attributed to Santa differ in price from the gifts parents claim for themselves? If Santa were subsidizing Christmas, his gifts should be priced differently.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801600"/>
            <a:ext cx="12801600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500" b="1" i="0" dirty="0">
                <a:solidFill>
                  <a:srgbClr val="0F5FA6"/>
                </a:solidFill>
                <a:latin typeface="Calibri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898880"/>
            <a:ext cx="12801600" cy="430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4000" b="0" i="0">
                <a:solidFill>
                  <a:srgbClr val="222222"/>
                </a:solidFill>
                <a:latin typeface="Calibri"/>
              </a:rPr>
              <a:t>•  3,048,112 Amazon and Target orders, 1 Nov – 24 Dec, 2020–2021</a:t>
            </a:r>
          </a:p>
          <a:p>
            <a:pPr algn="l">
              <a:spcAft>
                <a:spcPts val="1200"/>
              </a:spcAft>
            </a:pPr>
            <a:r>
              <a:rPr sz="4000" b="0" i="0">
                <a:solidFill>
                  <a:srgbClr val="222222"/>
                </a:solidFill>
                <a:latin typeface="Calibri"/>
              </a:rPr>
              <a:t>•  412,006 orders dropped for blank gift messages</a:t>
            </a:r>
          </a:p>
          <a:p>
            <a:pPr algn="l">
              <a:spcAft>
                <a:spcPts val="1200"/>
              </a:spcAft>
            </a:pPr>
            <a:r>
              <a:rPr sz="4000" b="0" i="0">
                <a:solidFill>
                  <a:srgbClr val="222222"/>
                </a:solidFill>
                <a:latin typeface="Calibri"/>
              </a:rPr>
              <a:t>•  30,114 Hanukkah-related orders excluded as out of scope</a:t>
            </a:r>
          </a:p>
          <a:p>
            <a:pPr algn="l">
              <a:spcAft>
                <a:spcPts val="1200"/>
              </a:spcAft>
            </a:pPr>
            <a:r>
              <a:rPr sz="4000" b="0" i="0">
                <a:solidFill>
                  <a:srgbClr val="222222"/>
                </a:solidFill>
                <a:latin typeface="Calibri"/>
              </a:rPr>
              <a:t>•  Analysis set: 2,605,992 orders</a:t>
            </a:r>
          </a:p>
          <a:p>
            <a:pPr algn="l">
              <a:spcAft>
                <a:spcPts val="1200"/>
              </a:spcAft>
            </a:pPr>
            <a:r>
              <a:rPr sz="4000" b="0" i="0">
                <a:solidFill>
                  <a:srgbClr val="222222"/>
                </a:solidFill>
                <a:latin typeface="Calibri"/>
              </a:rPr>
              <a:t>•  Mean gift price $34.18 (SD $14.90)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568160"/>
            <a:ext cx="12801600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500" b="1" i="0">
                <a:solidFill>
                  <a:srgbClr val="0F5FA6"/>
                </a:solidFill>
                <a:latin typeface="Calibri"/>
              </a:rPr>
              <a:t>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665440"/>
            <a:ext cx="1280160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 dirty="0">
                <a:solidFill>
                  <a:srgbClr val="222222"/>
                </a:solidFill>
                <a:latin typeface="Calibri"/>
              </a:rPr>
              <a:t>Ordinary least squares predicting sale price in dollars from the giver label, item type, and days until Christmas.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957280"/>
            <a:ext cx="12801600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500" b="1" i="0">
                <a:solidFill>
                  <a:srgbClr val="0F5FA6"/>
                </a:solidFill>
                <a:latin typeface="Calibri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054560"/>
            <a:ext cx="12801600" cy="3616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4000" b="0" i="0" dirty="0">
                <a:solidFill>
                  <a:srgbClr val="222222"/>
                </a:solidFill>
                <a:latin typeface="Calibri"/>
              </a:rPr>
              <a:t>•  Gift messages record who a gift claims to be from, not who paid</a:t>
            </a:r>
          </a:p>
          <a:p>
            <a:pPr algn="l">
              <a:spcAft>
                <a:spcPts val="1400"/>
              </a:spcAft>
            </a:pPr>
            <a:r>
              <a:rPr sz="4000" b="0" i="0" dirty="0">
                <a:solidFill>
                  <a:srgbClr val="222222"/>
                </a:solidFill>
                <a:latin typeface="Calibri"/>
              </a:rPr>
              <a:t>•  The 412,006 dropped orders may differ systematically</a:t>
            </a:r>
          </a:p>
          <a:p>
            <a:pPr algn="l">
              <a:spcAft>
                <a:spcPts val="1400"/>
              </a:spcAft>
            </a:pPr>
            <a:r>
              <a:rPr sz="4000" b="0" i="0" dirty="0">
                <a:solidFill>
                  <a:srgbClr val="222222"/>
                </a:solidFill>
                <a:latin typeface="Calibri"/>
              </a:rPr>
              <a:t>•  Two general retailers; specialty toy stores are absent</a:t>
            </a:r>
          </a:p>
          <a:p>
            <a:pPr algn="l">
              <a:spcAft>
                <a:spcPts val="1400"/>
              </a:spcAft>
            </a:pPr>
            <a:r>
              <a:rPr sz="4000" b="0" i="0" dirty="0">
                <a:solidFill>
                  <a:srgbClr val="222222"/>
                </a:solidFill>
                <a:latin typeface="Calibri"/>
              </a:rPr>
              <a:t>•  Observational data. No causal claim is made.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0" y="8595360"/>
            <a:ext cx="16002000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500" b="1" i="0">
                <a:solidFill>
                  <a:srgbClr val="0F5FA6"/>
                </a:solidFill>
                <a:latin typeface="Calibri"/>
              </a:rPr>
              <a:t>Results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706684"/>
              </p:ext>
            </p:extLst>
          </p:nvPr>
        </p:nvGraphicFramePr>
        <p:xfrm>
          <a:off x="15544800" y="9692640"/>
          <a:ext cx="16002000" cy="1408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5544800" y="24048720"/>
            <a:ext cx="1600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1">
                <a:solidFill>
                  <a:srgbClr val="666666"/>
                </a:solidFill>
                <a:latin typeface="Calibri"/>
              </a:rPr>
              <a:t>Figure 1. Item type sets the price. The Santa label barely registers.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0" y="25786080"/>
            <a:ext cx="16002000" cy="4572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65760" rIns="457200" bIns="365760" rtlCol="0" anchor="ctr"/>
          <a:lstStyle/>
          <a:p>
            <a:pPr algn="l">
              <a:spcAft>
                <a:spcPts val="1400"/>
              </a:spcAft>
            </a:pPr>
            <a:r>
              <a:rPr sz="4800" b="1" i="0" dirty="0">
                <a:solidFill>
                  <a:srgbClr val="0F5FA6"/>
                </a:solidFill>
                <a:latin typeface="Calibri"/>
              </a:rPr>
              <a:t>R² = 0.56   ·   RMSE = $9.20   ·   n = 2,605,992</a:t>
            </a:r>
          </a:p>
          <a:p>
            <a:pPr algn="l">
              <a:spcAft>
                <a:spcPts val="0"/>
              </a:spcAft>
            </a:pPr>
            <a:r>
              <a:rPr sz="4400" b="0" i="0" dirty="0">
                <a:solidFill>
                  <a:srgbClr val="222222"/>
                </a:solidFill>
                <a:latin typeface="Calibri"/>
              </a:rPr>
              <a:t>The Santa coefficient is $0.42 (SE $0.011, p &lt; 0.001). With 2.6 million observations even a trivial effect clears any significance threshold</a:t>
            </a:r>
            <a:r>
              <a:rPr lang="en-US" sz="4400" b="0" i="0" dirty="0">
                <a:solidFill>
                  <a:srgbClr val="222222"/>
                </a:solidFill>
                <a:latin typeface="Calibri"/>
              </a:rPr>
              <a:t>.</a:t>
            </a:r>
            <a:endParaRPr sz="4400" b="0" i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918400" y="8595360"/>
            <a:ext cx="9601200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500" b="1" i="0">
                <a:solidFill>
                  <a:srgbClr val="0F5FA6"/>
                </a:solidFill>
                <a:latin typeface="Calibri"/>
              </a:rPr>
              <a:t>What It Means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0" y="9692640"/>
            <a:ext cx="9601200" cy="2462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 dirty="0">
                <a:solidFill>
                  <a:srgbClr val="222222"/>
                </a:solidFill>
                <a:latin typeface="Calibri"/>
              </a:rPr>
              <a:t>Santa's gifts are priced like the ones parents buy</a:t>
            </a:r>
            <a:r>
              <a:rPr lang="en-US" sz="4000" b="0" i="0" dirty="0">
                <a:solidFill>
                  <a:srgbClr val="222222"/>
                </a:solidFill>
                <a:latin typeface="Calibri"/>
              </a:rPr>
              <a:t>. This is the expected outcome if </a:t>
            </a:r>
            <a:r>
              <a:rPr sz="4000" b="0" i="0" dirty="0">
                <a:solidFill>
                  <a:srgbClr val="222222"/>
                </a:solidFill>
                <a:latin typeface="Calibri"/>
              </a:rPr>
              <a:t>parents </a:t>
            </a:r>
            <a:r>
              <a:rPr lang="en-US" sz="4000" b="0" i="0" dirty="0">
                <a:solidFill>
                  <a:srgbClr val="222222"/>
                </a:solidFill>
                <a:latin typeface="Calibri"/>
              </a:rPr>
              <a:t>made most purchases</a:t>
            </a:r>
            <a:r>
              <a:rPr sz="4000" b="0" i="0" dirty="0">
                <a:solidFill>
                  <a:srgbClr val="222222"/>
                </a:solidFill>
                <a:latin typeface="Calibri"/>
              </a:rPr>
              <a:t>. </a:t>
            </a:r>
            <a:r>
              <a:rPr lang="en-US" sz="4000" b="0" i="0" dirty="0">
                <a:solidFill>
                  <a:srgbClr val="222222"/>
                </a:solidFill>
                <a:latin typeface="Calibri"/>
              </a:rPr>
              <a:t>Our </a:t>
            </a:r>
            <a:r>
              <a:rPr sz="4000" b="0" i="0" dirty="0">
                <a:solidFill>
                  <a:srgbClr val="222222"/>
                </a:solidFill>
                <a:latin typeface="Calibri"/>
              </a:rPr>
              <a:t>Grinch hypothesis survives.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0" y="15179040"/>
            <a:ext cx="9601200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500" b="1" i="0">
                <a:solidFill>
                  <a:srgbClr val="0F5FA6"/>
                </a:solidFill>
                <a:latin typeface="Calibri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0" y="16276320"/>
            <a:ext cx="9601200" cy="2462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 dirty="0">
                <a:solidFill>
                  <a:srgbClr val="222222"/>
                </a:solidFill>
                <a:latin typeface="Calibri"/>
              </a:rPr>
              <a:t>Do not segment holiday inventory or pricing on the giver label. Item type and order timing explain nearly all of the variation and are already captured in existing systems.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0" y="22494240"/>
            <a:ext cx="9601200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500" b="1" i="0">
                <a:solidFill>
                  <a:srgbClr val="0F5FA6"/>
                </a:solidFill>
                <a:latin typeface="Calibri"/>
              </a:rPr>
              <a:t>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0" y="23591520"/>
            <a:ext cx="9601200" cy="3898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0" i="0">
                <a:solidFill>
                  <a:srgbClr val="666666"/>
                </a:solidFill>
                <a:latin typeface="Calibri"/>
              </a:rPr>
              <a:t>Order extract via data request #4471. Not publicly available.</a:t>
            </a:r>
          </a:p>
          <a:p>
            <a:pPr algn="l">
              <a:spcAft>
                <a:spcPts val="800"/>
              </a:spcAft>
            </a:pPr>
            <a:r>
              <a:rPr sz="4000" b="0" i="0">
                <a:solidFill>
                  <a:srgbClr val="666666"/>
                </a:solidFill>
                <a:latin typeface="Calibri"/>
              </a:rPr>
              <a:t>R 4.4.1, lm() from stats. Figures built in Tableau 2024.2.</a:t>
            </a:r>
          </a:p>
          <a:p>
            <a:pPr algn="l">
              <a:spcAft>
                <a:spcPts val="800"/>
              </a:spcAft>
            </a:pPr>
            <a:r>
              <a:rPr sz="4000" b="0" i="0">
                <a:solidFill>
                  <a:srgbClr val="666666"/>
                </a:solidFill>
                <a:latin typeface="Calibri"/>
              </a:rPr>
              <a:t>ChatGPT (GPT-4o, 15 Jul 2026) debugged the date parser. Output checked against source.</a:t>
            </a:r>
          </a:p>
        </p:txBody>
      </p:sp>
      <p:pic>
        <p:nvPicPr>
          <p:cNvPr id="22" name="Picture 21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0" y="27797760"/>
            <a:ext cx="2560320" cy="2560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5844480" y="28712160"/>
            <a:ext cx="6675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F5FA6"/>
                </a:solidFill>
                <a:latin typeface="Calibri"/>
              </a:rPr>
              <a:t>Full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355</Words>
  <Application>Microsoft Macintosh PowerPoint</Application>
  <PresentationFormat>Custom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Nathan Garrett</cp:lastModifiedBy>
  <cp:revision>3</cp:revision>
  <dcterms:created xsi:type="dcterms:W3CDTF">2013-01-27T09:14:16Z</dcterms:created>
  <dcterms:modified xsi:type="dcterms:W3CDTF">2026-10-12T18:04:27Z</dcterms:modified>
  <cp:category/>
</cp:coreProperties>
</file>