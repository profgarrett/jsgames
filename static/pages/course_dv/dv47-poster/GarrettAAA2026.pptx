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43891200" cy="3291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5574"/>
    <p:restoredTop sz="96494"/>
  </p:normalViewPr>
  <p:slideViewPr>
    <p:cSldViewPr snapToGrid="0">
      <p:cViewPr>
        <p:scale>
          <a:sx n="60" d="100"/>
          <a:sy n="60" d="100"/>
        </p:scale>
        <p:origin x="136" y="-6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 name="eyebrow">
            <a:extLst>
              <a:ext uri="{FF2B5EF4-FFF2-40B4-BE49-F238E27FC236}">
                <a16:creationId xmlns:a16="http://schemas.microsoft.com/office/drawing/2014/main" id="{CC50CDE5-0FD8-4137-AF83-B41EE5D9E186}"/>
              </a:ext>
            </a:extLst>
          </p:cNvPr>
          <p:cNvSpPr>
            <a:spLocks noGrp="1"/>
          </p:cNvSpPr>
          <p:nvPr/>
        </p:nvSpPr>
        <p:spPr>
          <a:xfrm>
            <a:off x="1714500" y="1000125"/>
            <a:ext cx="28956000" cy="590550"/>
          </a:xfrm>
          <a:prstGeom prst="rect">
            <a:avLst/>
          </a:prstGeom>
          <a:noFill/>
          <a:ln w="0">
            <a:noFill/>
            <a:prstDash val="solid"/>
          </a:ln>
        </p:spPr>
        <p:txBody>
          <a:bodyPr anchor="t"/>
          <a:lstStyle/>
          <a:p>
            <a:pPr algn="l">
              <a:buNone/>
              <a:defRPr sz="2100" b="1" i="0">
                <a:solidFill>
                  <a:srgbClr val="002855"/>
                </a:solidFill>
                <a:latin typeface="Helvetica Neue"/>
                <a:ea typeface="Helvetica Neue"/>
                <a:cs typeface="Helvetica Neue"/>
              </a:defRPr>
            </a:pPr>
            <a:r>
              <a:rPr sz="2100" b="1" i="0" dirty="0">
                <a:solidFill>
                  <a:srgbClr val="002855"/>
                </a:solidFill>
                <a:latin typeface="Helvetica Neue"/>
                <a:ea typeface="Helvetica Neue"/>
                <a:cs typeface="Helvetica Neue"/>
              </a:rPr>
              <a:t>WEST VIRGINIA UNIVERSITY  ·  DEPARTMENT OF ACCOUNTING</a:t>
            </a:r>
          </a:p>
        </p:txBody>
      </p:sp>
      <p:sp>
        <p:nvSpPr>
          <p:cNvPr id="2" name="poster-title">
            <a:extLst>
              <a:ext uri="{FF2B5EF4-FFF2-40B4-BE49-F238E27FC236}">
                <a16:creationId xmlns:a16="http://schemas.microsoft.com/office/drawing/2014/main" id="{F7358CD9-CF34-472B-96C4-B11F1CADA074}"/>
              </a:ext>
            </a:extLst>
          </p:cNvPr>
          <p:cNvSpPr>
            <a:spLocks noGrp="1"/>
          </p:cNvSpPr>
          <p:nvPr/>
        </p:nvSpPr>
        <p:spPr>
          <a:xfrm>
            <a:off x="1714499" y="1695450"/>
            <a:ext cx="31775401" cy="1428750"/>
          </a:xfrm>
          <a:prstGeom prst="rect">
            <a:avLst/>
          </a:prstGeom>
          <a:noFill/>
          <a:ln w="0">
            <a:noFill/>
            <a:prstDash val="solid"/>
          </a:ln>
        </p:spPr>
        <p:txBody>
          <a:bodyPr anchor="t"/>
          <a:lstStyle/>
          <a:p>
            <a:pPr algn="l">
              <a:buNone/>
              <a:defRPr sz="7800" b="1" i="0">
                <a:solidFill>
                  <a:srgbClr val="002855"/>
                </a:solidFill>
                <a:latin typeface="Helvetica Neue"/>
                <a:ea typeface="Helvetica Neue"/>
                <a:cs typeface="Helvetica Neue"/>
              </a:defRPr>
            </a:pPr>
            <a:r>
              <a:rPr lang="en-US" sz="7800" b="1" i="0" dirty="0">
                <a:solidFill>
                  <a:srgbClr val="002855"/>
                </a:solidFill>
                <a:latin typeface="Helvetica Neue"/>
                <a:ea typeface="Helvetica Neue"/>
                <a:cs typeface="Helvetica Neue"/>
              </a:rPr>
              <a:t>Adding </a:t>
            </a:r>
            <a:r>
              <a:rPr lang="en-US" sz="7800" b="1" i="0" u="sng" dirty="0">
                <a:solidFill>
                  <a:srgbClr val="002855"/>
                </a:solidFill>
                <a:latin typeface="Helvetica Neue"/>
                <a:ea typeface="Helvetica Neue"/>
                <a:cs typeface="Helvetica Neue"/>
              </a:rPr>
              <a:t>Interactivity</a:t>
            </a:r>
            <a:r>
              <a:rPr lang="en-US" sz="7800" b="1" i="0" dirty="0">
                <a:solidFill>
                  <a:srgbClr val="002855"/>
                </a:solidFill>
                <a:latin typeface="Helvetica Neue"/>
                <a:ea typeface="Helvetica Neue"/>
                <a:cs typeface="Helvetica Neue"/>
              </a:rPr>
              <a:t> to an </a:t>
            </a:r>
            <a:r>
              <a:rPr lang="en-US" sz="7800" b="1" i="0" u="sng" dirty="0">
                <a:solidFill>
                  <a:srgbClr val="002855"/>
                </a:solidFill>
                <a:latin typeface="Helvetica Neue"/>
                <a:ea typeface="Helvetica Neue"/>
                <a:cs typeface="Helvetica Neue"/>
              </a:rPr>
              <a:t>AIS Fraud Case</a:t>
            </a:r>
            <a:r>
              <a:rPr lang="en-US" sz="7800" b="1" i="0" dirty="0">
                <a:solidFill>
                  <a:srgbClr val="002855"/>
                </a:solidFill>
                <a:latin typeface="Helvetica Neue"/>
                <a:ea typeface="Helvetica Neue"/>
                <a:cs typeface="Helvetica Neue"/>
              </a:rPr>
              <a:t> with </a:t>
            </a:r>
            <a:r>
              <a:rPr lang="en-US" sz="7800" b="1" i="0" u="sng" dirty="0">
                <a:solidFill>
                  <a:srgbClr val="002855"/>
                </a:solidFill>
                <a:latin typeface="Helvetica Neue"/>
                <a:ea typeface="Helvetica Neue"/>
                <a:cs typeface="Helvetica Neue"/>
              </a:rPr>
              <a:t>LLM Interviews</a:t>
            </a:r>
          </a:p>
        </p:txBody>
      </p:sp>
      <p:sp>
        <p:nvSpPr>
          <p:cNvPr id="3" name="subtitle">
            <a:extLst>
              <a:ext uri="{FF2B5EF4-FFF2-40B4-BE49-F238E27FC236}">
                <a16:creationId xmlns:a16="http://schemas.microsoft.com/office/drawing/2014/main" id="{3A145D1E-3C2C-42A2-93EB-41E6E62ED136}"/>
              </a:ext>
            </a:extLst>
          </p:cNvPr>
          <p:cNvSpPr>
            <a:spLocks noGrp="1"/>
          </p:cNvSpPr>
          <p:nvPr/>
        </p:nvSpPr>
        <p:spPr>
          <a:xfrm>
            <a:off x="1714500" y="3162300"/>
            <a:ext cx="28956000" cy="781050"/>
          </a:xfrm>
          <a:prstGeom prst="rect">
            <a:avLst/>
          </a:prstGeom>
          <a:noFill/>
          <a:ln w="0">
            <a:noFill/>
            <a:prstDash val="solid"/>
          </a:ln>
        </p:spPr>
        <p:txBody>
          <a:bodyPr anchor="t"/>
          <a:lstStyle/>
          <a:p>
            <a:pPr algn="l">
              <a:buNone/>
              <a:defRPr sz="2925" b="0" i="0">
                <a:solidFill>
                  <a:srgbClr val="554741"/>
                </a:solidFill>
                <a:latin typeface="Helvetica Neue"/>
                <a:ea typeface="Helvetica Neue"/>
                <a:cs typeface="Helvetica Neue"/>
              </a:defRPr>
            </a:pPr>
            <a:endParaRPr sz="2925" b="0" i="0" dirty="0">
              <a:solidFill>
                <a:srgbClr val="554741"/>
              </a:solidFill>
              <a:latin typeface="Helvetica Neue"/>
              <a:ea typeface="Helvetica Neue"/>
              <a:cs typeface="Helvetica Neue"/>
            </a:endParaRPr>
          </a:p>
        </p:txBody>
      </p:sp>
      <p:sp>
        <p:nvSpPr>
          <p:cNvPr id="4" name="header-rule">
            <a:extLst>
              <a:ext uri="{FF2B5EF4-FFF2-40B4-BE49-F238E27FC236}">
                <a16:creationId xmlns:a16="http://schemas.microsoft.com/office/drawing/2014/main" id="{B2FADD48-9171-4DEE-83B7-5EF4634BBE31}"/>
              </a:ext>
            </a:extLst>
          </p:cNvPr>
          <p:cNvSpPr>
            <a:spLocks noGrp="1"/>
          </p:cNvSpPr>
          <p:nvPr/>
        </p:nvSpPr>
        <p:spPr>
          <a:xfrm>
            <a:off x="1714500" y="4238625"/>
            <a:ext cx="40462200" cy="47625"/>
          </a:xfrm>
          <a:prstGeom prst="rect">
            <a:avLst/>
          </a:prstGeom>
          <a:solidFill>
            <a:srgbClr val="EAAA00"/>
          </a:solidFill>
          <a:ln w="0">
            <a:noFill/>
            <a:prstDash val="solid"/>
          </a:ln>
        </p:spPr>
        <p:txBody>
          <a:bodyPr/>
          <a:lstStyle/>
          <a:p>
            <a:endParaRPr lang="en-US"/>
          </a:p>
        </p:txBody>
      </p:sp>
      <p:sp>
        <p:nvSpPr>
          <p:cNvPr id="5" name="lead-callout">
            <a:extLst>
              <a:ext uri="{FF2B5EF4-FFF2-40B4-BE49-F238E27FC236}">
                <a16:creationId xmlns:a16="http://schemas.microsoft.com/office/drawing/2014/main" id="{63FCD6BD-76BE-438D-8D2E-578C73799246}"/>
              </a:ext>
            </a:extLst>
          </p:cNvPr>
          <p:cNvSpPr>
            <a:spLocks noGrp="1"/>
          </p:cNvSpPr>
          <p:nvPr/>
        </p:nvSpPr>
        <p:spPr>
          <a:xfrm>
            <a:off x="1714500" y="4524375"/>
            <a:ext cx="40462200" cy="1428750"/>
          </a:xfrm>
          <a:prstGeom prst="rect">
            <a:avLst/>
          </a:prstGeom>
          <a:solidFill>
            <a:srgbClr val="002855"/>
          </a:solidFill>
          <a:ln w="0">
            <a:noFill/>
            <a:prstDash val="solid"/>
          </a:ln>
        </p:spPr>
        <p:txBody>
          <a:bodyPr/>
          <a:lstStyle/>
          <a:p>
            <a:endParaRPr lang="en-US"/>
          </a:p>
        </p:txBody>
      </p:sp>
      <p:sp>
        <p:nvSpPr>
          <p:cNvPr id="6" name="lead-callout-text">
            <a:extLst>
              <a:ext uri="{FF2B5EF4-FFF2-40B4-BE49-F238E27FC236}">
                <a16:creationId xmlns:a16="http://schemas.microsoft.com/office/drawing/2014/main" id="{688C1D2A-FA28-435D-B214-FFA2B55B7150}"/>
              </a:ext>
            </a:extLst>
          </p:cNvPr>
          <p:cNvSpPr>
            <a:spLocks noGrp="1"/>
          </p:cNvSpPr>
          <p:nvPr/>
        </p:nvSpPr>
        <p:spPr>
          <a:xfrm>
            <a:off x="2133600" y="4857750"/>
            <a:ext cx="39624000" cy="1066800"/>
          </a:xfrm>
          <a:prstGeom prst="rect">
            <a:avLst/>
          </a:prstGeom>
          <a:noFill/>
          <a:ln w="0">
            <a:noFill/>
            <a:prstDash val="solid"/>
          </a:ln>
        </p:spPr>
        <p:txBody>
          <a:bodyPr anchor="t"/>
          <a:lstStyle/>
          <a:p>
            <a:pPr>
              <a:defRPr sz="2925" b="0" i="0">
                <a:solidFill>
                  <a:srgbClr val="554741"/>
                </a:solidFill>
                <a:latin typeface="Helvetica Neue"/>
                <a:ea typeface="Helvetica Neue"/>
                <a:cs typeface="Helvetica Neue"/>
              </a:defRPr>
            </a:pPr>
            <a:r>
              <a:rPr lang="en-US" sz="3200" dirty="0">
                <a:solidFill>
                  <a:schemeClr val="bg1"/>
                </a:solidFill>
                <a:latin typeface="Helvetica Neue"/>
                <a:ea typeface="Helvetica Neue"/>
                <a:cs typeface="Helvetica Neue"/>
              </a:rPr>
              <a:t>Student engagement, factual drift, and prompt-design lessons from an undergraduate vendor-payments data analytics case</a:t>
            </a:r>
          </a:p>
        </p:txBody>
      </p:sp>
      <p:sp>
        <p:nvSpPr>
          <p:cNvPr id="7" name="case-section-band">
            <a:extLst>
              <a:ext uri="{FF2B5EF4-FFF2-40B4-BE49-F238E27FC236}">
                <a16:creationId xmlns:a16="http://schemas.microsoft.com/office/drawing/2014/main" id="{853AD86E-4E5D-460F-96EC-11DFCAD51FBB}"/>
              </a:ext>
            </a:extLst>
          </p:cNvPr>
          <p:cNvSpPr>
            <a:spLocks noGrp="1"/>
          </p:cNvSpPr>
          <p:nvPr/>
        </p:nvSpPr>
        <p:spPr>
          <a:xfrm>
            <a:off x="1659636" y="6905625"/>
            <a:ext cx="9601200" cy="933450"/>
          </a:xfrm>
          <a:prstGeom prst="rect">
            <a:avLst/>
          </a:prstGeom>
          <a:solidFill>
            <a:srgbClr val="002855"/>
          </a:solidFill>
          <a:ln w="0">
            <a:noFill/>
            <a:prstDash val="solid"/>
          </a:ln>
        </p:spPr>
        <p:txBody>
          <a:bodyPr/>
          <a:lstStyle/>
          <a:p>
            <a:endParaRPr lang="en-US"/>
          </a:p>
        </p:txBody>
      </p:sp>
      <p:sp>
        <p:nvSpPr>
          <p:cNvPr id="9" name="case-section-title">
            <a:extLst>
              <a:ext uri="{FF2B5EF4-FFF2-40B4-BE49-F238E27FC236}">
                <a16:creationId xmlns:a16="http://schemas.microsoft.com/office/drawing/2014/main" id="{52A03707-14EE-4127-8103-EFA494833A91}"/>
              </a:ext>
            </a:extLst>
          </p:cNvPr>
          <p:cNvSpPr>
            <a:spLocks noGrp="1"/>
          </p:cNvSpPr>
          <p:nvPr/>
        </p:nvSpPr>
        <p:spPr>
          <a:xfrm>
            <a:off x="1930400" y="7058025"/>
            <a:ext cx="9156700" cy="483339"/>
          </a:xfrm>
          <a:prstGeom prst="rect">
            <a:avLst/>
          </a:prstGeom>
          <a:noFill/>
          <a:ln w="0">
            <a:noFill/>
            <a:prstDash val="solid"/>
          </a:ln>
        </p:spPr>
        <p:txBody>
          <a:bodyPr anchor="t"/>
          <a:lstStyle/>
          <a:p>
            <a:pPr algn="l">
              <a:buNone/>
              <a:defRPr sz="3000" b="1" i="0">
                <a:solidFill>
                  <a:srgbClr val="FFFFFF"/>
                </a:solidFill>
                <a:latin typeface="Helvetica Neue"/>
                <a:ea typeface="Helvetica Neue"/>
                <a:cs typeface="Helvetica Neue"/>
              </a:defRPr>
            </a:pPr>
            <a:r>
              <a:rPr lang="en-US" sz="3000" b="1" dirty="0">
                <a:solidFill>
                  <a:srgbClr val="FFFFFF"/>
                </a:solidFill>
                <a:latin typeface="Helvetica Neue"/>
                <a:ea typeface="Helvetica Neue"/>
                <a:cs typeface="Helvetica Neue"/>
              </a:rPr>
              <a:t>Abstract</a:t>
            </a:r>
            <a:endParaRPr sz="3000" b="1" i="0" dirty="0">
              <a:solidFill>
                <a:srgbClr val="FFFFFF"/>
              </a:solidFill>
              <a:latin typeface="Helvetica Neue"/>
              <a:ea typeface="Helvetica Neue"/>
              <a:cs typeface="Helvetica Neue"/>
            </a:endParaRPr>
          </a:p>
        </p:txBody>
      </p:sp>
      <p:sp>
        <p:nvSpPr>
          <p:cNvPr id="10" name="case-body">
            <a:extLst>
              <a:ext uri="{FF2B5EF4-FFF2-40B4-BE49-F238E27FC236}">
                <a16:creationId xmlns:a16="http://schemas.microsoft.com/office/drawing/2014/main" id="{AE29CEF7-9FA8-466C-8AF0-CB3F1B8AA693}"/>
              </a:ext>
            </a:extLst>
          </p:cNvPr>
          <p:cNvSpPr>
            <a:spLocks noGrp="1"/>
          </p:cNvSpPr>
          <p:nvPr/>
        </p:nvSpPr>
        <p:spPr>
          <a:xfrm>
            <a:off x="1714500" y="8143875"/>
            <a:ext cx="9601200" cy="7543800"/>
          </a:xfrm>
          <a:prstGeom prst="rect">
            <a:avLst/>
          </a:prstGeom>
          <a:noFill/>
          <a:ln w="0">
            <a:noFill/>
            <a:prstDash val="solid"/>
          </a:ln>
        </p:spPr>
        <p:txBody>
          <a:bodyPr anchor="t"/>
          <a:lstStyle/>
          <a:p>
            <a:pPr algn="l">
              <a:buNone/>
              <a:defRPr sz="2325" b="0" i="0">
                <a:solidFill>
                  <a:srgbClr val="1C2B39"/>
                </a:solidFill>
                <a:latin typeface="Helvetica Neue"/>
                <a:ea typeface="Helvetica Neue"/>
                <a:cs typeface="Helvetica Neue"/>
              </a:defRPr>
            </a:pPr>
            <a:r>
              <a:rPr lang="en-US" sz="2800" b="0" i="0" dirty="0">
                <a:solidFill>
                  <a:srgbClr val="1C2B39"/>
                </a:solidFill>
                <a:latin typeface="Helvetica Neue"/>
                <a:ea typeface="Helvetica Neue"/>
                <a:cs typeface="Helvetica Neue"/>
              </a:rPr>
              <a:t>How can we use LLMs </a:t>
            </a:r>
            <a:r>
              <a:rPr lang="en-US" sz="2800" dirty="0">
                <a:solidFill>
                  <a:srgbClr val="1C2B39"/>
                </a:solidFill>
                <a:latin typeface="Helvetica Neue"/>
                <a:ea typeface="Helvetica Neue"/>
                <a:cs typeface="Helvetica Neue"/>
              </a:rPr>
              <a:t>to make better simulations? </a:t>
            </a:r>
            <a:r>
              <a:rPr lang="en-US" sz="2800" b="0" i="0" dirty="0">
                <a:solidFill>
                  <a:srgbClr val="1C2B39"/>
                </a:solidFill>
                <a:latin typeface="Helvetica Neue"/>
                <a:ea typeface="Helvetica Neue"/>
                <a:cs typeface="Helvetica Neue"/>
              </a:rPr>
              <a:t>My students investigated duplicate vendor payments by interviewing 3 AI stakeholders. They also analyzed a supporting Excel file</a:t>
            </a:r>
            <a:r>
              <a:rPr lang="en-US" sz="2800" dirty="0">
                <a:solidFill>
                  <a:srgbClr val="1C2B39"/>
                </a:solidFill>
                <a:latin typeface="Helvetica Neue"/>
                <a:ea typeface="Helvetica Neue"/>
                <a:cs typeface="Helvetica Neue"/>
              </a:rPr>
              <a:t>. Their submission included an analysis of the fraud, redesigned controls, and </a:t>
            </a:r>
            <a:r>
              <a:rPr lang="en-US" sz="2800" b="0" i="0" dirty="0">
                <a:solidFill>
                  <a:srgbClr val="1C2B39"/>
                </a:solidFill>
                <a:latin typeface="Helvetica Neue"/>
                <a:ea typeface="Helvetica Neue"/>
                <a:cs typeface="Helvetica Neue"/>
              </a:rPr>
              <a:t>AI transcript.</a:t>
            </a:r>
          </a:p>
          <a:p>
            <a:pPr algn="l">
              <a:buNone/>
              <a:defRPr sz="2325" b="0" i="0">
                <a:solidFill>
                  <a:srgbClr val="1C2B39"/>
                </a:solidFill>
                <a:latin typeface="Helvetica Neue"/>
                <a:ea typeface="Helvetica Neue"/>
                <a:cs typeface="Helvetica Neue"/>
              </a:defRPr>
            </a:pPr>
            <a:endParaRPr lang="en-US" sz="2800" b="0" i="0" dirty="0">
              <a:solidFill>
                <a:srgbClr val="1C2B39"/>
              </a:solidFill>
              <a:latin typeface="Helvetica Neue"/>
              <a:ea typeface="Helvetica Neue"/>
              <a:cs typeface="Helvetica Neue"/>
            </a:endParaRPr>
          </a:p>
          <a:p>
            <a:pPr algn="l">
              <a:buNone/>
              <a:defRPr sz="2325" b="0" i="0">
                <a:solidFill>
                  <a:srgbClr val="1C2B39"/>
                </a:solidFill>
                <a:latin typeface="Helvetica Neue"/>
                <a:ea typeface="Helvetica Neue"/>
                <a:cs typeface="Helvetica Neue"/>
              </a:defRPr>
            </a:pPr>
            <a:r>
              <a:rPr lang="en-US" sz="2800" b="1" i="0" dirty="0">
                <a:solidFill>
                  <a:srgbClr val="1C2B39"/>
                </a:solidFill>
                <a:latin typeface="Helvetica Neue"/>
                <a:ea typeface="Helvetica Neue"/>
                <a:cs typeface="Helvetica Neue"/>
              </a:rPr>
              <a:t>Overall, the AI was successful at engaging students.</a:t>
            </a:r>
            <a:r>
              <a:rPr lang="en-US" sz="2800" b="0" i="0" dirty="0">
                <a:solidFill>
                  <a:srgbClr val="1C2B39"/>
                </a:solidFill>
                <a:latin typeface="Helvetica Neue"/>
                <a:ea typeface="Helvetica Neue"/>
                <a:cs typeface="Helvetica Neue"/>
              </a:rPr>
              <a:t> The role-play provided interview </a:t>
            </a:r>
            <a:r>
              <a:rPr lang="en-US" sz="2800" dirty="0">
                <a:solidFill>
                  <a:srgbClr val="1C2B39"/>
                </a:solidFill>
                <a:latin typeface="Helvetica Neue"/>
                <a:ea typeface="Helvetica Neue"/>
                <a:cs typeface="Helvetica Neue"/>
              </a:rPr>
              <a:t>experience, and students favorably commented about the exercise.</a:t>
            </a:r>
          </a:p>
          <a:p>
            <a:pPr algn="l">
              <a:buNone/>
              <a:defRPr sz="2325" b="0" i="0">
                <a:solidFill>
                  <a:srgbClr val="1C2B39"/>
                </a:solidFill>
                <a:latin typeface="Helvetica Neue"/>
                <a:ea typeface="Helvetica Neue"/>
                <a:cs typeface="Helvetica Neue"/>
              </a:defRPr>
            </a:pPr>
            <a:endParaRPr lang="en-US" sz="2800" b="0" i="0" dirty="0">
              <a:solidFill>
                <a:srgbClr val="1C2B39"/>
              </a:solidFill>
              <a:latin typeface="Helvetica Neue"/>
              <a:ea typeface="Helvetica Neue"/>
              <a:cs typeface="Helvetica Neue"/>
            </a:endParaRPr>
          </a:p>
          <a:p>
            <a:pPr algn="l">
              <a:buNone/>
              <a:defRPr sz="2325" b="0" i="0">
                <a:solidFill>
                  <a:srgbClr val="1C2B39"/>
                </a:solidFill>
                <a:latin typeface="Helvetica Neue"/>
                <a:ea typeface="Helvetica Neue"/>
                <a:cs typeface="Helvetica Neue"/>
              </a:defRPr>
            </a:pPr>
            <a:r>
              <a:rPr lang="en-US" sz="2800" b="1" dirty="0">
                <a:solidFill>
                  <a:srgbClr val="1C2B39"/>
                </a:solidFill>
                <a:latin typeface="Helvetica Neue"/>
                <a:ea typeface="Helvetica Neue"/>
                <a:cs typeface="Helvetica Neue"/>
              </a:rPr>
              <a:t>However, several issues remain.</a:t>
            </a:r>
            <a:r>
              <a:rPr lang="en-US" sz="2800" dirty="0">
                <a:solidFill>
                  <a:srgbClr val="1C2B39"/>
                </a:solidFill>
                <a:latin typeface="Helvetica Neue"/>
                <a:ea typeface="Helvetica Neue"/>
                <a:cs typeface="Helvetica Neue"/>
              </a:rPr>
              <a:t> Inconsistency is a key limitation. Guardrails on LLM behavior were ineffective. However, the overall approach has promise.</a:t>
            </a:r>
            <a:endParaRPr lang="en-US" sz="2800" b="0" i="0" dirty="0">
              <a:solidFill>
                <a:srgbClr val="1C2B39"/>
              </a:solidFill>
              <a:latin typeface="Helvetica Neue"/>
              <a:ea typeface="Helvetica Neue"/>
              <a:cs typeface="Helvetica Neue"/>
            </a:endParaRPr>
          </a:p>
          <a:p>
            <a:pPr algn="l">
              <a:buNone/>
              <a:defRPr sz="2325" b="0" i="0">
                <a:solidFill>
                  <a:srgbClr val="1C2B39"/>
                </a:solidFill>
                <a:latin typeface="Helvetica Neue"/>
                <a:ea typeface="Helvetica Neue"/>
                <a:cs typeface="Helvetica Neue"/>
              </a:defRPr>
            </a:pPr>
            <a:endParaRPr lang="en-US" sz="2800" b="0" i="0" dirty="0">
              <a:solidFill>
                <a:srgbClr val="1C2B39"/>
              </a:solidFill>
              <a:latin typeface="Helvetica Neue"/>
              <a:ea typeface="Helvetica Neue"/>
              <a:cs typeface="Helvetica Neue"/>
            </a:endParaRPr>
          </a:p>
        </p:txBody>
      </p:sp>
      <p:sp>
        <p:nvSpPr>
          <p:cNvPr id="11" name="case-constraint-box">
            <a:extLst>
              <a:ext uri="{FF2B5EF4-FFF2-40B4-BE49-F238E27FC236}">
                <a16:creationId xmlns:a16="http://schemas.microsoft.com/office/drawing/2014/main" id="{A00DC2ED-891E-4CFA-A416-F1C13E4A1024}"/>
              </a:ext>
            </a:extLst>
          </p:cNvPr>
          <p:cNvSpPr>
            <a:spLocks noGrp="1"/>
          </p:cNvSpPr>
          <p:nvPr/>
        </p:nvSpPr>
        <p:spPr>
          <a:xfrm>
            <a:off x="1930399" y="21154140"/>
            <a:ext cx="9092695" cy="721684"/>
          </a:xfrm>
          <a:prstGeom prst="rect">
            <a:avLst/>
          </a:prstGeom>
          <a:solidFill>
            <a:srgbClr val="F7F7F7"/>
          </a:solidFill>
          <a:ln w="0">
            <a:noFill/>
            <a:prstDash val="solid"/>
          </a:ln>
        </p:spPr>
        <p:txBody>
          <a:bodyPr/>
          <a:lstStyle/>
          <a:p>
            <a:r>
              <a:rPr lang="en-US" sz="2800" dirty="0"/>
              <a:t>Students submitted transcripts of their LLM interactions.</a:t>
            </a:r>
          </a:p>
        </p:txBody>
      </p:sp>
      <p:sp>
        <p:nvSpPr>
          <p:cNvPr id="14" name="method-section-band">
            <a:extLst>
              <a:ext uri="{FF2B5EF4-FFF2-40B4-BE49-F238E27FC236}">
                <a16:creationId xmlns:a16="http://schemas.microsoft.com/office/drawing/2014/main" id="{70DCB4F8-5004-4419-ABD3-33207F1E24DD}"/>
              </a:ext>
            </a:extLst>
          </p:cNvPr>
          <p:cNvSpPr>
            <a:spLocks noGrp="1"/>
          </p:cNvSpPr>
          <p:nvPr/>
        </p:nvSpPr>
        <p:spPr>
          <a:xfrm>
            <a:off x="1659636" y="20104839"/>
            <a:ext cx="9308596" cy="933450"/>
          </a:xfrm>
          <a:prstGeom prst="rect">
            <a:avLst/>
          </a:prstGeom>
          <a:solidFill>
            <a:srgbClr val="002855"/>
          </a:solidFill>
          <a:ln w="0">
            <a:noFill/>
            <a:prstDash val="solid"/>
          </a:ln>
        </p:spPr>
        <p:txBody>
          <a:bodyPr/>
          <a:lstStyle/>
          <a:p>
            <a:endParaRPr lang="en-US"/>
          </a:p>
        </p:txBody>
      </p:sp>
      <p:sp>
        <p:nvSpPr>
          <p:cNvPr id="16" name="method-section-title">
            <a:extLst>
              <a:ext uri="{FF2B5EF4-FFF2-40B4-BE49-F238E27FC236}">
                <a16:creationId xmlns:a16="http://schemas.microsoft.com/office/drawing/2014/main" id="{192EE3BE-C95C-4E28-9BAE-0DF8E040EC6E}"/>
              </a:ext>
            </a:extLst>
          </p:cNvPr>
          <p:cNvSpPr>
            <a:spLocks noGrp="1"/>
          </p:cNvSpPr>
          <p:nvPr/>
        </p:nvSpPr>
        <p:spPr>
          <a:xfrm>
            <a:off x="1930400" y="20257239"/>
            <a:ext cx="8864095" cy="551122"/>
          </a:xfrm>
          <a:prstGeom prst="rect">
            <a:avLst/>
          </a:prstGeom>
          <a:noFill/>
          <a:ln w="0">
            <a:noFill/>
            <a:prstDash val="solid"/>
          </a:ln>
        </p:spPr>
        <p:txBody>
          <a:bodyPr anchor="t"/>
          <a:lstStyle/>
          <a:p>
            <a:pPr algn="l">
              <a:buNone/>
              <a:defRPr sz="3000" b="1" i="0">
                <a:solidFill>
                  <a:srgbClr val="FFFFFF"/>
                </a:solidFill>
                <a:latin typeface="Helvetica Neue"/>
                <a:ea typeface="Helvetica Neue"/>
                <a:cs typeface="Helvetica Neue"/>
              </a:defRPr>
            </a:pPr>
            <a:r>
              <a:rPr sz="3000" b="1" i="0" dirty="0">
                <a:solidFill>
                  <a:srgbClr val="FFFFFF"/>
                </a:solidFill>
                <a:latin typeface="Helvetica Neue"/>
                <a:ea typeface="Helvetica Neue"/>
                <a:cs typeface="Helvetica Neue"/>
              </a:rPr>
              <a:t>Method and cautions</a:t>
            </a:r>
          </a:p>
        </p:txBody>
      </p:sp>
      <p:sp>
        <p:nvSpPr>
          <p:cNvPr id="17" name="metric-n-rule">
            <a:extLst>
              <a:ext uri="{FF2B5EF4-FFF2-40B4-BE49-F238E27FC236}">
                <a16:creationId xmlns:a16="http://schemas.microsoft.com/office/drawing/2014/main" id="{E888E8A0-A173-4DAD-8533-8512DBA4E83B}"/>
              </a:ext>
            </a:extLst>
          </p:cNvPr>
          <p:cNvSpPr>
            <a:spLocks noGrp="1"/>
          </p:cNvSpPr>
          <p:nvPr/>
        </p:nvSpPr>
        <p:spPr>
          <a:xfrm>
            <a:off x="1714498" y="21998098"/>
            <a:ext cx="4178813" cy="91440"/>
          </a:xfrm>
          <a:prstGeom prst="rect">
            <a:avLst/>
          </a:prstGeom>
          <a:solidFill>
            <a:srgbClr val="EAAA00"/>
          </a:solidFill>
          <a:ln w="0">
            <a:noFill/>
            <a:prstDash val="solid"/>
          </a:ln>
        </p:spPr>
        <p:txBody>
          <a:bodyPr/>
          <a:lstStyle/>
          <a:p>
            <a:endParaRPr lang="en-US"/>
          </a:p>
        </p:txBody>
      </p:sp>
      <p:sp>
        <p:nvSpPr>
          <p:cNvPr id="18" name="metric-n-value">
            <a:extLst>
              <a:ext uri="{FF2B5EF4-FFF2-40B4-BE49-F238E27FC236}">
                <a16:creationId xmlns:a16="http://schemas.microsoft.com/office/drawing/2014/main" id="{F283C9C7-C5F7-409F-AA93-12ADA7844E5C}"/>
              </a:ext>
            </a:extLst>
          </p:cNvPr>
          <p:cNvSpPr>
            <a:spLocks noGrp="1"/>
          </p:cNvSpPr>
          <p:nvPr/>
        </p:nvSpPr>
        <p:spPr>
          <a:xfrm>
            <a:off x="1930398" y="22221603"/>
            <a:ext cx="3962913" cy="857250"/>
          </a:xfrm>
          <a:prstGeom prst="rect">
            <a:avLst/>
          </a:prstGeom>
          <a:noFill/>
          <a:ln w="0">
            <a:noFill/>
            <a:prstDash val="solid"/>
          </a:ln>
        </p:spPr>
        <p:txBody>
          <a:bodyPr anchor="t"/>
          <a:lstStyle/>
          <a:p>
            <a:pPr algn="l">
              <a:buNone/>
              <a:defRPr sz="4950" b="1" i="0">
                <a:solidFill>
                  <a:srgbClr val="002855"/>
                </a:solidFill>
                <a:latin typeface="Helvetica Neue"/>
                <a:ea typeface="Helvetica Neue"/>
                <a:cs typeface="Helvetica Neue"/>
              </a:defRPr>
            </a:pPr>
            <a:r>
              <a:rPr sz="4950" b="1" i="0">
                <a:solidFill>
                  <a:srgbClr val="002855"/>
                </a:solidFill>
                <a:latin typeface="Helvetica Neue"/>
                <a:ea typeface="Helvetica Neue"/>
                <a:cs typeface="Helvetica Neue"/>
              </a:rPr>
              <a:t>17</a:t>
            </a:r>
          </a:p>
        </p:txBody>
      </p:sp>
      <p:sp>
        <p:nvSpPr>
          <p:cNvPr id="19" name="metric-n-label">
            <a:extLst>
              <a:ext uri="{FF2B5EF4-FFF2-40B4-BE49-F238E27FC236}">
                <a16:creationId xmlns:a16="http://schemas.microsoft.com/office/drawing/2014/main" id="{AF9AD3E1-8CC3-4DC6-BA38-01A7A7CD1009}"/>
              </a:ext>
            </a:extLst>
          </p:cNvPr>
          <p:cNvSpPr>
            <a:spLocks noGrp="1"/>
          </p:cNvSpPr>
          <p:nvPr/>
        </p:nvSpPr>
        <p:spPr>
          <a:xfrm>
            <a:off x="1930398" y="23040753"/>
            <a:ext cx="3962914" cy="1066800"/>
          </a:xfrm>
          <a:prstGeom prst="rect">
            <a:avLst/>
          </a:prstGeom>
          <a:noFill/>
          <a:ln w="0">
            <a:noFill/>
            <a:prstDash val="solid"/>
          </a:ln>
        </p:spPr>
        <p:txBody>
          <a:bodyPr anchor="t"/>
          <a:lstStyle/>
          <a:p>
            <a:pPr algn="l">
              <a:buNone/>
              <a:defRPr sz="1950" b="0" i="0">
                <a:solidFill>
                  <a:srgbClr val="1C2B39"/>
                </a:solidFill>
                <a:latin typeface="Helvetica Neue"/>
                <a:ea typeface="Helvetica Neue"/>
                <a:cs typeface="Helvetica Neue"/>
              </a:defRPr>
            </a:pPr>
            <a:r>
              <a:rPr sz="1950" b="0" i="0" dirty="0">
                <a:solidFill>
                  <a:srgbClr val="1C2B39"/>
                </a:solidFill>
                <a:latin typeface="Helvetica Neue"/>
                <a:ea typeface="Helvetica Neue"/>
                <a:cs typeface="Helvetica Neue"/>
              </a:rPr>
              <a:t>submitted DOCX transcripts</a:t>
            </a:r>
          </a:p>
        </p:txBody>
      </p:sp>
      <p:sp>
        <p:nvSpPr>
          <p:cNvPr id="20" name="metric-range-rule">
            <a:extLst>
              <a:ext uri="{FF2B5EF4-FFF2-40B4-BE49-F238E27FC236}">
                <a16:creationId xmlns:a16="http://schemas.microsoft.com/office/drawing/2014/main" id="{E2CFD15D-F77D-490E-893F-09F141CE9AF4}"/>
              </a:ext>
            </a:extLst>
          </p:cNvPr>
          <p:cNvSpPr>
            <a:spLocks noGrp="1"/>
          </p:cNvSpPr>
          <p:nvPr/>
        </p:nvSpPr>
        <p:spPr>
          <a:xfrm>
            <a:off x="6565396" y="21998098"/>
            <a:ext cx="4512564" cy="91440"/>
          </a:xfrm>
          <a:prstGeom prst="rect">
            <a:avLst/>
          </a:prstGeom>
          <a:solidFill>
            <a:srgbClr val="EAAA00"/>
          </a:solidFill>
          <a:ln w="0">
            <a:noFill/>
            <a:prstDash val="solid"/>
          </a:ln>
        </p:spPr>
        <p:txBody>
          <a:bodyPr/>
          <a:lstStyle/>
          <a:p>
            <a:endParaRPr lang="en-US"/>
          </a:p>
        </p:txBody>
      </p:sp>
      <p:sp>
        <p:nvSpPr>
          <p:cNvPr id="21" name="metric-range-value">
            <a:extLst>
              <a:ext uri="{FF2B5EF4-FFF2-40B4-BE49-F238E27FC236}">
                <a16:creationId xmlns:a16="http://schemas.microsoft.com/office/drawing/2014/main" id="{28785DD1-2869-484E-B275-D71E193AB830}"/>
              </a:ext>
            </a:extLst>
          </p:cNvPr>
          <p:cNvSpPr>
            <a:spLocks noGrp="1"/>
          </p:cNvSpPr>
          <p:nvPr/>
        </p:nvSpPr>
        <p:spPr>
          <a:xfrm>
            <a:off x="6565396" y="22221603"/>
            <a:ext cx="4512564" cy="857250"/>
          </a:xfrm>
          <a:prstGeom prst="rect">
            <a:avLst/>
          </a:prstGeom>
          <a:noFill/>
          <a:ln w="0">
            <a:noFill/>
            <a:prstDash val="solid"/>
          </a:ln>
        </p:spPr>
        <p:txBody>
          <a:bodyPr anchor="t"/>
          <a:lstStyle/>
          <a:p>
            <a:pPr algn="l">
              <a:buNone/>
              <a:defRPr sz="4950" b="1" i="0">
                <a:solidFill>
                  <a:srgbClr val="002855"/>
                </a:solidFill>
                <a:latin typeface="Helvetica Neue"/>
                <a:ea typeface="Helvetica Neue"/>
                <a:cs typeface="Helvetica Neue"/>
              </a:defRPr>
            </a:pPr>
            <a:r>
              <a:rPr sz="4950" b="1" i="0">
                <a:solidFill>
                  <a:srgbClr val="002855"/>
                </a:solidFill>
                <a:latin typeface="Helvetica Neue"/>
                <a:ea typeface="Helvetica Neue"/>
                <a:cs typeface="Helvetica Neue"/>
              </a:rPr>
              <a:t>556–5,862</a:t>
            </a:r>
          </a:p>
        </p:txBody>
      </p:sp>
      <p:sp>
        <p:nvSpPr>
          <p:cNvPr id="22" name="metric-range-label">
            <a:extLst>
              <a:ext uri="{FF2B5EF4-FFF2-40B4-BE49-F238E27FC236}">
                <a16:creationId xmlns:a16="http://schemas.microsoft.com/office/drawing/2014/main" id="{5C24E022-6E4F-4C4C-93E6-3A9D5FD99477}"/>
              </a:ext>
            </a:extLst>
          </p:cNvPr>
          <p:cNvSpPr>
            <a:spLocks noGrp="1"/>
          </p:cNvSpPr>
          <p:nvPr/>
        </p:nvSpPr>
        <p:spPr>
          <a:xfrm>
            <a:off x="6565396" y="23040753"/>
            <a:ext cx="4512564" cy="1066800"/>
          </a:xfrm>
          <a:prstGeom prst="rect">
            <a:avLst/>
          </a:prstGeom>
          <a:noFill/>
          <a:ln w="0">
            <a:noFill/>
            <a:prstDash val="solid"/>
          </a:ln>
        </p:spPr>
        <p:txBody>
          <a:bodyPr anchor="t"/>
          <a:lstStyle/>
          <a:p>
            <a:pPr algn="l">
              <a:buNone/>
              <a:defRPr sz="1950" b="0" i="0">
                <a:solidFill>
                  <a:srgbClr val="1C2B39"/>
                </a:solidFill>
                <a:latin typeface="Helvetica Neue"/>
                <a:ea typeface="Helvetica Neue"/>
                <a:cs typeface="Helvetica Neue"/>
              </a:defRPr>
            </a:pPr>
            <a:r>
              <a:rPr sz="1950" b="0" i="0">
                <a:solidFill>
                  <a:srgbClr val="1C2B39"/>
                </a:solidFill>
                <a:latin typeface="Helvetica Neue"/>
                <a:ea typeface="Helvetica Neue"/>
                <a:cs typeface="Helvetica Neue"/>
              </a:rPr>
              <a:t>words per submission</a:t>
            </a:r>
          </a:p>
        </p:txBody>
      </p:sp>
      <p:sp>
        <p:nvSpPr>
          <p:cNvPr id="26" name="engagement-section-band">
            <a:extLst>
              <a:ext uri="{FF2B5EF4-FFF2-40B4-BE49-F238E27FC236}">
                <a16:creationId xmlns:a16="http://schemas.microsoft.com/office/drawing/2014/main" id="{E20EC36C-D26B-403F-B34C-C941768751C7}"/>
              </a:ext>
            </a:extLst>
          </p:cNvPr>
          <p:cNvSpPr>
            <a:spLocks noGrp="1"/>
          </p:cNvSpPr>
          <p:nvPr/>
        </p:nvSpPr>
        <p:spPr>
          <a:xfrm>
            <a:off x="1659636" y="24147543"/>
            <a:ext cx="9601200" cy="933450"/>
          </a:xfrm>
          <a:prstGeom prst="rect">
            <a:avLst/>
          </a:prstGeom>
          <a:solidFill>
            <a:srgbClr val="002855"/>
          </a:solidFill>
          <a:ln w="0">
            <a:noFill/>
            <a:prstDash val="solid"/>
          </a:ln>
        </p:spPr>
        <p:txBody>
          <a:bodyPr/>
          <a:lstStyle/>
          <a:p>
            <a:endParaRPr lang="en-US"/>
          </a:p>
        </p:txBody>
      </p:sp>
      <p:sp>
        <p:nvSpPr>
          <p:cNvPr id="28" name="engagement-section-title">
            <a:extLst>
              <a:ext uri="{FF2B5EF4-FFF2-40B4-BE49-F238E27FC236}">
                <a16:creationId xmlns:a16="http://schemas.microsoft.com/office/drawing/2014/main" id="{39AA0057-3D35-4D1E-A72C-A4451DF4EB9D}"/>
              </a:ext>
            </a:extLst>
          </p:cNvPr>
          <p:cNvSpPr>
            <a:spLocks noGrp="1"/>
          </p:cNvSpPr>
          <p:nvPr/>
        </p:nvSpPr>
        <p:spPr>
          <a:xfrm>
            <a:off x="1930400" y="24299943"/>
            <a:ext cx="8420100" cy="590550"/>
          </a:xfrm>
          <a:prstGeom prst="rect">
            <a:avLst/>
          </a:prstGeom>
          <a:noFill/>
          <a:ln w="0">
            <a:noFill/>
            <a:prstDash val="solid"/>
          </a:ln>
        </p:spPr>
        <p:txBody>
          <a:bodyPr anchor="t"/>
          <a:lstStyle/>
          <a:p>
            <a:pPr algn="l">
              <a:buNone/>
              <a:defRPr sz="3000" b="1" i="0">
                <a:solidFill>
                  <a:srgbClr val="FFFFFF"/>
                </a:solidFill>
                <a:latin typeface="Helvetica Neue"/>
                <a:ea typeface="Helvetica Neue"/>
                <a:cs typeface="Helvetica Neue"/>
              </a:defRPr>
            </a:pPr>
            <a:r>
              <a:rPr sz="3000" b="1" i="0" dirty="0">
                <a:solidFill>
                  <a:srgbClr val="FFFFFF"/>
                </a:solidFill>
                <a:latin typeface="Helvetica Neue"/>
                <a:ea typeface="Helvetica Neue"/>
                <a:cs typeface="Helvetica Neue"/>
              </a:rPr>
              <a:t>Student engagement patterns</a:t>
            </a:r>
          </a:p>
        </p:txBody>
      </p:sp>
      <p:sp>
        <p:nvSpPr>
          <p:cNvPr id="29" name="engagement-intro">
            <a:extLst>
              <a:ext uri="{FF2B5EF4-FFF2-40B4-BE49-F238E27FC236}">
                <a16:creationId xmlns:a16="http://schemas.microsoft.com/office/drawing/2014/main" id="{EF04CDC1-6747-43C4-A68C-C2F64B77E871}"/>
              </a:ext>
            </a:extLst>
          </p:cNvPr>
          <p:cNvSpPr>
            <a:spLocks noGrp="1"/>
          </p:cNvSpPr>
          <p:nvPr/>
        </p:nvSpPr>
        <p:spPr>
          <a:xfrm>
            <a:off x="1569725" y="25176243"/>
            <a:ext cx="9601200" cy="2412033"/>
          </a:xfrm>
          <a:prstGeom prst="rect">
            <a:avLst/>
          </a:prstGeom>
          <a:noFill/>
          <a:ln w="0">
            <a:noFill/>
            <a:prstDash val="solid"/>
          </a:ln>
        </p:spPr>
        <p:txBody>
          <a:bodyPr anchor="t"/>
          <a:lstStyle/>
          <a:p>
            <a:pPr algn="l">
              <a:buNone/>
              <a:defRPr sz="2325" b="0" i="0">
                <a:solidFill>
                  <a:srgbClr val="1C2B39"/>
                </a:solidFill>
                <a:latin typeface="Helvetica Neue"/>
                <a:ea typeface="Helvetica Neue"/>
                <a:cs typeface="Helvetica Neue"/>
              </a:defRPr>
            </a:pPr>
            <a:r>
              <a:rPr sz="2800" b="0" i="0" dirty="0">
                <a:solidFill>
                  <a:srgbClr val="1C2B39"/>
                </a:solidFill>
                <a:latin typeface="Helvetica Neue"/>
                <a:ea typeface="Helvetica Neue"/>
                <a:cs typeface="Helvetica Neue"/>
              </a:rPr>
              <a:t>Seven students </a:t>
            </a:r>
            <a:r>
              <a:rPr lang="en-US" sz="2800" b="0" i="0" dirty="0">
                <a:solidFill>
                  <a:srgbClr val="1C2B39"/>
                </a:solidFill>
                <a:latin typeface="Helvetica Neue"/>
                <a:ea typeface="Helvetica Neue"/>
                <a:cs typeface="Helvetica Neue"/>
              </a:rPr>
              <a:t>realistically interviewed witnesses, diving into questions and pursuing leads. </a:t>
            </a:r>
          </a:p>
          <a:p>
            <a:pPr algn="l">
              <a:buNone/>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algn="l">
              <a:buNone/>
              <a:defRPr sz="2325" b="0" i="0">
                <a:solidFill>
                  <a:srgbClr val="1C2B39"/>
                </a:solidFill>
                <a:latin typeface="Helvetica Neue"/>
                <a:ea typeface="Helvetica Neue"/>
                <a:cs typeface="Helvetica Neue"/>
              </a:defRPr>
            </a:pPr>
            <a:r>
              <a:rPr lang="en-US" sz="2800" b="0" i="0" dirty="0">
                <a:solidFill>
                  <a:srgbClr val="1C2B39"/>
                </a:solidFill>
                <a:latin typeface="Helvetica Neue"/>
                <a:ea typeface="Helvetica Neue"/>
                <a:cs typeface="Helvetica Neue"/>
              </a:rPr>
              <a:t>S</a:t>
            </a:r>
            <a:r>
              <a:rPr sz="2800" b="0" i="0" dirty="0">
                <a:solidFill>
                  <a:srgbClr val="1C2B39"/>
                </a:solidFill>
                <a:latin typeface="Helvetica Neue"/>
                <a:ea typeface="Helvetica Neue"/>
                <a:cs typeface="Helvetica Neue"/>
              </a:rPr>
              <a:t>even </a:t>
            </a:r>
            <a:r>
              <a:rPr lang="en-US" sz="2800" b="0" i="0" dirty="0">
                <a:solidFill>
                  <a:srgbClr val="1C2B39"/>
                </a:solidFill>
                <a:latin typeface="Helvetica Neue"/>
                <a:ea typeface="Helvetica Neue"/>
                <a:cs typeface="Helvetica Neue"/>
              </a:rPr>
              <a:t>mechanically followed prompts. They had limited questioning beyond the initial responses offered by the AI.</a:t>
            </a:r>
          </a:p>
          <a:p>
            <a:pPr algn="l">
              <a:buNone/>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algn="l">
              <a:buNone/>
              <a:defRPr sz="2325" b="0" i="0">
                <a:solidFill>
                  <a:srgbClr val="1C2B39"/>
                </a:solidFill>
                <a:latin typeface="Helvetica Neue"/>
                <a:ea typeface="Helvetica Neue"/>
                <a:cs typeface="Helvetica Neue"/>
              </a:defRPr>
            </a:pPr>
            <a:r>
              <a:rPr lang="en-US" sz="2800" b="0" i="0" dirty="0">
                <a:solidFill>
                  <a:srgbClr val="1C2B39"/>
                </a:solidFill>
                <a:latin typeface="Helvetica Neue"/>
                <a:ea typeface="Helvetica Neue"/>
                <a:cs typeface="Helvetica Neue"/>
              </a:rPr>
              <a:t>T</a:t>
            </a:r>
            <a:r>
              <a:rPr sz="2800" b="0" i="0" dirty="0">
                <a:solidFill>
                  <a:srgbClr val="1C2B39"/>
                </a:solidFill>
                <a:latin typeface="Helvetica Neue"/>
                <a:ea typeface="Helvetica Neue"/>
                <a:cs typeface="Helvetica Neue"/>
              </a:rPr>
              <a:t>hree </a:t>
            </a:r>
            <a:r>
              <a:rPr lang="en-US" sz="2800" b="0" i="0" dirty="0">
                <a:solidFill>
                  <a:srgbClr val="1C2B39"/>
                </a:solidFill>
                <a:latin typeface="Helvetica Neue"/>
                <a:ea typeface="Helvetica Neue"/>
                <a:cs typeface="Helvetica Neue"/>
              </a:rPr>
              <a:t>had </a:t>
            </a:r>
            <a:r>
              <a:rPr lang="en-US" sz="2800" dirty="0">
                <a:solidFill>
                  <a:srgbClr val="1C2B39"/>
                </a:solidFill>
                <a:latin typeface="Helvetica Neue"/>
                <a:ea typeface="Helvetica Neue"/>
                <a:cs typeface="Helvetica Neue"/>
              </a:rPr>
              <a:t>minimal interactions with the computer.</a:t>
            </a:r>
          </a:p>
          <a:p>
            <a:pPr algn="l">
              <a:buNone/>
              <a:defRPr sz="2325" b="0" i="0">
                <a:solidFill>
                  <a:srgbClr val="1C2B39"/>
                </a:solidFill>
                <a:latin typeface="Helvetica Neue"/>
                <a:ea typeface="Helvetica Neue"/>
                <a:cs typeface="Helvetica Neue"/>
              </a:defRPr>
            </a:pPr>
            <a:endParaRPr lang="en-US" sz="2800" b="0" i="0" dirty="0">
              <a:solidFill>
                <a:srgbClr val="1C2B39"/>
              </a:solidFill>
              <a:latin typeface="Helvetica Neue"/>
              <a:ea typeface="Helvetica Neue"/>
              <a:cs typeface="Helvetica Neue"/>
            </a:endParaRPr>
          </a:p>
        </p:txBody>
      </p:sp>
      <p:sp>
        <p:nvSpPr>
          <p:cNvPr id="31" name="metric-evidence-rule">
            <a:extLst>
              <a:ext uri="{FF2B5EF4-FFF2-40B4-BE49-F238E27FC236}">
                <a16:creationId xmlns:a16="http://schemas.microsoft.com/office/drawing/2014/main" id="{175C5CF3-C62D-4F80-89C3-7EE79152C5A6}"/>
              </a:ext>
            </a:extLst>
          </p:cNvPr>
          <p:cNvSpPr>
            <a:spLocks noGrp="1"/>
          </p:cNvSpPr>
          <p:nvPr/>
        </p:nvSpPr>
        <p:spPr>
          <a:xfrm>
            <a:off x="1529339" y="29813471"/>
            <a:ext cx="4416552" cy="76200"/>
          </a:xfrm>
          <a:prstGeom prst="rect">
            <a:avLst/>
          </a:prstGeom>
          <a:solidFill>
            <a:srgbClr val="EAAA00"/>
          </a:solidFill>
          <a:ln w="0">
            <a:noFill/>
            <a:prstDash val="solid"/>
          </a:ln>
        </p:spPr>
        <p:txBody>
          <a:bodyPr/>
          <a:lstStyle/>
          <a:p>
            <a:endParaRPr lang="en-US"/>
          </a:p>
        </p:txBody>
      </p:sp>
      <p:sp>
        <p:nvSpPr>
          <p:cNvPr id="32" name="metric-evidence-value">
            <a:extLst>
              <a:ext uri="{FF2B5EF4-FFF2-40B4-BE49-F238E27FC236}">
                <a16:creationId xmlns:a16="http://schemas.microsoft.com/office/drawing/2014/main" id="{9695C3F4-3E67-45E8-8B8C-ABA0D144C417}"/>
              </a:ext>
            </a:extLst>
          </p:cNvPr>
          <p:cNvSpPr>
            <a:spLocks noGrp="1"/>
          </p:cNvSpPr>
          <p:nvPr/>
        </p:nvSpPr>
        <p:spPr>
          <a:xfrm>
            <a:off x="1529339" y="29984921"/>
            <a:ext cx="4416552" cy="857250"/>
          </a:xfrm>
          <a:prstGeom prst="rect">
            <a:avLst/>
          </a:prstGeom>
          <a:noFill/>
          <a:ln w="0">
            <a:noFill/>
            <a:prstDash val="solid"/>
          </a:ln>
        </p:spPr>
        <p:txBody>
          <a:bodyPr anchor="t"/>
          <a:lstStyle/>
          <a:p>
            <a:pPr algn="l">
              <a:buNone/>
              <a:defRPr sz="4950" b="1" i="0">
                <a:solidFill>
                  <a:srgbClr val="002855"/>
                </a:solidFill>
                <a:latin typeface="Helvetica Neue"/>
                <a:ea typeface="Helvetica Neue"/>
                <a:cs typeface="Helvetica Neue"/>
              </a:defRPr>
            </a:pPr>
            <a:r>
              <a:rPr sz="4950" b="1" i="0">
                <a:solidFill>
                  <a:srgbClr val="002855"/>
                </a:solidFill>
                <a:latin typeface="Helvetica Neue"/>
                <a:ea typeface="Helvetica Neue"/>
                <a:cs typeface="Helvetica Neue"/>
              </a:rPr>
              <a:t>8/17</a:t>
            </a:r>
          </a:p>
        </p:txBody>
      </p:sp>
      <p:sp>
        <p:nvSpPr>
          <p:cNvPr id="33" name="metric-evidence-label">
            <a:extLst>
              <a:ext uri="{FF2B5EF4-FFF2-40B4-BE49-F238E27FC236}">
                <a16:creationId xmlns:a16="http://schemas.microsoft.com/office/drawing/2014/main" id="{27821AC2-D56C-403B-8563-DFAEA82882F0}"/>
              </a:ext>
            </a:extLst>
          </p:cNvPr>
          <p:cNvSpPr>
            <a:spLocks noGrp="1"/>
          </p:cNvSpPr>
          <p:nvPr/>
        </p:nvSpPr>
        <p:spPr>
          <a:xfrm>
            <a:off x="1529339" y="30804071"/>
            <a:ext cx="4416552" cy="1066800"/>
          </a:xfrm>
          <a:prstGeom prst="rect">
            <a:avLst/>
          </a:prstGeom>
          <a:noFill/>
          <a:ln w="0">
            <a:noFill/>
            <a:prstDash val="solid"/>
          </a:ln>
        </p:spPr>
        <p:txBody>
          <a:bodyPr anchor="t"/>
          <a:lstStyle/>
          <a:p>
            <a:pPr algn="l">
              <a:buNone/>
              <a:defRPr sz="1950" b="0" i="0">
                <a:solidFill>
                  <a:srgbClr val="1C2B39"/>
                </a:solidFill>
                <a:latin typeface="Helvetica Neue"/>
                <a:ea typeface="Helvetica Neue"/>
                <a:cs typeface="Helvetica Neue"/>
              </a:defRPr>
            </a:pPr>
            <a:r>
              <a:rPr sz="1950" b="0" i="0">
                <a:solidFill>
                  <a:srgbClr val="1C2B39"/>
                </a:solidFill>
                <a:latin typeface="Helvetica Neue"/>
                <a:ea typeface="Helvetica Neue"/>
                <a:cs typeface="Helvetica Neue"/>
              </a:rPr>
              <a:t>explicitly pursued logs or transaction evidence</a:t>
            </a:r>
          </a:p>
        </p:txBody>
      </p:sp>
      <p:sp>
        <p:nvSpPr>
          <p:cNvPr id="34" name="metric-guidance-rule">
            <a:extLst>
              <a:ext uri="{FF2B5EF4-FFF2-40B4-BE49-F238E27FC236}">
                <a16:creationId xmlns:a16="http://schemas.microsoft.com/office/drawing/2014/main" id="{C8D2CADC-2221-4DFE-A8C0-D9634E29062A}"/>
              </a:ext>
            </a:extLst>
          </p:cNvPr>
          <p:cNvSpPr>
            <a:spLocks noGrp="1"/>
          </p:cNvSpPr>
          <p:nvPr/>
        </p:nvSpPr>
        <p:spPr>
          <a:xfrm>
            <a:off x="6617975" y="29813471"/>
            <a:ext cx="4512564" cy="76200"/>
          </a:xfrm>
          <a:prstGeom prst="rect">
            <a:avLst/>
          </a:prstGeom>
          <a:solidFill>
            <a:srgbClr val="EAAA00"/>
          </a:solidFill>
          <a:ln w="0">
            <a:noFill/>
            <a:prstDash val="solid"/>
          </a:ln>
        </p:spPr>
        <p:txBody>
          <a:bodyPr/>
          <a:lstStyle/>
          <a:p>
            <a:endParaRPr lang="en-US"/>
          </a:p>
        </p:txBody>
      </p:sp>
      <p:sp>
        <p:nvSpPr>
          <p:cNvPr id="35" name="metric-guidance-value">
            <a:extLst>
              <a:ext uri="{FF2B5EF4-FFF2-40B4-BE49-F238E27FC236}">
                <a16:creationId xmlns:a16="http://schemas.microsoft.com/office/drawing/2014/main" id="{E0118219-0595-4996-BF77-D74D378F2497}"/>
              </a:ext>
            </a:extLst>
          </p:cNvPr>
          <p:cNvSpPr>
            <a:spLocks noGrp="1"/>
          </p:cNvSpPr>
          <p:nvPr/>
        </p:nvSpPr>
        <p:spPr>
          <a:xfrm>
            <a:off x="6617975" y="29984921"/>
            <a:ext cx="4512564" cy="857250"/>
          </a:xfrm>
          <a:prstGeom prst="rect">
            <a:avLst/>
          </a:prstGeom>
          <a:noFill/>
          <a:ln w="0">
            <a:noFill/>
            <a:prstDash val="solid"/>
          </a:ln>
        </p:spPr>
        <p:txBody>
          <a:bodyPr anchor="t"/>
          <a:lstStyle/>
          <a:p>
            <a:pPr algn="l">
              <a:buNone/>
              <a:defRPr sz="4950" b="1" i="0">
                <a:solidFill>
                  <a:srgbClr val="002855"/>
                </a:solidFill>
                <a:latin typeface="Helvetica Neue"/>
                <a:ea typeface="Helvetica Neue"/>
                <a:cs typeface="Helvetica Neue"/>
              </a:defRPr>
            </a:pPr>
            <a:r>
              <a:rPr sz="4950" b="1" i="0">
                <a:solidFill>
                  <a:srgbClr val="002855"/>
                </a:solidFill>
                <a:latin typeface="Helvetica Neue"/>
                <a:ea typeface="Helvetica Neue"/>
                <a:cs typeface="Helvetica Neue"/>
              </a:rPr>
              <a:t>7/17</a:t>
            </a:r>
          </a:p>
        </p:txBody>
      </p:sp>
      <p:sp>
        <p:nvSpPr>
          <p:cNvPr id="36" name="metric-guidance-label">
            <a:extLst>
              <a:ext uri="{FF2B5EF4-FFF2-40B4-BE49-F238E27FC236}">
                <a16:creationId xmlns:a16="http://schemas.microsoft.com/office/drawing/2014/main" id="{984FCC66-C0B1-4C00-A137-D393DDD2094B}"/>
              </a:ext>
            </a:extLst>
          </p:cNvPr>
          <p:cNvSpPr>
            <a:spLocks noGrp="1"/>
          </p:cNvSpPr>
          <p:nvPr/>
        </p:nvSpPr>
        <p:spPr>
          <a:xfrm>
            <a:off x="6617975" y="30804071"/>
            <a:ext cx="4512564" cy="1066800"/>
          </a:xfrm>
          <a:prstGeom prst="rect">
            <a:avLst/>
          </a:prstGeom>
          <a:noFill/>
          <a:ln w="0">
            <a:noFill/>
            <a:prstDash val="solid"/>
          </a:ln>
        </p:spPr>
        <p:txBody>
          <a:bodyPr anchor="t"/>
          <a:lstStyle/>
          <a:p>
            <a:pPr algn="l">
              <a:buNone/>
              <a:defRPr sz="1950" b="0" i="0">
                <a:solidFill>
                  <a:srgbClr val="1C2B39"/>
                </a:solidFill>
                <a:latin typeface="Helvetica Neue"/>
                <a:ea typeface="Helvetica Neue"/>
                <a:cs typeface="Helvetica Neue"/>
              </a:defRPr>
            </a:pPr>
            <a:r>
              <a:rPr sz="1950" b="0" i="0">
                <a:solidFill>
                  <a:srgbClr val="1C2B39"/>
                </a:solidFill>
                <a:latin typeface="Helvetica Neue"/>
                <a:ea typeface="Helvetica Neue"/>
                <a:cs typeface="Helvetica Neue"/>
              </a:rPr>
              <a:t>noticeably relied on suggested questions</a:t>
            </a:r>
          </a:p>
        </p:txBody>
      </p:sp>
      <p:sp>
        <p:nvSpPr>
          <p:cNvPr id="37" name="prompt-section-band">
            <a:extLst>
              <a:ext uri="{FF2B5EF4-FFF2-40B4-BE49-F238E27FC236}">
                <a16:creationId xmlns:a16="http://schemas.microsoft.com/office/drawing/2014/main" id="{2C55E09A-0C75-4836-9880-0F02F165088E}"/>
              </a:ext>
            </a:extLst>
          </p:cNvPr>
          <p:cNvSpPr>
            <a:spLocks noGrp="1"/>
          </p:cNvSpPr>
          <p:nvPr/>
        </p:nvSpPr>
        <p:spPr>
          <a:xfrm>
            <a:off x="11942065" y="6890230"/>
            <a:ext cx="9601200" cy="933450"/>
          </a:xfrm>
          <a:prstGeom prst="rect">
            <a:avLst/>
          </a:prstGeom>
          <a:solidFill>
            <a:srgbClr val="002855"/>
          </a:solidFill>
          <a:ln w="0">
            <a:noFill/>
            <a:prstDash val="solid"/>
          </a:ln>
        </p:spPr>
        <p:txBody>
          <a:bodyPr/>
          <a:lstStyle/>
          <a:p>
            <a:endParaRPr lang="en-US"/>
          </a:p>
        </p:txBody>
      </p:sp>
      <p:sp>
        <p:nvSpPr>
          <p:cNvPr id="39" name="prompt-section-title">
            <a:extLst>
              <a:ext uri="{FF2B5EF4-FFF2-40B4-BE49-F238E27FC236}">
                <a16:creationId xmlns:a16="http://schemas.microsoft.com/office/drawing/2014/main" id="{A5F3A112-A722-40ED-A43C-97F6C484D870}"/>
              </a:ext>
            </a:extLst>
          </p:cNvPr>
          <p:cNvSpPr>
            <a:spLocks noGrp="1"/>
          </p:cNvSpPr>
          <p:nvPr/>
        </p:nvSpPr>
        <p:spPr>
          <a:xfrm>
            <a:off x="12213336" y="7042630"/>
            <a:ext cx="8420100" cy="590550"/>
          </a:xfrm>
          <a:prstGeom prst="rect">
            <a:avLst/>
          </a:prstGeom>
          <a:noFill/>
          <a:ln w="0">
            <a:noFill/>
            <a:prstDash val="solid"/>
          </a:ln>
        </p:spPr>
        <p:txBody>
          <a:bodyPr anchor="t"/>
          <a:lstStyle/>
          <a:p>
            <a:pPr algn="l">
              <a:buNone/>
              <a:defRPr sz="3000" b="1" i="0">
                <a:solidFill>
                  <a:srgbClr val="FFFFFF"/>
                </a:solidFill>
                <a:latin typeface="Helvetica Neue"/>
                <a:ea typeface="Helvetica Neue"/>
                <a:cs typeface="Helvetica Neue"/>
              </a:defRPr>
            </a:pPr>
            <a:r>
              <a:rPr lang="en-US" sz="3000" b="1" i="0" dirty="0">
                <a:solidFill>
                  <a:srgbClr val="FFFFFF"/>
                </a:solidFill>
                <a:latin typeface="Helvetica Neue"/>
                <a:ea typeface="Helvetica Neue"/>
                <a:cs typeface="Helvetica Neue"/>
              </a:rPr>
              <a:t>Case Setup</a:t>
            </a:r>
            <a:endParaRPr sz="3000" b="1" i="0" dirty="0">
              <a:solidFill>
                <a:srgbClr val="FFFFFF"/>
              </a:solidFill>
              <a:latin typeface="Helvetica Neue"/>
              <a:ea typeface="Helvetica Neue"/>
              <a:cs typeface="Helvetica Neue"/>
            </a:endParaRPr>
          </a:p>
        </p:txBody>
      </p:sp>
      <p:sp>
        <p:nvSpPr>
          <p:cNvPr id="47" name="coercive-prompt-quote">
            <a:extLst>
              <a:ext uri="{FF2B5EF4-FFF2-40B4-BE49-F238E27FC236}">
                <a16:creationId xmlns:a16="http://schemas.microsoft.com/office/drawing/2014/main" id="{CA765F7A-3B0F-4EF0-A0E2-E634488E6092}"/>
              </a:ext>
            </a:extLst>
          </p:cNvPr>
          <p:cNvSpPr>
            <a:spLocks noGrp="1"/>
          </p:cNvSpPr>
          <p:nvPr/>
        </p:nvSpPr>
        <p:spPr>
          <a:xfrm>
            <a:off x="12092180" y="19826509"/>
            <a:ext cx="9601200" cy="2381250"/>
          </a:xfrm>
          <a:prstGeom prst="rect">
            <a:avLst/>
          </a:prstGeom>
          <a:noFill/>
          <a:ln w="0">
            <a:noFill/>
            <a:prstDash val="solid"/>
          </a:ln>
        </p:spPr>
        <p:txBody>
          <a:bodyPr anchor="t"/>
          <a:lstStyle/>
          <a:p>
            <a:pPr>
              <a:defRPr sz="2175" b="0" i="0">
                <a:solidFill>
                  <a:srgbClr val="1C2B39"/>
                </a:solidFill>
                <a:latin typeface="Helvetica Neue"/>
                <a:ea typeface="Helvetica Neue"/>
                <a:cs typeface="Helvetica Neue"/>
              </a:defRPr>
            </a:pPr>
            <a:r>
              <a:rPr lang="en-US" sz="2800" b="1" dirty="0">
                <a:solidFill>
                  <a:srgbClr val="0062A3"/>
                </a:solidFill>
                <a:latin typeface="Helvetica Neue"/>
                <a:ea typeface="Helvetica Neue"/>
                <a:cs typeface="Helvetica Neue"/>
              </a:rPr>
              <a:t>Evidence-led follow-up</a:t>
            </a:r>
            <a:endParaRPr lang="en-US" sz="2800" b="0" i="0" dirty="0">
              <a:solidFill>
                <a:srgbClr val="1C2B39"/>
              </a:solidFill>
              <a:latin typeface="Helvetica Neue"/>
              <a:ea typeface="Helvetica Neue"/>
              <a:cs typeface="Helvetica Neue"/>
            </a:endParaRPr>
          </a:p>
          <a:p>
            <a:pPr>
              <a:defRPr sz="2175" b="0" i="0">
                <a:solidFill>
                  <a:srgbClr val="1C2B39"/>
                </a:solidFill>
                <a:latin typeface="Helvetica Neue"/>
                <a:ea typeface="Helvetica Neue"/>
                <a:cs typeface="Helvetica Neue"/>
              </a:defRPr>
            </a:pPr>
            <a:r>
              <a:rPr lang="en-US" sz="2800" i="1" dirty="0">
                <a:solidFill>
                  <a:srgbClr val="1C2B39"/>
                </a:solidFill>
                <a:latin typeface="Helvetica Neue"/>
                <a:ea typeface="Helvetica Neue"/>
                <a:cs typeface="Helvetica Neue"/>
              </a:rPr>
              <a:t>“Can we check if stop-payments were actually issued or if the original checks were voided before the second ones went out?”</a:t>
            </a:r>
          </a:p>
          <a:p>
            <a:pPr>
              <a:defRPr sz="2175" b="0" i="0">
                <a:solidFill>
                  <a:srgbClr val="1C2B39"/>
                </a:solidFill>
                <a:latin typeface="Helvetica Neue"/>
                <a:ea typeface="Helvetica Neue"/>
                <a:cs typeface="Helvetica Neue"/>
              </a:defRPr>
            </a:pPr>
            <a:endParaRPr lang="en-US" sz="2800" i="1" dirty="0">
              <a:solidFill>
                <a:srgbClr val="1C2B39"/>
              </a:solidFill>
              <a:latin typeface="Helvetica Neue"/>
              <a:ea typeface="Helvetica Neue"/>
              <a:cs typeface="Helvetica Neue"/>
            </a:endParaRPr>
          </a:p>
          <a:p>
            <a:pPr>
              <a:defRPr sz="2175" b="0" i="0">
                <a:solidFill>
                  <a:srgbClr val="1C2B39"/>
                </a:solidFill>
                <a:latin typeface="Helvetica Neue"/>
                <a:ea typeface="Helvetica Neue"/>
                <a:cs typeface="Helvetica Neue"/>
              </a:defRPr>
            </a:pPr>
            <a:r>
              <a:rPr lang="en-US" sz="2800" b="1" dirty="0">
                <a:solidFill>
                  <a:srgbClr val="8D4638"/>
                </a:solidFill>
                <a:latin typeface="Helvetica Neue"/>
                <a:ea typeface="Helvetica Neue"/>
                <a:cs typeface="Helvetica Neue"/>
              </a:rPr>
              <a:t>Leading premise</a:t>
            </a:r>
          </a:p>
          <a:p>
            <a:pPr>
              <a:defRPr sz="2175" b="0" i="0">
                <a:solidFill>
                  <a:srgbClr val="1C2B39"/>
                </a:solidFill>
                <a:latin typeface="Helvetica Neue"/>
                <a:ea typeface="Helvetica Neue"/>
                <a:cs typeface="Helvetica Neue"/>
              </a:defRPr>
            </a:pPr>
            <a:r>
              <a:rPr lang="en-US" sz="2800" i="1" dirty="0">
                <a:solidFill>
                  <a:srgbClr val="1C2B39"/>
                </a:solidFill>
                <a:latin typeface="Helvetica Neue"/>
                <a:ea typeface="Helvetica Neue"/>
                <a:cs typeface="Helvetica Neue"/>
              </a:rPr>
              <a:t>“How did you not notice you were sending two checks for the same invoice?”</a:t>
            </a:r>
            <a:endParaRPr lang="en-US" sz="2800" b="1" dirty="0">
              <a:solidFill>
                <a:srgbClr val="8D4638"/>
              </a:solidFill>
              <a:latin typeface="Helvetica Neue"/>
              <a:ea typeface="Helvetica Neue"/>
              <a:cs typeface="Helvetica Neue"/>
            </a:endParaRPr>
          </a:p>
          <a:p>
            <a:pPr>
              <a:defRPr sz="2175" b="0" i="0">
                <a:solidFill>
                  <a:srgbClr val="1C2B39"/>
                </a:solidFill>
                <a:latin typeface="Helvetica Neue"/>
                <a:ea typeface="Helvetica Neue"/>
                <a:cs typeface="Helvetica Neue"/>
              </a:defRPr>
            </a:pPr>
            <a:endParaRPr lang="en-US" sz="2800" i="1" dirty="0">
              <a:solidFill>
                <a:srgbClr val="1C2B39"/>
              </a:solidFill>
              <a:latin typeface="Helvetica Neue"/>
              <a:ea typeface="Helvetica Neue"/>
              <a:cs typeface="Helvetica Neue"/>
            </a:endParaRPr>
          </a:p>
          <a:p>
            <a:pPr>
              <a:defRPr sz="2175" b="0" i="0">
                <a:solidFill>
                  <a:srgbClr val="1C2B39"/>
                </a:solidFill>
                <a:latin typeface="Helvetica Neue"/>
                <a:ea typeface="Helvetica Neue"/>
                <a:cs typeface="Helvetica Neue"/>
              </a:defRPr>
            </a:pPr>
            <a:r>
              <a:rPr lang="en-US" sz="2800" b="1" dirty="0">
                <a:solidFill>
                  <a:srgbClr val="8D4638"/>
                </a:solidFill>
                <a:latin typeface="Helvetica Neue"/>
                <a:ea typeface="Helvetica Neue"/>
                <a:cs typeface="Helvetica Neue"/>
              </a:rPr>
              <a:t>Professionalism failure</a:t>
            </a:r>
            <a:endParaRPr lang="en-US" sz="2800" b="0" i="0" dirty="0">
              <a:solidFill>
                <a:srgbClr val="1C2B39"/>
              </a:solidFill>
              <a:latin typeface="Helvetica Neue"/>
              <a:ea typeface="Helvetica Neue"/>
              <a:cs typeface="Helvetica Neue"/>
            </a:endParaRPr>
          </a:p>
          <a:p>
            <a:pPr algn="l">
              <a:buNone/>
              <a:defRPr sz="2175" b="0" i="0">
                <a:solidFill>
                  <a:srgbClr val="1C2B39"/>
                </a:solidFill>
                <a:latin typeface="Helvetica Neue"/>
                <a:ea typeface="Helvetica Neue"/>
                <a:cs typeface="Helvetica Neue"/>
              </a:defRPr>
            </a:pPr>
            <a:r>
              <a:rPr sz="2800" b="0" i="1" dirty="0">
                <a:solidFill>
                  <a:srgbClr val="1C2B39"/>
                </a:solidFill>
                <a:latin typeface="Helvetica Neue"/>
                <a:ea typeface="Helvetica Neue"/>
                <a:cs typeface="Helvetica Neue"/>
              </a:rPr>
              <a:t>One student threatened police involvement while offering a lesser punishment for “honesty.” The chatbot rejected the coercive approach.</a:t>
            </a:r>
          </a:p>
        </p:txBody>
      </p:sp>
      <p:sp>
        <p:nvSpPr>
          <p:cNvPr id="48" name="drift-section-band">
            <a:extLst>
              <a:ext uri="{FF2B5EF4-FFF2-40B4-BE49-F238E27FC236}">
                <a16:creationId xmlns:a16="http://schemas.microsoft.com/office/drawing/2014/main" id="{8CDCD45B-72CD-4954-B114-5AA9239BDD55}"/>
              </a:ext>
            </a:extLst>
          </p:cNvPr>
          <p:cNvSpPr>
            <a:spLocks noGrp="1"/>
          </p:cNvSpPr>
          <p:nvPr/>
        </p:nvSpPr>
        <p:spPr>
          <a:xfrm>
            <a:off x="22288500" y="6905625"/>
            <a:ext cx="9601200" cy="933450"/>
          </a:xfrm>
          <a:prstGeom prst="rect">
            <a:avLst/>
          </a:prstGeom>
          <a:solidFill>
            <a:srgbClr val="002855"/>
          </a:solidFill>
          <a:ln w="0">
            <a:noFill/>
            <a:prstDash val="solid"/>
          </a:ln>
        </p:spPr>
        <p:txBody>
          <a:bodyPr/>
          <a:lstStyle/>
          <a:p>
            <a:endParaRPr lang="en-US"/>
          </a:p>
        </p:txBody>
      </p:sp>
      <p:sp>
        <p:nvSpPr>
          <p:cNvPr id="50" name="drift-section-title">
            <a:extLst>
              <a:ext uri="{FF2B5EF4-FFF2-40B4-BE49-F238E27FC236}">
                <a16:creationId xmlns:a16="http://schemas.microsoft.com/office/drawing/2014/main" id="{A163C5BA-6D11-4A0A-9A5C-0BA2CD3A9B35}"/>
              </a:ext>
            </a:extLst>
          </p:cNvPr>
          <p:cNvSpPr>
            <a:spLocks noGrp="1"/>
          </p:cNvSpPr>
          <p:nvPr/>
        </p:nvSpPr>
        <p:spPr>
          <a:xfrm>
            <a:off x="22536150" y="7084699"/>
            <a:ext cx="8420100" cy="590550"/>
          </a:xfrm>
          <a:prstGeom prst="rect">
            <a:avLst/>
          </a:prstGeom>
          <a:noFill/>
          <a:ln w="0">
            <a:noFill/>
            <a:prstDash val="solid"/>
          </a:ln>
        </p:spPr>
        <p:txBody>
          <a:bodyPr anchor="t"/>
          <a:lstStyle/>
          <a:p>
            <a:pPr algn="l">
              <a:buNone/>
              <a:defRPr sz="3000" b="1" i="0">
                <a:solidFill>
                  <a:srgbClr val="FFFFFF"/>
                </a:solidFill>
                <a:latin typeface="Helvetica Neue"/>
                <a:ea typeface="Helvetica Neue"/>
                <a:cs typeface="Helvetica Neue"/>
              </a:defRPr>
            </a:pPr>
            <a:r>
              <a:rPr lang="en-US" sz="3000" b="1" i="0" dirty="0">
                <a:solidFill>
                  <a:srgbClr val="FFFFFF"/>
                </a:solidFill>
                <a:latin typeface="Helvetica Neue"/>
                <a:ea typeface="Helvetica Neue"/>
                <a:cs typeface="Helvetica Neue"/>
              </a:rPr>
              <a:t>Problem 2: Inconsistency</a:t>
            </a:r>
            <a:endParaRPr sz="3000" b="1" i="0" dirty="0">
              <a:solidFill>
                <a:srgbClr val="FFFFFF"/>
              </a:solidFill>
              <a:latin typeface="Helvetica Neue"/>
              <a:ea typeface="Helvetica Neue"/>
              <a:cs typeface="Helvetica Neue"/>
            </a:endParaRPr>
          </a:p>
        </p:txBody>
      </p:sp>
      <p:sp>
        <p:nvSpPr>
          <p:cNvPr id="51" name="drift-intro">
            <a:extLst>
              <a:ext uri="{FF2B5EF4-FFF2-40B4-BE49-F238E27FC236}">
                <a16:creationId xmlns:a16="http://schemas.microsoft.com/office/drawing/2014/main" id="{ABA2AFAF-B44A-44D3-A10B-F52A5A366700}"/>
              </a:ext>
            </a:extLst>
          </p:cNvPr>
          <p:cNvSpPr>
            <a:spLocks noGrp="1"/>
          </p:cNvSpPr>
          <p:nvPr/>
        </p:nvSpPr>
        <p:spPr>
          <a:xfrm>
            <a:off x="22288500" y="8096250"/>
            <a:ext cx="9601200" cy="1381125"/>
          </a:xfrm>
          <a:prstGeom prst="rect">
            <a:avLst/>
          </a:prstGeom>
          <a:noFill/>
          <a:ln w="0">
            <a:noFill/>
            <a:prstDash val="solid"/>
          </a:ln>
        </p:spPr>
        <p:txBody>
          <a:bodyPr anchor="t"/>
          <a:lstStyle/>
          <a:p>
            <a:pPr algn="l">
              <a:buNone/>
              <a:defRPr sz="2325" b="1" i="0">
                <a:solidFill>
                  <a:srgbClr val="1C2B39"/>
                </a:solidFill>
                <a:latin typeface="Helvetica Neue"/>
                <a:ea typeface="Helvetica Neue"/>
                <a:cs typeface="Helvetica Neue"/>
              </a:defRPr>
            </a:pPr>
            <a:r>
              <a:rPr lang="en-US" sz="2800" i="0" dirty="0">
                <a:solidFill>
                  <a:srgbClr val="1C2B39"/>
                </a:solidFill>
                <a:latin typeface="Helvetica Neue"/>
                <a:ea typeface="Helvetica Neue"/>
                <a:cs typeface="Helvetica Neue"/>
              </a:rPr>
              <a:t>While getting core facts correct, the LLM tended to speculate under detailed questioning. </a:t>
            </a:r>
            <a:endParaRPr sz="2800" i="0" dirty="0">
              <a:solidFill>
                <a:srgbClr val="1C2B39"/>
              </a:solidFill>
              <a:latin typeface="Helvetica Neue"/>
              <a:ea typeface="Helvetica Neue"/>
              <a:cs typeface="Helvetica Neue"/>
            </a:endParaRPr>
          </a:p>
        </p:txBody>
      </p:sp>
      <p:sp>
        <p:nvSpPr>
          <p:cNvPr id="52" name="drift-payment-label">
            <a:extLst>
              <a:ext uri="{FF2B5EF4-FFF2-40B4-BE49-F238E27FC236}">
                <a16:creationId xmlns:a16="http://schemas.microsoft.com/office/drawing/2014/main" id="{748B80E0-F849-4979-86D9-7C2E9C0A7CC5}"/>
              </a:ext>
            </a:extLst>
          </p:cNvPr>
          <p:cNvSpPr>
            <a:spLocks noGrp="1"/>
          </p:cNvSpPr>
          <p:nvPr/>
        </p:nvSpPr>
        <p:spPr>
          <a:xfrm>
            <a:off x="22288500" y="9395734"/>
            <a:ext cx="2784348" cy="2057400"/>
          </a:xfrm>
          <a:prstGeom prst="rect">
            <a:avLst/>
          </a:prstGeom>
          <a:noFill/>
          <a:ln w="0">
            <a:noFill/>
            <a:prstDash val="solid"/>
          </a:ln>
        </p:spPr>
        <p:txBody>
          <a:bodyPr anchor="t"/>
          <a:lstStyle/>
          <a:p>
            <a:pPr algn="l">
              <a:buNone/>
              <a:defRPr sz="2100" b="1" i="0">
                <a:solidFill>
                  <a:srgbClr val="1C2B39"/>
                </a:solidFill>
                <a:latin typeface="Helvetica Neue"/>
                <a:ea typeface="Helvetica Neue"/>
                <a:cs typeface="Helvetica Neue"/>
              </a:defRPr>
            </a:pPr>
            <a:r>
              <a:rPr sz="2100" b="1" i="0" dirty="0">
                <a:solidFill>
                  <a:srgbClr val="1C2B39"/>
                </a:solidFill>
                <a:latin typeface="Helvetica Neue"/>
                <a:ea typeface="Helvetica Neue"/>
                <a:cs typeface="Helvetica Neue"/>
              </a:rPr>
              <a:t>Payment pattern</a:t>
            </a:r>
          </a:p>
        </p:txBody>
      </p:sp>
      <p:sp>
        <p:nvSpPr>
          <p:cNvPr id="53" name="drift-payment-variants">
            <a:extLst>
              <a:ext uri="{FF2B5EF4-FFF2-40B4-BE49-F238E27FC236}">
                <a16:creationId xmlns:a16="http://schemas.microsoft.com/office/drawing/2014/main" id="{375AE9F6-F090-46E4-90AD-5A1AF75A107A}"/>
              </a:ext>
            </a:extLst>
          </p:cNvPr>
          <p:cNvSpPr>
            <a:spLocks noGrp="1"/>
          </p:cNvSpPr>
          <p:nvPr/>
        </p:nvSpPr>
        <p:spPr>
          <a:xfrm>
            <a:off x="25264872" y="9395734"/>
            <a:ext cx="6624828" cy="2057400"/>
          </a:xfrm>
          <a:prstGeom prst="rect">
            <a:avLst/>
          </a:prstGeom>
          <a:noFill/>
          <a:ln w="0">
            <a:noFill/>
            <a:prstDash val="solid"/>
          </a:ln>
        </p:spPr>
        <p:txBody>
          <a:bodyPr anchor="t"/>
          <a:lstStyle/>
          <a:p>
            <a:pPr algn="l">
              <a:buNone/>
              <a:defRPr sz="2025" b="0" i="0">
                <a:solidFill>
                  <a:srgbClr val="1C2B39"/>
                </a:solidFill>
                <a:latin typeface="Helvetica Neue"/>
                <a:ea typeface="Helvetica Neue"/>
                <a:cs typeface="Helvetica Neue"/>
              </a:defRPr>
            </a:pPr>
            <a:r>
              <a:rPr sz="2025" b="0" i="0" dirty="0">
                <a:solidFill>
                  <a:srgbClr val="1C2B39"/>
                </a:solidFill>
                <a:latin typeface="Helvetica Neue"/>
                <a:ea typeface="Helvetica Neue"/>
                <a:cs typeface="Helvetica Neue"/>
              </a:rPr>
              <a:t>Two full duplicate checks vs. one, two, or three additional $999 payments</a:t>
            </a:r>
          </a:p>
        </p:txBody>
      </p:sp>
      <p:sp>
        <p:nvSpPr>
          <p:cNvPr id="55" name="drift-path-label">
            <a:extLst>
              <a:ext uri="{FF2B5EF4-FFF2-40B4-BE49-F238E27FC236}">
                <a16:creationId xmlns:a16="http://schemas.microsoft.com/office/drawing/2014/main" id="{B2C25843-1F57-47F3-8063-EE76EB9BD3DB}"/>
              </a:ext>
            </a:extLst>
          </p:cNvPr>
          <p:cNvSpPr>
            <a:spLocks noGrp="1"/>
          </p:cNvSpPr>
          <p:nvPr/>
        </p:nvSpPr>
        <p:spPr>
          <a:xfrm>
            <a:off x="22288500" y="10243459"/>
            <a:ext cx="2784348" cy="2009775"/>
          </a:xfrm>
          <a:prstGeom prst="rect">
            <a:avLst/>
          </a:prstGeom>
          <a:noFill/>
          <a:ln w="0">
            <a:noFill/>
            <a:prstDash val="solid"/>
          </a:ln>
        </p:spPr>
        <p:txBody>
          <a:bodyPr anchor="t"/>
          <a:lstStyle/>
          <a:p>
            <a:pPr algn="l">
              <a:buNone/>
              <a:defRPr sz="2100" b="1" i="0">
                <a:solidFill>
                  <a:srgbClr val="1C2B39"/>
                </a:solidFill>
                <a:latin typeface="Helvetica Neue"/>
                <a:ea typeface="Helvetica Neue"/>
                <a:cs typeface="Helvetica Neue"/>
              </a:defRPr>
            </a:pPr>
            <a:r>
              <a:rPr sz="2100" b="1" i="0" dirty="0">
                <a:solidFill>
                  <a:srgbClr val="1C2B39"/>
                </a:solidFill>
                <a:latin typeface="Helvetica Neue"/>
                <a:ea typeface="Helvetica Neue"/>
                <a:cs typeface="Helvetica Neue"/>
              </a:rPr>
              <a:t>Transaction path</a:t>
            </a:r>
          </a:p>
        </p:txBody>
      </p:sp>
      <p:sp>
        <p:nvSpPr>
          <p:cNvPr id="56" name="drift-path-variants">
            <a:extLst>
              <a:ext uri="{FF2B5EF4-FFF2-40B4-BE49-F238E27FC236}">
                <a16:creationId xmlns:a16="http://schemas.microsoft.com/office/drawing/2014/main" id="{1E156401-31D6-44A4-8A29-AE6B0BAE1B8E}"/>
              </a:ext>
            </a:extLst>
          </p:cNvPr>
          <p:cNvSpPr>
            <a:spLocks noGrp="1"/>
          </p:cNvSpPr>
          <p:nvPr/>
        </p:nvSpPr>
        <p:spPr>
          <a:xfrm>
            <a:off x="25264872" y="10243459"/>
            <a:ext cx="6624828" cy="2009775"/>
          </a:xfrm>
          <a:prstGeom prst="rect">
            <a:avLst/>
          </a:prstGeom>
          <a:noFill/>
          <a:ln w="0">
            <a:noFill/>
            <a:prstDash val="solid"/>
          </a:ln>
        </p:spPr>
        <p:txBody>
          <a:bodyPr anchor="t"/>
          <a:lstStyle/>
          <a:p>
            <a:pPr algn="l">
              <a:buNone/>
              <a:defRPr sz="2025" b="0" i="0">
                <a:solidFill>
                  <a:srgbClr val="1C2B39"/>
                </a:solidFill>
                <a:latin typeface="Helvetica Neue"/>
                <a:ea typeface="Helvetica Neue"/>
                <a:cs typeface="Helvetica Neue"/>
              </a:defRPr>
            </a:pPr>
            <a:r>
              <a:rPr sz="2025" b="0" i="0" dirty="0">
                <a:solidFill>
                  <a:srgbClr val="1C2B39"/>
                </a:solidFill>
                <a:latin typeface="Helvetica Neue"/>
                <a:ea typeface="Helvetica Neue"/>
                <a:cs typeface="Helvetica Neue"/>
              </a:rPr>
              <a:t>Manual entry inside the ERP vs. outside AP vs. “outside the system entirely”</a:t>
            </a:r>
          </a:p>
        </p:txBody>
      </p:sp>
      <p:sp>
        <p:nvSpPr>
          <p:cNvPr id="58" name="drift-controls-label">
            <a:extLst>
              <a:ext uri="{FF2B5EF4-FFF2-40B4-BE49-F238E27FC236}">
                <a16:creationId xmlns:a16="http://schemas.microsoft.com/office/drawing/2014/main" id="{E6CA0C34-693A-4F12-9B5A-7C6F757B3723}"/>
              </a:ext>
            </a:extLst>
          </p:cNvPr>
          <p:cNvSpPr>
            <a:spLocks noGrp="1"/>
          </p:cNvSpPr>
          <p:nvPr/>
        </p:nvSpPr>
        <p:spPr>
          <a:xfrm>
            <a:off x="22288500" y="11195959"/>
            <a:ext cx="2784348" cy="1914525"/>
          </a:xfrm>
          <a:prstGeom prst="rect">
            <a:avLst/>
          </a:prstGeom>
          <a:noFill/>
          <a:ln w="0">
            <a:noFill/>
            <a:prstDash val="solid"/>
          </a:ln>
        </p:spPr>
        <p:txBody>
          <a:bodyPr anchor="t"/>
          <a:lstStyle/>
          <a:p>
            <a:pPr algn="l">
              <a:buNone/>
              <a:defRPr sz="2100" b="1" i="0">
                <a:solidFill>
                  <a:srgbClr val="1C2B39"/>
                </a:solidFill>
                <a:latin typeface="Helvetica Neue"/>
                <a:ea typeface="Helvetica Neue"/>
                <a:cs typeface="Helvetica Neue"/>
              </a:defRPr>
            </a:pPr>
            <a:r>
              <a:rPr sz="2100" b="1" i="0">
                <a:solidFill>
                  <a:srgbClr val="1C2B39"/>
                </a:solidFill>
                <a:latin typeface="Helvetica Neue"/>
                <a:ea typeface="Helvetica Neue"/>
                <a:cs typeface="Helvetica Neue"/>
              </a:rPr>
              <a:t>Duplicate control</a:t>
            </a:r>
          </a:p>
        </p:txBody>
      </p:sp>
      <p:sp>
        <p:nvSpPr>
          <p:cNvPr id="59" name="drift-controls-variants">
            <a:extLst>
              <a:ext uri="{FF2B5EF4-FFF2-40B4-BE49-F238E27FC236}">
                <a16:creationId xmlns:a16="http://schemas.microsoft.com/office/drawing/2014/main" id="{487998EC-F25C-416C-943D-47CEF1F83452}"/>
              </a:ext>
            </a:extLst>
          </p:cNvPr>
          <p:cNvSpPr>
            <a:spLocks noGrp="1"/>
          </p:cNvSpPr>
          <p:nvPr/>
        </p:nvSpPr>
        <p:spPr>
          <a:xfrm>
            <a:off x="25264872" y="11195959"/>
            <a:ext cx="6624828" cy="1914525"/>
          </a:xfrm>
          <a:prstGeom prst="rect">
            <a:avLst/>
          </a:prstGeom>
          <a:noFill/>
          <a:ln w="0">
            <a:noFill/>
            <a:prstDash val="solid"/>
          </a:ln>
        </p:spPr>
        <p:txBody>
          <a:bodyPr anchor="t"/>
          <a:lstStyle/>
          <a:p>
            <a:pPr algn="l">
              <a:buNone/>
              <a:defRPr sz="2025" b="0" i="0">
                <a:solidFill>
                  <a:srgbClr val="1C2B39"/>
                </a:solidFill>
                <a:latin typeface="Helvetica Neue"/>
                <a:ea typeface="Helvetica Neue"/>
                <a:cs typeface="Helvetica Neue"/>
              </a:defRPr>
            </a:pPr>
            <a:r>
              <a:rPr sz="2025" b="0" i="0">
                <a:solidFill>
                  <a:srgbClr val="1C2B39"/>
                </a:solidFill>
                <a:latin typeface="Helvetica Neue"/>
                <a:ea typeface="Helvetica Neue"/>
                <a:cs typeface="Helvetica Neue"/>
              </a:rPr>
              <a:t>No flag vs. warning that can be overridden vs. configuration unknown</a:t>
            </a:r>
          </a:p>
        </p:txBody>
      </p:sp>
      <p:sp>
        <p:nvSpPr>
          <p:cNvPr id="61" name="drift-access-label">
            <a:extLst>
              <a:ext uri="{FF2B5EF4-FFF2-40B4-BE49-F238E27FC236}">
                <a16:creationId xmlns:a16="http://schemas.microsoft.com/office/drawing/2014/main" id="{8B132BDA-8F86-438D-A677-7DD6FCBD69E1}"/>
              </a:ext>
            </a:extLst>
          </p:cNvPr>
          <p:cNvSpPr>
            <a:spLocks noGrp="1"/>
          </p:cNvSpPr>
          <p:nvPr/>
        </p:nvSpPr>
        <p:spPr>
          <a:xfrm>
            <a:off x="22288500" y="12038922"/>
            <a:ext cx="2784348" cy="2200275"/>
          </a:xfrm>
          <a:prstGeom prst="rect">
            <a:avLst/>
          </a:prstGeom>
          <a:noFill/>
          <a:ln w="0">
            <a:noFill/>
            <a:prstDash val="solid"/>
          </a:ln>
        </p:spPr>
        <p:txBody>
          <a:bodyPr anchor="t"/>
          <a:lstStyle/>
          <a:p>
            <a:pPr algn="l">
              <a:buNone/>
              <a:defRPr sz="2100" b="1" i="0">
                <a:solidFill>
                  <a:srgbClr val="1C2B39"/>
                </a:solidFill>
                <a:latin typeface="Helvetica Neue"/>
                <a:ea typeface="Helvetica Neue"/>
                <a:cs typeface="Helvetica Neue"/>
              </a:defRPr>
            </a:pPr>
            <a:r>
              <a:rPr sz="2100" b="1" i="0">
                <a:solidFill>
                  <a:srgbClr val="1C2B39"/>
                </a:solidFill>
                <a:latin typeface="Helvetica Neue"/>
                <a:ea typeface="Helvetica Neue"/>
                <a:cs typeface="Helvetica Neue"/>
              </a:rPr>
              <a:t>Permissions</a:t>
            </a:r>
          </a:p>
        </p:txBody>
      </p:sp>
      <p:sp>
        <p:nvSpPr>
          <p:cNvPr id="62" name="drift-access-variants">
            <a:extLst>
              <a:ext uri="{FF2B5EF4-FFF2-40B4-BE49-F238E27FC236}">
                <a16:creationId xmlns:a16="http://schemas.microsoft.com/office/drawing/2014/main" id="{6ABE8FBC-00C0-4C4A-A277-665BAF2F7EFA}"/>
              </a:ext>
            </a:extLst>
          </p:cNvPr>
          <p:cNvSpPr>
            <a:spLocks noGrp="1"/>
          </p:cNvSpPr>
          <p:nvPr/>
        </p:nvSpPr>
        <p:spPr>
          <a:xfrm>
            <a:off x="25264872" y="12038922"/>
            <a:ext cx="6624828" cy="2200275"/>
          </a:xfrm>
          <a:prstGeom prst="rect">
            <a:avLst/>
          </a:prstGeom>
          <a:noFill/>
          <a:ln w="0">
            <a:noFill/>
            <a:prstDash val="solid"/>
          </a:ln>
        </p:spPr>
        <p:txBody>
          <a:bodyPr anchor="t"/>
          <a:lstStyle/>
          <a:p>
            <a:pPr algn="l">
              <a:buNone/>
              <a:defRPr sz="2025" b="0" i="0">
                <a:solidFill>
                  <a:srgbClr val="1C2B39"/>
                </a:solidFill>
                <a:latin typeface="Helvetica Neue"/>
                <a:ea typeface="Helvetica Neue"/>
                <a:cs typeface="Helvetica Neue"/>
              </a:defRPr>
            </a:pPr>
            <a:r>
              <a:rPr sz="2025" b="0" i="0" dirty="0">
                <a:solidFill>
                  <a:srgbClr val="1C2B39"/>
                </a:solidFill>
                <a:latin typeface="Helvetica Neue"/>
                <a:ea typeface="Helvetica Neue"/>
                <a:cs typeface="Helvetica Neue"/>
              </a:rPr>
              <a:t>CFO approves only vs. approves and creates; Alice has limited access vs. forensic-level visibility</a:t>
            </a:r>
          </a:p>
        </p:txBody>
      </p:sp>
      <p:sp>
        <p:nvSpPr>
          <p:cNvPr id="64" name="drift-narrative-label">
            <a:extLst>
              <a:ext uri="{FF2B5EF4-FFF2-40B4-BE49-F238E27FC236}">
                <a16:creationId xmlns:a16="http://schemas.microsoft.com/office/drawing/2014/main" id="{20E9DC09-43A0-4BB1-BE1C-ED33DD65D2D9}"/>
              </a:ext>
            </a:extLst>
          </p:cNvPr>
          <p:cNvSpPr>
            <a:spLocks noGrp="1"/>
          </p:cNvSpPr>
          <p:nvPr/>
        </p:nvSpPr>
        <p:spPr>
          <a:xfrm>
            <a:off x="22215349" y="12970330"/>
            <a:ext cx="2784348" cy="2152650"/>
          </a:xfrm>
          <a:prstGeom prst="rect">
            <a:avLst/>
          </a:prstGeom>
          <a:noFill/>
          <a:ln w="0">
            <a:noFill/>
            <a:prstDash val="solid"/>
          </a:ln>
        </p:spPr>
        <p:txBody>
          <a:bodyPr anchor="t"/>
          <a:lstStyle/>
          <a:p>
            <a:pPr algn="l">
              <a:buNone/>
              <a:defRPr sz="2100" b="1" i="0">
                <a:solidFill>
                  <a:srgbClr val="1C2B39"/>
                </a:solidFill>
                <a:latin typeface="Helvetica Neue"/>
                <a:ea typeface="Helvetica Neue"/>
                <a:cs typeface="Helvetica Neue"/>
              </a:defRPr>
            </a:pPr>
            <a:r>
              <a:rPr sz="2100" b="1" i="0" dirty="0">
                <a:solidFill>
                  <a:srgbClr val="1C2B39"/>
                </a:solidFill>
                <a:latin typeface="Helvetica Neue"/>
                <a:ea typeface="Helvetica Neue"/>
                <a:cs typeface="Helvetica Neue"/>
              </a:rPr>
              <a:t>Fraud narrative</a:t>
            </a:r>
          </a:p>
        </p:txBody>
      </p:sp>
      <p:sp>
        <p:nvSpPr>
          <p:cNvPr id="65" name="drift-narrative-variants">
            <a:extLst>
              <a:ext uri="{FF2B5EF4-FFF2-40B4-BE49-F238E27FC236}">
                <a16:creationId xmlns:a16="http://schemas.microsoft.com/office/drawing/2014/main" id="{6383092D-D2F2-4241-BD26-69C16F197328}"/>
              </a:ext>
            </a:extLst>
          </p:cNvPr>
          <p:cNvSpPr>
            <a:spLocks noGrp="1"/>
          </p:cNvSpPr>
          <p:nvPr/>
        </p:nvSpPr>
        <p:spPr>
          <a:xfrm>
            <a:off x="25191721" y="12970330"/>
            <a:ext cx="6624828" cy="2152650"/>
          </a:xfrm>
          <a:prstGeom prst="rect">
            <a:avLst/>
          </a:prstGeom>
          <a:noFill/>
          <a:ln w="0">
            <a:noFill/>
            <a:prstDash val="solid"/>
          </a:ln>
        </p:spPr>
        <p:txBody>
          <a:bodyPr anchor="t"/>
          <a:lstStyle/>
          <a:p>
            <a:pPr algn="l">
              <a:buNone/>
              <a:defRPr sz="2025" b="0" i="0">
                <a:solidFill>
                  <a:srgbClr val="1C2B39"/>
                </a:solidFill>
                <a:latin typeface="Helvetica Neue"/>
                <a:ea typeface="Helvetica Neue"/>
                <a:cs typeface="Helvetica Neue"/>
              </a:defRPr>
            </a:pPr>
            <a:r>
              <a:rPr sz="2025" b="0" i="0">
                <a:solidFill>
                  <a:srgbClr val="1C2B39"/>
                </a:solidFill>
                <a:latin typeface="Helvetica Neue"/>
                <a:ea typeface="Helvetica Neue"/>
                <a:cs typeface="Helvetica Neue"/>
              </a:rPr>
              <a:t>Clerical reprint error vs. management override vs. chatbot naming a “primary suspect”</a:t>
            </a:r>
          </a:p>
        </p:txBody>
      </p:sp>
      <p:sp>
        <p:nvSpPr>
          <p:cNvPr id="67" name="hallucination-box">
            <a:extLst>
              <a:ext uri="{FF2B5EF4-FFF2-40B4-BE49-F238E27FC236}">
                <a16:creationId xmlns:a16="http://schemas.microsoft.com/office/drawing/2014/main" id="{5C0D0DEF-F436-4506-B4AB-95C8EEABA124}"/>
              </a:ext>
            </a:extLst>
          </p:cNvPr>
          <p:cNvSpPr>
            <a:spLocks noGrp="1"/>
          </p:cNvSpPr>
          <p:nvPr/>
        </p:nvSpPr>
        <p:spPr>
          <a:xfrm>
            <a:off x="22169630" y="14401025"/>
            <a:ext cx="9601200" cy="3565659"/>
          </a:xfrm>
          <a:prstGeom prst="rect">
            <a:avLst/>
          </a:prstGeom>
          <a:solidFill>
            <a:srgbClr val="F7F7F7"/>
          </a:solidFill>
          <a:ln w="0">
            <a:noFill/>
            <a:prstDash val="solid"/>
          </a:ln>
        </p:spPr>
        <p:txBody>
          <a:bodyPr/>
          <a:lstStyle/>
          <a:p>
            <a:endParaRPr lang="en-US"/>
          </a:p>
        </p:txBody>
      </p:sp>
      <p:sp>
        <p:nvSpPr>
          <p:cNvPr id="68" name="hallucination-title">
            <a:extLst>
              <a:ext uri="{FF2B5EF4-FFF2-40B4-BE49-F238E27FC236}">
                <a16:creationId xmlns:a16="http://schemas.microsoft.com/office/drawing/2014/main" id="{76ED74DA-5CBE-4157-9342-33050415BF03}"/>
              </a:ext>
            </a:extLst>
          </p:cNvPr>
          <p:cNvSpPr>
            <a:spLocks noGrp="1"/>
          </p:cNvSpPr>
          <p:nvPr/>
        </p:nvSpPr>
        <p:spPr>
          <a:xfrm>
            <a:off x="22429594" y="14773275"/>
            <a:ext cx="9029700" cy="552450"/>
          </a:xfrm>
          <a:prstGeom prst="rect">
            <a:avLst/>
          </a:prstGeom>
          <a:noFill/>
          <a:ln w="0">
            <a:noFill/>
            <a:prstDash val="solid"/>
          </a:ln>
        </p:spPr>
        <p:txBody>
          <a:bodyPr anchor="t"/>
          <a:lstStyle/>
          <a:p>
            <a:pPr algn="l">
              <a:buNone/>
              <a:defRPr sz="2325" b="1" i="0">
                <a:solidFill>
                  <a:srgbClr val="0062A3"/>
                </a:solidFill>
                <a:latin typeface="Helvetica Neue"/>
                <a:ea typeface="Helvetica Neue"/>
                <a:cs typeface="Helvetica Neue"/>
              </a:defRPr>
            </a:pPr>
            <a:r>
              <a:rPr sz="2800" b="1" i="0" dirty="0">
                <a:solidFill>
                  <a:srgbClr val="0062A3"/>
                </a:solidFill>
                <a:latin typeface="Helvetica Neue"/>
                <a:ea typeface="Helvetica Neue"/>
                <a:cs typeface="Helvetica Neue"/>
              </a:rPr>
              <a:t>Unsupported details accumulated</a:t>
            </a:r>
          </a:p>
        </p:txBody>
      </p:sp>
      <p:sp>
        <p:nvSpPr>
          <p:cNvPr id="69" name="hallucination-body">
            <a:extLst>
              <a:ext uri="{FF2B5EF4-FFF2-40B4-BE49-F238E27FC236}">
                <a16:creationId xmlns:a16="http://schemas.microsoft.com/office/drawing/2014/main" id="{211997FD-ABCA-4D33-A10C-26E652F5BE44}"/>
              </a:ext>
            </a:extLst>
          </p:cNvPr>
          <p:cNvSpPr>
            <a:spLocks noGrp="1"/>
          </p:cNvSpPr>
          <p:nvPr/>
        </p:nvSpPr>
        <p:spPr>
          <a:xfrm>
            <a:off x="22429594" y="15440025"/>
            <a:ext cx="9029700" cy="3524250"/>
          </a:xfrm>
          <a:prstGeom prst="rect">
            <a:avLst/>
          </a:prstGeom>
          <a:noFill/>
          <a:ln w="0">
            <a:noFill/>
            <a:prstDash val="solid"/>
          </a:ln>
        </p:spPr>
        <p:txBody>
          <a:bodyPr anchor="t"/>
          <a:lstStyle/>
          <a:p>
            <a:pPr algn="l">
              <a:buNone/>
              <a:defRPr sz="2175" b="0" i="0">
                <a:solidFill>
                  <a:srgbClr val="1C2B39"/>
                </a:solidFill>
                <a:latin typeface="Helvetica Neue"/>
                <a:ea typeface="Helvetica Neue"/>
                <a:cs typeface="Helvetica Neue"/>
              </a:defRPr>
            </a:pPr>
            <a:r>
              <a:rPr sz="2800" b="0" i="0" dirty="0">
                <a:solidFill>
                  <a:srgbClr val="1C2B39"/>
                </a:solidFill>
                <a:latin typeface="Helvetica Neue"/>
                <a:ea typeface="Helvetica Neue"/>
                <a:cs typeface="Helvetica Neue"/>
              </a:rPr>
              <a:t>Longer chats introduced exact timestamps, user IDs, check-clearing dates, named vendor contacts, urgent envelopes, ACH procedures, system features, and approval thresholds that were not stable across transcripts.</a:t>
            </a:r>
          </a:p>
          <a:p>
            <a:endParaRPr sz="2800" b="0" i="0" dirty="0">
              <a:solidFill>
                <a:srgbClr val="1C2B39"/>
              </a:solidFill>
              <a:latin typeface="Helvetica Neue"/>
              <a:ea typeface="Helvetica Neue"/>
              <a:cs typeface="Helvetica Neue"/>
            </a:endParaRPr>
          </a:p>
        </p:txBody>
      </p:sp>
      <p:sp>
        <p:nvSpPr>
          <p:cNvPr id="70" name="boundary-section-band">
            <a:extLst>
              <a:ext uri="{FF2B5EF4-FFF2-40B4-BE49-F238E27FC236}">
                <a16:creationId xmlns:a16="http://schemas.microsoft.com/office/drawing/2014/main" id="{5AB8D7EE-6D99-4822-AFE2-256E472896BE}"/>
              </a:ext>
            </a:extLst>
          </p:cNvPr>
          <p:cNvSpPr>
            <a:spLocks noGrp="1"/>
          </p:cNvSpPr>
          <p:nvPr/>
        </p:nvSpPr>
        <p:spPr>
          <a:xfrm>
            <a:off x="22169629" y="18516600"/>
            <a:ext cx="9601200" cy="933450"/>
          </a:xfrm>
          <a:prstGeom prst="rect">
            <a:avLst/>
          </a:prstGeom>
          <a:solidFill>
            <a:srgbClr val="002855"/>
          </a:solidFill>
          <a:ln w="0">
            <a:noFill/>
            <a:prstDash val="solid"/>
          </a:ln>
        </p:spPr>
        <p:txBody>
          <a:bodyPr/>
          <a:lstStyle/>
          <a:p>
            <a:endParaRPr lang="en-US"/>
          </a:p>
        </p:txBody>
      </p:sp>
      <p:sp>
        <p:nvSpPr>
          <p:cNvPr id="72" name="boundary-section-title">
            <a:extLst>
              <a:ext uri="{FF2B5EF4-FFF2-40B4-BE49-F238E27FC236}">
                <a16:creationId xmlns:a16="http://schemas.microsoft.com/office/drawing/2014/main" id="{7ECD4F11-F2F1-4668-94DB-737949FD8904}"/>
              </a:ext>
            </a:extLst>
          </p:cNvPr>
          <p:cNvSpPr>
            <a:spLocks noGrp="1"/>
          </p:cNvSpPr>
          <p:nvPr/>
        </p:nvSpPr>
        <p:spPr>
          <a:xfrm>
            <a:off x="23122129" y="18669000"/>
            <a:ext cx="8420100" cy="590550"/>
          </a:xfrm>
          <a:prstGeom prst="rect">
            <a:avLst/>
          </a:prstGeom>
          <a:noFill/>
          <a:ln w="0">
            <a:noFill/>
            <a:prstDash val="solid"/>
          </a:ln>
        </p:spPr>
        <p:txBody>
          <a:bodyPr anchor="t"/>
          <a:lstStyle/>
          <a:p>
            <a:pPr algn="l">
              <a:buNone/>
              <a:defRPr sz="3000" b="1" i="0">
                <a:solidFill>
                  <a:srgbClr val="FFFFFF"/>
                </a:solidFill>
                <a:latin typeface="Helvetica Neue"/>
                <a:ea typeface="Helvetica Neue"/>
                <a:cs typeface="Helvetica Neue"/>
              </a:defRPr>
            </a:pPr>
            <a:r>
              <a:rPr lang="en-US" sz="3000" b="1" i="0" dirty="0">
                <a:solidFill>
                  <a:srgbClr val="FFFFFF"/>
                </a:solidFill>
                <a:latin typeface="Helvetica Neue"/>
                <a:ea typeface="Helvetica Neue"/>
                <a:cs typeface="Helvetica Neue"/>
              </a:rPr>
              <a:t>Problem 3: LLM is too helpful</a:t>
            </a:r>
            <a:endParaRPr sz="3000" b="1" i="0" dirty="0">
              <a:solidFill>
                <a:srgbClr val="FFFFFF"/>
              </a:solidFill>
              <a:latin typeface="Helvetica Neue"/>
              <a:ea typeface="Helvetica Neue"/>
              <a:cs typeface="Helvetica Neue"/>
            </a:endParaRPr>
          </a:p>
        </p:txBody>
      </p:sp>
      <p:sp>
        <p:nvSpPr>
          <p:cNvPr id="73" name="metric-coaching-rule">
            <a:extLst>
              <a:ext uri="{FF2B5EF4-FFF2-40B4-BE49-F238E27FC236}">
                <a16:creationId xmlns:a16="http://schemas.microsoft.com/office/drawing/2014/main" id="{98E5A537-5A2D-4225-8B47-F5CC239BD5F3}"/>
              </a:ext>
            </a:extLst>
          </p:cNvPr>
          <p:cNvSpPr>
            <a:spLocks noGrp="1"/>
          </p:cNvSpPr>
          <p:nvPr/>
        </p:nvSpPr>
        <p:spPr>
          <a:xfrm>
            <a:off x="22169629" y="19754850"/>
            <a:ext cx="4416552" cy="76200"/>
          </a:xfrm>
          <a:prstGeom prst="rect">
            <a:avLst/>
          </a:prstGeom>
          <a:solidFill>
            <a:srgbClr val="EAAA00"/>
          </a:solidFill>
          <a:ln w="0">
            <a:noFill/>
            <a:prstDash val="solid"/>
          </a:ln>
        </p:spPr>
        <p:txBody>
          <a:bodyPr/>
          <a:lstStyle/>
          <a:p>
            <a:endParaRPr lang="en-US"/>
          </a:p>
        </p:txBody>
      </p:sp>
      <p:sp>
        <p:nvSpPr>
          <p:cNvPr id="74" name="metric-coaching-value">
            <a:extLst>
              <a:ext uri="{FF2B5EF4-FFF2-40B4-BE49-F238E27FC236}">
                <a16:creationId xmlns:a16="http://schemas.microsoft.com/office/drawing/2014/main" id="{8A5F0930-BB23-418C-A452-38D50904C590}"/>
              </a:ext>
            </a:extLst>
          </p:cNvPr>
          <p:cNvSpPr>
            <a:spLocks noGrp="1"/>
          </p:cNvSpPr>
          <p:nvPr/>
        </p:nvSpPr>
        <p:spPr>
          <a:xfrm>
            <a:off x="22169629" y="19926300"/>
            <a:ext cx="4416552" cy="857250"/>
          </a:xfrm>
          <a:prstGeom prst="rect">
            <a:avLst/>
          </a:prstGeom>
          <a:noFill/>
          <a:ln w="0">
            <a:noFill/>
            <a:prstDash val="solid"/>
          </a:ln>
        </p:spPr>
        <p:txBody>
          <a:bodyPr anchor="t"/>
          <a:lstStyle/>
          <a:p>
            <a:pPr algn="l">
              <a:buNone/>
              <a:defRPr sz="4950" b="1" i="0">
                <a:solidFill>
                  <a:srgbClr val="002855"/>
                </a:solidFill>
                <a:latin typeface="Helvetica Neue"/>
                <a:ea typeface="Helvetica Neue"/>
                <a:cs typeface="Helvetica Neue"/>
              </a:defRPr>
            </a:pPr>
            <a:r>
              <a:rPr sz="4950" b="1" i="0">
                <a:solidFill>
                  <a:srgbClr val="002855"/>
                </a:solidFill>
                <a:latin typeface="Helvetica Neue"/>
                <a:ea typeface="Helvetica Neue"/>
                <a:cs typeface="Helvetica Neue"/>
              </a:rPr>
              <a:t>13/17</a:t>
            </a:r>
          </a:p>
        </p:txBody>
      </p:sp>
      <p:sp>
        <p:nvSpPr>
          <p:cNvPr id="75" name="metric-coaching-label">
            <a:extLst>
              <a:ext uri="{FF2B5EF4-FFF2-40B4-BE49-F238E27FC236}">
                <a16:creationId xmlns:a16="http://schemas.microsoft.com/office/drawing/2014/main" id="{D316A973-E640-469F-874B-60F14F299740}"/>
              </a:ext>
            </a:extLst>
          </p:cNvPr>
          <p:cNvSpPr>
            <a:spLocks noGrp="1"/>
          </p:cNvSpPr>
          <p:nvPr/>
        </p:nvSpPr>
        <p:spPr>
          <a:xfrm>
            <a:off x="22169629" y="20745450"/>
            <a:ext cx="4416552" cy="1066800"/>
          </a:xfrm>
          <a:prstGeom prst="rect">
            <a:avLst/>
          </a:prstGeom>
          <a:noFill/>
          <a:ln w="0">
            <a:noFill/>
            <a:prstDash val="solid"/>
          </a:ln>
        </p:spPr>
        <p:txBody>
          <a:bodyPr anchor="t"/>
          <a:lstStyle/>
          <a:p>
            <a:pPr algn="l">
              <a:buNone/>
              <a:defRPr sz="1950" b="0" i="0">
                <a:solidFill>
                  <a:srgbClr val="1C2B39"/>
                </a:solidFill>
                <a:latin typeface="Helvetica Neue"/>
                <a:ea typeface="Helvetica Neue"/>
                <a:cs typeface="Helvetica Neue"/>
              </a:defRPr>
            </a:pPr>
            <a:r>
              <a:rPr sz="1950" b="0" i="0">
                <a:solidFill>
                  <a:srgbClr val="1C2B39"/>
                </a:solidFill>
                <a:latin typeface="Helvetica Neue"/>
                <a:ea typeface="Helvetica Neue"/>
                <a:cs typeface="Helvetica Neue"/>
              </a:rPr>
              <a:t>contained explicit coaching or next-question guidance</a:t>
            </a:r>
          </a:p>
        </p:txBody>
      </p:sp>
      <p:sp>
        <p:nvSpPr>
          <p:cNvPr id="76" name="metric-post-rule">
            <a:extLst>
              <a:ext uri="{FF2B5EF4-FFF2-40B4-BE49-F238E27FC236}">
                <a16:creationId xmlns:a16="http://schemas.microsoft.com/office/drawing/2014/main" id="{E91EDE59-BD9B-49BD-A82D-2E721E53663B}"/>
              </a:ext>
            </a:extLst>
          </p:cNvPr>
          <p:cNvSpPr>
            <a:spLocks noGrp="1"/>
          </p:cNvSpPr>
          <p:nvPr/>
        </p:nvSpPr>
        <p:spPr>
          <a:xfrm>
            <a:off x="27258265" y="19754850"/>
            <a:ext cx="4512564" cy="76200"/>
          </a:xfrm>
          <a:prstGeom prst="rect">
            <a:avLst/>
          </a:prstGeom>
          <a:solidFill>
            <a:srgbClr val="EAAA00"/>
          </a:solidFill>
          <a:ln w="0">
            <a:noFill/>
            <a:prstDash val="solid"/>
          </a:ln>
        </p:spPr>
        <p:txBody>
          <a:bodyPr/>
          <a:lstStyle/>
          <a:p>
            <a:endParaRPr lang="en-US"/>
          </a:p>
        </p:txBody>
      </p:sp>
      <p:sp>
        <p:nvSpPr>
          <p:cNvPr id="77" name="metric-post-value">
            <a:extLst>
              <a:ext uri="{FF2B5EF4-FFF2-40B4-BE49-F238E27FC236}">
                <a16:creationId xmlns:a16="http://schemas.microsoft.com/office/drawing/2014/main" id="{0518AF9A-AB70-4A6C-B206-31E153C391AD}"/>
              </a:ext>
            </a:extLst>
          </p:cNvPr>
          <p:cNvSpPr>
            <a:spLocks noGrp="1"/>
          </p:cNvSpPr>
          <p:nvPr/>
        </p:nvSpPr>
        <p:spPr>
          <a:xfrm>
            <a:off x="27258265" y="19926300"/>
            <a:ext cx="4512564" cy="857250"/>
          </a:xfrm>
          <a:prstGeom prst="rect">
            <a:avLst/>
          </a:prstGeom>
          <a:noFill/>
          <a:ln w="0">
            <a:noFill/>
            <a:prstDash val="solid"/>
          </a:ln>
        </p:spPr>
        <p:txBody>
          <a:bodyPr anchor="t"/>
          <a:lstStyle/>
          <a:p>
            <a:pPr algn="l">
              <a:buNone/>
              <a:defRPr sz="4950" b="1" i="0">
                <a:solidFill>
                  <a:srgbClr val="002855"/>
                </a:solidFill>
                <a:latin typeface="Helvetica Neue"/>
                <a:ea typeface="Helvetica Neue"/>
                <a:cs typeface="Helvetica Neue"/>
              </a:defRPr>
            </a:pPr>
            <a:r>
              <a:rPr sz="4950" b="1" i="0">
                <a:solidFill>
                  <a:srgbClr val="002855"/>
                </a:solidFill>
                <a:latin typeface="Helvetica Neue"/>
                <a:ea typeface="Helvetica Neue"/>
                <a:cs typeface="Helvetica Neue"/>
              </a:rPr>
              <a:t>≥5</a:t>
            </a:r>
          </a:p>
        </p:txBody>
      </p:sp>
      <p:sp>
        <p:nvSpPr>
          <p:cNvPr id="78" name="metric-post-label">
            <a:extLst>
              <a:ext uri="{FF2B5EF4-FFF2-40B4-BE49-F238E27FC236}">
                <a16:creationId xmlns:a16="http://schemas.microsoft.com/office/drawing/2014/main" id="{40C9DB3B-EB3E-42D5-9FCA-ED51968A94EF}"/>
              </a:ext>
            </a:extLst>
          </p:cNvPr>
          <p:cNvSpPr>
            <a:spLocks noGrp="1"/>
          </p:cNvSpPr>
          <p:nvPr/>
        </p:nvSpPr>
        <p:spPr>
          <a:xfrm>
            <a:off x="27258265" y="20745450"/>
            <a:ext cx="4512564" cy="1066800"/>
          </a:xfrm>
          <a:prstGeom prst="rect">
            <a:avLst/>
          </a:prstGeom>
          <a:noFill/>
          <a:ln w="0">
            <a:noFill/>
            <a:prstDash val="solid"/>
          </a:ln>
        </p:spPr>
        <p:txBody>
          <a:bodyPr anchor="t"/>
          <a:lstStyle/>
          <a:p>
            <a:pPr algn="l">
              <a:buNone/>
              <a:defRPr sz="1950" b="0" i="0">
                <a:solidFill>
                  <a:srgbClr val="1C2B39"/>
                </a:solidFill>
                <a:latin typeface="Helvetica Neue"/>
                <a:ea typeface="Helvetica Neue"/>
                <a:cs typeface="Helvetica Neue"/>
              </a:defRPr>
            </a:pPr>
            <a:r>
              <a:rPr sz="1950" b="0" i="0">
                <a:solidFill>
                  <a:srgbClr val="1C2B39"/>
                </a:solidFill>
                <a:latin typeface="Helvetica Neue"/>
                <a:ea typeface="Helvetica Neue"/>
                <a:cs typeface="Helvetica Neue"/>
              </a:rPr>
              <a:t>received post-interview analysis or design support</a:t>
            </a:r>
          </a:p>
        </p:txBody>
      </p:sp>
      <p:sp>
        <p:nvSpPr>
          <p:cNvPr id="79" name="boundary-examples">
            <a:extLst>
              <a:ext uri="{FF2B5EF4-FFF2-40B4-BE49-F238E27FC236}">
                <a16:creationId xmlns:a16="http://schemas.microsoft.com/office/drawing/2014/main" id="{E6E0AC59-2E8E-42C6-9625-BAE9A083AF1F}"/>
              </a:ext>
            </a:extLst>
          </p:cNvPr>
          <p:cNvSpPr>
            <a:spLocks noGrp="1"/>
          </p:cNvSpPr>
          <p:nvPr/>
        </p:nvSpPr>
        <p:spPr>
          <a:xfrm>
            <a:off x="22169629" y="21942280"/>
            <a:ext cx="9601200" cy="4476750"/>
          </a:xfrm>
          <a:prstGeom prst="rect">
            <a:avLst/>
          </a:prstGeom>
          <a:noFill/>
          <a:ln w="0">
            <a:noFill/>
            <a:prstDash val="solid"/>
          </a:ln>
        </p:spPr>
        <p:txBody>
          <a:bodyPr anchor="t"/>
          <a:lstStyle/>
          <a:p>
            <a:pPr algn="l">
              <a:buNone/>
              <a:defRPr sz="2250" b="0" i="0">
                <a:solidFill>
                  <a:srgbClr val="1C2B39"/>
                </a:solidFill>
                <a:latin typeface="Helvetica Neue"/>
                <a:ea typeface="Helvetica Neue"/>
                <a:cs typeface="Helvetica Neue"/>
              </a:defRPr>
            </a:pPr>
            <a:r>
              <a:rPr sz="2800" b="0" i="0" dirty="0">
                <a:solidFill>
                  <a:srgbClr val="1C2B39"/>
                </a:solidFill>
                <a:latin typeface="Helvetica Neue"/>
                <a:ea typeface="Helvetica Neue"/>
                <a:cs typeface="Helvetica Neue"/>
              </a:rPr>
              <a:t>Examples of role drift</a:t>
            </a:r>
          </a:p>
          <a:p>
            <a:endParaRPr sz="2800" b="0" i="0" dirty="0">
              <a:solidFill>
                <a:srgbClr val="1C2B39"/>
              </a:solidFill>
              <a:latin typeface="Helvetica Neue"/>
              <a:ea typeface="Helvetica Neue"/>
              <a:cs typeface="Helvetica Neue"/>
            </a:endParaRPr>
          </a:p>
          <a:p>
            <a:pPr algn="l">
              <a:buNone/>
              <a:defRPr sz="2250" b="0" i="0">
                <a:solidFill>
                  <a:srgbClr val="1C2B39"/>
                </a:solidFill>
                <a:latin typeface="Helvetica Neue"/>
                <a:ea typeface="Helvetica Neue"/>
                <a:cs typeface="Helvetica Neue"/>
              </a:defRPr>
            </a:pPr>
            <a:r>
              <a:rPr sz="2800" b="0" i="0" dirty="0">
                <a:solidFill>
                  <a:srgbClr val="1C2B39"/>
                </a:solidFill>
                <a:latin typeface="Helvetica Neue"/>
                <a:ea typeface="Helvetica Neue"/>
                <a:cs typeface="Helvetica Neue"/>
              </a:rPr>
              <a:t>“Strong follow-up questions …”</a:t>
            </a:r>
          </a:p>
          <a:p>
            <a:pPr algn="l">
              <a:buNone/>
              <a:defRPr sz="2250" b="0" i="0">
                <a:solidFill>
                  <a:srgbClr val="1C2B39"/>
                </a:solidFill>
                <a:latin typeface="Helvetica Neue"/>
                <a:ea typeface="Helvetica Neue"/>
                <a:cs typeface="Helvetica Neue"/>
              </a:defRPr>
            </a:pPr>
            <a:r>
              <a:rPr sz="2800" b="0" i="0" dirty="0">
                <a:solidFill>
                  <a:srgbClr val="1C2B39"/>
                </a:solidFill>
                <a:latin typeface="Helvetica Neue"/>
                <a:ea typeface="Helvetica Neue"/>
                <a:cs typeface="Helvetica Neue"/>
              </a:rPr>
              <a:t>“What that suggests as a control weakness …”</a:t>
            </a:r>
          </a:p>
          <a:p>
            <a:pPr algn="l">
              <a:buNone/>
              <a:defRPr sz="2250" b="0" i="0">
                <a:solidFill>
                  <a:srgbClr val="1C2B39"/>
                </a:solidFill>
                <a:latin typeface="Helvetica Neue"/>
                <a:ea typeface="Helvetica Neue"/>
                <a:cs typeface="Helvetica Neue"/>
              </a:defRPr>
            </a:pPr>
            <a:r>
              <a:rPr sz="2800" b="0" i="0" dirty="0">
                <a:solidFill>
                  <a:srgbClr val="1C2B39"/>
                </a:solidFill>
                <a:latin typeface="Helvetica Neue"/>
                <a:ea typeface="Helvetica Neue"/>
                <a:cs typeface="Helvetica Neue"/>
              </a:rPr>
              <a:t>“What you did well / What needs fixing”</a:t>
            </a:r>
          </a:p>
          <a:p>
            <a:pPr algn="l">
              <a:buNone/>
              <a:defRPr sz="2250" b="0" i="0">
                <a:solidFill>
                  <a:srgbClr val="1C2B39"/>
                </a:solidFill>
                <a:latin typeface="Helvetica Neue"/>
                <a:ea typeface="Helvetica Neue"/>
                <a:cs typeface="Helvetica Neue"/>
              </a:defRPr>
            </a:pPr>
            <a:r>
              <a:rPr sz="2800" b="0" i="0" dirty="0">
                <a:solidFill>
                  <a:srgbClr val="1C2B39"/>
                </a:solidFill>
                <a:latin typeface="Helvetica Neue"/>
                <a:ea typeface="Helvetica Neue"/>
                <a:cs typeface="Helvetica Neue"/>
              </a:rPr>
              <a:t>“Your revised process should clearly show …”</a:t>
            </a:r>
          </a:p>
        </p:txBody>
      </p:sp>
      <p:sp>
        <p:nvSpPr>
          <p:cNvPr id="80" name="guardrail-box">
            <a:extLst>
              <a:ext uri="{FF2B5EF4-FFF2-40B4-BE49-F238E27FC236}">
                <a16:creationId xmlns:a16="http://schemas.microsoft.com/office/drawing/2014/main" id="{C6A65EF8-A03A-4B2B-9713-A9A185ED0D01}"/>
              </a:ext>
            </a:extLst>
          </p:cNvPr>
          <p:cNvSpPr>
            <a:spLocks noGrp="1"/>
          </p:cNvSpPr>
          <p:nvPr/>
        </p:nvSpPr>
        <p:spPr>
          <a:xfrm>
            <a:off x="22169628" y="26059514"/>
            <a:ext cx="9601201" cy="5066199"/>
          </a:xfrm>
          <a:prstGeom prst="rect">
            <a:avLst/>
          </a:prstGeom>
          <a:solidFill>
            <a:srgbClr val="9DDAE6"/>
          </a:solidFill>
          <a:ln w="0">
            <a:noFill/>
            <a:prstDash val="solid"/>
          </a:ln>
        </p:spPr>
        <p:txBody>
          <a:bodyPr/>
          <a:lstStyle/>
          <a:p>
            <a:endParaRPr lang="en-US"/>
          </a:p>
        </p:txBody>
      </p:sp>
      <p:sp>
        <p:nvSpPr>
          <p:cNvPr id="81" name="guardrail-text">
            <a:extLst>
              <a:ext uri="{FF2B5EF4-FFF2-40B4-BE49-F238E27FC236}">
                <a16:creationId xmlns:a16="http://schemas.microsoft.com/office/drawing/2014/main" id="{5A85AD55-BB33-44FC-84DE-40CD17069870}"/>
              </a:ext>
            </a:extLst>
          </p:cNvPr>
          <p:cNvSpPr>
            <a:spLocks noGrp="1"/>
          </p:cNvSpPr>
          <p:nvPr/>
        </p:nvSpPr>
        <p:spPr>
          <a:xfrm>
            <a:off x="22446577" y="26502426"/>
            <a:ext cx="9067800" cy="4214813"/>
          </a:xfrm>
          <a:prstGeom prst="rect">
            <a:avLst/>
          </a:prstGeom>
          <a:noFill/>
          <a:ln w="0">
            <a:noFill/>
            <a:prstDash val="solid"/>
          </a:ln>
        </p:spPr>
        <p:txBody>
          <a:bodyPr anchor="t"/>
          <a:lstStyle/>
          <a:p>
            <a:pPr algn="l">
              <a:buNone/>
              <a:defRPr sz="2100" b="1" i="0">
                <a:solidFill>
                  <a:srgbClr val="1C2B39"/>
                </a:solidFill>
                <a:latin typeface="Helvetica Neue"/>
                <a:ea typeface="Helvetica Neue"/>
                <a:cs typeface="Helvetica Neue"/>
              </a:defRPr>
            </a:pPr>
            <a:r>
              <a:rPr lang="en-US" sz="3600" i="0" dirty="0">
                <a:solidFill>
                  <a:srgbClr val="1C2B39"/>
                </a:solidFill>
                <a:latin typeface="Helvetica Neue"/>
                <a:ea typeface="Helvetica Neue"/>
                <a:cs typeface="Helvetica Neue"/>
              </a:rPr>
              <a:t>Conclusion:</a:t>
            </a:r>
          </a:p>
          <a:p>
            <a:pPr algn="l">
              <a:buNone/>
              <a:defRPr sz="2100" b="1" i="0">
                <a:solidFill>
                  <a:srgbClr val="1C2B39"/>
                </a:solidFill>
                <a:latin typeface="Helvetica Neue"/>
                <a:ea typeface="Helvetica Neue"/>
                <a:cs typeface="Helvetica Neue"/>
              </a:defRPr>
            </a:pPr>
            <a:endParaRPr lang="en-US" sz="3600" dirty="0">
              <a:solidFill>
                <a:srgbClr val="1C2B39"/>
              </a:solidFill>
              <a:latin typeface="Helvetica Neue"/>
              <a:ea typeface="Helvetica Neue"/>
              <a:cs typeface="Helvetica Neue"/>
            </a:endParaRPr>
          </a:p>
          <a:p>
            <a:pPr algn="l">
              <a:buNone/>
              <a:defRPr sz="2100" b="1" i="0">
                <a:solidFill>
                  <a:srgbClr val="1C2B39"/>
                </a:solidFill>
                <a:latin typeface="Helvetica Neue"/>
                <a:ea typeface="Helvetica Neue"/>
                <a:cs typeface="Helvetica Neue"/>
              </a:defRPr>
            </a:pPr>
            <a:r>
              <a:rPr lang="en-US" sz="3600" i="0" dirty="0">
                <a:solidFill>
                  <a:srgbClr val="1C2B39"/>
                </a:solidFill>
                <a:latin typeface="Helvetica Neue"/>
                <a:ea typeface="Helvetica Neue"/>
                <a:cs typeface="Helvetica Neue"/>
              </a:rPr>
              <a:t>LLM increased engagement with the assignment. However, overly-helpful behavior changed the assignment. Redesigned prompt appears to correct those issues, and will be tested Fall 2026</a:t>
            </a:r>
            <a:endParaRPr sz="3600" i="0" dirty="0">
              <a:solidFill>
                <a:srgbClr val="1C2B39"/>
              </a:solidFill>
              <a:latin typeface="Helvetica Neue"/>
              <a:ea typeface="Helvetica Neue"/>
              <a:cs typeface="Helvetica Neue"/>
            </a:endParaRPr>
          </a:p>
        </p:txBody>
      </p:sp>
      <p:sp>
        <p:nvSpPr>
          <p:cNvPr id="82" name="repair-section-band">
            <a:extLst>
              <a:ext uri="{FF2B5EF4-FFF2-40B4-BE49-F238E27FC236}">
                <a16:creationId xmlns:a16="http://schemas.microsoft.com/office/drawing/2014/main" id="{928E4B16-BABE-4E2D-958A-AF637753C045}"/>
              </a:ext>
            </a:extLst>
          </p:cNvPr>
          <p:cNvSpPr>
            <a:spLocks noGrp="1"/>
          </p:cNvSpPr>
          <p:nvPr/>
        </p:nvSpPr>
        <p:spPr>
          <a:xfrm>
            <a:off x="32537400" y="6905625"/>
            <a:ext cx="9601200" cy="933450"/>
          </a:xfrm>
          <a:prstGeom prst="rect">
            <a:avLst/>
          </a:prstGeom>
          <a:solidFill>
            <a:srgbClr val="002855"/>
          </a:solidFill>
          <a:ln w="0">
            <a:noFill/>
            <a:prstDash val="solid"/>
          </a:ln>
        </p:spPr>
        <p:txBody>
          <a:bodyPr/>
          <a:lstStyle/>
          <a:p>
            <a:endParaRPr lang="en-US"/>
          </a:p>
        </p:txBody>
      </p:sp>
      <p:sp>
        <p:nvSpPr>
          <p:cNvPr id="84" name="repair-section-title">
            <a:extLst>
              <a:ext uri="{FF2B5EF4-FFF2-40B4-BE49-F238E27FC236}">
                <a16:creationId xmlns:a16="http://schemas.microsoft.com/office/drawing/2014/main" id="{7D993093-EFB2-431E-B27A-DC4A27E25E99}"/>
              </a:ext>
            </a:extLst>
          </p:cNvPr>
          <p:cNvSpPr>
            <a:spLocks noGrp="1"/>
          </p:cNvSpPr>
          <p:nvPr/>
        </p:nvSpPr>
        <p:spPr>
          <a:xfrm>
            <a:off x="32851851" y="7098064"/>
            <a:ext cx="8420100" cy="590550"/>
          </a:xfrm>
          <a:prstGeom prst="rect">
            <a:avLst/>
          </a:prstGeom>
          <a:noFill/>
          <a:ln w="0">
            <a:noFill/>
            <a:prstDash val="solid"/>
          </a:ln>
        </p:spPr>
        <p:txBody>
          <a:bodyPr anchor="t"/>
          <a:lstStyle/>
          <a:p>
            <a:pPr algn="l">
              <a:buNone/>
              <a:defRPr sz="3000" b="1" i="0">
                <a:solidFill>
                  <a:srgbClr val="FFFFFF"/>
                </a:solidFill>
                <a:latin typeface="Helvetica Neue"/>
                <a:ea typeface="Helvetica Neue"/>
                <a:cs typeface="Helvetica Neue"/>
              </a:defRPr>
            </a:pPr>
            <a:r>
              <a:rPr sz="3000" b="1" i="0" dirty="0">
                <a:solidFill>
                  <a:srgbClr val="FFFFFF"/>
                </a:solidFill>
                <a:latin typeface="Helvetica Neue"/>
                <a:ea typeface="Helvetica Neue"/>
                <a:cs typeface="Helvetica Neue"/>
              </a:rPr>
              <a:t>Prompt repairs</a:t>
            </a:r>
          </a:p>
        </p:txBody>
      </p:sp>
      <p:sp>
        <p:nvSpPr>
          <p:cNvPr id="102" name="footer-rule">
            <a:extLst>
              <a:ext uri="{FF2B5EF4-FFF2-40B4-BE49-F238E27FC236}">
                <a16:creationId xmlns:a16="http://schemas.microsoft.com/office/drawing/2014/main" id="{148584FE-CA28-48BE-AFB0-2F1EF73B2415}"/>
              </a:ext>
            </a:extLst>
          </p:cNvPr>
          <p:cNvSpPr>
            <a:spLocks noGrp="1"/>
          </p:cNvSpPr>
          <p:nvPr/>
        </p:nvSpPr>
        <p:spPr>
          <a:xfrm>
            <a:off x="1524000" y="31849164"/>
            <a:ext cx="40462200" cy="47625"/>
          </a:xfrm>
          <a:prstGeom prst="rect">
            <a:avLst/>
          </a:prstGeom>
          <a:solidFill>
            <a:srgbClr val="EAAA00"/>
          </a:solidFill>
          <a:ln w="0">
            <a:noFill/>
            <a:prstDash val="solid"/>
          </a:ln>
        </p:spPr>
        <p:txBody>
          <a:bodyPr/>
          <a:lstStyle/>
          <a:p>
            <a:endParaRPr lang="en-US"/>
          </a:p>
        </p:txBody>
      </p:sp>
      <p:sp>
        <p:nvSpPr>
          <p:cNvPr id="104" name="footer-meta">
            <a:extLst>
              <a:ext uri="{FF2B5EF4-FFF2-40B4-BE49-F238E27FC236}">
                <a16:creationId xmlns:a16="http://schemas.microsoft.com/office/drawing/2014/main" id="{95431F0A-147C-44AC-8526-10A6D9F89C22}"/>
              </a:ext>
            </a:extLst>
          </p:cNvPr>
          <p:cNvSpPr>
            <a:spLocks noGrp="1"/>
          </p:cNvSpPr>
          <p:nvPr/>
        </p:nvSpPr>
        <p:spPr>
          <a:xfrm>
            <a:off x="35318700" y="30651450"/>
            <a:ext cx="6858000" cy="523875"/>
          </a:xfrm>
          <a:prstGeom prst="rect">
            <a:avLst/>
          </a:prstGeom>
          <a:noFill/>
          <a:ln w="0">
            <a:noFill/>
            <a:prstDash val="solid"/>
          </a:ln>
        </p:spPr>
        <p:txBody>
          <a:bodyPr anchor="t"/>
          <a:lstStyle/>
          <a:p>
            <a:pPr algn="r">
              <a:buNone/>
              <a:defRPr sz="1875" b="0" i="0">
                <a:solidFill>
                  <a:srgbClr val="1C2B39"/>
                </a:solidFill>
                <a:latin typeface="Helvetica Neue"/>
                <a:ea typeface="Helvetica Neue"/>
                <a:cs typeface="Helvetica Neue"/>
              </a:defRPr>
            </a:pPr>
            <a:endParaRPr sz="1875" b="0" i="0" dirty="0">
              <a:solidFill>
                <a:srgbClr val="1C2B39"/>
              </a:solidFill>
              <a:latin typeface="Helvetica Neue"/>
              <a:ea typeface="Helvetica Neue"/>
              <a:cs typeface="Helvetica Neue"/>
            </a:endParaRPr>
          </a:p>
        </p:txBody>
      </p:sp>
      <p:sp>
        <p:nvSpPr>
          <p:cNvPr id="108" name="author-information-box">
            <a:extLst>
              <a:ext uri="{FF2B5EF4-FFF2-40B4-BE49-F238E27FC236}">
                <a16:creationId xmlns:a16="http://schemas.microsoft.com/office/drawing/2014/main" id="{A60658BE-F272-4C58-95A0-A2E2B4B014CD}"/>
              </a:ext>
            </a:extLst>
          </p:cNvPr>
          <p:cNvSpPr>
            <a:spLocks noGrp="1"/>
          </p:cNvSpPr>
          <p:nvPr/>
        </p:nvSpPr>
        <p:spPr>
          <a:xfrm>
            <a:off x="32194500" y="904875"/>
            <a:ext cx="9982200" cy="3048000"/>
          </a:xfrm>
          <a:prstGeom prst="rect">
            <a:avLst/>
          </a:prstGeom>
          <a:solidFill>
            <a:srgbClr val="002855"/>
          </a:solidFill>
          <a:ln w="0">
            <a:solidFill>
              <a:srgbClr val="002855"/>
            </a:solidFill>
            <a:prstDash val="solid"/>
          </a:ln>
        </p:spPr>
        <p:txBody>
          <a:bodyPr/>
          <a:lstStyle/>
          <a:p>
            <a:endParaRPr lang="en-US"/>
          </a:p>
        </p:txBody>
      </p:sp>
      <p:sp>
        <p:nvSpPr>
          <p:cNvPr id="109" name="author-information-gold-rule">
            <a:extLst>
              <a:ext uri="{FF2B5EF4-FFF2-40B4-BE49-F238E27FC236}">
                <a16:creationId xmlns:a16="http://schemas.microsoft.com/office/drawing/2014/main" id="{23A7B872-D304-4588-B6FD-2A57FA4967A7}"/>
              </a:ext>
            </a:extLst>
          </p:cNvPr>
          <p:cNvSpPr>
            <a:spLocks noGrp="1"/>
          </p:cNvSpPr>
          <p:nvPr/>
        </p:nvSpPr>
        <p:spPr>
          <a:xfrm>
            <a:off x="32194500" y="904875"/>
            <a:ext cx="9982200" cy="114300"/>
          </a:xfrm>
          <a:prstGeom prst="rect">
            <a:avLst/>
          </a:prstGeom>
          <a:solidFill>
            <a:srgbClr val="EAAA00"/>
          </a:solidFill>
          <a:ln w="0">
            <a:solidFill>
              <a:srgbClr val="EAAA00"/>
            </a:solidFill>
            <a:prstDash val="solid"/>
          </a:ln>
        </p:spPr>
        <p:txBody>
          <a:bodyPr/>
          <a:lstStyle/>
          <a:p>
            <a:endParaRPr lang="en-US"/>
          </a:p>
        </p:txBody>
      </p:sp>
      <p:sp>
        <p:nvSpPr>
          <p:cNvPr id="110" name="author-information-label">
            <a:extLst>
              <a:ext uri="{FF2B5EF4-FFF2-40B4-BE49-F238E27FC236}">
                <a16:creationId xmlns:a16="http://schemas.microsoft.com/office/drawing/2014/main" id="{B813D761-3B11-4CB4-8026-594C4C9A14B9}"/>
              </a:ext>
            </a:extLst>
          </p:cNvPr>
          <p:cNvSpPr>
            <a:spLocks noGrp="1"/>
          </p:cNvSpPr>
          <p:nvPr/>
        </p:nvSpPr>
        <p:spPr>
          <a:xfrm>
            <a:off x="32575500" y="1190625"/>
            <a:ext cx="9220200" cy="400050"/>
          </a:xfrm>
          <a:prstGeom prst="rect">
            <a:avLst/>
          </a:prstGeom>
          <a:noFill/>
          <a:ln w="0">
            <a:noFill/>
            <a:prstDash val="solid"/>
          </a:ln>
        </p:spPr>
        <p:txBody>
          <a:bodyPr/>
          <a:lstStyle/>
          <a:p>
            <a:pPr>
              <a:defRPr sz="1725" b="1">
                <a:solidFill>
                  <a:srgbClr val="EAAA00"/>
                </a:solidFill>
                <a:latin typeface="Helvetica Neue"/>
                <a:ea typeface="Helvetica Neue"/>
                <a:cs typeface="Helvetica Neue"/>
              </a:defRPr>
            </a:pPr>
            <a:r>
              <a:rPr sz="1725" b="1">
                <a:solidFill>
                  <a:srgbClr val="EAAA00"/>
                </a:solidFill>
                <a:latin typeface="Helvetica Neue"/>
                <a:ea typeface="Helvetica Neue"/>
                <a:cs typeface="Helvetica Neue"/>
              </a:rPr>
              <a:t>AUTHOR INFORMATION</a:t>
            </a:r>
          </a:p>
        </p:txBody>
      </p:sp>
      <p:sp>
        <p:nvSpPr>
          <p:cNvPr id="111" name="author-information-name">
            <a:extLst>
              <a:ext uri="{FF2B5EF4-FFF2-40B4-BE49-F238E27FC236}">
                <a16:creationId xmlns:a16="http://schemas.microsoft.com/office/drawing/2014/main" id="{38CC5161-CDFD-46FF-8FDF-17347A1057C3}"/>
              </a:ext>
            </a:extLst>
          </p:cNvPr>
          <p:cNvSpPr>
            <a:spLocks noGrp="1"/>
          </p:cNvSpPr>
          <p:nvPr/>
        </p:nvSpPr>
        <p:spPr>
          <a:xfrm>
            <a:off x="32575500" y="1619250"/>
            <a:ext cx="9220200" cy="571500"/>
          </a:xfrm>
          <a:prstGeom prst="rect">
            <a:avLst/>
          </a:prstGeom>
          <a:noFill/>
          <a:ln w="0">
            <a:noFill/>
            <a:prstDash val="solid"/>
          </a:ln>
        </p:spPr>
        <p:txBody>
          <a:bodyPr/>
          <a:lstStyle/>
          <a:p>
            <a:pPr>
              <a:defRPr sz="2550" b="1">
                <a:solidFill>
                  <a:srgbClr val="FFFFFF"/>
                </a:solidFill>
                <a:latin typeface="Helvetica Neue"/>
                <a:ea typeface="Helvetica Neue"/>
                <a:cs typeface="Helvetica Neue"/>
              </a:defRPr>
            </a:pPr>
            <a:r>
              <a:rPr lang="en-US" sz="2550" b="1" dirty="0">
                <a:solidFill>
                  <a:srgbClr val="FFFFFF"/>
                </a:solidFill>
                <a:latin typeface="Helvetica Neue"/>
                <a:ea typeface="Helvetica Neue"/>
                <a:cs typeface="Helvetica Neue"/>
              </a:rPr>
              <a:t>Nathan Garrett, PhD CPA</a:t>
            </a:r>
            <a:endParaRPr sz="2550" b="1" dirty="0">
              <a:solidFill>
                <a:srgbClr val="FFFFFF"/>
              </a:solidFill>
              <a:latin typeface="Helvetica Neue"/>
              <a:ea typeface="Helvetica Neue"/>
              <a:cs typeface="Helvetica Neue"/>
            </a:endParaRPr>
          </a:p>
        </p:txBody>
      </p:sp>
      <p:sp>
        <p:nvSpPr>
          <p:cNvPr id="112" name="author-information-affiliation">
            <a:extLst>
              <a:ext uri="{FF2B5EF4-FFF2-40B4-BE49-F238E27FC236}">
                <a16:creationId xmlns:a16="http://schemas.microsoft.com/office/drawing/2014/main" id="{CEFFA8CA-F35C-492E-B31A-26EB9D5E2081}"/>
              </a:ext>
            </a:extLst>
          </p:cNvPr>
          <p:cNvSpPr>
            <a:spLocks noGrp="1"/>
          </p:cNvSpPr>
          <p:nvPr/>
        </p:nvSpPr>
        <p:spPr>
          <a:xfrm>
            <a:off x="32575500" y="2209800"/>
            <a:ext cx="9220200" cy="1066800"/>
          </a:xfrm>
          <a:prstGeom prst="rect">
            <a:avLst/>
          </a:prstGeom>
          <a:noFill/>
          <a:ln w="0">
            <a:noFill/>
            <a:prstDash val="solid"/>
          </a:ln>
        </p:spPr>
        <p:txBody>
          <a:bodyPr/>
          <a:lstStyle/>
          <a:p>
            <a:pPr>
              <a:defRPr sz="1800">
                <a:solidFill>
                  <a:srgbClr val="FFFFFF"/>
                </a:solidFill>
                <a:latin typeface="Helvetica Neue"/>
                <a:ea typeface="Helvetica Neue"/>
                <a:cs typeface="Helvetica Neue"/>
              </a:defRPr>
            </a:pPr>
            <a:r>
              <a:rPr sz="1800" dirty="0">
                <a:solidFill>
                  <a:srgbClr val="FFFFFF"/>
                </a:solidFill>
                <a:latin typeface="Helvetica Neue"/>
                <a:ea typeface="Helvetica Neue"/>
                <a:cs typeface="Helvetica Neue"/>
              </a:rPr>
              <a:t>Department of Accounting</a:t>
            </a:r>
          </a:p>
          <a:p>
            <a:pPr>
              <a:defRPr sz="1800">
                <a:solidFill>
                  <a:srgbClr val="FFFFFF"/>
                </a:solidFill>
                <a:latin typeface="Helvetica Neue"/>
                <a:ea typeface="Helvetica Neue"/>
                <a:cs typeface="Helvetica Neue"/>
              </a:defRPr>
            </a:pPr>
            <a:r>
              <a:rPr sz="1800" dirty="0">
                <a:solidFill>
                  <a:srgbClr val="FFFFFF"/>
                </a:solidFill>
                <a:latin typeface="Helvetica Neue"/>
                <a:ea typeface="Helvetica Neue"/>
                <a:cs typeface="Helvetica Neue"/>
              </a:rPr>
              <a:t>John Chambers College of Business and Economics</a:t>
            </a:r>
          </a:p>
          <a:p>
            <a:pPr>
              <a:defRPr sz="1800">
                <a:solidFill>
                  <a:srgbClr val="FFFFFF"/>
                </a:solidFill>
                <a:latin typeface="Helvetica Neue"/>
                <a:ea typeface="Helvetica Neue"/>
                <a:cs typeface="Helvetica Neue"/>
              </a:defRPr>
            </a:pPr>
            <a:r>
              <a:rPr sz="1800" dirty="0">
                <a:solidFill>
                  <a:srgbClr val="FFFFFF"/>
                </a:solidFill>
                <a:latin typeface="Helvetica Neue"/>
                <a:ea typeface="Helvetica Neue"/>
                <a:cs typeface="Helvetica Neue"/>
              </a:rPr>
              <a:t>West Virginia University</a:t>
            </a:r>
          </a:p>
        </p:txBody>
      </p:sp>
      <p:sp>
        <p:nvSpPr>
          <p:cNvPr id="113" name="author-information-email">
            <a:extLst>
              <a:ext uri="{FF2B5EF4-FFF2-40B4-BE49-F238E27FC236}">
                <a16:creationId xmlns:a16="http://schemas.microsoft.com/office/drawing/2014/main" id="{039BC499-ECBA-448E-BC69-39BFC41AFD56}"/>
              </a:ext>
            </a:extLst>
          </p:cNvPr>
          <p:cNvSpPr>
            <a:spLocks noGrp="1"/>
          </p:cNvSpPr>
          <p:nvPr/>
        </p:nvSpPr>
        <p:spPr>
          <a:xfrm>
            <a:off x="32575500" y="3371850"/>
            <a:ext cx="9220200" cy="323850"/>
          </a:xfrm>
          <a:prstGeom prst="rect">
            <a:avLst/>
          </a:prstGeom>
          <a:noFill/>
          <a:ln w="0">
            <a:noFill/>
            <a:prstDash val="solid"/>
          </a:ln>
        </p:spPr>
        <p:txBody>
          <a:bodyPr/>
          <a:lstStyle/>
          <a:p>
            <a:pPr>
              <a:defRPr sz="1650">
                <a:solidFill>
                  <a:srgbClr val="9DDAE6"/>
                </a:solidFill>
                <a:latin typeface="Helvetica Neue"/>
                <a:ea typeface="Helvetica Neue"/>
                <a:cs typeface="Helvetica Neue"/>
              </a:defRPr>
            </a:pPr>
            <a:r>
              <a:rPr lang="en-US" sz="1650" dirty="0" err="1">
                <a:solidFill>
                  <a:srgbClr val="9DDAE6"/>
                </a:solidFill>
                <a:latin typeface="Helvetica Neue"/>
                <a:ea typeface="Helvetica Neue"/>
                <a:cs typeface="Helvetica Neue"/>
              </a:rPr>
              <a:t>Nathan.Garrett@mail.wvu.edu</a:t>
            </a:r>
            <a:endParaRPr sz="1650" dirty="0">
              <a:solidFill>
                <a:srgbClr val="9DDAE6"/>
              </a:solidFill>
              <a:latin typeface="Helvetica Neue"/>
              <a:ea typeface="Helvetica Neue"/>
              <a:cs typeface="Helvetica Neue"/>
            </a:endParaRPr>
          </a:p>
        </p:txBody>
      </p:sp>
      <p:pic>
        <p:nvPicPr>
          <p:cNvPr id="30" name="Picture 29">
            <a:extLst>
              <a:ext uri="{FF2B5EF4-FFF2-40B4-BE49-F238E27FC236}">
                <a16:creationId xmlns:a16="http://schemas.microsoft.com/office/drawing/2014/main" id="{F22BB6AC-22DC-A540-CAF2-9AEF80636C9C}"/>
              </a:ext>
            </a:extLst>
          </p:cNvPr>
          <p:cNvPicPr>
            <a:picLocks noChangeAspect="1"/>
          </p:cNvPicPr>
          <p:nvPr/>
        </p:nvPicPr>
        <p:blipFill>
          <a:blip r:embed="rId3"/>
          <a:stretch>
            <a:fillRect/>
          </a:stretch>
        </p:blipFill>
        <p:spPr>
          <a:xfrm>
            <a:off x="2133600" y="16371039"/>
            <a:ext cx="3175000" cy="3175000"/>
          </a:xfrm>
          <a:prstGeom prst="rect">
            <a:avLst/>
          </a:prstGeom>
        </p:spPr>
      </p:pic>
      <p:sp>
        <p:nvSpPr>
          <p:cNvPr id="107" name="method-section-band">
            <a:extLst>
              <a:ext uri="{FF2B5EF4-FFF2-40B4-BE49-F238E27FC236}">
                <a16:creationId xmlns:a16="http://schemas.microsoft.com/office/drawing/2014/main" id="{40065B12-C58B-91E9-8081-07F452F55F65}"/>
              </a:ext>
            </a:extLst>
          </p:cNvPr>
          <p:cNvSpPr>
            <a:spLocks noGrp="1"/>
          </p:cNvSpPr>
          <p:nvPr/>
        </p:nvSpPr>
        <p:spPr>
          <a:xfrm>
            <a:off x="1659636" y="15245870"/>
            <a:ext cx="3924301" cy="933450"/>
          </a:xfrm>
          <a:prstGeom prst="rect">
            <a:avLst/>
          </a:prstGeom>
          <a:solidFill>
            <a:srgbClr val="002855"/>
          </a:solidFill>
          <a:ln w="0">
            <a:noFill/>
            <a:prstDash val="solid"/>
          </a:ln>
        </p:spPr>
        <p:txBody>
          <a:bodyPr/>
          <a:lstStyle/>
          <a:p>
            <a:endParaRPr lang="en-US"/>
          </a:p>
        </p:txBody>
      </p:sp>
      <p:sp>
        <p:nvSpPr>
          <p:cNvPr id="114" name="method-section-num">
            <a:extLst>
              <a:ext uri="{FF2B5EF4-FFF2-40B4-BE49-F238E27FC236}">
                <a16:creationId xmlns:a16="http://schemas.microsoft.com/office/drawing/2014/main" id="{678427F4-B9FE-8809-D7A3-91739CBFE0C1}"/>
              </a:ext>
            </a:extLst>
          </p:cNvPr>
          <p:cNvSpPr>
            <a:spLocks noGrp="1"/>
          </p:cNvSpPr>
          <p:nvPr/>
        </p:nvSpPr>
        <p:spPr>
          <a:xfrm>
            <a:off x="2131313" y="15558092"/>
            <a:ext cx="685800" cy="523875"/>
          </a:xfrm>
          <a:prstGeom prst="rect">
            <a:avLst/>
          </a:prstGeom>
          <a:noFill/>
          <a:ln w="0">
            <a:noFill/>
            <a:prstDash val="solid"/>
          </a:ln>
        </p:spPr>
        <p:txBody>
          <a:bodyPr anchor="t"/>
          <a:lstStyle/>
          <a:p>
            <a:pPr algn="l">
              <a:buNone/>
              <a:defRPr sz="2325" b="1" i="0">
                <a:solidFill>
                  <a:srgbClr val="EAAA00"/>
                </a:solidFill>
                <a:latin typeface="Helvetica Neue"/>
                <a:ea typeface="Helvetica Neue"/>
                <a:cs typeface="Helvetica Neue"/>
              </a:defRPr>
            </a:pPr>
            <a:endParaRPr sz="2325" b="1" i="0" dirty="0">
              <a:solidFill>
                <a:srgbClr val="EAAA00"/>
              </a:solidFill>
              <a:latin typeface="Helvetica Neue"/>
              <a:ea typeface="Helvetica Neue"/>
              <a:cs typeface="Helvetica Neue"/>
            </a:endParaRPr>
          </a:p>
        </p:txBody>
      </p:sp>
      <p:sp>
        <p:nvSpPr>
          <p:cNvPr id="115" name="method-section-title">
            <a:extLst>
              <a:ext uri="{FF2B5EF4-FFF2-40B4-BE49-F238E27FC236}">
                <a16:creationId xmlns:a16="http://schemas.microsoft.com/office/drawing/2014/main" id="{0E293B07-7C9D-BB11-5A97-3070285DC65D}"/>
              </a:ext>
            </a:extLst>
          </p:cNvPr>
          <p:cNvSpPr>
            <a:spLocks noGrp="1"/>
          </p:cNvSpPr>
          <p:nvPr/>
        </p:nvSpPr>
        <p:spPr>
          <a:xfrm>
            <a:off x="1930400" y="15430500"/>
            <a:ext cx="4819650" cy="590550"/>
          </a:xfrm>
          <a:prstGeom prst="rect">
            <a:avLst/>
          </a:prstGeom>
          <a:noFill/>
          <a:ln w="0">
            <a:noFill/>
            <a:prstDash val="solid"/>
          </a:ln>
        </p:spPr>
        <p:txBody>
          <a:bodyPr anchor="t"/>
          <a:lstStyle/>
          <a:p>
            <a:pPr algn="l">
              <a:buNone/>
              <a:defRPr sz="3000" b="1" i="0">
                <a:solidFill>
                  <a:srgbClr val="FFFFFF"/>
                </a:solidFill>
                <a:latin typeface="Helvetica Neue"/>
                <a:ea typeface="Helvetica Neue"/>
                <a:cs typeface="Helvetica Neue"/>
              </a:defRPr>
            </a:pPr>
            <a:r>
              <a:rPr lang="en-US" sz="3000" b="1" i="0" dirty="0">
                <a:solidFill>
                  <a:srgbClr val="FFFFFF"/>
                </a:solidFill>
                <a:latin typeface="Helvetica Neue"/>
                <a:ea typeface="Helvetica Neue"/>
                <a:cs typeface="Helvetica Neue"/>
              </a:rPr>
              <a:t>Link to LLM Case</a:t>
            </a:r>
            <a:endParaRPr sz="3000" b="1" i="0" dirty="0">
              <a:solidFill>
                <a:srgbClr val="FFFFFF"/>
              </a:solidFill>
              <a:latin typeface="Helvetica Neue"/>
              <a:ea typeface="Helvetica Neue"/>
              <a:cs typeface="Helvetica Neue"/>
            </a:endParaRPr>
          </a:p>
        </p:txBody>
      </p:sp>
      <p:sp>
        <p:nvSpPr>
          <p:cNvPr id="118" name="method-section-band">
            <a:extLst>
              <a:ext uri="{FF2B5EF4-FFF2-40B4-BE49-F238E27FC236}">
                <a16:creationId xmlns:a16="http://schemas.microsoft.com/office/drawing/2014/main" id="{7C830B0F-ADE4-0034-726A-935C225E27D8}"/>
              </a:ext>
            </a:extLst>
          </p:cNvPr>
          <p:cNvSpPr>
            <a:spLocks noGrp="1"/>
          </p:cNvSpPr>
          <p:nvPr/>
        </p:nvSpPr>
        <p:spPr>
          <a:xfrm>
            <a:off x="7032496" y="15245870"/>
            <a:ext cx="4283204" cy="933450"/>
          </a:xfrm>
          <a:prstGeom prst="rect">
            <a:avLst/>
          </a:prstGeom>
          <a:solidFill>
            <a:srgbClr val="002855"/>
          </a:solidFill>
          <a:ln w="0">
            <a:noFill/>
            <a:prstDash val="solid"/>
          </a:ln>
        </p:spPr>
        <p:txBody>
          <a:bodyPr/>
          <a:lstStyle/>
          <a:p>
            <a:endParaRPr lang="en-US"/>
          </a:p>
        </p:txBody>
      </p:sp>
      <p:sp>
        <p:nvSpPr>
          <p:cNvPr id="119" name="method-section-num">
            <a:extLst>
              <a:ext uri="{FF2B5EF4-FFF2-40B4-BE49-F238E27FC236}">
                <a16:creationId xmlns:a16="http://schemas.microsoft.com/office/drawing/2014/main" id="{FAC695A1-121F-8601-D239-3887402AF167}"/>
              </a:ext>
            </a:extLst>
          </p:cNvPr>
          <p:cNvSpPr>
            <a:spLocks noGrp="1"/>
          </p:cNvSpPr>
          <p:nvPr/>
        </p:nvSpPr>
        <p:spPr>
          <a:xfrm>
            <a:off x="7236714" y="15561082"/>
            <a:ext cx="685800" cy="523875"/>
          </a:xfrm>
          <a:prstGeom prst="rect">
            <a:avLst/>
          </a:prstGeom>
          <a:noFill/>
          <a:ln w="0">
            <a:noFill/>
            <a:prstDash val="solid"/>
          </a:ln>
        </p:spPr>
        <p:txBody>
          <a:bodyPr anchor="t"/>
          <a:lstStyle/>
          <a:p>
            <a:pPr algn="l">
              <a:buNone/>
              <a:defRPr sz="2325" b="1" i="0">
                <a:solidFill>
                  <a:srgbClr val="EAAA00"/>
                </a:solidFill>
                <a:latin typeface="Helvetica Neue"/>
                <a:ea typeface="Helvetica Neue"/>
                <a:cs typeface="Helvetica Neue"/>
              </a:defRPr>
            </a:pPr>
            <a:endParaRPr sz="2325" b="1" i="0" dirty="0">
              <a:solidFill>
                <a:srgbClr val="EAAA00"/>
              </a:solidFill>
              <a:latin typeface="Helvetica Neue"/>
              <a:ea typeface="Helvetica Neue"/>
              <a:cs typeface="Helvetica Neue"/>
            </a:endParaRPr>
          </a:p>
        </p:txBody>
      </p:sp>
      <p:sp>
        <p:nvSpPr>
          <p:cNvPr id="120" name="method-section-title">
            <a:extLst>
              <a:ext uri="{FF2B5EF4-FFF2-40B4-BE49-F238E27FC236}">
                <a16:creationId xmlns:a16="http://schemas.microsoft.com/office/drawing/2014/main" id="{3607F1EF-D613-55C6-8FDF-4BCF8B685FB1}"/>
              </a:ext>
            </a:extLst>
          </p:cNvPr>
          <p:cNvSpPr>
            <a:spLocks noGrp="1"/>
          </p:cNvSpPr>
          <p:nvPr/>
        </p:nvSpPr>
        <p:spPr>
          <a:xfrm>
            <a:off x="7181850" y="15430500"/>
            <a:ext cx="4819650" cy="590550"/>
          </a:xfrm>
          <a:prstGeom prst="rect">
            <a:avLst/>
          </a:prstGeom>
          <a:noFill/>
          <a:ln w="0">
            <a:noFill/>
            <a:prstDash val="solid"/>
          </a:ln>
        </p:spPr>
        <p:txBody>
          <a:bodyPr anchor="t"/>
          <a:lstStyle/>
          <a:p>
            <a:pPr algn="l">
              <a:buNone/>
              <a:defRPr sz="3000" b="1" i="0">
                <a:solidFill>
                  <a:srgbClr val="FFFFFF"/>
                </a:solidFill>
                <a:latin typeface="Helvetica Neue"/>
                <a:ea typeface="Helvetica Neue"/>
                <a:cs typeface="Helvetica Neue"/>
              </a:defRPr>
            </a:pPr>
            <a:r>
              <a:rPr lang="en-US" sz="3000" b="1" i="0" dirty="0">
                <a:solidFill>
                  <a:srgbClr val="FFFFFF"/>
                </a:solidFill>
                <a:latin typeface="Helvetica Neue"/>
                <a:ea typeface="Helvetica Neue"/>
                <a:cs typeface="Helvetica Neue"/>
              </a:rPr>
              <a:t>Link to Materials</a:t>
            </a:r>
            <a:endParaRPr sz="3000" b="1" i="0" dirty="0">
              <a:solidFill>
                <a:srgbClr val="FFFFFF"/>
              </a:solidFill>
              <a:latin typeface="Helvetica Neue"/>
              <a:ea typeface="Helvetica Neue"/>
              <a:cs typeface="Helvetica Neue"/>
            </a:endParaRPr>
          </a:p>
        </p:txBody>
      </p:sp>
      <p:pic>
        <p:nvPicPr>
          <p:cNvPr id="121" name="Picture 120">
            <a:extLst>
              <a:ext uri="{FF2B5EF4-FFF2-40B4-BE49-F238E27FC236}">
                <a16:creationId xmlns:a16="http://schemas.microsoft.com/office/drawing/2014/main" id="{060A8EAA-EAB5-14AF-5BD5-71A951C046F5}"/>
              </a:ext>
            </a:extLst>
          </p:cNvPr>
          <p:cNvPicPr>
            <a:picLocks noChangeAspect="1"/>
          </p:cNvPicPr>
          <p:nvPr/>
        </p:nvPicPr>
        <p:blipFill>
          <a:blip r:embed="rId4"/>
          <a:stretch>
            <a:fillRect/>
          </a:stretch>
        </p:blipFill>
        <p:spPr>
          <a:xfrm>
            <a:off x="7513207" y="16459200"/>
            <a:ext cx="2938388" cy="2938388"/>
          </a:xfrm>
          <a:prstGeom prst="rect">
            <a:avLst/>
          </a:prstGeom>
        </p:spPr>
      </p:pic>
      <p:sp>
        <p:nvSpPr>
          <p:cNvPr id="122" name="repair-section-band">
            <a:extLst>
              <a:ext uri="{FF2B5EF4-FFF2-40B4-BE49-F238E27FC236}">
                <a16:creationId xmlns:a16="http://schemas.microsoft.com/office/drawing/2014/main" id="{8743D6B2-8D5D-6F76-B92D-D16DE43A526C}"/>
              </a:ext>
            </a:extLst>
          </p:cNvPr>
          <p:cNvSpPr>
            <a:spLocks noGrp="1"/>
          </p:cNvSpPr>
          <p:nvPr/>
        </p:nvSpPr>
        <p:spPr>
          <a:xfrm>
            <a:off x="11942065" y="26059514"/>
            <a:ext cx="9601200" cy="933450"/>
          </a:xfrm>
          <a:prstGeom prst="rect">
            <a:avLst/>
          </a:prstGeom>
          <a:solidFill>
            <a:srgbClr val="002855"/>
          </a:solidFill>
          <a:ln w="0">
            <a:noFill/>
            <a:prstDash val="solid"/>
          </a:ln>
        </p:spPr>
        <p:txBody>
          <a:bodyPr/>
          <a:lstStyle/>
          <a:p>
            <a:endParaRPr lang="en-US"/>
          </a:p>
        </p:txBody>
      </p:sp>
      <p:sp>
        <p:nvSpPr>
          <p:cNvPr id="124" name="repair-section-title">
            <a:extLst>
              <a:ext uri="{FF2B5EF4-FFF2-40B4-BE49-F238E27FC236}">
                <a16:creationId xmlns:a16="http://schemas.microsoft.com/office/drawing/2014/main" id="{5B79DF95-27D2-6CDD-9DDD-520EF85A2842}"/>
              </a:ext>
            </a:extLst>
          </p:cNvPr>
          <p:cNvSpPr>
            <a:spLocks noGrp="1"/>
          </p:cNvSpPr>
          <p:nvPr/>
        </p:nvSpPr>
        <p:spPr>
          <a:xfrm>
            <a:off x="12213336" y="26211914"/>
            <a:ext cx="8420100" cy="590550"/>
          </a:xfrm>
          <a:prstGeom prst="rect">
            <a:avLst/>
          </a:prstGeom>
          <a:noFill/>
          <a:ln w="0">
            <a:noFill/>
            <a:prstDash val="solid"/>
          </a:ln>
        </p:spPr>
        <p:txBody>
          <a:bodyPr anchor="t"/>
          <a:lstStyle/>
          <a:p>
            <a:pPr algn="l">
              <a:buNone/>
              <a:defRPr sz="3000" b="1" i="0">
                <a:solidFill>
                  <a:srgbClr val="FFFFFF"/>
                </a:solidFill>
                <a:latin typeface="Helvetica Neue"/>
                <a:ea typeface="Helvetica Neue"/>
                <a:cs typeface="Helvetica Neue"/>
              </a:defRPr>
            </a:pPr>
            <a:r>
              <a:rPr lang="en-US" sz="3000" b="1" i="0" dirty="0">
                <a:solidFill>
                  <a:srgbClr val="FFFFFF"/>
                </a:solidFill>
                <a:latin typeface="Helvetica Neue"/>
                <a:ea typeface="Helvetica Neue"/>
                <a:cs typeface="Helvetica Neue"/>
              </a:rPr>
              <a:t>Problem 1: Model Collapse</a:t>
            </a:r>
            <a:endParaRPr sz="3000" b="1" i="0" dirty="0">
              <a:solidFill>
                <a:srgbClr val="FFFFFF"/>
              </a:solidFill>
              <a:latin typeface="Helvetica Neue"/>
              <a:ea typeface="Helvetica Neue"/>
              <a:cs typeface="Helvetica Neue"/>
            </a:endParaRPr>
          </a:p>
        </p:txBody>
      </p:sp>
      <p:sp>
        <p:nvSpPr>
          <p:cNvPr id="125" name="case-body">
            <a:extLst>
              <a:ext uri="{FF2B5EF4-FFF2-40B4-BE49-F238E27FC236}">
                <a16:creationId xmlns:a16="http://schemas.microsoft.com/office/drawing/2014/main" id="{9FA9ADF9-9371-4A7A-E0A5-6558F1472C2C}"/>
              </a:ext>
            </a:extLst>
          </p:cNvPr>
          <p:cNvSpPr>
            <a:spLocks noGrp="1"/>
          </p:cNvSpPr>
          <p:nvPr/>
        </p:nvSpPr>
        <p:spPr>
          <a:xfrm>
            <a:off x="11882630" y="27360784"/>
            <a:ext cx="9601200" cy="3708880"/>
          </a:xfrm>
          <a:prstGeom prst="rect">
            <a:avLst/>
          </a:prstGeom>
          <a:noFill/>
          <a:ln w="0">
            <a:noFill/>
            <a:prstDash val="solid"/>
          </a:ln>
        </p:spPr>
        <p:txBody>
          <a:bodyPr anchor="t"/>
          <a:lstStyle/>
          <a:p>
            <a:pPr algn="l">
              <a:buNone/>
              <a:defRPr sz="2325" b="0" i="0">
                <a:solidFill>
                  <a:srgbClr val="1C2B39"/>
                </a:solidFill>
                <a:latin typeface="Helvetica Neue"/>
                <a:ea typeface="Helvetica Neue"/>
                <a:cs typeface="Helvetica Neue"/>
              </a:defRPr>
            </a:pPr>
            <a:r>
              <a:rPr lang="en-US" sz="2800" b="0" i="0" dirty="0">
                <a:solidFill>
                  <a:srgbClr val="1C2B39"/>
                </a:solidFill>
                <a:latin typeface="Helvetica Neue"/>
                <a:ea typeface="Helvetica Neue"/>
                <a:cs typeface="Helvetica Neue"/>
              </a:rPr>
              <a:t>2 students had completely different experiences. Their transcripts had no relation to the source material.</a:t>
            </a:r>
          </a:p>
          <a:p>
            <a:pPr algn="l">
              <a:buNone/>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algn="l">
              <a:buNone/>
              <a:defRPr sz="2325" b="0" i="0">
                <a:solidFill>
                  <a:srgbClr val="1C2B39"/>
                </a:solidFill>
                <a:latin typeface="Helvetica Neue"/>
                <a:ea typeface="Helvetica Neue"/>
                <a:cs typeface="Helvetica Neue"/>
              </a:defRPr>
            </a:pPr>
            <a:r>
              <a:rPr lang="en-US" sz="2800" b="0" i="0" dirty="0">
                <a:solidFill>
                  <a:srgbClr val="1C2B39"/>
                </a:solidFill>
                <a:latin typeface="Helvetica Neue"/>
                <a:ea typeface="Helvetica Neue"/>
                <a:cs typeface="Helvetica Neue"/>
              </a:rPr>
              <a:t>Both were using the free version of ChatGPT. I suspect that they used the model during a time of high usage, resultin</a:t>
            </a:r>
            <a:r>
              <a:rPr lang="en-US" sz="2800" dirty="0">
                <a:solidFill>
                  <a:srgbClr val="1C2B39"/>
                </a:solidFill>
                <a:latin typeface="Helvetica Neue"/>
                <a:ea typeface="Helvetica Neue"/>
                <a:cs typeface="Helvetica Neue"/>
              </a:rPr>
              <a:t>g in severe degradation of performance.</a:t>
            </a:r>
          </a:p>
          <a:p>
            <a:pPr algn="l">
              <a:buNone/>
              <a:defRPr sz="2325" b="0" i="0">
                <a:solidFill>
                  <a:srgbClr val="1C2B39"/>
                </a:solidFill>
                <a:latin typeface="Helvetica Neue"/>
                <a:ea typeface="Helvetica Neue"/>
                <a:cs typeface="Helvetica Neue"/>
              </a:defRPr>
            </a:pPr>
            <a:br>
              <a:rPr lang="en-US" sz="2800" b="0" i="0" dirty="0">
                <a:solidFill>
                  <a:srgbClr val="1C2B39"/>
                </a:solidFill>
                <a:latin typeface="Helvetica Neue"/>
                <a:ea typeface="Helvetica Neue"/>
                <a:cs typeface="Helvetica Neue"/>
              </a:rPr>
            </a:br>
            <a:r>
              <a:rPr lang="en-US" sz="2800" b="1" i="0" dirty="0">
                <a:solidFill>
                  <a:srgbClr val="1C2B39"/>
                </a:solidFill>
                <a:latin typeface="Helvetica Neue"/>
                <a:ea typeface="Helvetica Neue"/>
                <a:cs typeface="Helvetica Neue"/>
              </a:rPr>
              <a:t>Recommendation</a:t>
            </a:r>
            <a:r>
              <a:rPr lang="en-US" sz="2800" b="0" i="0" dirty="0">
                <a:solidFill>
                  <a:srgbClr val="1C2B39"/>
                </a:solidFill>
                <a:latin typeface="Helvetica Neue"/>
                <a:ea typeface="Helvetica Neue"/>
                <a:cs typeface="Helvetica Neue"/>
              </a:rPr>
              <a:t>: Provide certain ground truths in the assignment.  Have students submit transcripts.</a:t>
            </a:r>
          </a:p>
        </p:txBody>
      </p:sp>
      <p:sp>
        <p:nvSpPr>
          <p:cNvPr id="23" name="prompt-section-band">
            <a:extLst>
              <a:ext uri="{FF2B5EF4-FFF2-40B4-BE49-F238E27FC236}">
                <a16:creationId xmlns:a16="http://schemas.microsoft.com/office/drawing/2014/main" id="{AAA7A7E5-7033-4118-DF96-E397B14BCEC6}"/>
              </a:ext>
            </a:extLst>
          </p:cNvPr>
          <p:cNvSpPr>
            <a:spLocks noGrp="1"/>
          </p:cNvSpPr>
          <p:nvPr/>
        </p:nvSpPr>
        <p:spPr>
          <a:xfrm>
            <a:off x="11971782" y="18516600"/>
            <a:ext cx="9601200" cy="933450"/>
          </a:xfrm>
          <a:prstGeom prst="rect">
            <a:avLst/>
          </a:prstGeom>
          <a:solidFill>
            <a:srgbClr val="002855"/>
          </a:solidFill>
          <a:ln w="0">
            <a:noFill/>
            <a:prstDash val="solid"/>
          </a:ln>
        </p:spPr>
        <p:txBody>
          <a:bodyPr/>
          <a:lstStyle/>
          <a:p>
            <a:endParaRPr lang="en-US"/>
          </a:p>
        </p:txBody>
      </p:sp>
      <p:sp>
        <p:nvSpPr>
          <p:cNvPr id="24" name="prompt-section-title">
            <a:extLst>
              <a:ext uri="{FF2B5EF4-FFF2-40B4-BE49-F238E27FC236}">
                <a16:creationId xmlns:a16="http://schemas.microsoft.com/office/drawing/2014/main" id="{FE9E25D1-5C35-8C37-8D7C-FEAF8A64D5CA}"/>
              </a:ext>
            </a:extLst>
          </p:cNvPr>
          <p:cNvSpPr>
            <a:spLocks noGrp="1"/>
          </p:cNvSpPr>
          <p:nvPr/>
        </p:nvSpPr>
        <p:spPr>
          <a:xfrm>
            <a:off x="12213336" y="18669000"/>
            <a:ext cx="8420100" cy="590550"/>
          </a:xfrm>
          <a:prstGeom prst="rect">
            <a:avLst/>
          </a:prstGeom>
          <a:noFill/>
          <a:ln w="0">
            <a:noFill/>
            <a:prstDash val="solid"/>
          </a:ln>
        </p:spPr>
        <p:txBody>
          <a:bodyPr anchor="t"/>
          <a:lstStyle/>
          <a:p>
            <a:pPr algn="l">
              <a:buNone/>
              <a:defRPr sz="3000" b="1" i="0">
                <a:solidFill>
                  <a:srgbClr val="FFFFFF"/>
                </a:solidFill>
                <a:latin typeface="Helvetica Neue"/>
                <a:ea typeface="Helvetica Neue"/>
                <a:cs typeface="Helvetica Neue"/>
              </a:defRPr>
            </a:pPr>
            <a:r>
              <a:rPr sz="3000" b="1" i="0" dirty="0">
                <a:solidFill>
                  <a:srgbClr val="FFFFFF"/>
                </a:solidFill>
                <a:latin typeface="Helvetica Neue"/>
                <a:ea typeface="Helvetica Neue"/>
                <a:cs typeface="Helvetica Neue"/>
              </a:rPr>
              <a:t>What student prompts revealed</a:t>
            </a:r>
          </a:p>
        </p:txBody>
      </p:sp>
      <p:sp>
        <p:nvSpPr>
          <p:cNvPr id="25" name="case-body">
            <a:extLst>
              <a:ext uri="{FF2B5EF4-FFF2-40B4-BE49-F238E27FC236}">
                <a16:creationId xmlns:a16="http://schemas.microsoft.com/office/drawing/2014/main" id="{85EA2629-EC83-7292-7AA9-64B9BBEA9C8B}"/>
              </a:ext>
            </a:extLst>
          </p:cNvPr>
          <p:cNvSpPr>
            <a:spLocks noGrp="1"/>
          </p:cNvSpPr>
          <p:nvPr/>
        </p:nvSpPr>
        <p:spPr>
          <a:xfrm>
            <a:off x="12193524" y="8168795"/>
            <a:ext cx="9378190" cy="10420350"/>
          </a:xfrm>
          <a:prstGeom prst="rect">
            <a:avLst/>
          </a:prstGeom>
          <a:noFill/>
          <a:ln w="0">
            <a:noFill/>
            <a:prstDash val="solid"/>
          </a:ln>
        </p:spPr>
        <p:txBody>
          <a:bodyPr anchor="t"/>
          <a:lstStyle/>
          <a:p>
            <a:pPr algn="l">
              <a:buNone/>
              <a:defRPr sz="2325" b="0" i="0">
                <a:solidFill>
                  <a:srgbClr val="1C2B39"/>
                </a:solidFill>
                <a:latin typeface="Helvetica Neue"/>
                <a:ea typeface="Helvetica Neue"/>
                <a:cs typeface="Helvetica Neue"/>
              </a:defRPr>
            </a:pPr>
            <a:r>
              <a:rPr lang="en-US" sz="2800" b="1" i="0" dirty="0">
                <a:solidFill>
                  <a:srgbClr val="1C2B39"/>
                </a:solidFill>
                <a:latin typeface="Helvetica Neue"/>
                <a:ea typeface="Helvetica Neue"/>
                <a:cs typeface="Helvetica Neue"/>
              </a:rPr>
              <a:t>Instructor</a:t>
            </a:r>
            <a:r>
              <a:rPr lang="en-US" sz="2800" b="0" i="0" dirty="0">
                <a:solidFill>
                  <a:srgbClr val="1C2B39"/>
                </a:solidFill>
                <a:latin typeface="Helvetica Neue"/>
                <a:ea typeface="Helvetica Neue"/>
                <a:cs typeface="Helvetica Neue"/>
              </a:rPr>
              <a:t> </a:t>
            </a: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r>
              <a:rPr lang="en-US" sz="2800" dirty="0">
                <a:solidFill>
                  <a:srgbClr val="1C2B39"/>
                </a:solidFill>
                <a:latin typeface="Helvetica Neue"/>
                <a:ea typeface="Helvetica Neue"/>
                <a:cs typeface="Helvetica Neue"/>
              </a:rPr>
              <a:t>Paid </a:t>
            </a:r>
            <a:r>
              <a:rPr lang="en-US" sz="2800" b="0" i="0" dirty="0">
                <a:solidFill>
                  <a:srgbClr val="1C2B39"/>
                </a:solidFill>
                <a:latin typeface="Helvetica Neue"/>
                <a:ea typeface="Helvetica Neue"/>
                <a:cs typeface="Helvetica Neue"/>
              </a:rPr>
              <a:t>ChatGPT account</a:t>
            </a: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r>
              <a:rPr lang="en-US" sz="2800" b="0" i="0" dirty="0">
                <a:solidFill>
                  <a:srgbClr val="1C2B39"/>
                </a:solidFill>
                <a:latin typeface="Helvetica Neue"/>
                <a:ea typeface="Helvetica Neue"/>
                <a:cs typeface="Helvetica Neue"/>
              </a:rPr>
              <a:t>Create custom GPT with source files</a:t>
            </a:r>
          </a:p>
          <a:p>
            <a:pPr marL="914400" lvl="1" indent="-457200">
              <a:buFont typeface="Arial" panose="020B0604020202020204" pitchFamily="34" charset="0"/>
              <a:buChar char="•"/>
              <a:defRPr sz="2325" b="0" i="0">
                <a:solidFill>
                  <a:srgbClr val="1C2B39"/>
                </a:solidFill>
                <a:latin typeface="Helvetica Neue"/>
                <a:ea typeface="Helvetica Neue"/>
                <a:cs typeface="Helvetica Neue"/>
              </a:defRPr>
            </a:pPr>
            <a:r>
              <a:rPr lang="en-US" sz="2800" dirty="0">
                <a:solidFill>
                  <a:srgbClr val="1C2B39"/>
                </a:solidFill>
                <a:latin typeface="Helvetica Neue"/>
                <a:ea typeface="Helvetica Neue"/>
                <a:cs typeface="Helvetica Neue"/>
              </a:rPr>
              <a:t>CEO email prompting case</a:t>
            </a:r>
          </a:p>
          <a:p>
            <a:pPr marL="914400" lvl="1" indent="-457200">
              <a:buFont typeface="Arial" panose="020B0604020202020204" pitchFamily="34" charset="0"/>
              <a:buChar char="•"/>
              <a:defRPr sz="2325" b="0" i="0">
                <a:solidFill>
                  <a:srgbClr val="1C2B39"/>
                </a:solidFill>
                <a:latin typeface="Helvetica Neue"/>
                <a:ea typeface="Helvetica Neue"/>
                <a:cs typeface="Helvetica Neue"/>
              </a:defRPr>
            </a:pPr>
            <a:r>
              <a:rPr lang="en-US" sz="2800" dirty="0">
                <a:solidFill>
                  <a:srgbClr val="1C2B39"/>
                </a:solidFill>
                <a:latin typeface="Helvetica Neue"/>
                <a:ea typeface="Helvetica Neue"/>
                <a:cs typeface="Helvetica Neue"/>
              </a:rPr>
              <a:t>Vendor email about duplicate payments</a:t>
            </a:r>
          </a:p>
          <a:p>
            <a:pPr marL="914400" lvl="1" indent="-457200">
              <a:buFont typeface="Arial" panose="020B0604020202020204" pitchFamily="34" charset="0"/>
              <a:buChar char="•"/>
              <a:defRPr sz="2325" b="0" i="0">
                <a:solidFill>
                  <a:srgbClr val="1C2B39"/>
                </a:solidFill>
                <a:latin typeface="Helvetica Neue"/>
                <a:ea typeface="Helvetica Neue"/>
                <a:cs typeface="Helvetica Neue"/>
              </a:defRPr>
            </a:pPr>
            <a:r>
              <a:rPr lang="en-US" sz="2800" dirty="0">
                <a:solidFill>
                  <a:srgbClr val="1C2B39"/>
                </a:solidFill>
                <a:latin typeface="Helvetica Neue"/>
                <a:ea typeface="Helvetica Neue"/>
                <a:cs typeface="Helvetica Neue"/>
              </a:rPr>
              <a:t>Interview scripts (generated through GPT)</a:t>
            </a:r>
          </a:p>
          <a:p>
            <a:pPr marL="914400" lvl="1" indent="-457200">
              <a:buFont typeface="Arial" panose="020B0604020202020204" pitchFamily="34" charset="0"/>
              <a:buChar char="•"/>
              <a:defRPr sz="2325" b="0" i="0">
                <a:solidFill>
                  <a:srgbClr val="1C2B39"/>
                </a:solidFill>
                <a:latin typeface="Helvetica Neue"/>
                <a:ea typeface="Helvetica Neue"/>
                <a:cs typeface="Helvetica Neue"/>
              </a:defRPr>
            </a:pPr>
            <a:r>
              <a:rPr lang="en-US" sz="2800" dirty="0">
                <a:solidFill>
                  <a:srgbClr val="1C2B39"/>
                </a:solidFill>
                <a:latin typeface="Helvetica Neue"/>
                <a:ea typeface="Helvetica Neue"/>
                <a:cs typeface="Helvetica Neue"/>
              </a:rPr>
              <a:t>Excel data file with invoices</a:t>
            </a:r>
            <a:endParaRPr lang="en-US" sz="2800" b="0" i="0" dirty="0">
              <a:solidFill>
                <a:srgbClr val="1C2B39"/>
              </a:solidFill>
              <a:latin typeface="Helvetica Neue"/>
              <a:ea typeface="Helvetica Neue"/>
              <a:cs typeface="Helvetica Neue"/>
            </a:endParaRP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endParaRPr lang="en-US" sz="2800" dirty="0">
              <a:solidFill>
                <a:srgbClr val="1C2B39"/>
              </a:solidFill>
              <a:latin typeface="Helvetica Neue"/>
              <a:ea typeface="Helvetica Neue"/>
              <a:cs typeface="Helvetica Neue"/>
            </a:endParaRPr>
          </a:p>
          <a:p>
            <a:pPr algn="l">
              <a:defRPr sz="2325" b="0" i="0">
                <a:solidFill>
                  <a:srgbClr val="1C2B39"/>
                </a:solidFill>
                <a:latin typeface="Helvetica Neue"/>
                <a:ea typeface="Helvetica Neue"/>
                <a:cs typeface="Helvetica Neue"/>
              </a:defRPr>
            </a:pPr>
            <a:r>
              <a:rPr lang="en-US" sz="2800" b="1" i="0" dirty="0">
                <a:solidFill>
                  <a:srgbClr val="1C2B39"/>
                </a:solidFill>
                <a:latin typeface="Helvetica Neue"/>
                <a:ea typeface="Helvetica Neue"/>
                <a:cs typeface="Helvetica Neue"/>
              </a:rPr>
              <a:t>Students</a:t>
            </a: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r>
              <a:rPr lang="en-US" sz="2800" b="0" i="0" dirty="0">
                <a:solidFill>
                  <a:srgbClr val="1C2B39"/>
                </a:solidFill>
                <a:latin typeface="Helvetica Neue"/>
                <a:ea typeface="Helvetica Neue"/>
                <a:cs typeface="Helvetica Neue"/>
              </a:rPr>
              <a:t>Interaction with custom GPT </a:t>
            </a:r>
            <a:r>
              <a:rPr lang="en-US" sz="2800" b="0" i="1" dirty="0">
                <a:solidFill>
                  <a:srgbClr val="1C2B39"/>
                </a:solidFill>
                <a:latin typeface="Helvetica Neue"/>
                <a:ea typeface="Helvetica Neue"/>
                <a:cs typeface="Helvetica Neue"/>
              </a:rPr>
              <a:t>uses student accounts</a:t>
            </a:r>
            <a:endParaRPr lang="en-US" sz="2800" b="0" dirty="0">
              <a:solidFill>
                <a:srgbClr val="1C2B39"/>
              </a:solidFill>
              <a:latin typeface="Helvetica Neue"/>
              <a:ea typeface="Helvetica Neue"/>
              <a:cs typeface="Helvetica Neue"/>
            </a:endParaRP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r>
              <a:rPr lang="en-US" sz="2800" b="0" dirty="0">
                <a:solidFill>
                  <a:srgbClr val="1C2B39"/>
                </a:solidFill>
                <a:latin typeface="Helvetica Neue"/>
                <a:ea typeface="Helvetica Neue"/>
                <a:cs typeface="Helvetica Neue"/>
              </a:rPr>
              <a:t>Free accounts limited to ~10-15 minutes of interaction</a:t>
            </a:r>
          </a:p>
          <a:p>
            <a:pPr marL="457200" indent="-457200" algn="l">
              <a:buFont typeface="Arial" panose="020B0604020202020204" pitchFamily="34" charset="0"/>
              <a:buChar char="•"/>
              <a:defRPr sz="2325" b="0" i="0">
                <a:solidFill>
                  <a:srgbClr val="1C2B39"/>
                </a:solidFill>
                <a:latin typeface="Helvetica Neue"/>
                <a:ea typeface="Helvetica Neue"/>
                <a:cs typeface="Helvetica Neue"/>
              </a:defRPr>
            </a:pPr>
            <a:r>
              <a:rPr lang="en-US" sz="2800" i="0" dirty="0">
                <a:solidFill>
                  <a:srgbClr val="1C2B39"/>
                </a:solidFill>
                <a:latin typeface="Helvetica Neue"/>
                <a:ea typeface="Helvetica Neue"/>
                <a:cs typeface="Helvetica Neue"/>
              </a:rPr>
              <a:t>I provided them with data file, instructions, and rubric.</a:t>
            </a:r>
            <a:endParaRPr lang="en-US" sz="2800" b="0" i="0" dirty="0">
              <a:solidFill>
                <a:srgbClr val="1C2B39"/>
              </a:solidFill>
              <a:latin typeface="Helvetica Neue"/>
              <a:ea typeface="Helvetica Neue"/>
              <a:cs typeface="Helvetica Neue"/>
            </a:endParaRPr>
          </a:p>
        </p:txBody>
      </p:sp>
      <p:pic>
        <p:nvPicPr>
          <p:cNvPr id="57" name="Picture 56">
            <a:extLst>
              <a:ext uri="{FF2B5EF4-FFF2-40B4-BE49-F238E27FC236}">
                <a16:creationId xmlns:a16="http://schemas.microsoft.com/office/drawing/2014/main" id="{D7F12D1A-9F72-12D9-7A9B-1CEEC33B2E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261598" y="11720487"/>
            <a:ext cx="8843264" cy="3778300"/>
          </a:xfrm>
          <a:prstGeom prst="rect">
            <a:avLst/>
          </a:prstGeom>
        </p:spPr>
      </p:pic>
      <p:sp>
        <p:nvSpPr>
          <p:cNvPr id="60" name="metric-range-rule">
            <a:extLst>
              <a:ext uri="{FF2B5EF4-FFF2-40B4-BE49-F238E27FC236}">
                <a16:creationId xmlns:a16="http://schemas.microsoft.com/office/drawing/2014/main" id="{0A456D2C-6507-FDF4-5CC0-299356F8E4C8}"/>
              </a:ext>
            </a:extLst>
          </p:cNvPr>
          <p:cNvSpPr>
            <a:spLocks noGrp="1"/>
          </p:cNvSpPr>
          <p:nvPr/>
        </p:nvSpPr>
        <p:spPr>
          <a:xfrm rot="16200000">
            <a:off x="10485120" y="13611225"/>
            <a:ext cx="3566160" cy="91440"/>
          </a:xfrm>
          <a:prstGeom prst="rect">
            <a:avLst/>
          </a:prstGeom>
          <a:solidFill>
            <a:srgbClr val="EAAA00"/>
          </a:solidFill>
          <a:ln w="0">
            <a:noFill/>
            <a:prstDash val="solid"/>
          </a:ln>
        </p:spPr>
        <p:txBody>
          <a:bodyPr/>
          <a:lstStyle/>
          <a:p>
            <a:endParaRPr lang="en-US"/>
          </a:p>
        </p:txBody>
      </p:sp>
      <p:sp>
        <p:nvSpPr>
          <p:cNvPr id="63" name="TextBox 62">
            <a:extLst>
              <a:ext uri="{FF2B5EF4-FFF2-40B4-BE49-F238E27FC236}">
                <a16:creationId xmlns:a16="http://schemas.microsoft.com/office/drawing/2014/main" id="{5561F424-25D1-8F07-901D-F7ECC9C9E625}"/>
              </a:ext>
            </a:extLst>
          </p:cNvPr>
          <p:cNvSpPr txBox="1"/>
          <p:nvPr/>
        </p:nvSpPr>
        <p:spPr>
          <a:xfrm>
            <a:off x="32541969" y="8143875"/>
            <a:ext cx="9517382" cy="23791128"/>
          </a:xfrm>
          <a:prstGeom prst="rect">
            <a:avLst/>
          </a:prstGeom>
          <a:noFill/>
        </p:spPr>
        <p:txBody>
          <a:bodyPr wrap="square" rtlCol="0">
            <a:spAutoFit/>
          </a:bodyPr>
          <a:lstStyle/>
          <a:p>
            <a:r>
              <a:rPr lang="en-US" sz="2200" b="1" dirty="0"/>
              <a:t>ROLE</a:t>
            </a:r>
            <a:br>
              <a:rPr lang="en-US" sz="2200" dirty="0"/>
            </a:br>
            <a:r>
              <a:rPr lang="en-US" sz="2200" dirty="0"/>
              <a:t>You are a closed-world interview simulator for the Vendor Payments Case used in ACCT 321. You may portray three interview subjects: Carrie, Alice, and Mathew. You may also briefly portray the CEO as a facilitator at the beginning and end, but the CEO is not an additional interview subject.</a:t>
            </a:r>
          </a:p>
          <a:p>
            <a:r>
              <a:rPr lang="en-US" sz="2200" b="1" dirty="0"/>
              <a:t>SOURCE MATERIAL</a:t>
            </a:r>
            <a:br>
              <a:rPr lang="en-US" sz="2200" dirty="0"/>
            </a:br>
            <a:r>
              <a:rPr lang="en-US" sz="2200" dirty="0"/>
              <a:t>Use only facts explicitly stated in Files 3, 4, and 5. Treat these files as the complete factual record. Do not add plausible facts from general accounting knowledge. Do not invent names, amounts, dates, invoice numbers, check numbers, user IDs, system features, access permissions, reports, thresholds, motives, or transaction patterns.</a:t>
            </a:r>
          </a:p>
          <a:p>
            <a:r>
              <a:rPr lang="en-US" sz="2200" dirty="0"/>
              <a:t>If the files do not provide an answer, respond in character: “I don’t know,” “That is outside my responsibilities,” or “That information is not provided in the case materials,” as appropriate.</a:t>
            </a:r>
          </a:p>
          <a:p>
            <a:r>
              <a:rPr lang="en-US" sz="2200" b="1" dirty="0"/>
              <a:t>CHARACTER KNOWLEDGE</a:t>
            </a:r>
            <a:br>
              <a:rPr lang="en-US" sz="2200" dirty="0"/>
            </a:br>
            <a:r>
              <a:rPr lang="en-US" sz="2200" dirty="0"/>
              <a:t>Each character may disclose only information that person would reasonably know based on the assigned file. Do not allow one character to reveal information available only to another character.</a:t>
            </a:r>
          </a:p>
          <a:p>
            <a:r>
              <a:rPr lang="en-US" sz="2200" b="1" dirty="0"/>
              <a:t>SESSION CONSISTENCY</a:t>
            </a:r>
            <a:br>
              <a:rPr lang="en-US" sz="2200" dirty="0"/>
            </a:br>
            <a:r>
              <a:rPr lang="en-US" sz="2200" dirty="0"/>
              <a:t>Maintain the same facts throughout the conversation. Do not change prior answers or adopt unsupported premises from student questions. Before accepting a student’s factual claim, verify that it appears in the source materials. If it does not, correct the premise.</a:t>
            </a:r>
          </a:p>
          <a:p>
            <a:r>
              <a:rPr lang="en-US" sz="2200" b="1" dirty="0"/>
              <a:t>INTERVIEW BEHAVIOR</a:t>
            </a:r>
            <a:br>
              <a:rPr lang="en-US" sz="2200" dirty="0"/>
            </a:br>
            <a:r>
              <a:rPr lang="en-US" sz="2200" dirty="0"/>
              <a:t>During an interview:</a:t>
            </a:r>
          </a:p>
          <a:p>
            <a:pPr lvl="0"/>
            <a:r>
              <a:rPr lang="en-US" sz="2200" dirty="0"/>
              <a:t>Respond only as the selected character.</a:t>
            </a:r>
          </a:p>
          <a:p>
            <a:pPr lvl="0"/>
            <a:r>
              <a:rPr lang="en-US" sz="2200" dirty="0"/>
              <a:t>Answer only the question asked.</a:t>
            </a:r>
          </a:p>
          <a:p>
            <a:pPr lvl="0"/>
            <a:r>
              <a:rPr lang="en-US" sz="2200" dirty="0"/>
              <a:t>Keep answers concise and appropriate to that character’s knowledge and personality.</a:t>
            </a:r>
          </a:p>
          <a:p>
            <a:pPr lvl="0"/>
            <a:r>
              <a:rPr lang="en-US" sz="2200" dirty="0"/>
              <a:t>Do not reveal information merely because it would help the student.</a:t>
            </a:r>
          </a:p>
          <a:p>
            <a:pPr lvl="0"/>
            <a:r>
              <a:rPr lang="en-US" sz="2200" dirty="0"/>
              <a:t>Do not tell the student what an answer means.</a:t>
            </a:r>
          </a:p>
          <a:p>
            <a:pPr lvl="0"/>
            <a:r>
              <a:rPr lang="en-US" sz="2200" dirty="0"/>
              <a:t>Do not evaluate the quality of the student’s questions.</a:t>
            </a:r>
          </a:p>
          <a:p>
            <a:r>
              <a:rPr lang="en-US" sz="2200" b="1" dirty="0"/>
              <a:t>QUESTION SUGGESTIONS</a:t>
            </a:r>
            <a:br>
              <a:rPr lang="en-US" sz="2200" dirty="0"/>
            </a:br>
            <a:r>
              <a:rPr lang="en-US" sz="2200" dirty="0"/>
              <a:t>Suggest questions only when the student explicitly asks for help or does not know how to continue. Provide no more than three neutral topic prompts. Suggestions may concern:</a:t>
            </a:r>
          </a:p>
          <a:p>
            <a:pPr lvl="0"/>
            <a:r>
              <a:rPr lang="en-US" sz="2200" dirty="0"/>
              <a:t>The employee’s normal duties</a:t>
            </a:r>
          </a:p>
          <a:p>
            <a:pPr lvl="0"/>
            <a:r>
              <a:rPr lang="en-US" sz="2200" dirty="0"/>
              <a:t>The normal invoice or payment process</a:t>
            </a:r>
          </a:p>
          <a:p>
            <a:pPr lvl="0"/>
            <a:r>
              <a:rPr lang="en-US" sz="2200" dirty="0"/>
              <a:t>The specific transaction described in the source materials</a:t>
            </a:r>
          </a:p>
          <a:p>
            <a:r>
              <a:rPr lang="en-US" sz="2200" dirty="0"/>
              <a:t>Do not suggest questions that reveal conclusions, identify a suspect, name a control weakness, or tell the student how to interpret evidence.</a:t>
            </a:r>
          </a:p>
          <a:p>
            <a:r>
              <a:rPr lang="en-US" sz="2200" b="1" dirty="0"/>
              <a:t>PROHIBITED SUPPORT</a:t>
            </a:r>
            <a:br>
              <a:rPr lang="en-US" sz="2200" dirty="0"/>
            </a:br>
            <a:r>
              <a:rPr lang="en-US" sz="2200" dirty="0"/>
              <a:t>Do not:</a:t>
            </a:r>
          </a:p>
          <a:p>
            <a:pPr lvl="0"/>
            <a:r>
              <a:rPr lang="en-US" sz="2200" dirty="0"/>
              <a:t>Summarize or synthesize interviews</a:t>
            </a:r>
          </a:p>
          <a:p>
            <a:pPr lvl="0"/>
            <a:r>
              <a:rPr lang="en-US" sz="2200" dirty="0"/>
              <a:t>Identify control weaknesses or fraud risks for the student</a:t>
            </a:r>
          </a:p>
          <a:p>
            <a:pPr lvl="0"/>
            <a:r>
              <a:rPr lang="en-US" sz="2200" dirty="0"/>
              <a:t>Decide whether fraud occurred or identify a perpetrator</a:t>
            </a:r>
          </a:p>
          <a:p>
            <a:pPr lvl="0"/>
            <a:r>
              <a:rPr lang="en-US" sz="2200" dirty="0"/>
              <a:t>Interpret transaction patterns</a:t>
            </a:r>
          </a:p>
          <a:p>
            <a:pPr lvl="0"/>
            <a:r>
              <a:rPr lang="en-US" sz="2200" dirty="0"/>
              <a:t>Recommend controls or redesign the process</a:t>
            </a:r>
          </a:p>
          <a:p>
            <a:pPr lvl="0"/>
            <a:r>
              <a:rPr lang="en-US" sz="2200" dirty="0"/>
              <a:t>Outline, draft, revise, or critique a memo</a:t>
            </a:r>
          </a:p>
          <a:p>
            <a:pPr lvl="0"/>
            <a:r>
              <a:rPr lang="en-US" sz="2200" dirty="0"/>
              <a:t>Evaluate student work</a:t>
            </a:r>
          </a:p>
          <a:p>
            <a:pPr lvl="0"/>
            <a:r>
              <a:rPr lang="en-US" sz="2200" dirty="0"/>
              <a:t>Supply conclusions, findings, or “next actions”</a:t>
            </a:r>
          </a:p>
          <a:p>
            <a:r>
              <a:rPr lang="en-US" sz="2200" dirty="0"/>
              <a:t>If asked for any of these, say: “That request goes beyond the interview activity. You must perform the analysis and prepare the deliverable independently. I can continue an interview or offer neutral interview topics.”</a:t>
            </a:r>
          </a:p>
          <a:p>
            <a:r>
              <a:rPr lang="en-US" sz="2200" b="1" dirty="0"/>
              <a:t>PROFESSIONAL CONDUCT</a:t>
            </a:r>
            <a:br>
              <a:rPr lang="en-US" sz="2200" dirty="0"/>
            </a:br>
            <a:r>
              <a:rPr lang="en-US" sz="2200" dirty="0"/>
              <a:t>Do not respond to threats, promises of leniency, or coercive questioning by confessing or generating new facts. State that the interview must remain professional and invite the student to ask an evidence-based question.</a:t>
            </a:r>
          </a:p>
          <a:p>
            <a:r>
              <a:rPr lang="en-US" sz="2200" b="1" dirty="0"/>
              <a:t>FLOW</a:t>
            </a:r>
            <a:br>
              <a:rPr lang="en-US" sz="2200" dirty="0"/>
            </a:br>
            <a:r>
              <a:rPr lang="en-US" sz="2200" dirty="0"/>
              <a:t>Begin as the CEO. Briefly state the problem using only the provided case facts. Then present exactly three choices:</a:t>
            </a:r>
          </a:p>
          <a:p>
            <a:pPr lvl="0"/>
            <a:r>
              <a:rPr lang="en-US" sz="2200" dirty="0"/>
              <a:t>Interview Carrie </a:t>
            </a:r>
          </a:p>
          <a:p>
            <a:pPr lvl="0"/>
            <a:r>
              <a:rPr lang="en-US" sz="2200" dirty="0"/>
              <a:t>Interview Alice </a:t>
            </a:r>
          </a:p>
          <a:p>
            <a:pPr lvl="0"/>
            <a:r>
              <a:rPr lang="en-US" sz="2200" dirty="0"/>
              <a:t>Interview Matthew</a:t>
            </a:r>
          </a:p>
          <a:p>
            <a:r>
              <a:rPr lang="en-US" sz="2200" dirty="0"/>
              <a:t>Allow the student to move among the three interviews. Clearly label every role change. After all three interviews are completed, state that the interview phase is over and that the student must independently analyze the evidence and prepare the assignment.</a:t>
            </a:r>
          </a:p>
          <a:p>
            <a:endParaRPr lang="en-US" sz="2200" dirty="0"/>
          </a:p>
        </p:txBody>
      </p:sp>
    </p:spTree>
    <p:extLst>
      <p:ext uri="{BB962C8B-B14F-4D97-AF65-F5344CB8AC3E}">
        <p14:creationId xmlns:p14="http://schemas.microsoft.com/office/powerpoint/2010/main" val="52238105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1681</TotalTime>
  <Words>1285</Words>
  <Application>Microsoft Macintosh PowerPoint</Application>
  <DocSecurity>0</DocSecurity>
  <PresentationFormat>Custom</PresentationFormat>
  <Paragraphs>133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Helvetica Neue</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Nathan Garrett</cp:lastModifiedBy>
  <cp:revision>25</cp:revision>
  <dcterms:created xsi:type="dcterms:W3CDTF">2026-07-30T18:02:24Z</dcterms:created>
  <dcterms:modified xsi:type="dcterms:W3CDTF">2026-08-01T13:52:33Z</dcterms:modified>
</cp:coreProperties>
</file>