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81" r:id="rId4"/>
    <p:sldId id="282" r:id="rId5"/>
    <p:sldId id="267" r:id="rId6"/>
    <p:sldId id="258" r:id="rId7"/>
    <p:sldId id="257" r:id="rId8"/>
    <p:sldId id="261" r:id="rId9"/>
    <p:sldId id="259" r:id="rId10"/>
    <p:sldId id="262" r:id="rId11"/>
    <p:sldId id="263" r:id="rId12"/>
    <p:sldId id="271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4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2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2029B-AB63-1488-99BA-1F5B2DDC5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FA60B2-B2C5-8847-D3EC-FEBA335C2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2874E-8868-4B24-629A-37E2A429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FAE70-0FA1-90C9-6D2F-A462B16D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2D1A7-899C-0D23-99BD-227631DB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0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545F-DA68-2CAF-6D36-069C8FFB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C624-2961-4BAA-24A2-E41675946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4BF9-5990-D745-3005-2D36CEA7C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B2D8B-67D3-99C0-3F75-DD63E6AE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3F3FE-820F-1053-5E71-81F0CDC5C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31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467D-77FC-EE21-FF00-DE0FBA47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B7D7D-82EE-7A80-639B-BA0E7C37E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945E9-7E8D-7210-075F-9346722C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0A70A-061F-892E-6BED-ACFA1951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2299-0D53-33ED-653F-6B5372DB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2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E31B-8A7C-4C1B-6176-C2E96E1A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C236-8283-A2CD-D936-0E52D82C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BFE7D-4FE8-D191-3A81-D6D94A7ED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DB5A1-C83D-5772-FFEC-9BF558E9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71854-9EE0-6EE7-D0A7-4411D917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E1428-D080-595B-643E-2949D76F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8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9F76-E649-3E29-7D04-CA671670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0B9CE-0C35-D0FB-13FE-861A39B01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62F56-8EB1-07C8-1F6B-120370BC0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A51A6E-4433-C1A0-8DDA-BFBF587A2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55D37-8AC2-9932-24DE-FC01E3EE6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A58D99-8D78-F1E1-6BBF-3B9E58AD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8EC82D-859B-F7D8-F120-F450E9EE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B301E-989C-9C93-E43F-D62399A7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AF7D0-325A-4B2E-E3F2-472F8E56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FD865-B30C-11C1-1950-0BF02E29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2A39D-D0C4-EBA9-0D93-864BF016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5A569-8281-9735-9D41-B4F1F81B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9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D6AFF-D53C-BD3B-7183-5C6B626E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E7565-C2BD-1C1F-CBA0-086B36820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553BB-9C6D-3926-5D96-F920C720C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60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6849-0051-11D9-2C1F-E2315A86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9318A-B397-B00B-7F53-675941D47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34206-BAC9-51A7-F9B2-321023E18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F0B8E-7D3E-7356-8282-B2616EBD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06501-C944-2A7F-56AC-E37FF1EC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76331-A5C1-DE98-682D-1E14D478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58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FACB0-3A6E-D68A-5AFF-C8B793FE7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BBE13-C954-8FDD-E334-5A73C6A48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C3C81-452A-C6AA-0E1B-E2CD4FF58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AF62C-0302-AD86-8850-7C558DF92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3106E-298A-18FE-53C9-D13E3C65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D7720-3740-8569-42F2-8D63569C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2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07C6-5FD2-1AF4-701F-60EA501EB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6D8AC-96D7-8D29-C955-4EE38774C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87943-F9E7-FB31-72BF-315A3574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82079-B97C-D6D3-91B1-D653E449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8ACB9-0F08-5E30-BF2B-D750FE2C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3D59B-7238-01D8-1D28-47CD58325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10522-2266-DD57-7A26-72DA4293D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B8FAC-2B62-7000-1672-13D8AE3A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7590D-6E91-0E3B-7E37-8A330120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4C6E2-F7DF-AFC9-759C-F023852B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3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678F3A-666C-AF31-62DC-578ADB253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ACBF7-21C1-1FCA-FE8E-D16E97C6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C1F1F-533F-6F44-0F0D-A8B1216CF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CA9AF-5D16-493D-A84D-0197CCB2F7A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B45D5-2599-323C-4532-10CC7DA3B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2F8D5-E5BA-5CB0-8BF1-C66CBFC4D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A00A9-AAD5-4A72-B73E-BC76C63B4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0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FC2E-DEFE-488E-A89A-54FA640FB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Tableau Chart Types</a:t>
            </a:r>
            <a:endParaRPr lang="en-US" sz="36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14F51-7731-11B6-1FDB-EA32DE281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Updated 9/10/26 by NDG</a:t>
            </a:r>
          </a:p>
        </p:txBody>
      </p:sp>
    </p:spTree>
    <p:extLst>
      <p:ext uri="{BB962C8B-B14F-4D97-AF65-F5344CB8AC3E}">
        <p14:creationId xmlns:p14="http://schemas.microsoft.com/office/powerpoint/2010/main" val="43137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F44E-B760-C2ED-0B6C-2042031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i="1" dirty="0"/>
              <a:t>Use “Education Graduate Degree Payoff” dataset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0AA43-020A-76A7-DDD1-AC389727F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Question: What degree programs pay off the most? Least?</a:t>
            </a:r>
          </a:p>
        </p:txBody>
      </p:sp>
    </p:spTree>
    <p:extLst>
      <p:ext uri="{BB962C8B-B14F-4D97-AF65-F5344CB8AC3E}">
        <p14:creationId xmlns:p14="http://schemas.microsoft.com/office/powerpoint/2010/main" val="227501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02E0-87BF-DF2F-5262-098B2A2B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 your data structures and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01FA9-E5BF-F177-1C4B-C817D2DDD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9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888184-6AC0-1058-CE72-676DA363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BEA1A5-9F86-1750-6CB4-83EA35B39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Values</a:t>
            </a:r>
          </a:p>
          <a:p>
            <a:pPr lvl="1"/>
            <a:r>
              <a:rPr lang="en-US" dirty="0"/>
              <a:t>Missing values?</a:t>
            </a:r>
          </a:p>
          <a:p>
            <a:pPr lvl="1"/>
            <a:r>
              <a:rPr lang="en-US" dirty="0"/>
              <a:t>Outliers?</a:t>
            </a:r>
          </a:p>
          <a:p>
            <a:pPr lvl="1"/>
            <a:r>
              <a:rPr lang="en-US" dirty="0"/>
              <a:t>Codes?</a:t>
            </a:r>
          </a:p>
          <a:p>
            <a:pPr lvl="1"/>
            <a:endParaRPr lang="en-US" dirty="0"/>
          </a:p>
          <a:p>
            <a:r>
              <a:rPr lang="en-US" dirty="0"/>
              <a:t>Field types </a:t>
            </a:r>
          </a:p>
          <a:p>
            <a:pPr lvl="1"/>
            <a:r>
              <a:rPr lang="en-US" dirty="0"/>
              <a:t>Number v. text</a:t>
            </a:r>
          </a:p>
          <a:p>
            <a:pPr lvl="1"/>
            <a:r>
              <a:rPr lang="en-US" dirty="0"/>
              <a:t>Discrete v. continuous</a:t>
            </a:r>
          </a:p>
          <a:p>
            <a:pPr lvl="1"/>
            <a:endParaRPr lang="en-US" dirty="0"/>
          </a:p>
          <a:p>
            <a:r>
              <a:rPr lang="en-US" dirty="0"/>
              <a:t>Data structure </a:t>
            </a:r>
          </a:p>
          <a:p>
            <a:pPr lvl="1"/>
            <a:r>
              <a:rPr lang="en-US" dirty="0"/>
              <a:t>Cross-sectional, longitudinal, roll-up</a:t>
            </a:r>
          </a:p>
          <a:p>
            <a:pPr lvl="1"/>
            <a:r>
              <a:rPr lang="en-US" dirty="0"/>
              <a:t>Wide v. tall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D12675-798F-2071-2DD1-4CB212C5E17A}"/>
              </a:ext>
            </a:extLst>
          </p:cNvPr>
          <p:cNvSpPr/>
          <p:nvPr/>
        </p:nvSpPr>
        <p:spPr>
          <a:xfrm>
            <a:off x="7044267" y="2370667"/>
            <a:ext cx="4515555" cy="3806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Your Task: </a:t>
            </a:r>
          </a:p>
          <a:p>
            <a:pPr algn="ctr"/>
            <a:r>
              <a:rPr lang="en-US" sz="3200" dirty="0"/>
              <a:t>Go through the dataset and answer these questions</a:t>
            </a:r>
          </a:p>
        </p:txBody>
      </p:sp>
    </p:spTree>
    <p:extLst>
      <p:ext uri="{BB962C8B-B14F-4D97-AF65-F5344CB8AC3E}">
        <p14:creationId xmlns:p14="http://schemas.microsoft.com/office/powerpoint/2010/main" val="99170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1671-4C10-ADCC-D943-4D2078FD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Clean-up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1BDA-11DB-AEAC-F1D5-A4862A6B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Join tables</a:t>
            </a:r>
          </a:p>
          <a:p>
            <a:pPr lvl="1"/>
            <a:r>
              <a:rPr lang="en-US" dirty="0"/>
              <a:t>Start with Program, and include Institutional with a join</a:t>
            </a:r>
          </a:p>
          <a:p>
            <a:r>
              <a:rPr lang="en-US" dirty="0"/>
              <a:t>Cleanup</a:t>
            </a:r>
          </a:p>
          <a:p>
            <a:pPr lvl="1"/>
            <a:r>
              <a:rPr lang="en-US" dirty="0"/>
              <a:t>Rename fields</a:t>
            </a:r>
          </a:p>
          <a:p>
            <a:pPr lvl="1"/>
            <a:r>
              <a:rPr lang="en-US" dirty="0"/>
              <a:t>Hide</a:t>
            </a:r>
          </a:p>
          <a:p>
            <a:pPr lvl="1"/>
            <a:r>
              <a:rPr lang="en-US" dirty="0"/>
              <a:t>Create calculated field / ratio / rounding (divide function)</a:t>
            </a:r>
          </a:p>
          <a:p>
            <a:pPr lvl="2"/>
            <a:r>
              <a:rPr lang="en-US" dirty="0"/>
              <a:t>Debt to Salary Ratio (rounded)</a:t>
            </a:r>
          </a:p>
          <a:p>
            <a:pPr lvl="1"/>
            <a:endParaRPr lang="en-US" dirty="0"/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Integer/Money</a:t>
            </a:r>
          </a:p>
          <a:p>
            <a:pPr lvl="1"/>
            <a:r>
              <a:rPr lang="en-US" dirty="0"/>
              <a:t>Float/Double</a:t>
            </a:r>
          </a:p>
          <a:p>
            <a:pPr lvl="1"/>
            <a:r>
              <a:rPr lang="en-US" dirty="0"/>
              <a:t>Boolean</a:t>
            </a:r>
          </a:p>
          <a:p>
            <a:pPr lvl="1"/>
            <a:r>
              <a:rPr lang="en-US" dirty="0"/>
              <a:t>Dates</a:t>
            </a:r>
          </a:p>
          <a:p>
            <a:pPr lvl="1"/>
            <a:r>
              <a:rPr lang="en-US" dirty="0"/>
              <a:t>Geography</a:t>
            </a:r>
          </a:p>
          <a:p>
            <a:r>
              <a:rPr lang="en-US" dirty="0"/>
              <a:t>Dimensions</a:t>
            </a:r>
          </a:p>
          <a:p>
            <a:r>
              <a:rPr lang="en-US" dirty="0"/>
              <a:t>Measures (mode, median, mean)</a:t>
            </a:r>
          </a:p>
        </p:txBody>
      </p:sp>
    </p:spTree>
    <p:extLst>
      <p:ext uri="{BB962C8B-B14F-4D97-AF65-F5344CB8AC3E}">
        <p14:creationId xmlns:p14="http://schemas.microsoft.com/office/powerpoint/2010/main" val="291167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Table/Heat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331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2 dimensions</a:t>
            </a:r>
          </a:p>
          <a:p>
            <a:pPr lvl="1"/>
            <a:r>
              <a:rPr lang="en-US" dirty="0"/>
              <a:t>1 measure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Color (sequential, diverging)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Color has limited accuracy</a:t>
            </a:r>
          </a:p>
          <a:p>
            <a:pPr lvl="1"/>
            <a:r>
              <a:rPr lang="en-US" dirty="0"/>
              <a:t>Many numbers are hard to visualize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Sort by dimension name or by measure value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97CC1-F97A-E6E9-F9DB-F35557B3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72" y="1225177"/>
            <a:ext cx="5115639" cy="16194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A61010-8FAE-EECE-70C8-8F1259B802A2}"/>
              </a:ext>
            </a:extLst>
          </p:cNvPr>
          <p:cNvSpPr/>
          <p:nvPr/>
        </p:nvSpPr>
        <p:spPr>
          <a:xfrm>
            <a:off x="6502400" y="5396088"/>
            <a:ext cx="5208911" cy="12474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Formatting: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Filter data, Group data, Sort by name, value</a:t>
            </a:r>
          </a:p>
          <a:p>
            <a:pPr algn="ctr"/>
            <a:r>
              <a:rPr lang="en-US" dirty="0"/>
              <a:t>Color by value (measure)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1310D9-9DCE-E228-87AD-F39AC9C014F9}"/>
              </a:ext>
            </a:extLst>
          </p:cNvPr>
          <p:cNvSpPr/>
          <p:nvPr/>
        </p:nvSpPr>
        <p:spPr>
          <a:xfrm>
            <a:off x="6310491" y="214491"/>
            <a:ext cx="5554132" cy="49445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Heat Map 1</a:t>
            </a:r>
          </a:p>
          <a:p>
            <a:pPr algn="ctr"/>
            <a:r>
              <a:rPr lang="en-US" sz="3200" dirty="0"/>
              <a:t>Row: </a:t>
            </a:r>
            <a:r>
              <a:rPr lang="en-US" sz="3200" b="1" dirty="0"/>
              <a:t>Institutional</a:t>
            </a:r>
            <a:r>
              <a:rPr lang="en-US" sz="3200" dirty="0"/>
              <a:t> </a:t>
            </a:r>
          </a:p>
          <a:p>
            <a:pPr algn="ctr"/>
            <a:r>
              <a:rPr lang="en-US" sz="3200" dirty="0"/>
              <a:t>Columns: </a:t>
            </a:r>
            <a:r>
              <a:rPr lang="en-US" sz="3200" b="1" dirty="0"/>
              <a:t>median debt, earnings, and  number of graduates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Heat Map 2: Show median earnings for the degree type compared between sector.</a:t>
            </a: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8753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0204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0-1 dimension</a:t>
            </a:r>
          </a:p>
          <a:p>
            <a:pPr lvl="1"/>
            <a:r>
              <a:rPr lang="en-US" dirty="0"/>
              <a:t>1 measure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Length</a:t>
            </a:r>
          </a:p>
          <a:p>
            <a:pPr lvl="1"/>
            <a:r>
              <a:rPr lang="en-US" dirty="0"/>
              <a:t>Color (categorical, sequential)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Best for n&lt;10</a:t>
            </a:r>
          </a:p>
          <a:p>
            <a:pPr lvl="1"/>
            <a:r>
              <a:rPr lang="en-US" dirty="0"/>
              <a:t>Hard to visualize very precise data (use histogram instead)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Sort by dimension name or by measure value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EA50E-5416-0895-A4AE-349223BB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126" y="1310913"/>
            <a:ext cx="4616724" cy="18370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749F258-29D1-DCAB-43D7-0FFBF7F868D7}"/>
              </a:ext>
            </a:extLst>
          </p:cNvPr>
          <p:cNvSpPr/>
          <p:nvPr/>
        </p:nvSpPr>
        <p:spPr>
          <a:xfrm>
            <a:off x="8274569" y="4467069"/>
            <a:ext cx="2263515" cy="20258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Formatting: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Filter rows</a:t>
            </a:r>
          </a:p>
          <a:p>
            <a:pPr algn="ctr"/>
            <a:r>
              <a:rPr lang="en-US" dirty="0"/>
              <a:t>Show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B53EA0-B85C-E5A3-2186-80A4E5DD7786}"/>
              </a:ext>
            </a:extLst>
          </p:cNvPr>
          <p:cNvSpPr/>
          <p:nvPr/>
        </p:nvSpPr>
        <p:spPr>
          <a:xfrm>
            <a:off x="6310490" y="214490"/>
            <a:ext cx="5554132" cy="34205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Bar 1</a:t>
            </a:r>
          </a:p>
          <a:p>
            <a:pPr algn="ctr"/>
            <a:r>
              <a:rPr lang="en-US" sz="3200" dirty="0"/>
              <a:t>Show median debt by field of study and sector</a:t>
            </a: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156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7472" cy="4351338"/>
          </a:xfrm>
        </p:spPr>
        <p:txBody>
          <a:bodyPr>
            <a:normAutofit/>
          </a:bodyPr>
          <a:lstStyle/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1 measure (no dimensions)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Position on common axis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No dimensions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Change bin size</a:t>
            </a:r>
          </a:p>
          <a:p>
            <a:pPr lvl="1"/>
            <a:r>
              <a:rPr lang="en-US" dirty="0"/>
              <a:t>Limit outliers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32588-E996-D531-FC8D-20F4BA6D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387" y="772690"/>
            <a:ext cx="3244121" cy="36809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2685A8-B746-CAE5-AD3E-DB3D42BE5C64}"/>
              </a:ext>
            </a:extLst>
          </p:cNvPr>
          <p:cNvSpPr/>
          <p:nvPr/>
        </p:nvSpPr>
        <p:spPr>
          <a:xfrm>
            <a:off x="8964117" y="5218165"/>
            <a:ext cx="1618939" cy="11489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Formatting: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Bin size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0BCFF8-9023-E82C-4AA8-3FCB329C539C}"/>
              </a:ext>
            </a:extLst>
          </p:cNvPr>
          <p:cNvSpPr/>
          <p:nvPr/>
        </p:nvSpPr>
        <p:spPr>
          <a:xfrm>
            <a:off x="6310490" y="214489"/>
            <a:ext cx="5554132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Bar</a:t>
            </a:r>
          </a:p>
          <a:p>
            <a:pPr algn="ctr"/>
            <a:r>
              <a:rPr lang="en-US" sz="3200" dirty="0"/>
              <a:t>Show distribution of debt for WVU programs</a:t>
            </a: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3622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7472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2 </a:t>
            </a:r>
            <a:r>
              <a:rPr lang="en-US" i="1" dirty="0"/>
              <a:t>numeric</a:t>
            </a:r>
            <a:r>
              <a:rPr lang="en-US" dirty="0"/>
              <a:t> dimensions</a:t>
            </a:r>
          </a:p>
          <a:p>
            <a:pPr lvl="1"/>
            <a:r>
              <a:rPr lang="en-US" dirty="0"/>
              <a:t>0-1 measure (aggregate or disaggregate)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Color (&lt;5 categorical)</a:t>
            </a:r>
          </a:p>
          <a:p>
            <a:pPr lvl="1"/>
            <a:r>
              <a:rPr lang="en-US" dirty="0"/>
              <a:t>Position on common axis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Trend lines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Overplotting 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Use aggregated or disaggregated data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CA8061-3AB7-53E9-8B02-3907D2471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43" y="677862"/>
            <a:ext cx="3123146" cy="37664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A771BB-B8D2-8F59-80CF-70935F6F5525}"/>
              </a:ext>
            </a:extLst>
          </p:cNvPr>
          <p:cNvSpPr/>
          <p:nvPr/>
        </p:nvSpPr>
        <p:spPr>
          <a:xfrm>
            <a:off x="8274570" y="4757052"/>
            <a:ext cx="2518348" cy="17358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Formatting: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Custom scale</a:t>
            </a:r>
          </a:p>
          <a:p>
            <a:pPr algn="ctr"/>
            <a:r>
              <a:rPr lang="en-US" dirty="0"/>
              <a:t>Reference lines</a:t>
            </a:r>
          </a:p>
          <a:p>
            <a:pPr algn="ctr"/>
            <a:r>
              <a:rPr lang="en-US" dirty="0"/>
              <a:t>Trend lines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2FC0B-8265-AB36-27F1-22E8B9A28C22}"/>
              </a:ext>
            </a:extLst>
          </p:cNvPr>
          <p:cNvSpPr/>
          <p:nvPr/>
        </p:nvSpPr>
        <p:spPr>
          <a:xfrm>
            <a:off x="6310490" y="214489"/>
            <a:ext cx="5554132" cy="435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Scatterplot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Show median earnings v. median debt for Computer Science for different institutions</a:t>
            </a: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4159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747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1 dimension</a:t>
            </a:r>
          </a:p>
          <a:p>
            <a:pPr lvl="1"/>
            <a:r>
              <a:rPr lang="en-US" dirty="0"/>
              <a:t>1 measure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Position on common axis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Overplotting 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Very good for showing very precise data by a category</a:t>
            </a:r>
          </a:p>
          <a:p>
            <a:pPr lvl="1"/>
            <a:r>
              <a:rPr lang="en-US" dirty="0"/>
              <a:t>Very good at simplifying large amounts of data to show overall values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AE7B25-6A3A-44AC-7A26-EDC4A057B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32" y="365125"/>
            <a:ext cx="2485472" cy="61984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6CD1B6-368B-2CEC-64BB-0AFCFC0D0840}"/>
              </a:ext>
            </a:extLst>
          </p:cNvPr>
          <p:cNvSpPr/>
          <p:nvPr/>
        </p:nvSpPr>
        <p:spPr>
          <a:xfrm>
            <a:off x="7778044" y="214489"/>
            <a:ext cx="4086578" cy="650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Boxplot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Show earnings by sector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Filter to only show doctoral degrees</a:t>
            </a:r>
          </a:p>
        </p:txBody>
      </p:sp>
    </p:spTree>
    <p:extLst>
      <p:ext uri="{BB962C8B-B14F-4D97-AF65-F5344CB8AC3E}">
        <p14:creationId xmlns:p14="http://schemas.microsoft.com/office/powerpoint/2010/main" val="350056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747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Best for </a:t>
            </a:r>
            <a:r>
              <a:rPr lang="en-US" i="1" dirty="0"/>
              <a:t>date data</a:t>
            </a:r>
            <a:endParaRPr lang="en-US" dirty="0"/>
          </a:p>
          <a:p>
            <a:pPr lvl="1"/>
            <a:r>
              <a:rPr lang="en-US" dirty="0"/>
              <a:t>0-1 dimensions</a:t>
            </a:r>
          </a:p>
          <a:p>
            <a:pPr lvl="1"/>
            <a:r>
              <a:rPr lang="en-US" dirty="0"/>
              <a:t>1 measure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Position on common axis, angle</a:t>
            </a:r>
          </a:p>
          <a:p>
            <a:r>
              <a:rPr lang="en-US" dirty="0"/>
              <a:t>Limits</a:t>
            </a:r>
          </a:p>
          <a:p>
            <a:pPr lvl="1"/>
            <a:r>
              <a:rPr lang="en-US" dirty="0"/>
              <a:t>Must be for dates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dirty="0"/>
              <a:t>Discrete v. continuous data</a:t>
            </a:r>
          </a:p>
          <a:p>
            <a:pPr lvl="1"/>
            <a:r>
              <a:rPr lang="en-US" dirty="0"/>
              <a:t>Use dual axis to show dots on points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81CB8-66F6-2A0C-2002-D422FBC1D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376" y="606086"/>
            <a:ext cx="2316383" cy="36361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91CA59-251B-A273-1D5B-67FE56B09AC0}"/>
              </a:ext>
            </a:extLst>
          </p:cNvPr>
          <p:cNvSpPr/>
          <p:nvPr/>
        </p:nvSpPr>
        <p:spPr>
          <a:xfrm>
            <a:off x="9188970" y="4757051"/>
            <a:ext cx="2518348" cy="17358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Formatting: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Custom date scale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3DDB0-A02A-5DE9-1A37-02B4C741E93A}"/>
              </a:ext>
            </a:extLst>
          </p:cNvPr>
          <p:cNvSpPr/>
          <p:nvPr/>
        </p:nvSpPr>
        <p:spPr>
          <a:xfrm>
            <a:off x="7778044" y="214489"/>
            <a:ext cx="4086578" cy="6502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Line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Show average tuition by year (fees table)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Color by sector</a:t>
            </a:r>
          </a:p>
        </p:txBody>
      </p:sp>
    </p:spTree>
    <p:extLst>
      <p:ext uri="{BB962C8B-B14F-4D97-AF65-F5344CB8AC3E}">
        <p14:creationId xmlns:p14="http://schemas.microsoft.com/office/powerpoint/2010/main" val="367573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7F66-BCF9-E843-FD1A-2A105025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79AF3-83A3-8509-3DFC-616AF7836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dashboard / story</a:t>
            </a:r>
          </a:p>
          <a:p>
            <a:r>
              <a:rPr lang="en-US" dirty="0"/>
              <a:t>Create data extract</a:t>
            </a:r>
          </a:p>
          <a:p>
            <a:r>
              <a:rPr lang="en-US" dirty="0"/>
              <a:t>Post on Tableau Public</a:t>
            </a:r>
          </a:p>
        </p:txBody>
      </p:sp>
    </p:spTree>
    <p:extLst>
      <p:ext uri="{BB962C8B-B14F-4D97-AF65-F5344CB8AC3E}">
        <p14:creationId xmlns:p14="http://schemas.microsoft.com/office/powerpoint/2010/main" val="248392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445B-6EC7-4B71-59E8-29EAEB65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F4E-898B-21D7-D99F-25580B63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7472" cy="4351338"/>
          </a:xfrm>
        </p:spPr>
        <p:txBody>
          <a:bodyPr>
            <a:normAutofit/>
          </a:bodyPr>
          <a:lstStyle/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0-1 dimension</a:t>
            </a:r>
          </a:p>
          <a:p>
            <a:pPr lvl="1"/>
            <a:r>
              <a:rPr lang="en-US" dirty="0"/>
              <a:t>2 measures</a:t>
            </a:r>
          </a:p>
          <a:p>
            <a:r>
              <a:rPr lang="en-US" dirty="0"/>
              <a:t>Pre-attentive attributes</a:t>
            </a:r>
          </a:p>
          <a:p>
            <a:pPr lvl="1"/>
            <a:r>
              <a:rPr lang="en-US" dirty="0"/>
              <a:t>Position on common axis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Add 2 measures</a:t>
            </a:r>
          </a:p>
          <a:p>
            <a:pPr lvl="1"/>
            <a:r>
              <a:rPr lang="en-US" dirty="0"/>
              <a:t>Go to Marks, and change one to Bar</a:t>
            </a:r>
          </a:p>
          <a:p>
            <a:pPr lvl="1"/>
            <a:r>
              <a:rPr lang="en-US" dirty="0"/>
              <a:t>Right-click pill and change to dual axis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961A80-F6DB-1E20-EB33-CD10B82D4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396" y="365125"/>
            <a:ext cx="2258931" cy="3988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942AAC-1CAB-769C-FD41-6EBF8233BCFF}"/>
              </a:ext>
            </a:extLst>
          </p:cNvPr>
          <p:cNvSpPr/>
          <p:nvPr/>
        </p:nvSpPr>
        <p:spPr>
          <a:xfrm>
            <a:off x="8469442" y="4757051"/>
            <a:ext cx="2518348" cy="17358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Formatting: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Synchronize scales</a:t>
            </a:r>
          </a:p>
        </p:txBody>
      </p:sp>
    </p:spTree>
    <p:extLst>
      <p:ext uri="{BB962C8B-B14F-4D97-AF65-F5344CB8AC3E}">
        <p14:creationId xmlns:p14="http://schemas.microsoft.com/office/powerpoint/2010/main" val="309287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532</Words>
  <Application>Microsoft Macintosh PowerPoint</Application>
  <PresentationFormat>Widescreen</PresentationFormat>
  <Paragraphs>165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Tableau Chart Types</vt:lpstr>
      <vt:lpstr>Use “Education Graduate Degree Payoff” dataset</vt:lpstr>
      <vt:lpstr>Understand your data structures and values</vt:lpstr>
      <vt:lpstr>Questions</vt:lpstr>
      <vt:lpstr>Clean-up Data</vt:lpstr>
      <vt:lpstr>Table/Heat Map</vt:lpstr>
      <vt:lpstr>Bar</vt:lpstr>
      <vt:lpstr>Histogram</vt:lpstr>
      <vt:lpstr>Scatterplot</vt:lpstr>
      <vt:lpstr>Boxplot</vt:lpstr>
      <vt:lpstr>Line</vt:lpstr>
      <vt:lpstr>Publish!</vt:lpstr>
      <vt:lpstr>Combo</vt:lpstr>
    </vt:vector>
  </TitlesOfParts>
  <Company>West Virginia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Chart Types</dc:title>
  <dc:creator>Nathan Garrett</dc:creator>
  <cp:lastModifiedBy>Nathan Garrett</cp:lastModifiedBy>
  <cp:revision>47</cp:revision>
  <dcterms:created xsi:type="dcterms:W3CDTF">2024-02-06T13:46:01Z</dcterms:created>
  <dcterms:modified xsi:type="dcterms:W3CDTF">2026-09-10T20:14:36Z</dcterms:modified>
</cp:coreProperties>
</file>