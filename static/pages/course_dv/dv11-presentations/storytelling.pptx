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A953A-E8EF-4AB2-A2C6-9007AC7E276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2D072-74D9-49B0-94C3-A37DB0D9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7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64AD-B660-D5FC-EBD2-4226AD6D7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A6055-A6E6-324D-34A1-D78002095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7757-8EC5-2A75-240F-356390FF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61D4-F807-3013-01B8-90E046AD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7B414-0273-3340-C9FD-C57F1CA2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8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159D-78FE-2A53-807E-A8FB3D7D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1792-5257-5405-61FE-F8EE26FC1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88C90-C4FD-448D-15B2-67BAB6A3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F8CE7-05DD-99FA-4384-2BDC0AF3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A6EE-6C34-9406-8CAB-5D5D244A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5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E2FB-601C-B38F-26A9-CC681CC6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2EEB5-ACF4-AB03-C549-C1539C659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E6AD5-6FA3-12A3-FBE5-E0CA09DA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28201-5AE1-03E7-E32D-589C1CB7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363E-B86F-F84B-184E-5C757AE9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8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825B-7EE8-33DD-80F1-0E968DF2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BA24-1681-4A91-A756-5863512C3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9B77-C052-B6E2-A5A8-1095F4F0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62CA8-C6C2-524F-EBE0-815508A8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9818-FB49-2B50-AA5F-6751C795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B617C-2FFD-5DDC-454F-B0833F38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8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2480-CE0F-21EE-791F-848524E1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CFF0F-402A-051C-283F-0BDDA4594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BFBD1-5242-C848-DA91-9965348F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748A1-E638-5BE2-8335-F2DC44988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1F1B6-82B7-6BF4-D7CF-81475D8EC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EA02F-043F-A992-1F81-996298DB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4DC3C-3E10-9FEC-B425-31F87BC4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97A9B-5C38-E9C1-FDDD-640EACEC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D355-8ACC-9501-FAD0-E7038BEC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7595B-F6A2-3ADD-2175-917FE7F6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C417C-F698-C97F-B491-19CC7C9A8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F4176-C587-EB0C-51C6-5E62E482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7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FDD27-7306-F995-841D-CBF65332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96A27-A0D4-392E-F7E8-B8C2AA0A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72EDD-3DA2-53EA-D792-0532589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1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59F6-2B7B-74F6-F167-F4AB5AF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D0E2-B337-8DB4-CEDC-3443DBD6F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21324-115E-9C68-6A4A-F8B9CB834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99BE-8BFD-6A77-CB8C-728BB7D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C2CEA-0637-50A4-5FD8-D4FC28CA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F332-F85F-F27D-7BEB-775763EB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6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EC78-6EB9-7199-0D5B-D9AD2575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5E9FD-8FD4-6BB1-1EED-05E420433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7D473-811C-4507-E4E0-92D4B0B9E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BEB3F-AAB7-DC0F-4674-74F59DB5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D227A-FCD8-FDCD-5785-D6F9EF07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13667-EC30-92C9-F794-B571015A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DA90-8E9A-072B-7955-A8161A81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EA192-EB82-DDBA-1C44-915F7FE92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762AC-0E2A-2275-7092-EC7E3187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D09F-C158-E151-4E0E-44142D77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C8AB1-7130-4AB7-044D-0A493925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A67F2-816E-3B89-EFD4-A42928B7D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B3801-6DD7-E38B-890D-76A95E9DE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3F81-502E-6211-E11E-9B3FB0BD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113D-6619-AE9F-568F-08C52ADF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A7FB2-18E7-0C85-8EC3-DE84D892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7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BA79B-6EE8-23B4-A633-970AF820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F9041-A10D-EBBE-D18C-85640E2B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C8E87-15C0-F654-2F04-9903A088F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C6B18-8754-41BA-A10A-BB7FE94BE391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5F95-BA77-C1E9-436E-675D00420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EC5E-25AC-ABE1-CD87-00F15DCB0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3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34AB-11D7-FB67-8ACE-0E18D8DB9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Storytelling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DF593-5748-65AA-C494-CAD42FA0C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2/16/26 by NDG</a:t>
            </a:r>
          </a:p>
        </p:txBody>
      </p:sp>
    </p:spTree>
    <p:extLst>
      <p:ext uri="{BB962C8B-B14F-4D97-AF65-F5344CB8AC3E}">
        <p14:creationId xmlns:p14="http://schemas.microsoft.com/office/powerpoint/2010/main" val="259398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45BA-3887-8083-ECF8-C2A2EC78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Storytelling</a:t>
            </a:r>
          </a:p>
        </p:txBody>
      </p:sp>
      <p:pic>
        <p:nvPicPr>
          <p:cNvPr id="3" name="Picture 2" descr="A collage of graphs&#10;&#10;Description automatically generated">
            <a:extLst>
              <a:ext uri="{FF2B5EF4-FFF2-40B4-BE49-F238E27FC236}">
                <a16:creationId xmlns:a16="http://schemas.microsoft.com/office/drawing/2014/main" id="{FFECB6E5-8261-2A47-33A6-C8056EA37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204" y="1907090"/>
            <a:ext cx="4933591" cy="44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9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AB7F-5D25-5751-78C0-ABE1DB96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53" y="2013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Compare </a:t>
            </a:r>
            <a:r>
              <a:rPr lang="en-US" sz="3200" i="1" dirty="0"/>
              <a:t>x </a:t>
            </a:r>
            <a:r>
              <a:rPr lang="en-US" sz="3200" dirty="0"/>
              <a:t>versus residuals (errors)</a:t>
            </a:r>
            <a:br>
              <a:rPr lang="en-US" sz="3200" dirty="0"/>
            </a:br>
            <a:r>
              <a:rPr lang="en-US" sz="3200" i="1" dirty="0"/>
              <a:t>Match the stories</a:t>
            </a:r>
          </a:p>
        </p:txBody>
      </p:sp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AF56278A-BFE7-D82D-E618-8360C5FB3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47"/>
          <a:stretch/>
        </p:blipFill>
        <p:spPr>
          <a:xfrm>
            <a:off x="398253" y="1311260"/>
            <a:ext cx="11200425" cy="25101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0A50AD-3E45-38BD-6FDF-6F6B3AE97CBB}"/>
              </a:ext>
            </a:extLst>
          </p:cNvPr>
          <p:cNvSpPr/>
          <p:nvPr/>
        </p:nvSpPr>
        <p:spPr>
          <a:xfrm>
            <a:off x="398253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salesperson is assigned a city. Since cities are different sizes, evaluate their performance </a:t>
            </a:r>
            <a:r>
              <a:rPr lang="en-US" i="1" dirty="0"/>
              <a:t>in context</a:t>
            </a:r>
            <a:r>
              <a:rPr lang="en-US" dirty="0"/>
              <a:t>.</a:t>
            </a:r>
          </a:p>
        </p:txBody>
      </p:sp>
      <p:pic>
        <p:nvPicPr>
          <p:cNvPr id="9" name="Picture 8" descr="A blue and white diagram&#10;&#10;Description automatically generated">
            <a:extLst>
              <a:ext uri="{FF2B5EF4-FFF2-40B4-BE49-F238E27FC236}">
                <a16:creationId xmlns:a16="http://schemas.microsoft.com/office/drawing/2014/main" id="{304ACBA5-BF10-CEBB-DE43-5E80676BA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863" y="4413085"/>
            <a:ext cx="4534620" cy="2267310"/>
          </a:xfrm>
          <a:prstGeom prst="rect">
            <a:avLst/>
          </a:prstGeom>
        </p:spPr>
      </p:pic>
      <p:pic>
        <p:nvPicPr>
          <p:cNvPr id="11" name="Picture 10" descr="A blue lines with dots on a black background&#10;&#10;Description automatically generated">
            <a:extLst>
              <a:ext uri="{FF2B5EF4-FFF2-40B4-BE49-F238E27FC236}">
                <a16:creationId xmlns:a16="http://schemas.microsoft.com/office/drawing/2014/main" id="{FA9F6471-700A-0F0B-B1B6-F1EC35FF4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932" y="4325031"/>
            <a:ext cx="3265276" cy="233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AB7F-5D25-5751-78C0-ABE1DB96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53" y="2013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Sales performance (y) versus city size (x) </a:t>
            </a:r>
            <a:br>
              <a:rPr lang="en-US" sz="3200" b="1" dirty="0"/>
            </a:br>
            <a:r>
              <a:rPr lang="en-US" sz="3200" i="1" dirty="0"/>
              <a:t>Match the stories</a:t>
            </a:r>
          </a:p>
        </p:txBody>
      </p:sp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AF56278A-BFE7-D82D-E618-8360C5FB3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47"/>
          <a:stretch/>
        </p:blipFill>
        <p:spPr>
          <a:xfrm>
            <a:off x="398253" y="1311260"/>
            <a:ext cx="11200425" cy="25101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0A50AD-3E45-38BD-6FDF-6F6B3AE97CBB}"/>
              </a:ext>
            </a:extLst>
          </p:cNvPr>
          <p:cNvSpPr/>
          <p:nvPr/>
        </p:nvSpPr>
        <p:spPr>
          <a:xfrm>
            <a:off x="8862203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cities are around average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20FBB-39F9-766B-A22D-C33C57C971C5}"/>
              </a:ext>
            </a:extLst>
          </p:cNvPr>
          <p:cNvSpPr/>
          <p:nvPr/>
        </p:nvSpPr>
        <p:spPr>
          <a:xfrm>
            <a:off x="563594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 size can vary widely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7A939-01DB-C66B-8223-3F2534FBA01E}"/>
              </a:ext>
            </a:extLst>
          </p:cNvPr>
          <p:cNvSpPr/>
          <p:nvPr/>
        </p:nvSpPr>
        <p:spPr>
          <a:xfrm>
            <a:off x="6096000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cities are small, with a few exceptions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79085-7CDE-9E33-1A31-EF57FD4934C1}"/>
              </a:ext>
            </a:extLst>
          </p:cNvPr>
          <p:cNvSpPr/>
          <p:nvPr/>
        </p:nvSpPr>
        <p:spPr>
          <a:xfrm>
            <a:off x="3329797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cities are large, with a few exceptions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FBA64C-2354-F72C-C7D6-0CA37DCB93C6}"/>
              </a:ext>
            </a:extLst>
          </p:cNvPr>
          <p:cNvCxnSpPr>
            <a:cxnSpLocks/>
          </p:cNvCxnSpPr>
          <p:nvPr/>
        </p:nvCxnSpPr>
        <p:spPr>
          <a:xfrm flipV="1">
            <a:off x="1813705" y="3510254"/>
            <a:ext cx="1656272" cy="1142955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916BB8-C832-B8E9-F670-7E666C7EA85B}"/>
              </a:ext>
            </a:extLst>
          </p:cNvPr>
          <p:cNvCxnSpPr>
            <a:cxnSpLocks/>
          </p:cNvCxnSpPr>
          <p:nvPr/>
        </p:nvCxnSpPr>
        <p:spPr>
          <a:xfrm flipV="1">
            <a:off x="4479268" y="3183147"/>
            <a:ext cx="4958030" cy="151354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30EB98-DFA8-7315-DD59-0B3532D76E5A}"/>
              </a:ext>
            </a:extLst>
          </p:cNvPr>
          <p:cNvCxnSpPr>
            <a:cxnSpLocks/>
          </p:cNvCxnSpPr>
          <p:nvPr/>
        </p:nvCxnSpPr>
        <p:spPr>
          <a:xfrm flipV="1">
            <a:off x="7468319" y="2976113"/>
            <a:ext cx="0" cy="165553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3943EB-0B37-0CCE-E210-1F54544259B0}"/>
              </a:ext>
            </a:extLst>
          </p:cNvPr>
          <p:cNvCxnSpPr>
            <a:cxnSpLocks/>
          </p:cNvCxnSpPr>
          <p:nvPr/>
        </p:nvCxnSpPr>
        <p:spPr>
          <a:xfrm flipH="1" flipV="1">
            <a:off x="2406770" y="2911066"/>
            <a:ext cx="7705544" cy="172057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10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AB7F-5D25-5751-78C0-ABE1DB96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53" y="2013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Sales performance (y) versus city size (x) </a:t>
            </a:r>
            <a:br>
              <a:rPr lang="en-US" sz="3200" b="1" dirty="0"/>
            </a:br>
            <a:r>
              <a:rPr lang="en-US" sz="3200" i="1" dirty="0"/>
              <a:t>Match the stories</a:t>
            </a:r>
          </a:p>
        </p:txBody>
      </p:sp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AF56278A-BFE7-D82D-E618-8360C5FB3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" t="24654" r="-1504" b="50693"/>
          <a:stretch/>
        </p:blipFill>
        <p:spPr>
          <a:xfrm>
            <a:off x="398253" y="1294008"/>
            <a:ext cx="11200425" cy="25101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0A50AD-3E45-38BD-6FDF-6F6B3AE97CBB}"/>
              </a:ext>
            </a:extLst>
          </p:cNvPr>
          <p:cNvSpPr/>
          <p:nvPr/>
        </p:nvSpPr>
        <p:spPr>
          <a:xfrm>
            <a:off x="8862203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Predicted sales vary a lot for small cities, but are consistent for big cities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20FBB-39F9-766B-A22D-C33C57C971C5}"/>
              </a:ext>
            </a:extLst>
          </p:cNvPr>
          <p:cNvSpPr/>
          <p:nvPr/>
        </p:nvSpPr>
        <p:spPr>
          <a:xfrm>
            <a:off x="563594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Predicted sales vary a lot for big cities, but are consistent for small cities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7A939-01DB-C66B-8223-3F2534FBA01E}"/>
              </a:ext>
            </a:extLst>
          </p:cNvPr>
          <p:cNvSpPr/>
          <p:nvPr/>
        </p:nvSpPr>
        <p:spPr>
          <a:xfrm>
            <a:off x="6096000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While most people are a bit above average, a few bad people are dragging down the average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79085-7CDE-9E33-1A31-EF57FD4934C1}"/>
              </a:ext>
            </a:extLst>
          </p:cNvPr>
          <p:cNvSpPr/>
          <p:nvPr/>
        </p:nvSpPr>
        <p:spPr>
          <a:xfrm>
            <a:off x="3329797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While most people are a bit below average, a few superstars are outperforming the average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F437D2-08E2-27DC-B4C4-AAC6BF2A9757}"/>
              </a:ext>
            </a:extLst>
          </p:cNvPr>
          <p:cNvCxnSpPr>
            <a:cxnSpLocks/>
          </p:cNvCxnSpPr>
          <p:nvPr/>
        </p:nvCxnSpPr>
        <p:spPr>
          <a:xfrm flipV="1">
            <a:off x="1813705" y="3429000"/>
            <a:ext cx="4548278" cy="1224209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2A9EA4-34C2-10C3-BEAD-1387C8C6298F}"/>
              </a:ext>
            </a:extLst>
          </p:cNvPr>
          <p:cNvCxnSpPr>
            <a:cxnSpLocks/>
          </p:cNvCxnSpPr>
          <p:nvPr/>
        </p:nvCxnSpPr>
        <p:spPr>
          <a:xfrm flipH="1" flipV="1">
            <a:off x="2570672" y="3429000"/>
            <a:ext cx="1908596" cy="126769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ED689-6BD5-92FA-FD91-A2ED1349DA74}"/>
              </a:ext>
            </a:extLst>
          </p:cNvPr>
          <p:cNvCxnSpPr>
            <a:cxnSpLocks/>
          </p:cNvCxnSpPr>
          <p:nvPr/>
        </p:nvCxnSpPr>
        <p:spPr>
          <a:xfrm flipH="1" flipV="1">
            <a:off x="4597879" y="2911066"/>
            <a:ext cx="2870440" cy="172057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860DD6-0434-5D6C-D030-3FD6D43AF2E1}"/>
              </a:ext>
            </a:extLst>
          </p:cNvPr>
          <p:cNvCxnSpPr>
            <a:cxnSpLocks/>
          </p:cNvCxnSpPr>
          <p:nvPr/>
        </p:nvCxnSpPr>
        <p:spPr>
          <a:xfrm flipV="1">
            <a:off x="10112314" y="3243532"/>
            <a:ext cx="0" cy="1388111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41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AB7F-5D25-5751-78C0-ABE1DB96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53" y="2013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Compare </a:t>
            </a:r>
            <a:r>
              <a:rPr lang="en-US" sz="3200" i="1" dirty="0"/>
              <a:t>x </a:t>
            </a:r>
            <a:r>
              <a:rPr lang="en-US" sz="3200" dirty="0"/>
              <a:t>versus residuals (errors)</a:t>
            </a:r>
            <a:br>
              <a:rPr lang="en-US" sz="3200" dirty="0"/>
            </a:br>
            <a:r>
              <a:rPr lang="en-US" sz="3200" i="1" dirty="0"/>
              <a:t>Match the stories</a:t>
            </a:r>
          </a:p>
        </p:txBody>
      </p:sp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AF56278A-BFE7-D82D-E618-8360C5FB3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" t="50213" r="-1504" b="25134"/>
          <a:stretch/>
        </p:blipFill>
        <p:spPr>
          <a:xfrm>
            <a:off x="398253" y="1294008"/>
            <a:ext cx="11200425" cy="25101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0A50AD-3E45-38BD-6FDF-6F6B3AE97CBB}"/>
              </a:ext>
            </a:extLst>
          </p:cNvPr>
          <p:cNvSpPr/>
          <p:nvPr/>
        </p:nvSpPr>
        <p:spPr>
          <a:xfrm>
            <a:off x="8862203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Cities that are certain sizes outperform and underperform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20FBB-39F9-766B-A22D-C33C57C971C5}"/>
              </a:ext>
            </a:extLst>
          </p:cNvPr>
          <p:cNvSpPr/>
          <p:nvPr/>
        </p:nvSpPr>
        <p:spPr>
          <a:xfrm>
            <a:off x="563594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Bob’s assignment to NY throws off our model, as he outperforms the average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7A939-01DB-C66B-8223-3F2534FBA01E}"/>
              </a:ext>
            </a:extLst>
          </p:cNvPr>
          <p:cNvSpPr/>
          <p:nvPr/>
        </p:nvSpPr>
        <p:spPr>
          <a:xfrm>
            <a:off x="6096000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Cities that are very small and very large outperform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79085-7CDE-9E33-1A31-EF57FD4934C1}"/>
              </a:ext>
            </a:extLst>
          </p:cNvPr>
          <p:cNvSpPr/>
          <p:nvPr/>
        </p:nvSpPr>
        <p:spPr>
          <a:xfrm>
            <a:off x="3329797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Bob’s assignment to Los Angeles throws off our model, as he underperforms the average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620C4E-6731-9D04-85B9-128B91FC1D6F}"/>
              </a:ext>
            </a:extLst>
          </p:cNvPr>
          <p:cNvCxnSpPr>
            <a:cxnSpLocks/>
          </p:cNvCxnSpPr>
          <p:nvPr/>
        </p:nvCxnSpPr>
        <p:spPr>
          <a:xfrm flipV="1">
            <a:off x="1813705" y="3243532"/>
            <a:ext cx="5654614" cy="140967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BEC3AF-C499-F622-B507-036E7C01449A}"/>
              </a:ext>
            </a:extLst>
          </p:cNvPr>
          <p:cNvCxnSpPr>
            <a:cxnSpLocks/>
          </p:cNvCxnSpPr>
          <p:nvPr/>
        </p:nvCxnSpPr>
        <p:spPr>
          <a:xfrm flipV="1">
            <a:off x="4479268" y="3429000"/>
            <a:ext cx="5027041" cy="126769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E2AF1F-131F-B656-24EB-6A582FE87532}"/>
              </a:ext>
            </a:extLst>
          </p:cNvPr>
          <p:cNvCxnSpPr>
            <a:cxnSpLocks/>
          </p:cNvCxnSpPr>
          <p:nvPr/>
        </p:nvCxnSpPr>
        <p:spPr>
          <a:xfrm flipH="1" flipV="1">
            <a:off x="1813705" y="3148642"/>
            <a:ext cx="5654614" cy="1483001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6BD3F-8CAA-8E7B-DEB2-28E3D0C6E47C}"/>
              </a:ext>
            </a:extLst>
          </p:cNvPr>
          <p:cNvCxnSpPr>
            <a:cxnSpLocks/>
          </p:cNvCxnSpPr>
          <p:nvPr/>
        </p:nvCxnSpPr>
        <p:spPr>
          <a:xfrm flipH="1" flipV="1">
            <a:off x="4951562" y="2993366"/>
            <a:ext cx="5160752" cy="163827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87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AB7F-5D25-5751-78C0-ABE1DB96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53" y="2013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Compare </a:t>
            </a:r>
            <a:r>
              <a:rPr lang="en-US" sz="3200" i="1" dirty="0"/>
              <a:t>x </a:t>
            </a:r>
            <a:r>
              <a:rPr lang="en-US" sz="3200" dirty="0"/>
              <a:t>versus residuals (errors)</a:t>
            </a:r>
            <a:br>
              <a:rPr lang="en-US" sz="3200" dirty="0"/>
            </a:br>
            <a:r>
              <a:rPr lang="en-US" sz="3200" i="1" dirty="0"/>
              <a:t>Match the stories</a:t>
            </a:r>
          </a:p>
        </p:txBody>
      </p:sp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AF56278A-BFE7-D82D-E618-8360C5FB3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" t="76264" r="-888" b="-917"/>
          <a:stretch/>
        </p:blipFill>
        <p:spPr>
          <a:xfrm>
            <a:off x="398253" y="1294008"/>
            <a:ext cx="11200425" cy="25101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0A50AD-3E45-38BD-6FDF-6F6B3AE97CBB}"/>
              </a:ext>
            </a:extLst>
          </p:cNvPr>
          <p:cNvSpPr/>
          <p:nvPr/>
        </p:nvSpPr>
        <p:spPr>
          <a:xfrm>
            <a:off x="8862203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have either great or terrible sale staff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20FBB-39F9-766B-A22D-C33C57C971C5}"/>
              </a:ext>
            </a:extLst>
          </p:cNvPr>
          <p:cNvSpPr/>
          <p:nvPr/>
        </p:nvSpPr>
        <p:spPr>
          <a:xfrm>
            <a:off x="563594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have either small or big cities, but none in the middle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7A939-01DB-C66B-8223-3F2534FBA01E}"/>
              </a:ext>
            </a:extLst>
          </p:cNvPr>
          <p:cNvSpPr/>
          <p:nvPr/>
        </p:nvSpPr>
        <p:spPr>
          <a:xfrm>
            <a:off x="6096000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may have some measurement errors, as our data only covers very small or very big cities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79085-7CDE-9E33-1A31-EF57FD4934C1}"/>
              </a:ext>
            </a:extLst>
          </p:cNvPr>
          <p:cNvSpPr/>
          <p:nvPr/>
        </p:nvSpPr>
        <p:spPr>
          <a:xfrm>
            <a:off x="3329797" y="4081732"/>
            <a:ext cx="2500222" cy="24398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have data from cities in 5 different size categories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399510-D8FA-3A6E-E7B3-714D28E8E560}"/>
              </a:ext>
            </a:extLst>
          </p:cNvPr>
          <p:cNvCxnSpPr>
            <a:cxnSpLocks/>
          </p:cNvCxnSpPr>
          <p:nvPr/>
        </p:nvCxnSpPr>
        <p:spPr>
          <a:xfrm flipV="1">
            <a:off x="1813705" y="3303917"/>
            <a:ext cx="2430491" cy="1349292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4D2705-7867-F80C-FA14-59C0F6C9FDE4}"/>
              </a:ext>
            </a:extLst>
          </p:cNvPr>
          <p:cNvCxnSpPr>
            <a:cxnSpLocks/>
          </p:cNvCxnSpPr>
          <p:nvPr/>
        </p:nvCxnSpPr>
        <p:spPr>
          <a:xfrm flipV="1">
            <a:off x="4479268" y="3079630"/>
            <a:ext cx="5389351" cy="161706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4236F3-CFF6-153A-1698-D036313AAF3D}"/>
              </a:ext>
            </a:extLst>
          </p:cNvPr>
          <p:cNvCxnSpPr>
            <a:cxnSpLocks/>
          </p:cNvCxnSpPr>
          <p:nvPr/>
        </p:nvCxnSpPr>
        <p:spPr>
          <a:xfrm flipV="1">
            <a:off x="7468319" y="3429000"/>
            <a:ext cx="79794" cy="120264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1EAC99-F462-99BD-5D4F-467BEAA0CC53}"/>
              </a:ext>
            </a:extLst>
          </p:cNvPr>
          <p:cNvCxnSpPr>
            <a:cxnSpLocks/>
          </p:cNvCxnSpPr>
          <p:nvPr/>
        </p:nvCxnSpPr>
        <p:spPr>
          <a:xfrm flipH="1" flipV="1">
            <a:off x="2527540" y="3079630"/>
            <a:ext cx="7558895" cy="155201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93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275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Storytelling</vt:lpstr>
      <vt:lpstr>Storytelling</vt:lpstr>
      <vt:lpstr>Compare x versus residuals (errors) Match the stories</vt:lpstr>
      <vt:lpstr>Sales performance (y) versus city size (x)  Match the stories</vt:lpstr>
      <vt:lpstr>Sales performance (y) versus city size (x)  Match the stories</vt:lpstr>
      <vt:lpstr>Compare x versus residuals (errors) Match the stories</vt:lpstr>
      <vt:lpstr>Compare x versus residuals (errors) Match the stories</vt:lpstr>
    </vt:vector>
  </TitlesOfParts>
  <Company>West Virginia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Vis </dc:title>
  <dc:creator>Nathan Garrett</dc:creator>
  <cp:lastModifiedBy>Nathan Garrett</cp:lastModifiedBy>
  <cp:revision>45</cp:revision>
  <dcterms:created xsi:type="dcterms:W3CDTF">2024-01-29T15:06:02Z</dcterms:created>
  <dcterms:modified xsi:type="dcterms:W3CDTF">2026-02-16T18:10:05Z</dcterms:modified>
</cp:coreProperties>
</file>