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Ex1.xml" ContentType="application/vnd.ms-office.chartex+xml"/>
  <Override PartName="/ppt/charts/style6.xml" ContentType="application/vnd.ms-office.chartstyle+xml"/>
  <Override PartName="/ppt/charts/colors6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56" r:id="rId2"/>
    <p:sldId id="261" r:id="rId3"/>
    <p:sldId id="257" r:id="rId4"/>
    <p:sldId id="262" r:id="rId5"/>
    <p:sldId id="269" r:id="rId6"/>
    <p:sldId id="268" r:id="rId7"/>
    <p:sldId id="263" r:id="rId8"/>
    <p:sldId id="267" r:id="rId9"/>
    <p:sldId id="266" r:id="rId10"/>
    <p:sldId id="270" r:id="rId11"/>
    <p:sldId id="271" r:id="rId12"/>
    <p:sldId id="272" r:id="rId13"/>
    <p:sldId id="273" r:id="rId14"/>
    <p:sldId id="274" r:id="rId15"/>
    <p:sldId id="318" r:id="rId16"/>
    <p:sldId id="310" r:id="rId17"/>
    <p:sldId id="311" r:id="rId18"/>
    <p:sldId id="313" r:id="rId19"/>
    <p:sldId id="315" r:id="rId20"/>
    <p:sldId id="316" r:id="rId21"/>
    <p:sldId id="317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59" r:id="rId31"/>
    <p:sldId id="275" r:id="rId32"/>
    <p:sldId id="276" r:id="rId33"/>
    <p:sldId id="277" r:id="rId34"/>
    <p:sldId id="278" r:id="rId35"/>
    <p:sldId id="309" r:id="rId36"/>
    <p:sldId id="290" r:id="rId37"/>
    <p:sldId id="301" r:id="rId38"/>
    <p:sldId id="303" r:id="rId39"/>
    <p:sldId id="307" r:id="rId40"/>
    <p:sldId id="304" r:id="rId41"/>
    <p:sldId id="305" r:id="rId42"/>
    <p:sldId id="308" r:id="rId43"/>
    <p:sldId id="306" r:id="rId44"/>
    <p:sldId id="302" r:id="rId45"/>
    <p:sldId id="260" r:id="rId46"/>
    <p:sldId id="281" r:id="rId47"/>
    <p:sldId id="298" r:id="rId48"/>
    <p:sldId id="299" r:id="rId49"/>
    <p:sldId id="258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74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224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4.xlsx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oleObject" Target="file:///C:\Users\ndg00008\Dropbox\Courses\ACCT%20425%20Spring\w03%20-%20Tableau%20%20Data\Cleveland%20McGill%20Replication%20Chart%20Accuracy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/>
              <a:t>If Nathan is 100, what is Michael?</a:t>
            </a:r>
          </a:p>
        </c:rich>
      </c:tx>
      <c:layout>
        <c:manualLayout>
          <c:xMode val="edge"/>
          <c:yMode val="edge"/>
          <c:x val="0.34313273347457979"/>
          <c:y val="1.111111111111111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Sheet1!$C$5</c:f>
              <c:strCache>
                <c:ptCount val="1"/>
                <c:pt idx="0">
                  <c:v>Year 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Sheet1!$B$6:$B$14</c:f>
              <c:strCache>
                <c:ptCount val="8"/>
                <c:pt idx="0">
                  <c:v>Nathan</c:v>
                </c:pt>
                <c:pt idx="1">
                  <c:v>Michael</c:v>
                </c:pt>
                <c:pt idx="2">
                  <c:v>Joe</c:v>
                </c:pt>
                <c:pt idx="3">
                  <c:v>Mason</c:v>
                </c:pt>
                <c:pt idx="4">
                  <c:v>Steven</c:v>
                </c:pt>
                <c:pt idx="5">
                  <c:v>Roy</c:v>
                </c:pt>
                <c:pt idx="6">
                  <c:v>Dylan</c:v>
                </c:pt>
                <c:pt idx="7">
                  <c:v>Austin</c:v>
                </c:pt>
              </c:strCache>
            </c:strRef>
          </c:cat>
          <c:val>
            <c:numRef>
              <c:f>Sheet1!$C$6:$C$14</c:f>
              <c:numCache>
                <c:formatCode>General</c:formatCode>
                <c:ptCount val="9"/>
                <c:pt idx="0">
                  <c:v>100</c:v>
                </c:pt>
                <c:pt idx="1">
                  <c:v>40</c:v>
                </c:pt>
                <c:pt idx="2">
                  <c:v>41</c:v>
                </c:pt>
                <c:pt idx="3">
                  <c:v>53</c:v>
                </c:pt>
                <c:pt idx="4">
                  <c:v>8</c:v>
                </c:pt>
                <c:pt idx="5">
                  <c:v>31</c:v>
                </c:pt>
                <c:pt idx="6">
                  <c:v>97</c:v>
                </c:pt>
                <c:pt idx="7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B4-4AF8-9054-C41E82F0B8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8232256"/>
        <c:axId val="86220576"/>
      </c:barChart>
      <c:catAx>
        <c:axId val="982322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220576"/>
        <c:crosses val="autoZero"/>
        <c:auto val="1"/>
        <c:lblAlgn val="ctr"/>
        <c:lblOffset val="100"/>
        <c:noMultiLvlLbl val="0"/>
      </c:catAx>
      <c:valAx>
        <c:axId val="862205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82322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/>
              <a:t>If Brandon</a:t>
            </a:r>
            <a:r>
              <a:rPr lang="en-US" sz="2400" baseline="0" dirty="0"/>
              <a:t> is 100, what is Adam?</a:t>
            </a:r>
            <a:endParaRPr lang="en-US" sz="24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Sheet1!$C$21</c:f>
              <c:strCache>
                <c:ptCount val="1"/>
                <c:pt idx="0">
                  <c:v>Year 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Sheet1!$B$22:$B$30</c:f>
              <c:strCache>
                <c:ptCount val="8"/>
                <c:pt idx="0">
                  <c:v>Justin</c:v>
                </c:pt>
                <c:pt idx="1">
                  <c:v>Brandon</c:v>
                </c:pt>
                <c:pt idx="2">
                  <c:v>Kyle</c:v>
                </c:pt>
                <c:pt idx="3">
                  <c:v>Brian</c:v>
                </c:pt>
                <c:pt idx="4">
                  <c:v>Gerald</c:v>
                </c:pt>
                <c:pt idx="5">
                  <c:v>Philip</c:v>
                </c:pt>
                <c:pt idx="6">
                  <c:v>Adam</c:v>
                </c:pt>
                <c:pt idx="7">
                  <c:v>Nicholas</c:v>
                </c:pt>
              </c:strCache>
            </c:strRef>
          </c:cat>
          <c:val>
            <c:numRef>
              <c:f>Sheet1!$C$22:$C$30</c:f>
              <c:numCache>
                <c:formatCode>General</c:formatCode>
                <c:ptCount val="9"/>
                <c:pt idx="0">
                  <c:v>40</c:v>
                </c:pt>
                <c:pt idx="1">
                  <c:v>100</c:v>
                </c:pt>
                <c:pt idx="2">
                  <c:v>42</c:v>
                </c:pt>
                <c:pt idx="3">
                  <c:v>31</c:v>
                </c:pt>
                <c:pt idx="4">
                  <c:v>87</c:v>
                </c:pt>
                <c:pt idx="5">
                  <c:v>49</c:v>
                </c:pt>
                <c:pt idx="6">
                  <c:v>124</c:v>
                </c:pt>
                <c:pt idx="7">
                  <c:v>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32-4AFB-9404-8980BF3552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8227936"/>
        <c:axId val="2085695136"/>
      </c:barChart>
      <c:catAx>
        <c:axId val="98227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5695136"/>
        <c:crosses val="autoZero"/>
        <c:auto val="1"/>
        <c:lblAlgn val="ctr"/>
        <c:lblOffset val="100"/>
        <c:noMultiLvlLbl val="0"/>
      </c:catAx>
      <c:valAx>
        <c:axId val="208569513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82279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If Randy Y1 sales are 100, what is Henry's Y3 Sales?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Sheet1!$C$39</c:f>
              <c:strCache>
                <c:ptCount val="1"/>
                <c:pt idx="0">
                  <c:v>Year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Sheet1!$B$40:$B$47</c:f>
              <c:strCache>
                <c:ptCount val="8"/>
                <c:pt idx="0">
                  <c:v>Randy</c:v>
                </c:pt>
                <c:pt idx="1">
                  <c:v>Ronald</c:v>
                </c:pt>
                <c:pt idx="2">
                  <c:v>Ethan</c:v>
                </c:pt>
                <c:pt idx="3">
                  <c:v>Henry</c:v>
                </c:pt>
                <c:pt idx="4">
                  <c:v>Jacob</c:v>
                </c:pt>
                <c:pt idx="5">
                  <c:v>Russell</c:v>
                </c:pt>
                <c:pt idx="6">
                  <c:v>Eugene</c:v>
                </c:pt>
                <c:pt idx="7">
                  <c:v>Larry</c:v>
                </c:pt>
              </c:strCache>
            </c:strRef>
          </c:cat>
          <c:val>
            <c:numRef>
              <c:f>Sheet1!$C$40:$C$47</c:f>
              <c:numCache>
                <c:formatCode>General</c:formatCode>
                <c:ptCount val="8"/>
                <c:pt idx="0">
                  <c:v>100</c:v>
                </c:pt>
                <c:pt idx="1">
                  <c:v>79</c:v>
                </c:pt>
                <c:pt idx="2">
                  <c:v>85</c:v>
                </c:pt>
                <c:pt idx="3">
                  <c:v>85</c:v>
                </c:pt>
                <c:pt idx="4">
                  <c:v>6</c:v>
                </c:pt>
                <c:pt idx="5">
                  <c:v>75</c:v>
                </c:pt>
                <c:pt idx="6">
                  <c:v>69</c:v>
                </c:pt>
                <c:pt idx="7">
                  <c:v>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A0-434B-B0AB-5A8E99B25967}"/>
            </c:ext>
          </c:extLst>
        </c:ser>
        <c:ser>
          <c:idx val="1"/>
          <c:order val="1"/>
          <c:tx>
            <c:strRef>
              <c:f>Sheet1!$D$39</c:f>
              <c:strCache>
                <c:ptCount val="1"/>
                <c:pt idx="0">
                  <c:v>Year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Sheet1!$B$40:$B$47</c:f>
              <c:strCache>
                <c:ptCount val="8"/>
                <c:pt idx="0">
                  <c:v>Randy</c:v>
                </c:pt>
                <c:pt idx="1">
                  <c:v>Ronald</c:v>
                </c:pt>
                <c:pt idx="2">
                  <c:v>Ethan</c:v>
                </c:pt>
                <c:pt idx="3">
                  <c:v>Henry</c:v>
                </c:pt>
                <c:pt idx="4">
                  <c:v>Jacob</c:v>
                </c:pt>
                <c:pt idx="5">
                  <c:v>Russell</c:v>
                </c:pt>
                <c:pt idx="6">
                  <c:v>Eugene</c:v>
                </c:pt>
                <c:pt idx="7">
                  <c:v>Larry</c:v>
                </c:pt>
              </c:strCache>
            </c:strRef>
          </c:cat>
          <c:val>
            <c:numRef>
              <c:f>Sheet1!$D$40:$D$47</c:f>
              <c:numCache>
                <c:formatCode>General</c:formatCode>
                <c:ptCount val="8"/>
                <c:pt idx="0">
                  <c:v>63</c:v>
                </c:pt>
                <c:pt idx="1">
                  <c:v>12</c:v>
                </c:pt>
                <c:pt idx="2">
                  <c:v>43</c:v>
                </c:pt>
                <c:pt idx="3">
                  <c:v>79</c:v>
                </c:pt>
                <c:pt idx="4">
                  <c:v>45</c:v>
                </c:pt>
                <c:pt idx="5">
                  <c:v>14</c:v>
                </c:pt>
                <c:pt idx="6">
                  <c:v>95</c:v>
                </c:pt>
                <c:pt idx="7">
                  <c:v>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BA0-434B-B0AB-5A8E99B25967}"/>
            </c:ext>
          </c:extLst>
        </c:ser>
        <c:ser>
          <c:idx val="2"/>
          <c:order val="2"/>
          <c:tx>
            <c:strRef>
              <c:f>Sheet1!$E$39</c:f>
              <c:strCache>
                <c:ptCount val="1"/>
                <c:pt idx="0">
                  <c:v>Year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Sheet1!$B$40:$B$47</c:f>
              <c:strCache>
                <c:ptCount val="8"/>
                <c:pt idx="0">
                  <c:v>Randy</c:v>
                </c:pt>
                <c:pt idx="1">
                  <c:v>Ronald</c:v>
                </c:pt>
                <c:pt idx="2">
                  <c:v>Ethan</c:v>
                </c:pt>
                <c:pt idx="3">
                  <c:v>Henry</c:v>
                </c:pt>
                <c:pt idx="4">
                  <c:v>Jacob</c:v>
                </c:pt>
                <c:pt idx="5">
                  <c:v>Russell</c:v>
                </c:pt>
                <c:pt idx="6">
                  <c:v>Eugene</c:v>
                </c:pt>
                <c:pt idx="7">
                  <c:v>Larry</c:v>
                </c:pt>
              </c:strCache>
            </c:strRef>
          </c:cat>
          <c:val>
            <c:numRef>
              <c:f>Sheet1!$E$40:$E$47</c:f>
              <c:numCache>
                <c:formatCode>General</c:formatCode>
                <c:ptCount val="8"/>
                <c:pt idx="0">
                  <c:v>77</c:v>
                </c:pt>
                <c:pt idx="1">
                  <c:v>14</c:v>
                </c:pt>
                <c:pt idx="2">
                  <c:v>5</c:v>
                </c:pt>
                <c:pt idx="3">
                  <c:v>55</c:v>
                </c:pt>
                <c:pt idx="4">
                  <c:v>90</c:v>
                </c:pt>
                <c:pt idx="5">
                  <c:v>55</c:v>
                </c:pt>
                <c:pt idx="6">
                  <c:v>58</c:v>
                </c:pt>
                <c:pt idx="7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BA0-434B-B0AB-5A8E99B259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14876144"/>
        <c:axId val="86221072"/>
      </c:barChart>
      <c:catAx>
        <c:axId val="1114876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221072"/>
        <c:crosses val="autoZero"/>
        <c:auto val="1"/>
        <c:lblAlgn val="ctr"/>
        <c:lblOffset val="100"/>
        <c:noMultiLvlLbl val="0"/>
      </c:catAx>
      <c:valAx>
        <c:axId val="8622107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1148761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If Russell's Y1 sales are 100, what are his Y2 sales?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Sheet1!$C$39</c:f>
              <c:strCache>
                <c:ptCount val="1"/>
                <c:pt idx="0">
                  <c:v>Year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Sheet1!$B$57:$B$64</c:f>
              <c:strCache>
                <c:ptCount val="8"/>
                <c:pt idx="0">
                  <c:v>Randy</c:v>
                </c:pt>
                <c:pt idx="1">
                  <c:v>Ronald</c:v>
                </c:pt>
                <c:pt idx="2">
                  <c:v>Ethan</c:v>
                </c:pt>
                <c:pt idx="3">
                  <c:v>Henry</c:v>
                </c:pt>
                <c:pt idx="4">
                  <c:v>Jacob</c:v>
                </c:pt>
                <c:pt idx="5">
                  <c:v>Russell</c:v>
                </c:pt>
                <c:pt idx="6">
                  <c:v>Eugene</c:v>
                </c:pt>
                <c:pt idx="7">
                  <c:v>Larry</c:v>
                </c:pt>
              </c:strCache>
            </c:strRef>
          </c:cat>
          <c:val>
            <c:numRef>
              <c:f>Sheet1!$C$57:$C$64</c:f>
              <c:numCache>
                <c:formatCode>General</c:formatCode>
                <c:ptCount val="8"/>
                <c:pt idx="0">
                  <c:v>43</c:v>
                </c:pt>
                <c:pt idx="1">
                  <c:v>4</c:v>
                </c:pt>
                <c:pt idx="2">
                  <c:v>55</c:v>
                </c:pt>
                <c:pt idx="3">
                  <c:v>38</c:v>
                </c:pt>
                <c:pt idx="4">
                  <c:v>28</c:v>
                </c:pt>
                <c:pt idx="5">
                  <c:v>100</c:v>
                </c:pt>
                <c:pt idx="6">
                  <c:v>83</c:v>
                </c:pt>
                <c:pt idx="7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E5-48EE-A650-9FBE1944C39C}"/>
            </c:ext>
          </c:extLst>
        </c:ser>
        <c:ser>
          <c:idx val="1"/>
          <c:order val="1"/>
          <c:tx>
            <c:strRef>
              <c:f>Sheet1!$D$39</c:f>
              <c:strCache>
                <c:ptCount val="1"/>
                <c:pt idx="0">
                  <c:v>Year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Sheet1!$B$57:$B$64</c:f>
              <c:strCache>
                <c:ptCount val="8"/>
                <c:pt idx="0">
                  <c:v>Randy</c:v>
                </c:pt>
                <c:pt idx="1">
                  <c:v>Ronald</c:v>
                </c:pt>
                <c:pt idx="2">
                  <c:v>Ethan</c:v>
                </c:pt>
                <c:pt idx="3">
                  <c:v>Henry</c:v>
                </c:pt>
                <c:pt idx="4">
                  <c:v>Jacob</c:v>
                </c:pt>
                <c:pt idx="5">
                  <c:v>Russell</c:v>
                </c:pt>
                <c:pt idx="6">
                  <c:v>Eugene</c:v>
                </c:pt>
                <c:pt idx="7">
                  <c:v>Larry</c:v>
                </c:pt>
              </c:strCache>
            </c:strRef>
          </c:cat>
          <c:val>
            <c:numRef>
              <c:f>Sheet1!$D$57:$D$64</c:f>
              <c:numCache>
                <c:formatCode>General</c:formatCode>
                <c:ptCount val="8"/>
                <c:pt idx="0">
                  <c:v>43</c:v>
                </c:pt>
                <c:pt idx="1">
                  <c:v>43</c:v>
                </c:pt>
                <c:pt idx="2">
                  <c:v>6</c:v>
                </c:pt>
                <c:pt idx="3">
                  <c:v>65</c:v>
                </c:pt>
                <c:pt idx="4">
                  <c:v>32</c:v>
                </c:pt>
                <c:pt idx="5">
                  <c:v>63</c:v>
                </c:pt>
                <c:pt idx="6">
                  <c:v>53</c:v>
                </c:pt>
                <c:pt idx="7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DE5-48EE-A650-9FBE1944C39C}"/>
            </c:ext>
          </c:extLst>
        </c:ser>
        <c:ser>
          <c:idx val="2"/>
          <c:order val="2"/>
          <c:tx>
            <c:strRef>
              <c:f>Sheet1!$E$39</c:f>
              <c:strCache>
                <c:ptCount val="1"/>
                <c:pt idx="0">
                  <c:v>Year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Sheet1!$B$57:$B$64</c:f>
              <c:strCache>
                <c:ptCount val="8"/>
                <c:pt idx="0">
                  <c:v>Randy</c:v>
                </c:pt>
                <c:pt idx="1">
                  <c:v>Ronald</c:v>
                </c:pt>
                <c:pt idx="2">
                  <c:v>Ethan</c:v>
                </c:pt>
                <c:pt idx="3">
                  <c:v>Henry</c:v>
                </c:pt>
                <c:pt idx="4">
                  <c:v>Jacob</c:v>
                </c:pt>
                <c:pt idx="5">
                  <c:v>Russell</c:v>
                </c:pt>
                <c:pt idx="6">
                  <c:v>Eugene</c:v>
                </c:pt>
                <c:pt idx="7">
                  <c:v>Larry</c:v>
                </c:pt>
              </c:strCache>
            </c:strRef>
          </c:cat>
          <c:val>
            <c:numRef>
              <c:f>Sheet1!$E$57:$E$64</c:f>
              <c:numCache>
                <c:formatCode>General</c:formatCode>
                <c:ptCount val="8"/>
                <c:pt idx="0">
                  <c:v>82</c:v>
                </c:pt>
                <c:pt idx="1">
                  <c:v>80</c:v>
                </c:pt>
                <c:pt idx="2">
                  <c:v>84</c:v>
                </c:pt>
                <c:pt idx="3">
                  <c:v>46</c:v>
                </c:pt>
                <c:pt idx="4">
                  <c:v>89</c:v>
                </c:pt>
                <c:pt idx="5">
                  <c:v>42</c:v>
                </c:pt>
                <c:pt idx="6">
                  <c:v>80</c:v>
                </c:pt>
                <c:pt idx="7">
                  <c:v>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DE5-48EE-A650-9FBE1944C3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14876144"/>
        <c:axId val="86221072"/>
      </c:barChart>
      <c:catAx>
        <c:axId val="1114876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221072"/>
        <c:crosses val="autoZero"/>
        <c:auto val="1"/>
        <c:lblAlgn val="ctr"/>
        <c:lblOffset val="100"/>
        <c:noMultiLvlLbl val="0"/>
      </c:catAx>
      <c:valAx>
        <c:axId val="8622107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1148761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If Raymond's</a:t>
            </a:r>
            <a:r>
              <a:rPr lang="en-US" baseline="0" dirty="0"/>
              <a:t> sales are 100, what are Billy's?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Sheet1!$C$74</c:f>
              <c:strCache>
                <c:ptCount val="1"/>
                <c:pt idx="0">
                  <c:v>Y1 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B5F-4D77-AC88-5AA8F41D5A3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B5F-4D77-AC88-5AA8F41D5A3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B5F-4D77-AC88-5AA8F41D5A3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B5F-4D77-AC88-5AA8F41D5A3E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8B5F-4D77-AC88-5AA8F41D5A3E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8B5F-4D77-AC88-5AA8F41D5A3E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8B5F-4D77-AC88-5AA8F41D5A3E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8B5F-4D77-AC88-5AA8F41D5A3E}"/>
              </c:ext>
            </c:extLst>
          </c:dPt>
          <c:cat>
            <c:strRef>
              <c:f>Sheet1!$B$75:$B$82</c:f>
              <c:strCache>
                <c:ptCount val="8"/>
                <c:pt idx="0">
                  <c:v>Sean</c:v>
                </c:pt>
                <c:pt idx="1">
                  <c:v>Gregory</c:v>
                </c:pt>
                <c:pt idx="2">
                  <c:v>Vincent</c:v>
                </c:pt>
                <c:pt idx="3">
                  <c:v>Raymond</c:v>
                </c:pt>
                <c:pt idx="4">
                  <c:v>Gabriel</c:v>
                </c:pt>
                <c:pt idx="5">
                  <c:v>James</c:v>
                </c:pt>
                <c:pt idx="6">
                  <c:v>Juan</c:v>
                </c:pt>
                <c:pt idx="7">
                  <c:v>Billy</c:v>
                </c:pt>
              </c:strCache>
            </c:strRef>
          </c:cat>
          <c:val>
            <c:numRef>
              <c:f>Sheet1!$C$75:$C$82</c:f>
              <c:numCache>
                <c:formatCode>General</c:formatCode>
                <c:ptCount val="8"/>
                <c:pt idx="0">
                  <c:v>39</c:v>
                </c:pt>
                <c:pt idx="1">
                  <c:v>23</c:v>
                </c:pt>
                <c:pt idx="2">
                  <c:v>60</c:v>
                </c:pt>
                <c:pt idx="3">
                  <c:v>100</c:v>
                </c:pt>
                <c:pt idx="4">
                  <c:v>30</c:v>
                </c:pt>
                <c:pt idx="5">
                  <c:v>28</c:v>
                </c:pt>
                <c:pt idx="6">
                  <c:v>125</c:v>
                </c:pt>
                <c:pt idx="7">
                  <c:v>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8B5F-4D77-AC88-5AA8F41D5A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Sheet1!$B$99:$B$106</cx:f>
        <cx:lvl ptCount="8">
          <cx:pt idx="0">Benjamin</cx:pt>
          <cx:pt idx="1">Anthony</cx:pt>
          <cx:pt idx="2">Samuel</cx:pt>
          <cx:pt idx="3">Lawrence</cx:pt>
          <cx:pt idx="4">Jose</cx:pt>
          <cx:pt idx="5">Donald</cx:pt>
          <cx:pt idx="6">Stephen</cx:pt>
          <cx:pt idx="7">Joseph</cx:pt>
        </cx:lvl>
      </cx:strDim>
      <cx:numDim type="size">
        <cx:f>Sheet1!$C$99:$C$106</cx:f>
        <cx:lvl ptCount="8" formatCode="General">
          <cx:pt idx="0">139</cx:pt>
          <cx:pt idx="1">23</cx:pt>
          <cx:pt idx="2">100</cx:pt>
          <cx:pt idx="3">52</cx:pt>
          <cx:pt idx="4">30</cx:pt>
          <cx:pt idx="5">28</cx:pt>
          <cx:pt idx="6">100</cx:pt>
          <cx:pt idx="7">50</cx:pt>
        </cx:lvl>
      </cx:numDim>
    </cx:data>
  </cx:chartData>
  <cx:chart>
    <cx:title pos="t" align="ctr" overlay="0">
      <cx:tx>
        <cx:txData>
          <cx:v>If Samuel's sales are 100, what are Donald's?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 dirty="0">
              <a:solidFill>
                <a:sysClr val="windowText" lastClr="000000">
                  <a:lumMod val="65000"/>
                  <a:lumOff val="35000"/>
                </a:sysClr>
              </a:solidFill>
              <a:latin typeface="Calibri" panose="020F0502020204030204"/>
            </a:rPr>
            <a:t>If Samuel's sales are 100, what are Donald's?</a:t>
          </a:r>
        </a:p>
      </cx:txPr>
    </cx:title>
    <cx:plotArea>
      <cx:plotAreaRegion>
        <cx:series layoutId="treemap" uniqueId="{73AE7D96-2D8E-4173-9556-9A389C286D29}">
          <cx:tx>
            <cx:txData>
              <cx:f>Sheet1!$C$98</cx:f>
              <cx:v>Y1 Sales</cx:v>
            </cx:txData>
          </cx:tx>
          <cx:dataLabels pos="inEnd">
            <cx:visibility seriesName="0" categoryName="1" value="0"/>
          </cx:dataLabels>
          <cx:dataId val="0"/>
          <cx:layoutPr>
            <cx:parentLabelLayout val="overlapping"/>
          </cx:layoutPr>
        </cx:series>
      </cx:plotAreaRegion>
    </cx:plotArea>
    <cx:legend pos="t" align="ctr" overlay="0"/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lt1"/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A953A-E8EF-4AB2-A2C6-9007AC7E276F}" type="datetimeFigureOut">
              <a:rPr lang="en-US" smtClean="0"/>
              <a:t>7/29/26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32D072-74D9-49B0-94C3-A37DB0D95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70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Dr. John Snow, 1854 Cholera epidemic, Broad Street. P24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Interesting, complex idea, least ink, multivariate, truth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3CFFF1-A506-4A95-BC7A-A321A506473C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212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Charles Minard, French wines export 1864, p25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Interesting, complex idea, least ink, multivariate, truth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3CFFF1-A506-4A95-BC7A-A321A506473C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961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964AD-B660-D5FC-EBD2-4226AD6D7C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9A6055-A6E6-324D-34A1-D78002095F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C7757-8EC5-2A75-240F-356390FFA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C6B18-8754-41BA-A10A-BB7FE94BE391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461D4-F807-3013-01B8-90E046AD7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7B414-0273-3340-C9FD-C57F1CA25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0A382-AF90-45E8-A678-DE8F6284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182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8159D-78FE-2A53-807E-A8FB3D7DC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71792-5257-5405-61FE-F8EE26FC1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88C90-C4FD-448D-15B2-67BAB6A32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C6B18-8754-41BA-A10A-BB7FE94BE391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F8CE7-05DD-99FA-4384-2BDC0AF3C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0A6EE-6C34-9406-8CAB-5D5D244A9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0A382-AF90-45E8-A678-DE8F6284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59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FE2FB-601C-B38F-26A9-CC681CC66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82EEB5-ACF4-AB03-C549-C1539C659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E6AD5-6FA3-12A3-FBE5-E0CA09DAA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C6B18-8754-41BA-A10A-BB7FE94BE391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28201-5AE1-03E7-E32D-589C1CB73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5363E-B86F-F84B-184E-5C757AE9E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0A382-AF90-45E8-A678-DE8F6284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687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A825B-7EE8-33DD-80F1-0E968DF21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FBA24-1681-4A91-A756-5863512C3F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609B77-C052-B6E2-A5A8-1095F4F01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F62CA8-C6C2-524F-EBE0-815508A82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C6B18-8754-41BA-A10A-BB7FE94BE391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749818-FB49-2B50-AA5F-6751C795D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B617C-2FFD-5DDC-454F-B0833F38A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0A382-AF90-45E8-A678-DE8F6284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184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92480-CE0F-21EE-791F-848524E1B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5CFF0F-402A-051C-283F-0BDDA4594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EBFBD1-5242-C848-DA91-9965348F6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E748A1-E638-5BE2-8335-F2DC449884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91F1B6-82B7-6BF4-D7CF-81475D8ECF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FEA02F-043F-A992-1F81-996298DB8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C6B18-8754-41BA-A10A-BB7FE94BE391}" type="datetimeFigureOut">
              <a:rPr lang="en-US" smtClean="0"/>
              <a:t>7/29/26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34DC3C-3E10-9FEC-B425-31F87BC49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F97A9B-5C38-E9C1-FDDD-640EACECD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0A382-AF90-45E8-A678-DE8F6284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85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DD355-8ACC-9501-FAD0-E7038BEC6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17595B-F6A2-3ADD-2175-917FE7F6B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C6B18-8754-41BA-A10A-BB7FE94BE391}" type="datetimeFigureOut">
              <a:rPr lang="en-US" smtClean="0"/>
              <a:t>7/29/26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5C417C-F698-C97F-B491-19CC7C9A8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7F4176-C587-EB0C-51C6-5E62E4827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0A382-AF90-45E8-A678-DE8F6284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977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EFDD27-7306-F995-841D-CBF653325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C6B18-8754-41BA-A10A-BB7FE94BE391}" type="datetimeFigureOut">
              <a:rPr lang="en-US" smtClean="0"/>
              <a:t>7/29/26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B96A27-A0D4-392E-F7E8-B8C2AA0A0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72EDD-3DA2-53EA-D792-053258986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0A382-AF90-45E8-A678-DE8F6284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716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759F6-2B7B-74F6-F167-F4AB5AFDE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4D0E2-B337-8DB4-CEDC-3443DBD6F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221324-115E-9C68-6A4A-F8B9CB8342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C599BE-8BFD-6A77-CB8C-728BB7DC8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C6B18-8754-41BA-A10A-BB7FE94BE391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7C2CEA-0637-50A4-5FD8-D4FC28CA6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98F332-F85F-F27D-7BEB-775763EBA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0A382-AF90-45E8-A678-DE8F6284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6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9EC78-6EB9-7199-0D5B-D9AD2575B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E5E9FD-8FD4-6BB1-1EED-05E420433D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37D473-811C-4507-E4E0-92D4B0B9EF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8BEB3F-AAB7-DC0F-4674-74F59DB56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C6B18-8754-41BA-A10A-BB7FE94BE391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2D227A-FCD8-FDCD-5785-D6F9EF07F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713667-EC30-92C9-F794-B571015AA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0A382-AF90-45E8-A678-DE8F6284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08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2DA90-8E9A-072B-7955-A8161A81A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EA192-EB82-DDBA-1C44-915F7FE925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762AC-0E2A-2275-7092-EC7E31875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C6B18-8754-41BA-A10A-BB7FE94BE391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8D09F-C158-E151-4E0E-44142D778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C8AB1-7130-4AB7-044D-0A4939259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0A382-AF90-45E8-A678-DE8F6284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34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CA67F2-816E-3B89-EFD4-A42928B7D1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FB3801-6DD7-E38B-890D-76A95E9DE1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13F81-502E-6211-E11E-9B3FB0BD7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C6B18-8754-41BA-A10A-BB7FE94BE391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D113D-6619-AE9F-568F-08C52ADFC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A7FB2-18E7-0C85-8EC3-DE84D8922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0A382-AF90-45E8-A678-DE8F6284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974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FBA79B-6EE8-23B4-A633-970AF8206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BF9041-A10D-EBBE-D18C-85640E2B8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C8E87-15C0-F654-2F04-9903A088F5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C6B18-8754-41BA-A10A-BB7FE94BE391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A5F95-BA77-C1E9-436E-675D004202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1EC5E-25AC-ABE1-CD87-00F15DCB02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80A382-AF90-45E8-A678-DE8F62845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239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100.datavizproject.com/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100.datavizproject.com/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100.datavizproject.com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100.datavizproject.com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100.datavizproject.com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100.datavizproject.com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100.datavizproject.com/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100.datavizproject.com/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100.datavizproject.com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sVy5j3SyriUgonV4A" TargetMode="Externa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U4MlF3lM2NdqNAP06PSXvw19C8HW_1FATjNxUgS9-K0/" TargetMode="Externa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visualcapitalist.com/cp/air-quality-in-cities-2022/" TargetMode="Externa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socviz.co/lookatdata.html" TargetMode="External"/><Relationship Id="rId2" Type="http://schemas.openxmlformats.org/officeDocument/2006/relationships/hyperlink" Target="mailto:kieran.healy@duke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734AB-11D7-FB67-8ACE-0E18D8DB9D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Pre-attentive Attributes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7DF593-5748-65AA-C494-CAD42FA0CB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Updated 1/7/26 by NDG</a:t>
            </a:r>
          </a:p>
        </p:txBody>
      </p:sp>
    </p:spTree>
    <p:extLst>
      <p:ext uri="{BB962C8B-B14F-4D97-AF65-F5344CB8AC3E}">
        <p14:creationId xmlns:p14="http://schemas.microsoft.com/office/powerpoint/2010/main" val="2593983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BE94A-139D-95D9-9133-AF7AEFED32E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314575" y="132916"/>
            <a:ext cx="7562850" cy="4351338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https://100.datavizproject.com/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041C07-0E71-752B-D258-4D1EC2C0E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4575" y="1088591"/>
            <a:ext cx="7562850" cy="541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815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chart&#10;&#10;Description automatically generated">
            <a:extLst>
              <a:ext uri="{FF2B5EF4-FFF2-40B4-BE49-F238E27FC236}">
                <a16:creationId xmlns:a16="http://schemas.microsoft.com/office/drawing/2014/main" id="{667E7B82-BBD4-0ECE-BAD7-E9571ADF838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784"/>
          <a:stretch/>
        </p:blipFill>
        <p:spPr>
          <a:xfrm>
            <a:off x="4230690" y="1325563"/>
            <a:ext cx="4154444" cy="54864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0B3816CB-29CA-D84B-A7BD-695CCE0DD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309" y="0"/>
            <a:ext cx="10515600" cy="1325563"/>
          </a:xfrm>
        </p:spPr>
        <p:txBody>
          <a:bodyPr/>
          <a:lstStyle/>
          <a:p>
            <a:r>
              <a:rPr lang="en-US" dirty="0"/>
              <a:t>Draw your data with each channel</a:t>
            </a:r>
          </a:p>
        </p:txBody>
      </p:sp>
    </p:spTree>
    <p:extLst>
      <p:ext uri="{BB962C8B-B14F-4D97-AF65-F5344CB8AC3E}">
        <p14:creationId xmlns:p14="http://schemas.microsoft.com/office/powerpoint/2010/main" val="3493303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BE94A-139D-95D9-9133-AF7AEFED32E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314575" y="132916"/>
            <a:ext cx="7562850" cy="4351338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https://100.datavizproject.com/</a:t>
            </a:r>
            <a:endParaRPr lang="en-US" dirty="0"/>
          </a:p>
        </p:txBody>
      </p:sp>
      <p:pic>
        <p:nvPicPr>
          <p:cNvPr id="25" name="Picture 24" descr="A graph of steps with numbers and a line&#10;&#10;Description automatically generated with medium confidence">
            <a:extLst>
              <a:ext uri="{FF2B5EF4-FFF2-40B4-BE49-F238E27FC236}">
                <a16:creationId xmlns:a16="http://schemas.microsoft.com/office/drawing/2014/main" id="{B9353752-06DE-6AA3-C1E0-4A6E8F14A7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006" y="4075132"/>
            <a:ext cx="2649952" cy="2649952"/>
          </a:xfrm>
          <a:prstGeom prst="rect">
            <a:avLst/>
          </a:prstGeom>
        </p:spPr>
      </p:pic>
      <p:pic>
        <p:nvPicPr>
          <p:cNvPr id="27" name="Picture 26" descr="A graph of numbers and a number of people&#10;&#10;Description automatically generated with medium confidence">
            <a:extLst>
              <a:ext uri="{FF2B5EF4-FFF2-40B4-BE49-F238E27FC236}">
                <a16:creationId xmlns:a16="http://schemas.microsoft.com/office/drawing/2014/main" id="{5EA2B4D3-BC9E-4F24-CC67-20979AC8BE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0" y="-63904"/>
            <a:ext cx="6858000" cy="6858000"/>
          </a:xfrm>
          <a:prstGeom prst="rect">
            <a:avLst/>
          </a:prstGeom>
        </p:spPr>
      </p:pic>
      <p:pic>
        <p:nvPicPr>
          <p:cNvPr id="29" name="Picture 28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7BA8C35A-FBB2-1988-49DA-D8617B4602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76844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880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numbers and arrows&#10;&#10;Description automatically generated">
            <a:extLst>
              <a:ext uri="{FF2B5EF4-FFF2-40B4-BE49-F238E27FC236}">
                <a16:creationId xmlns:a16="http://schemas.microsoft.com/office/drawing/2014/main" id="{166C7BA6-A645-BB59-ED97-44F5EBE101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517" y="0"/>
            <a:ext cx="6858000" cy="6858000"/>
          </a:xfrm>
          <a:prstGeom prst="rect">
            <a:avLst/>
          </a:prstGeom>
        </p:spPr>
      </p:pic>
      <p:pic>
        <p:nvPicPr>
          <p:cNvPr id="5" name="Picture 4" descr="A map with different colored rectangles and numbers&#10;&#10;Description automatically generated">
            <a:extLst>
              <a:ext uri="{FF2B5EF4-FFF2-40B4-BE49-F238E27FC236}">
                <a16:creationId xmlns:a16="http://schemas.microsoft.com/office/drawing/2014/main" id="{6A65B1E4-991A-12B6-B543-E9B8FBA8B2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464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62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BE94A-139D-95D9-9133-AF7AEFED32E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314575" y="132916"/>
            <a:ext cx="7562850" cy="4351338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https://100.datavizproject.com/</a:t>
            </a:r>
            <a:endParaRPr lang="en-US" dirty="0"/>
          </a:p>
        </p:txBody>
      </p:sp>
      <p:pic>
        <p:nvPicPr>
          <p:cNvPr id="6" name="Picture 5" descr="A group of colorful rectangular objects with text&#10;&#10;Description automatically generated with medium confidence">
            <a:extLst>
              <a:ext uri="{FF2B5EF4-FFF2-40B4-BE49-F238E27FC236}">
                <a16:creationId xmlns:a16="http://schemas.microsoft.com/office/drawing/2014/main" id="{6F83EA99-73B6-2E5B-A24D-315895EAB7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7355" y="0"/>
            <a:ext cx="6353355" cy="6858000"/>
          </a:xfrm>
          <a:prstGeom prst="rect">
            <a:avLst/>
          </a:prstGeom>
        </p:spPr>
      </p:pic>
      <p:pic>
        <p:nvPicPr>
          <p:cNvPr id="8" name="Picture 7" descr="A screenshot of a graph&#10;&#10;Description automatically generated">
            <a:extLst>
              <a:ext uri="{FF2B5EF4-FFF2-40B4-BE49-F238E27FC236}">
                <a16:creationId xmlns:a16="http://schemas.microsoft.com/office/drawing/2014/main" id="{F7686F28-A202-7544-1E0C-67C445D5BE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595222"/>
            <a:ext cx="6353356" cy="626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499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BE94A-139D-95D9-9133-AF7AEFED32E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314575" y="132916"/>
            <a:ext cx="7562850" cy="4351338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https://100.datavizproject.com/</a:t>
            </a:r>
            <a:endParaRPr lang="en-US" dirty="0"/>
          </a:p>
        </p:txBody>
      </p:sp>
      <p:pic>
        <p:nvPicPr>
          <p:cNvPr id="4" name="Picture 3" descr="A diagram of a country&#10;&#10;Description automatically generated with medium confidence">
            <a:extLst>
              <a:ext uri="{FF2B5EF4-FFF2-40B4-BE49-F238E27FC236}">
                <a16:creationId xmlns:a16="http://schemas.microsoft.com/office/drawing/2014/main" id="{48D86DFE-2424-5653-32A6-438708BA24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5826" y="-60385"/>
            <a:ext cx="6858000" cy="6858000"/>
          </a:xfrm>
          <a:prstGeom prst="rect">
            <a:avLst/>
          </a:prstGeom>
        </p:spPr>
      </p:pic>
      <p:pic>
        <p:nvPicPr>
          <p:cNvPr id="6" name="Picture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408ACE7B-5FB1-5EE1-7EC4-4E59007AD0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0385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372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chart&#10;&#10;Description automatically generated">
            <a:extLst>
              <a:ext uri="{FF2B5EF4-FFF2-40B4-BE49-F238E27FC236}">
                <a16:creationId xmlns:a16="http://schemas.microsoft.com/office/drawing/2014/main" id="{4F2F7F38-1797-FB1D-05C7-E52C049DD51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485"/>
          <a:stretch/>
        </p:blipFill>
        <p:spPr>
          <a:xfrm>
            <a:off x="4077937" y="1164939"/>
            <a:ext cx="3888343" cy="54864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0B3816CB-29CA-D84B-A7BD-695CCE0DD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309" y="0"/>
            <a:ext cx="10515600" cy="1325563"/>
          </a:xfrm>
        </p:spPr>
        <p:txBody>
          <a:bodyPr/>
          <a:lstStyle/>
          <a:p>
            <a:r>
              <a:rPr lang="en-US" dirty="0"/>
              <a:t>Draw your data with each channel</a:t>
            </a:r>
          </a:p>
        </p:txBody>
      </p:sp>
    </p:spTree>
    <p:extLst>
      <p:ext uri="{BB962C8B-B14F-4D97-AF65-F5344CB8AC3E}">
        <p14:creationId xmlns:p14="http://schemas.microsoft.com/office/powerpoint/2010/main" val="870947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BE94A-139D-95D9-9133-AF7AEFED32E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314575" y="132916"/>
            <a:ext cx="7562850" cy="4351338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https://100.datavizproject.com/</a:t>
            </a:r>
            <a:endParaRPr lang="en-US" dirty="0"/>
          </a:p>
        </p:txBody>
      </p:sp>
      <p:pic>
        <p:nvPicPr>
          <p:cNvPr id="6" name="Picture 5" descr="A group of circles with numbers&#10;&#10;Description automatically generated">
            <a:extLst>
              <a:ext uri="{FF2B5EF4-FFF2-40B4-BE49-F238E27FC236}">
                <a16:creationId xmlns:a16="http://schemas.microsoft.com/office/drawing/2014/main" id="{04F62CA2-5A97-A32C-6C90-517A3495D7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6815" y="0"/>
            <a:ext cx="6858000" cy="6858000"/>
          </a:xfrm>
          <a:prstGeom prst="rect">
            <a:avLst/>
          </a:prstGeom>
        </p:spPr>
      </p:pic>
      <p:pic>
        <p:nvPicPr>
          <p:cNvPr id="8" name="Picture 7" descr="A diagram of different colored squares&#10;&#10;Description automatically generated">
            <a:extLst>
              <a:ext uri="{FF2B5EF4-FFF2-40B4-BE49-F238E27FC236}">
                <a16:creationId xmlns:a16="http://schemas.microsoft.com/office/drawing/2014/main" id="{7E2040B3-C21C-3405-B605-E06B0CE0B5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218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BE94A-139D-95D9-9133-AF7AEFED32E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314575" y="132916"/>
            <a:ext cx="7562850" cy="4351338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https://100.datavizproject.com/</a:t>
            </a:r>
            <a:endParaRPr lang="en-US" dirty="0"/>
          </a:p>
        </p:txBody>
      </p:sp>
      <p:pic>
        <p:nvPicPr>
          <p:cNvPr id="2" name="Picture 1" descr="A graph of different colored squares&#10;&#10;Description automatically generated">
            <a:extLst>
              <a:ext uri="{FF2B5EF4-FFF2-40B4-BE49-F238E27FC236}">
                <a16:creationId xmlns:a16="http://schemas.microsoft.com/office/drawing/2014/main" id="{9B4AE0A7-AEA1-5AEE-A3C3-64B6E9ABCB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pic>
        <p:nvPicPr>
          <p:cNvPr id="5" name="Picture 4" descr="A graph with numbers and symbols&#10;&#10;Description automatically generated with medium confidence">
            <a:extLst>
              <a:ext uri="{FF2B5EF4-FFF2-40B4-BE49-F238E27FC236}">
                <a16:creationId xmlns:a16="http://schemas.microsoft.com/office/drawing/2014/main" id="{2DDD591F-7AD1-FDC4-49E2-FCDF613597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3847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83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BE94A-139D-95D9-9133-AF7AEFED32E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314575" y="132916"/>
            <a:ext cx="7562850" cy="4351338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https://100.datavizproject.com/</a:t>
            </a:r>
            <a:endParaRPr lang="en-US" dirty="0"/>
          </a:p>
        </p:txBody>
      </p:sp>
      <p:pic>
        <p:nvPicPr>
          <p:cNvPr id="25" name="Picture 24" descr="A graph of steps with numbers and a line&#10;&#10;Description automatically generated with medium confidence">
            <a:extLst>
              <a:ext uri="{FF2B5EF4-FFF2-40B4-BE49-F238E27FC236}">
                <a16:creationId xmlns:a16="http://schemas.microsoft.com/office/drawing/2014/main" id="{B9353752-06DE-6AA3-C1E0-4A6E8F14A7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006" y="4075132"/>
            <a:ext cx="2649952" cy="2649952"/>
          </a:xfrm>
          <a:prstGeom prst="rect">
            <a:avLst/>
          </a:prstGeom>
        </p:spPr>
      </p:pic>
      <p:pic>
        <p:nvPicPr>
          <p:cNvPr id="31" name="Picture 30" descr="A group of blue and red hexagons&#10;&#10;Description automatically generated">
            <a:extLst>
              <a:ext uri="{FF2B5EF4-FFF2-40B4-BE49-F238E27FC236}">
                <a16:creationId xmlns:a16="http://schemas.microsoft.com/office/drawing/2014/main" id="{179540BD-B36E-CB45-C59B-7D427B63E7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464" y="0"/>
            <a:ext cx="6858000" cy="6858000"/>
          </a:xfrm>
          <a:prstGeom prst="rect">
            <a:avLst/>
          </a:prstGeom>
        </p:spPr>
      </p:pic>
      <p:pic>
        <p:nvPicPr>
          <p:cNvPr id="4" name="Picture 3" descr="A screenshot of a pie chart&#10;&#10;Description automatically generated">
            <a:extLst>
              <a:ext uri="{FF2B5EF4-FFF2-40B4-BE49-F238E27FC236}">
                <a16:creationId xmlns:a16="http://schemas.microsoft.com/office/drawing/2014/main" id="{3F0664B6-7B80-4B2F-4FB8-09E123E32D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6938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251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BE94A-139D-95D9-9133-AF7AEFED32E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314575" y="132916"/>
            <a:ext cx="7562850" cy="4351338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https://100.datavizproject.com/</a:t>
            </a:r>
            <a:endParaRPr lang="en-US" dirty="0"/>
          </a:p>
        </p:txBody>
      </p:sp>
      <p:pic>
        <p:nvPicPr>
          <p:cNvPr id="25" name="Picture 24" descr="A graph of steps with numbers and a line&#10;&#10;Description automatically generated with medium confidence">
            <a:extLst>
              <a:ext uri="{FF2B5EF4-FFF2-40B4-BE49-F238E27FC236}">
                <a16:creationId xmlns:a16="http://schemas.microsoft.com/office/drawing/2014/main" id="{B9353752-06DE-6AA3-C1E0-4A6E8F14A7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006" y="4075132"/>
            <a:ext cx="2649952" cy="2649952"/>
          </a:xfrm>
          <a:prstGeom prst="rect">
            <a:avLst/>
          </a:prstGeom>
        </p:spPr>
      </p:pic>
      <p:pic>
        <p:nvPicPr>
          <p:cNvPr id="6" name="Picture 5" descr="A number of flags and numbers&#10;&#10;Description automatically generated with medium confidence">
            <a:extLst>
              <a:ext uri="{FF2B5EF4-FFF2-40B4-BE49-F238E27FC236}">
                <a16:creationId xmlns:a16="http://schemas.microsoft.com/office/drawing/2014/main" id="{16FE9F40-527B-1A44-E054-C229D30B90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7839" y="0"/>
            <a:ext cx="6858000" cy="6858000"/>
          </a:xfrm>
          <a:prstGeom prst="rect">
            <a:avLst/>
          </a:prstGeom>
        </p:spPr>
      </p:pic>
      <p:pic>
        <p:nvPicPr>
          <p:cNvPr id="8" name="Picture 7" descr="A diagram of a triangle with numbers and symbols&#10;&#10;Description automatically generated">
            <a:extLst>
              <a:ext uri="{FF2B5EF4-FFF2-40B4-BE49-F238E27FC236}">
                <a16:creationId xmlns:a16="http://schemas.microsoft.com/office/drawing/2014/main" id="{E21DC548-3BC0-E59C-9AC6-AEE61BE32E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0049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17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BE94A-139D-95D9-9133-AF7AEFED32E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314575" y="132916"/>
            <a:ext cx="7562850" cy="4351338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https://100.datavizproject.com/</a:t>
            </a:r>
            <a:endParaRPr lang="en-US" dirty="0"/>
          </a:p>
        </p:txBody>
      </p:sp>
      <p:pic>
        <p:nvPicPr>
          <p:cNvPr id="4" name="Picture 3" descr="A diagram of numbers and a number of years&#10;&#10;Description automatically generated with medium confidence">
            <a:extLst>
              <a:ext uri="{FF2B5EF4-FFF2-40B4-BE49-F238E27FC236}">
                <a16:creationId xmlns:a16="http://schemas.microsoft.com/office/drawing/2014/main" id="{9B35E0E9-1E4D-1A5E-7532-2A00F2657A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pic>
        <p:nvPicPr>
          <p:cNvPr id="7" name="Picture 6" descr="A map of europe with red and blue cylinders&#10;&#10;Description automatically generated">
            <a:extLst>
              <a:ext uri="{FF2B5EF4-FFF2-40B4-BE49-F238E27FC236}">
                <a16:creationId xmlns:a16="http://schemas.microsoft.com/office/drawing/2014/main" id="{9F40C107-DB93-DA49-CB39-34AEED6937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14425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735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ircle with arrows and dots&#10;&#10;Description automatically generated with medium confidence">
            <a:extLst>
              <a:ext uri="{FF2B5EF4-FFF2-40B4-BE49-F238E27FC236}">
                <a16:creationId xmlns:a16="http://schemas.microsoft.com/office/drawing/2014/main" id="{444DCB00-FA76-216F-5978-8025CB5381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034" y="0"/>
            <a:ext cx="6858000" cy="6858000"/>
          </a:xfrm>
          <a:prstGeom prst="rect">
            <a:avLst/>
          </a:prstGeom>
        </p:spPr>
      </p:pic>
      <p:pic>
        <p:nvPicPr>
          <p:cNvPr id="5" name="Picture 4" descr="A group of different colored cubes&#10;&#10;Description automatically generated">
            <a:extLst>
              <a:ext uri="{FF2B5EF4-FFF2-40B4-BE49-F238E27FC236}">
                <a16:creationId xmlns:a16="http://schemas.microsoft.com/office/drawing/2014/main" id="{F13CC020-1301-149E-B15A-B5890F1E22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851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57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71D79-F3E8-75AA-A91A-63AF8C3B9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Category v. Number Data Mapping Schemes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B5C18-5B0C-F46C-825C-C693CC6077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85661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Category (West/East/North)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BEAE84-5B75-546A-46F8-E21E803F1FB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Number (Revenue)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36B6E8-3EC1-E09C-D446-9EEE37E28E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442"/>
          <a:stretch>
            <a:fillRect/>
          </a:stretch>
        </p:blipFill>
        <p:spPr>
          <a:xfrm>
            <a:off x="5674599" y="2575931"/>
            <a:ext cx="2944627" cy="39186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435D31-1FB1-FBAC-57EE-94A2EBDB29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55"/>
          <a:stretch>
            <a:fillRect/>
          </a:stretch>
        </p:blipFill>
        <p:spPr>
          <a:xfrm>
            <a:off x="8771626" y="2575931"/>
            <a:ext cx="2794558" cy="3916944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A0CCE49E-39F6-2400-A3D0-F49852EF0E25}"/>
              </a:ext>
            </a:extLst>
          </p:cNvPr>
          <p:cNvSpPr/>
          <p:nvPr/>
        </p:nvSpPr>
        <p:spPr>
          <a:xfrm>
            <a:off x="2037200" y="2817177"/>
            <a:ext cx="822960" cy="82296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A9071E1-91D4-13F0-A0FB-158EEDEBFEA5}"/>
              </a:ext>
            </a:extLst>
          </p:cNvPr>
          <p:cNvSpPr/>
          <p:nvPr/>
        </p:nvSpPr>
        <p:spPr>
          <a:xfrm>
            <a:off x="3866000" y="2817177"/>
            <a:ext cx="822960" cy="8229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905F062-2B53-5D06-EEA5-4AC379EAD61A}"/>
              </a:ext>
            </a:extLst>
          </p:cNvPr>
          <p:cNvSpPr/>
          <p:nvPr/>
        </p:nvSpPr>
        <p:spPr>
          <a:xfrm>
            <a:off x="2951600" y="2817177"/>
            <a:ext cx="822960" cy="82296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CD4530-6C07-3EC7-7F0E-AC8E393FD9D4}"/>
              </a:ext>
            </a:extLst>
          </p:cNvPr>
          <p:cNvSpPr txBox="1"/>
          <p:nvPr/>
        </p:nvSpPr>
        <p:spPr>
          <a:xfrm>
            <a:off x="396240" y="2997200"/>
            <a:ext cx="111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Color Hue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337B27-C761-B8F4-F40E-5A993A40F837}"/>
              </a:ext>
            </a:extLst>
          </p:cNvPr>
          <p:cNvSpPr txBox="1"/>
          <p:nvPr/>
        </p:nvSpPr>
        <p:spPr>
          <a:xfrm>
            <a:off x="396240" y="4108212"/>
            <a:ext cx="760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Shape</a:t>
            </a:r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33EC1C47-D06F-82C9-6C52-8762CDF47C20}"/>
              </a:ext>
            </a:extLst>
          </p:cNvPr>
          <p:cNvSpPr/>
          <p:nvPr/>
        </p:nvSpPr>
        <p:spPr>
          <a:xfrm>
            <a:off x="3008197" y="3958112"/>
            <a:ext cx="822960" cy="82296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&quot;No&quot; Symbol 16">
            <a:extLst>
              <a:ext uri="{FF2B5EF4-FFF2-40B4-BE49-F238E27FC236}">
                <a16:creationId xmlns:a16="http://schemas.microsoft.com/office/drawing/2014/main" id="{D820F257-E292-7A27-E2C3-387E90438658}"/>
              </a:ext>
            </a:extLst>
          </p:cNvPr>
          <p:cNvSpPr/>
          <p:nvPr/>
        </p:nvSpPr>
        <p:spPr>
          <a:xfrm>
            <a:off x="3912496" y="3958112"/>
            <a:ext cx="822960" cy="822960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Heart 17">
            <a:extLst>
              <a:ext uri="{FF2B5EF4-FFF2-40B4-BE49-F238E27FC236}">
                <a16:creationId xmlns:a16="http://schemas.microsoft.com/office/drawing/2014/main" id="{1603DB3F-FA24-C931-0270-83061E698D03}"/>
              </a:ext>
            </a:extLst>
          </p:cNvPr>
          <p:cNvSpPr/>
          <p:nvPr/>
        </p:nvSpPr>
        <p:spPr>
          <a:xfrm>
            <a:off x="2016638" y="3958112"/>
            <a:ext cx="822960" cy="822960"/>
          </a:xfrm>
          <a:prstGeom prst="hear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08AD84B-166C-1D8C-6DB5-CE12EA20100D}"/>
              </a:ext>
            </a:extLst>
          </p:cNvPr>
          <p:cNvSpPr/>
          <p:nvPr/>
        </p:nvSpPr>
        <p:spPr>
          <a:xfrm>
            <a:off x="2016638" y="5191271"/>
            <a:ext cx="822960" cy="822960"/>
          </a:xfrm>
          <a:prstGeom prst="ellipse">
            <a:avLst/>
          </a:prstGeom>
          <a:pattFill prst="solidDmnd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F13CFEC-DF8E-F03A-C06F-EF3B9CD39012}"/>
              </a:ext>
            </a:extLst>
          </p:cNvPr>
          <p:cNvSpPr/>
          <p:nvPr/>
        </p:nvSpPr>
        <p:spPr>
          <a:xfrm>
            <a:off x="3972198" y="5191271"/>
            <a:ext cx="822960" cy="822960"/>
          </a:xfrm>
          <a:prstGeom prst="ellipse">
            <a:avLst/>
          </a:prstGeom>
          <a:pattFill prst="lt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C64B997-E4D8-BF7C-FEDF-2D72BABE83F4}"/>
              </a:ext>
            </a:extLst>
          </p:cNvPr>
          <p:cNvSpPr/>
          <p:nvPr/>
        </p:nvSpPr>
        <p:spPr>
          <a:xfrm>
            <a:off x="2946278" y="5191271"/>
            <a:ext cx="822960" cy="822960"/>
          </a:xfrm>
          <a:prstGeom prst="ellipse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15D7FA-DA30-0722-E879-054B3EB3B625}"/>
              </a:ext>
            </a:extLst>
          </p:cNvPr>
          <p:cNvSpPr txBox="1"/>
          <p:nvPr/>
        </p:nvSpPr>
        <p:spPr>
          <a:xfrm>
            <a:off x="448246" y="5337118"/>
            <a:ext cx="879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Texture</a:t>
            </a:r>
          </a:p>
        </p:txBody>
      </p:sp>
    </p:spTree>
    <p:extLst>
      <p:ext uri="{BB962C8B-B14F-4D97-AF65-F5344CB8AC3E}">
        <p14:creationId xmlns:p14="http://schemas.microsoft.com/office/powerpoint/2010/main" val="559587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Visualizing Gold Production by Country">
            <a:extLst>
              <a:ext uri="{FF2B5EF4-FFF2-40B4-BE49-F238E27FC236}">
                <a16:creationId xmlns:a16="http://schemas.microsoft.com/office/drawing/2014/main" id="{BC148ED0-A9F5-9ECD-47ED-AF18ECCD41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3809" y="0"/>
            <a:ext cx="54864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6F1674-7169-4B43-9D9C-D25C5C8C4C2D}"/>
              </a:ext>
            </a:extLst>
          </p:cNvPr>
          <p:cNvSpPr txBox="1"/>
          <p:nvPr/>
        </p:nvSpPr>
        <p:spPr>
          <a:xfrm rot="5400000">
            <a:off x="-2647328" y="2797467"/>
            <a:ext cx="61001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www.voronoiapp.com</a:t>
            </a:r>
            <a:r>
              <a:rPr lang="en-US" dirty="0"/>
              <a:t>/natural-resources/Visualizing-Gold-Production-by-Country-6515</a:t>
            </a:r>
          </a:p>
        </p:txBody>
      </p:sp>
    </p:spTree>
    <p:extLst>
      <p:ext uri="{BB962C8B-B14F-4D97-AF65-F5344CB8AC3E}">
        <p14:creationId xmlns:p14="http://schemas.microsoft.com/office/powerpoint/2010/main" val="4258530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0885A-2F47-DB60-5238-C788AF2C2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Visualizing Gold Production by Country">
            <a:extLst>
              <a:ext uri="{FF2B5EF4-FFF2-40B4-BE49-F238E27FC236}">
                <a16:creationId xmlns:a16="http://schemas.microsoft.com/office/drawing/2014/main" id="{D64F9B85-6333-D51D-77D3-7F2C4F7ECB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48" t="27692" b="38755"/>
          <a:stretch>
            <a:fillRect/>
          </a:stretch>
        </p:blipFill>
        <p:spPr bwMode="auto">
          <a:xfrm>
            <a:off x="2552282" y="-1"/>
            <a:ext cx="7164474" cy="6744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0A918F-B284-61B5-AEAA-0C7D4E4E3C1E}"/>
              </a:ext>
            </a:extLst>
          </p:cNvPr>
          <p:cNvSpPr txBox="1"/>
          <p:nvPr/>
        </p:nvSpPr>
        <p:spPr>
          <a:xfrm rot="5400000">
            <a:off x="-2647328" y="2797467"/>
            <a:ext cx="61001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www.voronoiapp.com</a:t>
            </a:r>
            <a:r>
              <a:rPr lang="en-US" dirty="0"/>
              <a:t>/natural-resources/Visualizing-Gold-Production-by-Country-6515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D64813-90D1-A431-C809-48F75F3AAC12}"/>
              </a:ext>
            </a:extLst>
          </p:cNvPr>
          <p:cNvSpPr/>
          <p:nvPr/>
        </p:nvSpPr>
        <p:spPr>
          <a:xfrm>
            <a:off x="3396343" y="904352"/>
            <a:ext cx="351692" cy="2411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222190-F47B-E877-8296-91FF0AE974BB}"/>
              </a:ext>
            </a:extLst>
          </p:cNvPr>
          <p:cNvSpPr/>
          <p:nvPr/>
        </p:nvSpPr>
        <p:spPr>
          <a:xfrm>
            <a:off x="3920532" y="1217526"/>
            <a:ext cx="351692" cy="2411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53C109-2793-A31F-41A6-46E9AE2C914E}"/>
              </a:ext>
            </a:extLst>
          </p:cNvPr>
          <p:cNvSpPr/>
          <p:nvPr/>
        </p:nvSpPr>
        <p:spPr>
          <a:xfrm>
            <a:off x="3044651" y="1689799"/>
            <a:ext cx="351692" cy="2411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8FAB78-BF27-D279-1A31-36657D4CED14}"/>
              </a:ext>
            </a:extLst>
          </p:cNvPr>
          <p:cNvSpPr/>
          <p:nvPr/>
        </p:nvSpPr>
        <p:spPr>
          <a:xfrm>
            <a:off x="5398545" y="904352"/>
            <a:ext cx="459643" cy="2411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E32814-73B9-8F83-AE69-01D2681964EB}"/>
              </a:ext>
            </a:extLst>
          </p:cNvPr>
          <p:cNvSpPr/>
          <p:nvPr/>
        </p:nvSpPr>
        <p:spPr>
          <a:xfrm>
            <a:off x="3225521" y="2835312"/>
            <a:ext cx="492369" cy="2853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D103F4-ADA1-6513-CE9C-F9003846A589}"/>
              </a:ext>
            </a:extLst>
          </p:cNvPr>
          <p:cNvSpPr/>
          <p:nvPr/>
        </p:nvSpPr>
        <p:spPr>
          <a:xfrm>
            <a:off x="5055995" y="2210637"/>
            <a:ext cx="681614" cy="3791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5CB20A-8A54-58F9-3F27-344FD69AF882}"/>
              </a:ext>
            </a:extLst>
          </p:cNvPr>
          <p:cNvSpPr/>
          <p:nvPr/>
        </p:nvSpPr>
        <p:spPr>
          <a:xfrm>
            <a:off x="2475244" y="3942305"/>
            <a:ext cx="492369" cy="2853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84B7F8-9427-D7C8-AD8C-54D91BE26727}"/>
              </a:ext>
            </a:extLst>
          </p:cNvPr>
          <p:cNvSpPr/>
          <p:nvPr/>
        </p:nvSpPr>
        <p:spPr>
          <a:xfrm>
            <a:off x="5365819" y="4125597"/>
            <a:ext cx="492369" cy="2853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424132-4051-A7F2-6D39-F0428C879647}"/>
              </a:ext>
            </a:extLst>
          </p:cNvPr>
          <p:cNvSpPr/>
          <p:nvPr/>
        </p:nvSpPr>
        <p:spPr>
          <a:xfrm>
            <a:off x="6240025" y="3112740"/>
            <a:ext cx="612951" cy="31625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816D23-91AF-1DAD-7AB1-2E48CC6D08D7}"/>
              </a:ext>
            </a:extLst>
          </p:cNvPr>
          <p:cNvSpPr/>
          <p:nvPr/>
        </p:nvSpPr>
        <p:spPr>
          <a:xfrm>
            <a:off x="7537937" y="1511439"/>
            <a:ext cx="822292" cy="53842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4C981C-79A6-4776-4BD4-FA82F1B3085D}"/>
              </a:ext>
            </a:extLst>
          </p:cNvPr>
          <p:cNvSpPr/>
          <p:nvPr/>
        </p:nvSpPr>
        <p:spPr>
          <a:xfrm>
            <a:off x="8162610" y="3159786"/>
            <a:ext cx="822292" cy="53842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157B3B-570E-9B85-EE5C-773362ACBEBE}"/>
              </a:ext>
            </a:extLst>
          </p:cNvPr>
          <p:cNvSpPr/>
          <p:nvPr/>
        </p:nvSpPr>
        <p:spPr>
          <a:xfrm>
            <a:off x="2552281" y="5604052"/>
            <a:ext cx="2846263" cy="114059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2139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2AB15-2964-1A85-5464-000DBD05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Visualizing Gold Production by Country">
            <a:extLst>
              <a:ext uri="{FF2B5EF4-FFF2-40B4-BE49-F238E27FC236}">
                <a16:creationId xmlns:a16="http://schemas.microsoft.com/office/drawing/2014/main" id="{7F291D4B-5F9E-E653-65A8-E0D5DF8B9D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48" t="27692" b="38755"/>
          <a:stretch>
            <a:fillRect/>
          </a:stretch>
        </p:blipFill>
        <p:spPr bwMode="auto">
          <a:xfrm>
            <a:off x="2552282" y="-1"/>
            <a:ext cx="7164474" cy="6744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69690E-4D97-CDFD-F80F-E38D9D478F2E}"/>
              </a:ext>
            </a:extLst>
          </p:cNvPr>
          <p:cNvSpPr txBox="1"/>
          <p:nvPr/>
        </p:nvSpPr>
        <p:spPr>
          <a:xfrm rot="5400000">
            <a:off x="-2647328" y="2797467"/>
            <a:ext cx="61001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www.voronoiapp.com</a:t>
            </a:r>
            <a:r>
              <a:rPr lang="en-US" dirty="0"/>
              <a:t>/natural-resources/Visualizing-Gold-Production-by-Country-6515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A3FBA0-59B9-D010-D376-CBD0031650E1}"/>
              </a:ext>
            </a:extLst>
          </p:cNvPr>
          <p:cNvSpPr/>
          <p:nvPr/>
        </p:nvSpPr>
        <p:spPr>
          <a:xfrm>
            <a:off x="3396343" y="904352"/>
            <a:ext cx="351692" cy="2411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BE2A37-0D27-5B17-EB10-D11D6B65D163}"/>
              </a:ext>
            </a:extLst>
          </p:cNvPr>
          <p:cNvSpPr/>
          <p:nvPr/>
        </p:nvSpPr>
        <p:spPr>
          <a:xfrm>
            <a:off x="3044651" y="1689799"/>
            <a:ext cx="351692" cy="2411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3CF452-C7FD-5E64-F020-48E6BBBD2279}"/>
              </a:ext>
            </a:extLst>
          </p:cNvPr>
          <p:cNvSpPr/>
          <p:nvPr/>
        </p:nvSpPr>
        <p:spPr>
          <a:xfrm>
            <a:off x="5398545" y="904352"/>
            <a:ext cx="459643" cy="2411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C00851-9DB7-AB6A-3166-174F311099C1}"/>
              </a:ext>
            </a:extLst>
          </p:cNvPr>
          <p:cNvSpPr/>
          <p:nvPr/>
        </p:nvSpPr>
        <p:spPr>
          <a:xfrm>
            <a:off x="3225521" y="2835312"/>
            <a:ext cx="492369" cy="28532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9937AC-4FC6-D300-7A6A-602D67284885}"/>
              </a:ext>
            </a:extLst>
          </p:cNvPr>
          <p:cNvSpPr/>
          <p:nvPr/>
        </p:nvSpPr>
        <p:spPr>
          <a:xfrm>
            <a:off x="5055995" y="2210637"/>
            <a:ext cx="681614" cy="3791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B5ECEE-CFBA-FAD1-60C7-6D1274533763}"/>
              </a:ext>
            </a:extLst>
          </p:cNvPr>
          <p:cNvSpPr/>
          <p:nvPr/>
        </p:nvSpPr>
        <p:spPr>
          <a:xfrm>
            <a:off x="2475244" y="3942305"/>
            <a:ext cx="492369" cy="2853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D8D0CD-7709-99DC-FA83-3F04DC764AE0}"/>
              </a:ext>
            </a:extLst>
          </p:cNvPr>
          <p:cNvSpPr/>
          <p:nvPr/>
        </p:nvSpPr>
        <p:spPr>
          <a:xfrm>
            <a:off x="5365819" y="4125597"/>
            <a:ext cx="492369" cy="2853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525B5D-1A3E-2184-0AF0-933ECD5403CB}"/>
              </a:ext>
            </a:extLst>
          </p:cNvPr>
          <p:cNvSpPr/>
          <p:nvPr/>
        </p:nvSpPr>
        <p:spPr>
          <a:xfrm>
            <a:off x="6240025" y="3112740"/>
            <a:ext cx="612951" cy="31625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F276F6-EBE6-1996-C641-6DDA8E11AADE}"/>
              </a:ext>
            </a:extLst>
          </p:cNvPr>
          <p:cNvSpPr/>
          <p:nvPr/>
        </p:nvSpPr>
        <p:spPr>
          <a:xfrm>
            <a:off x="7537937" y="1511439"/>
            <a:ext cx="822292" cy="53842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83F78A-819B-E639-4EA1-0C68664B7783}"/>
              </a:ext>
            </a:extLst>
          </p:cNvPr>
          <p:cNvSpPr/>
          <p:nvPr/>
        </p:nvSpPr>
        <p:spPr>
          <a:xfrm>
            <a:off x="8162610" y="3159786"/>
            <a:ext cx="822292" cy="53842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2E4DC8-8EDF-67D0-C621-D3D7C0EC02B3}"/>
              </a:ext>
            </a:extLst>
          </p:cNvPr>
          <p:cNvSpPr/>
          <p:nvPr/>
        </p:nvSpPr>
        <p:spPr>
          <a:xfrm>
            <a:off x="2552281" y="5604052"/>
            <a:ext cx="2846263" cy="114059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7422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AC418-8E09-EE03-953E-20B1A0712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Visualizing Gold Production by Country">
            <a:extLst>
              <a:ext uri="{FF2B5EF4-FFF2-40B4-BE49-F238E27FC236}">
                <a16:creationId xmlns:a16="http://schemas.microsoft.com/office/drawing/2014/main" id="{05354A2B-DF03-C371-6224-0DD06B1943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48" t="27692" b="38755"/>
          <a:stretch>
            <a:fillRect/>
          </a:stretch>
        </p:blipFill>
        <p:spPr bwMode="auto">
          <a:xfrm>
            <a:off x="2552282" y="-1"/>
            <a:ext cx="7164474" cy="6744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06F76B-A466-2043-17C8-A9522CFCE68C}"/>
              </a:ext>
            </a:extLst>
          </p:cNvPr>
          <p:cNvSpPr txBox="1"/>
          <p:nvPr/>
        </p:nvSpPr>
        <p:spPr>
          <a:xfrm rot="5400000">
            <a:off x="-2647328" y="2797467"/>
            <a:ext cx="61001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www.voronoiapp.com</a:t>
            </a:r>
            <a:r>
              <a:rPr lang="en-US" dirty="0"/>
              <a:t>/natural-resources/Visualizing-Gold-Production-by-Country-6515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2DBF34-8069-C30A-72E6-C547C64519EA}"/>
              </a:ext>
            </a:extLst>
          </p:cNvPr>
          <p:cNvSpPr/>
          <p:nvPr/>
        </p:nvSpPr>
        <p:spPr>
          <a:xfrm>
            <a:off x="3396343" y="904352"/>
            <a:ext cx="351692" cy="2411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39C0E3-F768-B849-2D4C-194AA5A46981}"/>
              </a:ext>
            </a:extLst>
          </p:cNvPr>
          <p:cNvSpPr/>
          <p:nvPr/>
        </p:nvSpPr>
        <p:spPr>
          <a:xfrm>
            <a:off x="3044651" y="1689799"/>
            <a:ext cx="351692" cy="2411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65B274-7614-175D-C588-A678FD8C7182}"/>
              </a:ext>
            </a:extLst>
          </p:cNvPr>
          <p:cNvSpPr/>
          <p:nvPr/>
        </p:nvSpPr>
        <p:spPr>
          <a:xfrm>
            <a:off x="5398545" y="904352"/>
            <a:ext cx="459643" cy="2411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C6EB59-651B-C7A4-3C95-C733899C8A12}"/>
              </a:ext>
            </a:extLst>
          </p:cNvPr>
          <p:cNvSpPr/>
          <p:nvPr/>
        </p:nvSpPr>
        <p:spPr>
          <a:xfrm>
            <a:off x="5055995" y="2210637"/>
            <a:ext cx="681614" cy="3791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0DCDA9-5E51-B08C-4A75-512F0A27D8AE}"/>
              </a:ext>
            </a:extLst>
          </p:cNvPr>
          <p:cNvSpPr/>
          <p:nvPr/>
        </p:nvSpPr>
        <p:spPr>
          <a:xfrm>
            <a:off x="2475244" y="3942305"/>
            <a:ext cx="492369" cy="2853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99AD9C-76C0-65F6-7117-9BF1C3C22F06}"/>
              </a:ext>
            </a:extLst>
          </p:cNvPr>
          <p:cNvSpPr/>
          <p:nvPr/>
        </p:nvSpPr>
        <p:spPr>
          <a:xfrm>
            <a:off x="5365819" y="4125597"/>
            <a:ext cx="492369" cy="2853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BC208-7FB6-AA39-4D2A-B581766835D4}"/>
              </a:ext>
            </a:extLst>
          </p:cNvPr>
          <p:cNvSpPr/>
          <p:nvPr/>
        </p:nvSpPr>
        <p:spPr>
          <a:xfrm>
            <a:off x="6240025" y="3112740"/>
            <a:ext cx="612951" cy="31625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B814D6-F4B3-235C-4A63-9C501621C9A4}"/>
              </a:ext>
            </a:extLst>
          </p:cNvPr>
          <p:cNvSpPr/>
          <p:nvPr/>
        </p:nvSpPr>
        <p:spPr>
          <a:xfrm>
            <a:off x="7537937" y="1511439"/>
            <a:ext cx="822292" cy="53842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F72D5C-FBD8-6091-A13B-34E47CD925D2}"/>
              </a:ext>
            </a:extLst>
          </p:cNvPr>
          <p:cNvSpPr/>
          <p:nvPr/>
        </p:nvSpPr>
        <p:spPr>
          <a:xfrm>
            <a:off x="8162610" y="3159786"/>
            <a:ext cx="822292" cy="53842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B41B0B-2E28-D8E3-F5A3-155FA538393E}"/>
              </a:ext>
            </a:extLst>
          </p:cNvPr>
          <p:cNvSpPr/>
          <p:nvPr/>
        </p:nvSpPr>
        <p:spPr>
          <a:xfrm>
            <a:off x="2552281" y="5604052"/>
            <a:ext cx="2846263" cy="114059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9110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C9247-1499-338A-2AE0-922384BF6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Visualizing Gold Production by Country">
            <a:extLst>
              <a:ext uri="{FF2B5EF4-FFF2-40B4-BE49-F238E27FC236}">
                <a16:creationId xmlns:a16="http://schemas.microsoft.com/office/drawing/2014/main" id="{45D68EAC-402E-EC75-4CB7-63D57D2FCA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48" t="27692" b="38755"/>
          <a:stretch>
            <a:fillRect/>
          </a:stretch>
        </p:blipFill>
        <p:spPr bwMode="auto">
          <a:xfrm>
            <a:off x="2552282" y="-1"/>
            <a:ext cx="7164474" cy="6744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004B22-F173-9F8E-FC4D-426B7E4E733E}"/>
              </a:ext>
            </a:extLst>
          </p:cNvPr>
          <p:cNvSpPr txBox="1"/>
          <p:nvPr/>
        </p:nvSpPr>
        <p:spPr>
          <a:xfrm rot="5400000">
            <a:off x="-2647328" y="2797467"/>
            <a:ext cx="61001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www.voronoiapp.com</a:t>
            </a:r>
            <a:r>
              <a:rPr lang="en-US" dirty="0"/>
              <a:t>/natural-resources/Visualizing-Gold-Production-by-Country-6515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7294D4-F457-7E86-8E07-8BA9BCEE6A5C}"/>
              </a:ext>
            </a:extLst>
          </p:cNvPr>
          <p:cNvSpPr/>
          <p:nvPr/>
        </p:nvSpPr>
        <p:spPr>
          <a:xfrm>
            <a:off x="3396343" y="904352"/>
            <a:ext cx="351692" cy="2411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D814E1-94DD-E58F-7580-1BB023BDC6EC}"/>
              </a:ext>
            </a:extLst>
          </p:cNvPr>
          <p:cNvSpPr/>
          <p:nvPr/>
        </p:nvSpPr>
        <p:spPr>
          <a:xfrm>
            <a:off x="3044651" y="1689799"/>
            <a:ext cx="351692" cy="2411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399900-F604-7B20-EAD4-680DC4E68164}"/>
              </a:ext>
            </a:extLst>
          </p:cNvPr>
          <p:cNvSpPr/>
          <p:nvPr/>
        </p:nvSpPr>
        <p:spPr>
          <a:xfrm>
            <a:off x="5398545" y="904352"/>
            <a:ext cx="459643" cy="2411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B6EED7-82B8-464B-4FC9-9795654A82B2}"/>
              </a:ext>
            </a:extLst>
          </p:cNvPr>
          <p:cNvSpPr/>
          <p:nvPr/>
        </p:nvSpPr>
        <p:spPr>
          <a:xfrm>
            <a:off x="5055995" y="2210637"/>
            <a:ext cx="681614" cy="3791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CE13C4-0EBC-C3EF-C002-8EBED9DF9D11}"/>
              </a:ext>
            </a:extLst>
          </p:cNvPr>
          <p:cNvSpPr/>
          <p:nvPr/>
        </p:nvSpPr>
        <p:spPr>
          <a:xfrm>
            <a:off x="2475244" y="3942305"/>
            <a:ext cx="492369" cy="2853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3D01C8-D89E-79E5-E683-CB20CA878C25}"/>
              </a:ext>
            </a:extLst>
          </p:cNvPr>
          <p:cNvSpPr/>
          <p:nvPr/>
        </p:nvSpPr>
        <p:spPr>
          <a:xfrm>
            <a:off x="5365819" y="4125597"/>
            <a:ext cx="492369" cy="2853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7235E1-076D-1130-8824-823857A180EA}"/>
              </a:ext>
            </a:extLst>
          </p:cNvPr>
          <p:cNvSpPr/>
          <p:nvPr/>
        </p:nvSpPr>
        <p:spPr>
          <a:xfrm>
            <a:off x="7537937" y="1511439"/>
            <a:ext cx="822292" cy="53842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1E0F2E-C6F7-6FDF-6D02-945B9959080B}"/>
              </a:ext>
            </a:extLst>
          </p:cNvPr>
          <p:cNvSpPr/>
          <p:nvPr/>
        </p:nvSpPr>
        <p:spPr>
          <a:xfrm>
            <a:off x="8162610" y="3159786"/>
            <a:ext cx="822292" cy="53842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912C2-DF56-7F9A-E388-E22BB9112B7A}"/>
              </a:ext>
            </a:extLst>
          </p:cNvPr>
          <p:cNvSpPr/>
          <p:nvPr/>
        </p:nvSpPr>
        <p:spPr>
          <a:xfrm>
            <a:off x="2552281" y="5604052"/>
            <a:ext cx="2846263" cy="114059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9646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CD83B-3BCF-90C9-876E-329AC8BA0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Visualizing Gold Production by Country">
            <a:extLst>
              <a:ext uri="{FF2B5EF4-FFF2-40B4-BE49-F238E27FC236}">
                <a16:creationId xmlns:a16="http://schemas.microsoft.com/office/drawing/2014/main" id="{B0DD57AC-C87F-629B-7898-00D45E41EF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48" t="27692" b="38755"/>
          <a:stretch>
            <a:fillRect/>
          </a:stretch>
        </p:blipFill>
        <p:spPr bwMode="auto">
          <a:xfrm>
            <a:off x="2552282" y="-1"/>
            <a:ext cx="7164474" cy="6744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74B0E3-AA88-D73F-2167-32596D7387CE}"/>
              </a:ext>
            </a:extLst>
          </p:cNvPr>
          <p:cNvSpPr txBox="1"/>
          <p:nvPr/>
        </p:nvSpPr>
        <p:spPr>
          <a:xfrm rot="5400000">
            <a:off x="-2647328" y="2797467"/>
            <a:ext cx="61001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www.voronoiapp.com</a:t>
            </a:r>
            <a:r>
              <a:rPr lang="en-US" dirty="0"/>
              <a:t>/natural-resources/Visualizing-Gold-Production-by-Country-6515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5062AA-04BE-90C3-58F9-A56D40FB92EA}"/>
              </a:ext>
            </a:extLst>
          </p:cNvPr>
          <p:cNvSpPr/>
          <p:nvPr/>
        </p:nvSpPr>
        <p:spPr>
          <a:xfrm>
            <a:off x="3396343" y="904352"/>
            <a:ext cx="351692" cy="2411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40CC0E-6E0A-C6AF-4F2F-F47AB2901220}"/>
              </a:ext>
            </a:extLst>
          </p:cNvPr>
          <p:cNvSpPr/>
          <p:nvPr/>
        </p:nvSpPr>
        <p:spPr>
          <a:xfrm>
            <a:off x="3044651" y="1689799"/>
            <a:ext cx="351692" cy="2411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5CFBD9-87CD-E757-85D3-9195E7333747}"/>
              </a:ext>
            </a:extLst>
          </p:cNvPr>
          <p:cNvSpPr/>
          <p:nvPr/>
        </p:nvSpPr>
        <p:spPr>
          <a:xfrm>
            <a:off x="5398545" y="904352"/>
            <a:ext cx="459643" cy="2411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6FF51A-23EE-3BC8-09F1-F9409EC268B1}"/>
              </a:ext>
            </a:extLst>
          </p:cNvPr>
          <p:cNvSpPr/>
          <p:nvPr/>
        </p:nvSpPr>
        <p:spPr>
          <a:xfrm>
            <a:off x="5055995" y="2210637"/>
            <a:ext cx="681614" cy="3791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6E7614-5BC4-2795-9FFE-0902C320ADCE}"/>
              </a:ext>
            </a:extLst>
          </p:cNvPr>
          <p:cNvSpPr/>
          <p:nvPr/>
        </p:nvSpPr>
        <p:spPr>
          <a:xfrm>
            <a:off x="2475244" y="3942305"/>
            <a:ext cx="492369" cy="2853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BA364B-7947-6C91-05DD-2CC62FC985C5}"/>
              </a:ext>
            </a:extLst>
          </p:cNvPr>
          <p:cNvSpPr/>
          <p:nvPr/>
        </p:nvSpPr>
        <p:spPr>
          <a:xfrm>
            <a:off x="5365819" y="4125597"/>
            <a:ext cx="492369" cy="2853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4730FA-0454-B693-A889-4E24C31D3908}"/>
              </a:ext>
            </a:extLst>
          </p:cNvPr>
          <p:cNvSpPr/>
          <p:nvPr/>
        </p:nvSpPr>
        <p:spPr>
          <a:xfrm>
            <a:off x="8162610" y="3159786"/>
            <a:ext cx="822292" cy="53842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24A100-A9CB-387E-0AD0-C686E1C523FC}"/>
              </a:ext>
            </a:extLst>
          </p:cNvPr>
          <p:cNvSpPr/>
          <p:nvPr/>
        </p:nvSpPr>
        <p:spPr>
          <a:xfrm>
            <a:off x="2552281" y="5604052"/>
            <a:ext cx="2846263" cy="114059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7544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7465A9-2225-8EB1-38EA-3A6ED7A26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accuracy?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6DC97A-A34D-2BA0-1EC0-2F9ADE6793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https://forms.gle/sVy5j3SyriUgonV4A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485416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4AE8136-3445-EFAC-601D-DF97CDC40D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2785058"/>
              </p:ext>
            </p:extLst>
          </p:nvPr>
        </p:nvGraphicFramePr>
        <p:xfrm>
          <a:off x="2106283" y="905772"/>
          <a:ext cx="7979434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340606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19A3D53-41BB-D6A2-8FDD-0807F68966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1102319"/>
              </p:ext>
            </p:extLst>
          </p:nvPr>
        </p:nvGraphicFramePr>
        <p:xfrm>
          <a:off x="2645434" y="572703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307055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C7398235-6548-0A94-05E2-B359F935CF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8787223"/>
              </p:ext>
            </p:extLst>
          </p:nvPr>
        </p:nvGraphicFramePr>
        <p:xfrm>
          <a:off x="2438400" y="971424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468540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23F9D982-F38B-465B-96F1-AFC6D84BF0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9481874"/>
              </p:ext>
            </p:extLst>
          </p:nvPr>
        </p:nvGraphicFramePr>
        <p:xfrm>
          <a:off x="2438400" y="1067267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795132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64BD4C2C-1975-593A-75EF-DB1CF90443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5051385"/>
              </p:ext>
            </p:extLst>
          </p:nvPr>
        </p:nvGraphicFramePr>
        <p:xfrm>
          <a:off x="2438400" y="970472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676274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2" name="Chart 1">
                <a:extLst>
                  <a:ext uri="{FF2B5EF4-FFF2-40B4-BE49-F238E27FC236}">
                    <a16:creationId xmlns:a16="http://schemas.microsoft.com/office/drawing/2014/main" id="{02869869-5246-F55B-937D-A916921FDF50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748151336"/>
                  </p:ext>
                </p:extLst>
              </p:nvPr>
            </p:nvGraphicFramePr>
            <p:xfrm>
              <a:off x="2438400" y="974785"/>
              <a:ext cx="7315200" cy="45720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2" name="Chart 1">
                <a:extLst>
                  <a:ext uri="{FF2B5EF4-FFF2-40B4-BE49-F238E27FC236}">
                    <a16:creationId xmlns:a16="http://schemas.microsoft.com/office/drawing/2014/main" id="{02869869-5246-F55B-937D-A916921FDF5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38400" y="974785"/>
                <a:ext cx="7315200" cy="45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669387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85F4E2-FD43-165F-1F34-2AAA10FFDC8E}"/>
              </a:ext>
            </a:extLst>
          </p:cNvPr>
          <p:cNvSpPr txBox="1"/>
          <p:nvPr/>
        </p:nvSpPr>
        <p:spPr>
          <a:xfrm>
            <a:off x="138022" y="6323488"/>
            <a:ext cx="10869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https://docs.google.com/spreadsheets/d/1U4MlF3lM2NdqNAP06PSXvw19C8HW_1FATjNxUgS9-K0/</a:t>
            </a:r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8505957-0134-9061-EE12-F8A4ACF2C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results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77F49F-1BFE-B9B6-7867-52D93D7172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963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F8591-1638-CA37-AFA2-2BF1CF105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99" y="90952"/>
            <a:ext cx="10515600" cy="1325563"/>
          </a:xfrm>
        </p:spPr>
        <p:txBody>
          <a:bodyPr/>
          <a:lstStyle/>
          <a:p>
            <a:r>
              <a:rPr lang="en-US" dirty="0"/>
              <a:t>Accuracy</a:t>
            </a:r>
          </a:p>
        </p:txBody>
      </p:sp>
      <p:pic>
        <p:nvPicPr>
          <p:cNvPr id="4" name="Picture 3" descr="A black screen with white and blue icons&#10;&#10;Description automatically generated with medium confidence">
            <a:extLst>
              <a:ext uri="{FF2B5EF4-FFF2-40B4-BE49-F238E27FC236}">
                <a16:creationId xmlns:a16="http://schemas.microsoft.com/office/drawing/2014/main" id="{B5639818-3430-2715-420F-FA9C2775300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443"/>
          <a:stretch/>
        </p:blipFill>
        <p:spPr>
          <a:xfrm>
            <a:off x="3486727" y="2256658"/>
            <a:ext cx="5218545" cy="2344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8131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screen with white lines&#10;&#10;Description automatically generated with medium confidence">
            <a:extLst>
              <a:ext uri="{FF2B5EF4-FFF2-40B4-BE49-F238E27FC236}">
                <a16:creationId xmlns:a16="http://schemas.microsoft.com/office/drawing/2014/main" id="{0B8B9C7E-35B6-52E6-CD34-EC16AAA1CA6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806"/>
          <a:stretch/>
        </p:blipFill>
        <p:spPr>
          <a:xfrm>
            <a:off x="405395" y="2631057"/>
            <a:ext cx="3323170" cy="1997015"/>
          </a:xfrm>
          <a:prstGeom prst="rect">
            <a:avLst/>
          </a:prstGeom>
        </p:spPr>
      </p:pic>
      <p:pic>
        <p:nvPicPr>
          <p:cNvPr id="7" name="Picture 6" descr="A black screen with white and blue icons&#10;&#10;Description automatically generated with medium confidence">
            <a:extLst>
              <a:ext uri="{FF2B5EF4-FFF2-40B4-BE49-F238E27FC236}">
                <a16:creationId xmlns:a16="http://schemas.microsoft.com/office/drawing/2014/main" id="{40B4410D-A722-2E91-248C-B487E5C6912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557"/>
          <a:stretch/>
        </p:blipFill>
        <p:spPr>
          <a:xfrm>
            <a:off x="4088921" y="1022039"/>
            <a:ext cx="7884590" cy="498194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088A47A-8371-985E-AC7C-9363CA3CD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914" y="34508"/>
            <a:ext cx="10515600" cy="1325563"/>
          </a:xfrm>
        </p:spPr>
        <p:txBody>
          <a:bodyPr/>
          <a:lstStyle/>
          <a:p>
            <a:r>
              <a:rPr lang="en-US" dirty="0"/>
              <a:t>Same axis + adjacency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53E6AC-E17A-2B9A-17D6-F12701F23DD2}"/>
              </a:ext>
            </a:extLst>
          </p:cNvPr>
          <p:cNvSpPr/>
          <p:nvPr/>
        </p:nvSpPr>
        <p:spPr>
          <a:xfrm>
            <a:off x="4390845" y="1431985"/>
            <a:ext cx="3899140" cy="1199072"/>
          </a:xfrm>
          <a:custGeom>
            <a:avLst/>
            <a:gdLst>
              <a:gd name="csX0" fmla="*/ 0 w 3899140"/>
              <a:gd name="csY0" fmla="*/ 0 h 1199072"/>
              <a:gd name="csX1" fmla="*/ 635003 w 3899140"/>
              <a:gd name="csY1" fmla="*/ 0 h 1199072"/>
              <a:gd name="csX2" fmla="*/ 1270006 w 3899140"/>
              <a:gd name="csY2" fmla="*/ 0 h 1199072"/>
              <a:gd name="csX3" fmla="*/ 1866017 w 3899140"/>
              <a:gd name="csY3" fmla="*/ 0 h 1199072"/>
              <a:gd name="csX4" fmla="*/ 2423037 w 3899140"/>
              <a:gd name="csY4" fmla="*/ 0 h 1199072"/>
              <a:gd name="csX5" fmla="*/ 2902074 w 3899140"/>
              <a:gd name="csY5" fmla="*/ 0 h 1199072"/>
              <a:gd name="csX6" fmla="*/ 3381111 w 3899140"/>
              <a:gd name="csY6" fmla="*/ 0 h 1199072"/>
              <a:gd name="csX7" fmla="*/ 3899140 w 3899140"/>
              <a:gd name="csY7" fmla="*/ 0 h 1199072"/>
              <a:gd name="csX8" fmla="*/ 3899140 w 3899140"/>
              <a:gd name="csY8" fmla="*/ 623517 h 1199072"/>
              <a:gd name="csX9" fmla="*/ 3899140 w 3899140"/>
              <a:gd name="csY9" fmla="*/ 1199072 h 1199072"/>
              <a:gd name="csX10" fmla="*/ 3459094 w 3899140"/>
              <a:gd name="csY10" fmla="*/ 1199072 h 1199072"/>
              <a:gd name="csX11" fmla="*/ 2824091 w 3899140"/>
              <a:gd name="csY11" fmla="*/ 1199072 h 1199072"/>
              <a:gd name="csX12" fmla="*/ 2345054 w 3899140"/>
              <a:gd name="csY12" fmla="*/ 1199072 h 1199072"/>
              <a:gd name="csX13" fmla="*/ 1710051 w 3899140"/>
              <a:gd name="csY13" fmla="*/ 1199072 h 1199072"/>
              <a:gd name="csX14" fmla="*/ 1075049 w 3899140"/>
              <a:gd name="csY14" fmla="*/ 1199072 h 1199072"/>
              <a:gd name="csX15" fmla="*/ 479037 w 3899140"/>
              <a:gd name="csY15" fmla="*/ 1199072 h 1199072"/>
              <a:gd name="csX16" fmla="*/ 0 w 3899140"/>
              <a:gd name="csY16" fmla="*/ 1199072 h 1199072"/>
              <a:gd name="csX17" fmla="*/ 0 w 3899140"/>
              <a:gd name="csY17" fmla="*/ 587545 h 1199072"/>
              <a:gd name="csX18" fmla="*/ 0 w 3899140"/>
              <a:gd name="csY18" fmla="*/ 0 h 11990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899140" h="1199072" extrusionOk="0">
                <a:moveTo>
                  <a:pt x="0" y="0"/>
                </a:moveTo>
                <a:cubicBezTo>
                  <a:pt x="242994" y="-58510"/>
                  <a:pt x="498441" y="31406"/>
                  <a:pt x="635003" y="0"/>
                </a:cubicBezTo>
                <a:cubicBezTo>
                  <a:pt x="771565" y="-31406"/>
                  <a:pt x="1012489" y="6589"/>
                  <a:pt x="1270006" y="0"/>
                </a:cubicBezTo>
                <a:cubicBezTo>
                  <a:pt x="1527523" y="-6589"/>
                  <a:pt x="1586561" y="24648"/>
                  <a:pt x="1866017" y="0"/>
                </a:cubicBezTo>
                <a:cubicBezTo>
                  <a:pt x="2145473" y="-24648"/>
                  <a:pt x="2282258" y="2475"/>
                  <a:pt x="2423037" y="0"/>
                </a:cubicBezTo>
                <a:cubicBezTo>
                  <a:pt x="2563816" y="-2475"/>
                  <a:pt x="2788081" y="42553"/>
                  <a:pt x="2902074" y="0"/>
                </a:cubicBezTo>
                <a:cubicBezTo>
                  <a:pt x="3016067" y="-42553"/>
                  <a:pt x="3234288" y="12591"/>
                  <a:pt x="3381111" y="0"/>
                </a:cubicBezTo>
                <a:cubicBezTo>
                  <a:pt x="3527934" y="-12591"/>
                  <a:pt x="3711669" y="22437"/>
                  <a:pt x="3899140" y="0"/>
                </a:cubicBezTo>
                <a:cubicBezTo>
                  <a:pt x="3931299" y="150633"/>
                  <a:pt x="3888572" y="437641"/>
                  <a:pt x="3899140" y="623517"/>
                </a:cubicBezTo>
                <a:cubicBezTo>
                  <a:pt x="3909708" y="809393"/>
                  <a:pt x="3870888" y="961849"/>
                  <a:pt x="3899140" y="1199072"/>
                </a:cubicBezTo>
                <a:cubicBezTo>
                  <a:pt x="3727438" y="1226466"/>
                  <a:pt x="3609630" y="1152357"/>
                  <a:pt x="3459094" y="1199072"/>
                </a:cubicBezTo>
                <a:cubicBezTo>
                  <a:pt x="3308558" y="1245787"/>
                  <a:pt x="3004280" y="1122967"/>
                  <a:pt x="2824091" y="1199072"/>
                </a:cubicBezTo>
                <a:cubicBezTo>
                  <a:pt x="2643902" y="1275177"/>
                  <a:pt x="2568161" y="1151326"/>
                  <a:pt x="2345054" y="1199072"/>
                </a:cubicBezTo>
                <a:cubicBezTo>
                  <a:pt x="2121947" y="1246818"/>
                  <a:pt x="1892817" y="1191647"/>
                  <a:pt x="1710051" y="1199072"/>
                </a:cubicBezTo>
                <a:cubicBezTo>
                  <a:pt x="1527285" y="1206497"/>
                  <a:pt x="1238163" y="1167987"/>
                  <a:pt x="1075049" y="1199072"/>
                </a:cubicBezTo>
                <a:cubicBezTo>
                  <a:pt x="911935" y="1230157"/>
                  <a:pt x="701931" y="1135936"/>
                  <a:pt x="479037" y="1199072"/>
                </a:cubicBezTo>
                <a:cubicBezTo>
                  <a:pt x="256143" y="1262208"/>
                  <a:pt x="120910" y="1197041"/>
                  <a:pt x="0" y="1199072"/>
                </a:cubicBezTo>
                <a:cubicBezTo>
                  <a:pt x="-38920" y="901746"/>
                  <a:pt x="19202" y="888507"/>
                  <a:pt x="0" y="587545"/>
                </a:cubicBezTo>
                <a:cubicBezTo>
                  <a:pt x="-19202" y="286583"/>
                  <a:pt x="39815" y="257029"/>
                  <a:pt x="0" y="0"/>
                </a:cubicBezTo>
                <a:close/>
              </a:path>
            </a:pathLst>
          </a:custGeom>
          <a:noFill/>
          <a:ln w="38100">
            <a:solidFill>
              <a:schemeClr val="bg1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370692693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480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screen with white lines&#10;&#10;Description automatically generated with medium confidence">
            <a:extLst>
              <a:ext uri="{FF2B5EF4-FFF2-40B4-BE49-F238E27FC236}">
                <a16:creationId xmlns:a16="http://schemas.microsoft.com/office/drawing/2014/main" id="{0B8B9C7E-35B6-52E6-CD34-EC16AAA1CA6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93" r="42919"/>
          <a:stretch/>
        </p:blipFill>
        <p:spPr>
          <a:xfrm>
            <a:off x="530523" y="2365649"/>
            <a:ext cx="2609492" cy="2079781"/>
          </a:xfrm>
          <a:prstGeom prst="rect">
            <a:avLst/>
          </a:prstGeom>
        </p:spPr>
      </p:pic>
      <p:pic>
        <p:nvPicPr>
          <p:cNvPr id="7" name="Picture 6" descr="A black screen with white and blue icons&#10;&#10;Description automatically generated with medium confidence">
            <a:extLst>
              <a:ext uri="{FF2B5EF4-FFF2-40B4-BE49-F238E27FC236}">
                <a16:creationId xmlns:a16="http://schemas.microsoft.com/office/drawing/2014/main" id="{40B4410D-A722-2E91-248C-B487E5C6912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557"/>
          <a:stretch/>
        </p:blipFill>
        <p:spPr>
          <a:xfrm>
            <a:off x="4088921" y="1022039"/>
            <a:ext cx="7884590" cy="498194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088A47A-8371-985E-AC7C-9363CA3CD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914" y="34508"/>
            <a:ext cx="10515600" cy="1325563"/>
          </a:xfrm>
        </p:spPr>
        <p:txBody>
          <a:bodyPr/>
          <a:lstStyle/>
          <a:p>
            <a:r>
              <a:rPr lang="en-US" dirty="0"/>
              <a:t>Length (axis not aligned)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53E6AC-E17A-2B9A-17D6-F12701F23DD2}"/>
              </a:ext>
            </a:extLst>
          </p:cNvPr>
          <p:cNvSpPr/>
          <p:nvPr/>
        </p:nvSpPr>
        <p:spPr>
          <a:xfrm>
            <a:off x="4442603" y="2527540"/>
            <a:ext cx="5641676" cy="829544"/>
          </a:xfrm>
          <a:custGeom>
            <a:avLst/>
            <a:gdLst>
              <a:gd name="csX0" fmla="*/ 0 w 5641676"/>
              <a:gd name="csY0" fmla="*/ 0 h 829544"/>
              <a:gd name="csX1" fmla="*/ 677001 w 5641676"/>
              <a:gd name="csY1" fmla="*/ 0 h 829544"/>
              <a:gd name="csX2" fmla="*/ 1354002 w 5641676"/>
              <a:gd name="csY2" fmla="*/ 0 h 829544"/>
              <a:gd name="csX3" fmla="*/ 1974587 w 5641676"/>
              <a:gd name="csY3" fmla="*/ 0 h 829544"/>
              <a:gd name="csX4" fmla="*/ 2538754 w 5641676"/>
              <a:gd name="csY4" fmla="*/ 0 h 829544"/>
              <a:gd name="csX5" fmla="*/ 2990088 w 5641676"/>
              <a:gd name="csY5" fmla="*/ 0 h 829544"/>
              <a:gd name="csX6" fmla="*/ 3441422 w 5641676"/>
              <a:gd name="csY6" fmla="*/ 0 h 829544"/>
              <a:gd name="csX7" fmla="*/ 3892756 w 5641676"/>
              <a:gd name="csY7" fmla="*/ 0 h 829544"/>
              <a:gd name="csX8" fmla="*/ 4569758 w 5641676"/>
              <a:gd name="csY8" fmla="*/ 0 h 829544"/>
              <a:gd name="csX9" fmla="*/ 5641676 w 5641676"/>
              <a:gd name="csY9" fmla="*/ 0 h 829544"/>
              <a:gd name="csX10" fmla="*/ 5641676 w 5641676"/>
              <a:gd name="csY10" fmla="*/ 398181 h 829544"/>
              <a:gd name="csX11" fmla="*/ 5641676 w 5641676"/>
              <a:gd name="csY11" fmla="*/ 829544 h 829544"/>
              <a:gd name="csX12" fmla="*/ 5246759 w 5641676"/>
              <a:gd name="csY12" fmla="*/ 829544 h 829544"/>
              <a:gd name="csX13" fmla="*/ 4569758 w 5641676"/>
              <a:gd name="csY13" fmla="*/ 829544 h 829544"/>
              <a:gd name="csX14" fmla="*/ 3892756 w 5641676"/>
              <a:gd name="csY14" fmla="*/ 829544 h 829544"/>
              <a:gd name="csX15" fmla="*/ 3272172 w 5641676"/>
              <a:gd name="csY15" fmla="*/ 829544 h 829544"/>
              <a:gd name="csX16" fmla="*/ 2764421 w 5641676"/>
              <a:gd name="csY16" fmla="*/ 829544 h 829544"/>
              <a:gd name="csX17" fmla="*/ 2143837 w 5641676"/>
              <a:gd name="csY17" fmla="*/ 829544 h 829544"/>
              <a:gd name="csX18" fmla="*/ 1523253 w 5641676"/>
              <a:gd name="csY18" fmla="*/ 829544 h 829544"/>
              <a:gd name="csX19" fmla="*/ 1015502 w 5641676"/>
              <a:gd name="csY19" fmla="*/ 829544 h 829544"/>
              <a:gd name="csX20" fmla="*/ 0 w 5641676"/>
              <a:gd name="csY20" fmla="*/ 829544 h 829544"/>
              <a:gd name="csX21" fmla="*/ 0 w 5641676"/>
              <a:gd name="csY21" fmla="*/ 406477 h 829544"/>
              <a:gd name="csX22" fmla="*/ 0 w 5641676"/>
              <a:gd name="csY22" fmla="*/ 0 h 8295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5641676" h="829544" extrusionOk="0">
                <a:moveTo>
                  <a:pt x="0" y="0"/>
                </a:moveTo>
                <a:cubicBezTo>
                  <a:pt x="223450" y="-73176"/>
                  <a:pt x="513190" y="6848"/>
                  <a:pt x="677001" y="0"/>
                </a:cubicBezTo>
                <a:cubicBezTo>
                  <a:pt x="840812" y="-6848"/>
                  <a:pt x="1035946" y="2155"/>
                  <a:pt x="1354002" y="0"/>
                </a:cubicBezTo>
                <a:cubicBezTo>
                  <a:pt x="1672058" y="-2155"/>
                  <a:pt x="1767377" y="54410"/>
                  <a:pt x="1974587" y="0"/>
                </a:cubicBezTo>
                <a:cubicBezTo>
                  <a:pt x="2181797" y="-54410"/>
                  <a:pt x="2390309" y="36038"/>
                  <a:pt x="2538754" y="0"/>
                </a:cubicBezTo>
                <a:cubicBezTo>
                  <a:pt x="2687199" y="-36038"/>
                  <a:pt x="2899597" y="46692"/>
                  <a:pt x="2990088" y="0"/>
                </a:cubicBezTo>
                <a:cubicBezTo>
                  <a:pt x="3080579" y="-46692"/>
                  <a:pt x="3318034" y="644"/>
                  <a:pt x="3441422" y="0"/>
                </a:cubicBezTo>
                <a:cubicBezTo>
                  <a:pt x="3564810" y="-644"/>
                  <a:pt x="3722579" y="15024"/>
                  <a:pt x="3892756" y="0"/>
                </a:cubicBezTo>
                <a:cubicBezTo>
                  <a:pt x="4062933" y="-15024"/>
                  <a:pt x="4350025" y="14787"/>
                  <a:pt x="4569758" y="0"/>
                </a:cubicBezTo>
                <a:cubicBezTo>
                  <a:pt x="4789491" y="-14787"/>
                  <a:pt x="5310796" y="46458"/>
                  <a:pt x="5641676" y="0"/>
                </a:cubicBezTo>
                <a:cubicBezTo>
                  <a:pt x="5667119" y="146932"/>
                  <a:pt x="5636697" y="242078"/>
                  <a:pt x="5641676" y="398181"/>
                </a:cubicBezTo>
                <a:cubicBezTo>
                  <a:pt x="5646655" y="554284"/>
                  <a:pt x="5611965" y="627788"/>
                  <a:pt x="5641676" y="829544"/>
                </a:cubicBezTo>
                <a:cubicBezTo>
                  <a:pt x="5546402" y="833987"/>
                  <a:pt x="5397782" y="790479"/>
                  <a:pt x="5246759" y="829544"/>
                </a:cubicBezTo>
                <a:cubicBezTo>
                  <a:pt x="5095736" y="868609"/>
                  <a:pt x="4859237" y="825228"/>
                  <a:pt x="4569758" y="829544"/>
                </a:cubicBezTo>
                <a:cubicBezTo>
                  <a:pt x="4280279" y="833860"/>
                  <a:pt x="4101272" y="814896"/>
                  <a:pt x="3892756" y="829544"/>
                </a:cubicBezTo>
                <a:cubicBezTo>
                  <a:pt x="3684240" y="844192"/>
                  <a:pt x="3518481" y="757214"/>
                  <a:pt x="3272172" y="829544"/>
                </a:cubicBezTo>
                <a:cubicBezTo>
                  <a:pt x="3025863" y="901874"/>
                  <a:pt x="3015896" y="815881"/>
                  <a:pt x="2764421" y="829544"/>
                </a:cubicBezTo>
                <a:cubicBezTo>
                  <a:pt x="2512946" y="843207"/>
                  <a:pt x="2281589" y="770064"/>
                  <a:pt x="2143837" y="829544"/>
                </a:cubicBezTo>
                <a:cubicBezTo>
                  <a:pt x="2006085" y="889024"/>
                  <a:pt x="1789137" y="776405"/>
                  <a:pt x="1523253" y="829544"/>
                </a:cubicBezTo>
                <a:cubicBezTo>
                  <a:pt x="1257369" y="882683"/>
                  <a:pt x="1211993" y="792990"/>
                  <a:pt x="1015502" y="829544"/>
                </a:cubicBezTo>
                <a:cubicBezTo>
                  <a:pt x="819011" y="866098"/>
                  <a:pt x="436127" y="741496"/>
                  <a:pt x="0" y="829544"/>
                </a:cubicBezTo>
                <a:cubicBezTo>
                  <a:pt x="-6214" y="701917"/>
                  <a:pt x="37255" y="605605"/>
                  <a:pt x="0" y="406477"/>
                </a:cubicBezTo>
                <a:cubicBezTo>
                  <a:pt x="-37255" y="207349"/>
                  <a:pt x="6911" y="88846"/>
                  <a:pt x="0" y="0"/>
                </a:cubicBezTo>
                <a:close/>
              </a:path>
            </a:pathLst>
          </a:custGeom>
          <a:noFill/>
          <a:ln w="38100">
            <a:solidFill>
              <a:schemeClr val="bg1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370692693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4424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screen with white and blue icons&#10;&#10;Description automatically generated with medium confidence">
            <a:extLst>
              <a:ext uri="{FF2B5EF4-FFF2-40B4-BE49-F238E27FC236}">
                <a16:creationId xmlns:a16="http://schemas.microsoft.com/office/drawing/2014/main" id="{40B4410D-A722-2E91-248C-B487E5C691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557"/>
          <a:stretch/>
        </p:blipFill>
        <p:spPr>
          <a:xfrm>
            <a:off x="4088921" y="1022039"/>
            <a:ext cx="7884590" cy="4981943"/>
          </a:xfrm>
          <a:prstGeom prst="rect">
            <a:avLst/>
          </a:prstGeom>
        </p:spPr>
      </p:pic>
      <p:pic>
        <p:nvPicPr>
          <p:cNvPr id="6" name="Picture 5" descr="A black screen with white lines&#10;&#10;Description automatically generated with medium confidence">
            <a:extLst>
              <a:ext uri="{FF2B5EF4-FFF2-40B4-BE49-F238E27FC236}">
                <a16:creationId xmlns:a16="http://schemas.microsoft.com/office/drawing/2014/main" id="{0B8B9C7E-35B6-52E6-CD34-EC16AAA1CA6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65" r="33542"/>
          <a:stretch/>
        </p:blipFill>
        <p:spPr>
          <a:xfrm>
            <a:off x="802976" y="1682163"/>
            <a:ext cx="1784949" cy="3562686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088A47A-8371-985E-AC7C-9363CA3CD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914" y="34508"/>
            <a:ext cx="10515600" cy="1325563"/>
          </a:xfrm>
        </p:spPr>
        <p:txBody>
          <a:bodyPr/>
          <a:lstStyle/>
          <a:p>
            <a:r>
              <a:rPr lang="en-US" dirty="0"/>
              <a:t>Angle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53E6AC-E17A-2B9A-17D6-F12701F23DD2}"/>
              </a:ext>
            </a:extLst>
          </p:cNvPr>
          <p:cNvSpPr/>
          <p:nvPr/>
        </p:nvSpPr>
        <p:spPr>
          <a:xfrm>
            <a:off x="4468483" y="3278038"/>
            <a:ext cx="6944264" cy="370936"/>
          </a:xfrm>
          <a:custGeom>
            <a:avLst/>
            <a:gdLst>
              <a:gd name="csX0" fmla="*/ 0 w 6944264"/>
              <a:gd name="csY0" fmla="*/ 0 h 370936"/>
              <a:gd name="csX1" fmla="*/ 717574 w 6944264"/>
              <a:gd name="csY1" fmla="*/ 0 h 370936"/>
              <a:gd name="csX2" fmla="*/ 1435148 w 6944264"/>
              <a:gd name="csY2" fmla="*/ 0 h 370936"/>
              <a:gd name="csX3" fmla="*/ 2083279 w 6944264"/>
              <a:gd name="csY3" fmla="*/ 0 h 370936"/>
              <a:gd name="csX4" fmla="*/ 2661968 w 6944264"/>
              <a:gd name="csY4" fmla="*/ 0 h 370936"/>
              <a:gd name="csX5" fmla="*/ 3101771 w 6944264"/>
              <a:gd name="csY5" fmla="*/ 0 h 370936"/>
              <a:gd name="csX6" fmla="*/ 3541575 w 6944264"/>
              <a:gd name="csY6" fmla="*/ 0 h 370936"/>
              <a:gd name="csX7" fmla="*/ 3981378 w 6944264"/>
              <a:gd name="csY7" fmla="*/ 0 h 370936"/>
              <a:gd name="csX8" fmla="*/ 4698952 w 6944264"/>
              <a:gd name="csY8" fmla="*/ 0 h 370936"/>
              <a:gd name="csX9" fmla="*/ 5416526 w 6944264"/>
              <a:gd name="csY9" fmla="*/ 0 h 370936"/>
              <a:gd name="csX10" fmla="*/ 5856329 w 6944264"/>
              <a:gd name="csY10" fmla="*/ 0 h 370936"/>
              <a:gd name="csX11" fmla="*/ 6365575 w 6944264"/>
              <a:gd name="csY11" fmla="*/ 0 h 370936"/>
              <a:gd name="csX12" fmla="*/ 6944264 w 6944264"/>
              <a:gd name="csY12" fmla="*/ 0 h 370936"/>
              <a:gd name="csX13" fmla="*/ 6944264 w 6944264"/>
              <a:gd name="csY13" fmla="*/ 370936 h 370936"/>
              <a:gd name="csX14" fmla="*/ 6504461 w 6944264"/>
              <a:gd name="csY14" fmla="*/ 370936 h 370936"/>
              <a:gd name="csX15" fmla="*/ 5856329 w 6944264"/>
              <a:gd name="csY15" fmla="*/ 370936 h 370936"/>
              <a:gd name="csX16" fmla="*/ 5347083 w 6944264"/>
              <a:gd name="csY16" fmla="*/ 370936 h 370936"/>
              <a:gd name="csX17" fmla="*/ 4698952 w 6944264"/>
              <a:gd name="csY17" fmla="*/ 370936 h 370936"/>
              <a:gd name="csX18" fmla="*/ 4050821 w 6944264"/>
              <a:gd name="csY18" fmla="*/ 370936 h 370936"/>
              <a:gd name="csX19" fmla="*/ 3541575 w 6944264"/>
              <a:gd name="csY19" fmla="*/ 370936 h 370936"/>
              <a:gd name="csX20" fmla="*/ 2962886 w 6944264"/>
              <a:gd name="csY20" fmla="*/ 370936 h 370936"/>
              <a:gd name="csX21" fmla="*/ 2314755 w 6944264"/>
              <a:gd name="csY21" fmla="*/ 370936 h 370936"/>
              <a:gd name="csX22" fmla="*/ 1597181 w 6944264"/>
              <a:gd name="csY22" fmla="*/ 370936 h 370936"/>
              <a:gd name="csX23" fmla="*/ 1018492 w 6944264"/>
              <a:gd name="csY23" fmla="*/ 370936 h 370936"/>
              <a:gd name="csX24" fmla="*/ 648131 w 6944264"/>
              <a:gd name="csY24" fmla="*/ 370936 h 370936"/>
              <a:gd name="csX25" fmla="*/ 0 w 6944264"/>
              <a:gd name="csY25" fmla="*/ 370936 h 370936"/>
              <a:gd name="csX26" fmla="*/ 0 w 6944264"/>
              <a:gd name="csY26" fmla="*/ 0 h 3709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6944264" h="370936" extrusionOk="0">
                <a:moveTo>
                  <a:pt x="0" y="0"/>
                </a:moveTo>
                <a:cubicBezTo>
                  <a:pt x="197876" y="-46849"/>
                  <a:pt x="406590" y="56922"/>
                  <a:pt x="717574" y="0"/>
                </a:cubicBezTo>
                <a:cubicBezTo>
                  <a:pt x="1028558" y="-56922"/>
                  <a:pt x="1166518" y="24116"/>
                  <a:pt x="1435148" y="0"/>
                </a:cubicBezTo>
                <a:cubicBezTo>
                  <a:pt x="1703778" y="-24116"/>
                  <a:pt x="1820174" y="67492"/>
                  <a:pt x="2083279" y="0"/>
                </a:cubicBezTo>
                <a:cubicBezTo>
                  <a:pt x="2346384" y="-67492"/>
                  <a:pt x="2508682" y="45430"/>
                  <a:pt x="2661968" y="0"/>
                </a:cubicBezTo>
                <a:cubicBezTo>
                  <a:pt x="2815254" y="-45430"/>
                  <a:pt x="2890151" y="999"/>
                  <a:pt x="3101771" y="0"/>
                </a:cubicBezTo>
                <a:cubicBezTo>
                  <a:pt x="3313391" y="-999"/>
                  <a:pt x="3405757" y="3230"/>
                  <a:pt x="3541575" y="0"/>
                </a:cubicBezTo>
                <a:cubicBezTo>
                  <a:pt x="3677393" y="-3230"/>
                  <a:pt x="3818334" y="10850"/>
                  <a:pt x="3981378" y="0"/>
                </a:cubicBezTo>
                <a:cubicBezTo>
                  <a:pt x="4144422" y="-10850"/>
                  <a:pt x="4407681" y="72511"/>
                  <a:pt x="4698952" y="0"/>
                </a:cubicBezTo>
                <a:cubicBezTo>
                  <a:pt x="4990223" y="-72511"/>
                  <a:pt x="5231073" y="5434"/>
                  <a:pt x="5416526" y="0"/>
                </a:cubicBezTo>
                <a:cubicBezTo>
                  <a:pt x="5601979" y="-5434"/>
                  <a:pt x="5671838" y="44573"/>
                  <a:pt x="5856329" y="0"/>
                </a:cubicBezTo>
                <a:cubicBezTo>
                  <a:pt x="6040820" y="-44573"/>
                  <a:pt x="6199025" y="4232"/>
                  <a:pt x="6365575" y="0"/>
                </a:cubicBezTo>
                <a:cubicBezTo>
                  <a:pt x="6532125" y="-4232"/>
                  <a:pt x="6828127" y="54103"/>
                  <a:pt x="6944264" y="0"/>
                </a:cubicBezTo>
                <a:cubicBezTo>
                  <a:pt x="6971703" y="173835"/>
                  <a:pt x="6929535" y="213063"/>
                  <a:pt x="6944264" y="370936"/>
                </a:cubicBezTo>
                <a:cubicBezTo>
                  <a:pt x="6790741" y="414431"/>
                  <a:pt x="6595749" y="349434"/>
                  <a:pt x="6504461" y="370936"/>
                </a:cubicBezTo>
                <a:cubicBezTo>
                  <a:pt x="6413173" y="392438"/>
                  <a:pt x="6125727" y="345093"/>
                  <a:pt x="5856329" y="370936"/>
                </a:cubicBezTo>
                <a:cubicBezTo>
                  <a:pt x="5586931" y="396779"/>
                  <a:pt x="5461522" y="359571"/>
                  <a:pt x="5347083" y="370936"/>
                </a:cubicBezTo>
                <a:cubicBezTo>
                  <a:pt x="5232644" y="382301"/>
                  <a:pt x="4892066" y="313734"/>
                  <a:pt x="4698952" y="370936"/>
                </a:cubicBezTo>
                <a:cubicBezTo>
                  <a:pt x="4505838" y="428138"/>
                  <a:pt x="4356787" y="313982"/>
                  <a:pt x="4050821" y="370936"/>
                </a:cubicBezTo>
                <a:cubicBezTo>
                  <a:pt x="3744855" y="427890"/>
                  <a:pt x="3689570" y="311281"/>
                  <a:pt x="3541575" y="370936"/>
                </a:cubicBezTo>
                <a:cubicBezTo>
                  <a:pt x="3393580" y="430591"/>
                  <a:pt x="3134509" y="342028"/>
                  <a:pt x="2962886" y="370936"/>
                </a:cubicBezTo>
                <a:cubicBezTo>
                  <a:pt x="2791263" y="399844"/>
                  <a:pt x="2581252" y="298485"/>
                  <a:pt x="2314755" y="370936"/>
                </a:cubicBezTo>
                <a:cubicBezTo>
                  <a:pt x="2048258" y="443387"/>
                  <a:pt x="1947888" y="323991"/>
                  <a:pt x="1597181" y="370936"/>
                </a:cubicBezTo>
                <a:cubicBezTo>
                  <a:pt x="1246474" y="417881"/>
                  <a:pt x="1190631" y="342704"/>
                  <a:pt x="1018492" y="370936"/>
                </a:cubicBezTo>
                <a:cubicBezTo>
                  <a:pt x="846353" y="399168"/>
                  <a:pt x="826867" y="336304"/>
                  <a:pt x="648131" y="370936"/>
                </a:cubicBezTo>
                <a:cubicBezTo>
                  <a:pt x="469395" y="405568"/>
                  <a:pt x="235047" y="302615"/>
                  <a:pt x="0" y="370936"/>
                </a:cubicBezTo>
                <a:cubicBezTo>
                  <a:pt x="-25892" y="236795"/>
                  <a:pt x="19834" y="79958"/>
                  <a:pt x="0" y="0"/>
                </a:cubicBezTo>
                <a:close/>
              </a:path>
            </a:pathLst>
          </a:custGeom>
          <a:noFill/>
          <a:ln w="38100">
            <a:solidFill>
              <a:schemeClr val="bg1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370692693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1240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screen with white and blue icons&#10;&#10;Description automatically generated with medium confidence">
            <a:extLst>
              <a:ext uri="{FF2B5EF4-FFF2-40B4-BE49-F238E27FC236}">
                <a16:creationId xmlns:a16="http://schemas.microsoft.com/office/drawing/2014/main" id="{40B4410D-A722-2E91-248C-B487E5C691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557"/>
          <a:stretch/>
        </p:blipFill>
        <p:spPr>
          <a:xfrm>
            <a:off x="4088921" y="1022039"/>
            <a:ext cx="7884590" cy="4981943"/>
          </a:xfrm>
          <a:prstGeom prst="rect">
            <a:avLst/>
          </a:prstGeom>
        </p:spPr>
      </p:pic>
      <p:pic>
        <p:nvPicPr>
          <p:cNvPr id="6" name="Picture 5" descr="A black screen with white lines&#10;&#10;Description automatically generated with medium confidence">
            <a:extLst>
              <a:ext uri="{FF2B5EF4-FFF2-40B4-BE49-F238E27FC236}">
                <a16:creationId xmlns:a16="http://schemas.microsoft.com/office/drawing/2014/main" id="{0B8B9C7E-35B6-52E6-CD34-EC16AAA1CA6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65"/>
          <a:stretch/>
        </p:blipFill>
        <p:spPr>
          <a:xfrm>
            <a:off x="284672" y="2277374"/>
            <a:ext cx="3499892" cy="208759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088A47A-8371-985E-AC7C-9363CA3CD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914" y="34508"/>
            <a:ext cx="10515600" cy="1325563"/>
          </a:xfrm>
        </p:spPr>
        <p:txBody>
          <a:bodyPr/>
          <a:lstStyle/>
          <a:p>
            <a:r>
              <a:rPr lang="en-US" dirty="0"/>
              <a:t>Size (rectangle &amp; circle)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53E6AC-E17A-2B9A-17D6-F12701F23DD2}"/>
              </a:ext>
            </a:extLst>
          </p:cNvPr>
          <p:cNvSpPr/>
          <p:nvPr/>
        </p:nvSpPr>
        <p:spPr>
          <a:xfrm>
            <a:off x="4468481" y="3588589"/>
            <a:ext cx="7030529" cy="1199072"/>
          </a:xfrm>
          <a:custGeom>
            <a:avLst/>
            <a:gdLst>
              <a:gd name="csX0" fmla="*/ 0 w 7030529"/>
              <a:gd name="csY0" fmla="*/ 0 h 1199072"/>
              <a:gd name="csX1" fmla="*/ 726488 w 7030529"/>
              <a:gd name="csY1" fmla="*/ 0 h 1199072"/>
              <a:gd name="csX2" fmla="*/ 1452976 w 7030529"/>
              <a:gd name="csY2" fmla="*/ 0 h 1199072"/>
              <a:gd name="csX3" fmla="*/ 2109159 w 7030529"/>
              <a:gd name="csY3" fmla="*/ 0 h 1199072"/>
              <a:gd name="csX4" fmla="*/ 2695036 w 7030529"/>
              <a:gd name="csY4" fmla="*/ 0 h 1199072"/>
              <a:gd name="csX5" fmla="*/ 3140303 w 7030529"/>
              <a:gd name="csY5" fmla="*/ 0 h 1199072"/>
              <a:gd name="csX6" fmla="*/ 3585570 w 7030529"/>
              <a:gd name="csY6" fmla="*/ 0 h 1199072"/>
              <a:gd name="csX7" fmla="*/ 4030837 w 7030529"/>
              <a:gd name="csY7" fmla="*/ 0 h 1199072"/>
              <a:gd name="csX8" fmla="*/ 4757325 w 7030529"/>
              <a:gd name="csY8" fmla="*/ 0 h 1199072"/>
              <a:gd name="csX9" fmla="*/ 5483813 w 7030529"/>
              <a:gd name="csY9" fmla="*/ 0 h 1199072"/>
              <a:gd name="csX10" fmla="*/ 5929079 w 7030529"/>
              <a:gd name="csY10" fmla="*/ 0 h 1199072"/>
              <a:gd name="csX11" fmla="*/ 6444652 w 7030529"/>
              <a:gd name="csY11" fmla="*/ 0 h 1199072"/>
              <a:gd name="csX12" fmla="*/ 7030529 w 7030529"/>
              <a:gd name="csY12" fmla="*/ 0 h 1199072"/>
              <a:gd name="csX13" fmla="*/ 7030529 w 7030529"/>
              <a:gd name="csY13" fmla="*/ 599536 h 1199072"/>
              <a:gd name="csX14" fmla="*/ 7030529 w 7030529"/>
              <a:gd name="csY14" fmla="*/ 1199072 h 1199072"/>
              <a:gd name="csX15" fmla="*/ 6444652 w 7030529"/>
              <a:gd name="csY15" fmla="*/ 1199072 h 1199072"/>
              <a:gd name="csX16" fmla="*/ 5929079 w 7030529"/>
              <a:gd name="csY16" fmla="*/ 1199072 h 1199072"/>
              <a:gd name="csX17" fmla="*/ 5272897 w 7030529"/>
              <a:gd name="csY17" fmla="*/ 1199072 h 1199072"/>
              <a:gd name="csX18" fmla="*/ 4616714 w 7030529"/>
              <a:gd name="csY18" fmla="*/ 1199072 h 1199072"/>
              <a:gd name="csX19" fmla="*/ 4101142 w 7030529"/>
              <a:gd name="csY19" fmla="*/ 1199072 h 1199072"/>
              <a:gd name="csX20" fmla="*/ 3515265 w 7030529"/>
              <a:gd name="csY20" fmla="*/ 1199072 h 1199072"/>
              <a:gd name="csX21" fmla="*/ 2859082 w 7030529"/>
              <a:gd name="csY21" fmla="*/ 1199072 h 1199072"/>
              <a:gd name="csX22" fmla="*/ 2132594 w 7030529"/>
              <a:gd name="csY22" fmla="*/ 1199072 h 1199072"/>
              <a:gd name="csX23" fmla="*/ 1546716 w 7030529"/>
              <a:gd name="csY23" fmla="*/ 1199072 h 1199072"/>
              <a:gd name="csX24" fmla="*/ 1171755 w 7030529"/>
              <a:gd name="csY24" fmla="*/ 1199072 h 1199072"/>
              <a:gd name="csX25" fmla="*/ 796793 w 7030529"/>
              <a:gd name="csY25" fmla="*/ 1199072 h 1199072"/>
              <a:gd name="csX26" fmla="*/ 0 w 7030529"/>
              <a:gd name="csY26" fmla="*/ 1199072 h 1199072"/>
              <a:gd name="csX27" fmla="*/ 0 w 7030529"/>
              <a:gd name="csY27" fmla="*/ 611527 h 1199072"/>
              <a:gd name="csX28" fmla="*/ 0 w 7030529"/>
              <a:gd name="csY28" fmla="*/ 0 h 11990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7030529" h="1199072" extrusionOk="0">
                <a:moveTo>
                  <a:pt x="0" y="0"/>
                </a:moveTo>
                <a:cubicBezTo>
                  <a:pt x="223747" y="-23422"/>
                  <a:pt x="559468" y="63831"/>
                  <a:pt x="726488" y="0"/>
                </a:cubicBezTo>
                <a:cubicBezTo>
                  <a:pt x="893508" y="-63831"/>
                  <a:pt x="1127746" y="42176"/>
                  <a:pt x="1452976" y="0"/>
                </a:cubicBezTo>
                <a:cubicBezTo>
                  <a:pt x="1778206" y="-42176"/>
                  <a:pt x="1811367" y="75296"/>
                  <a:pt x="2109159" y="0"/>
                </a:cubicBezTo>
                <a:cubicBezTo>
                  <a:pt x="2406951" y="-75296"/>
                  <a:pt x="2447719" y="34360"/>
                  <a:pt x="2695036" y="0"/>
                </a:cubicBezTo>
                <a:cubicBezTo>
                  <a:pt x="2942353" y="-34360"/>
                  <a:pt x="3034918" y="11521"/>
                  <a:pt x="3140303" y="0"/>
                </a:cubicBezTo>
                <a:cubicBezTo>
                  <a:pt x="3245688" y="-11521"/>
                  <a:pt x="3401143" y="8681"/>
                  <a:pt x="3585570" y="0"/>
                </a:cubicBezTo>
                <a:cubicBezTo>
                  <a:pt x="3769997" y="-8681"/>
                  <a:pt x="3864965" y="46214"/>
                  <a:pt x="4030837" y="0"/>
                </a:cubicBezTo>
                <a:cubicBezTo>
                  <a:pt x="4196709" y="-46214"/>
                  <a:pt x="4465627" y="29102"/>
                  <a:pt x="4757325" y="0"/>
                </a:cubicBezTo>
                <a:cubicBezTo>
                  <a:pt x="5049023" y="-29102"/>
                  <a:pt x="5165559" y="83310"/>
                  <a:pt x="5483813" y="0"/>
                </a:cubicBezTo>
                <a:cubicBezTo>
                  <a:pt x="5802067" y="-83310"/>
                  <a:pt x="5790638" y="42502"/>
                  <a:pt x="5929079" y="0"/>
                </a:cubicBezTo>
                <a:cubicBezTo>
                  <a:pt x="6067520" y="-42502"/>
                  <a:pt x="6197983" y="6268"/>
                  <a:pt x="6444652" y="0"/>
                </a:cubicBezTo>
                <a:cubicBezTo>
                  <a:pt x="6691321" y="-6268"/>
                  <a:pt x="6846726" y="10172"/>
                  <a:pt x="7030529" y="0"/>
                </a:cubicBezTo>
                <a:cubicBezTo>
                  <a:pt x="7099073" y="197009"/>
                  <a:pt x="6971300" y="417353"/>
                  <a:pt x="7030529" y="599536"/>
                </a:cubicBezTo>
                <a:cubicBezTo>
                  <a:pt x="7089758" y="781719"/>
                  <a:pt x="6982262" y="952441"/>
                  <a:pt x="7030529" y="1199072"/>
                </a:cubicBezTo>
                <a:cubicBezTo>
                  <a:pt x="6757639" y="1199912"/>
                  <a:pt x="6732694" y="1195658"/>
                  <a:pt x="6444652" y="1199072"/>
                </a:cubicBezTo>
                <a:cubicBezTo>
                  <a:pt x="6156610" y="1202486"/>
                  <a:pt x="6039476" y="1137398"/>
                  <a:pt x="5929079" y="1199072"/>
                </a:cubicBezTo>
                <a:cubicBezTo>
                  <a:pt x="5818682" y="1260746"/>
                  <a:pt x="5451400" y="1127894"/>
                  <a:pt x="5272897" y="1199072"/>
                </a:cubicBezTo>
                <a:cubicBezTo>
                  <a:pt x="5094394" y="1270250"/>
                  <a:pt x="4837921" y="1122692"/>
                  <a:pt x="4616714" y="1199072"/>
                </a:cubicBezTo>
                <a:cubicBezTo>
                  <a:pt x="4395507" y="1275452"/>
                  <a:pt x="4329030" y="1179858"/>
                  <a:pt x="4101142" y="1199072"/>
                </a:cubicBezTo>
                <a:cubicBezTo>
                  <a:pt x="3873254" y="1218286"/>
                  <a:pt x="3768691" y="1154979"/>
                  <a:pt x="3515265" y="1199072"/>
                </a:cubicBezTo>
                <a:cubicBezTo>
                  <a:pt x="3261839" y="1243165"/>
                  <a:pt x="3161769" y="1137403"/>
                  <a:pt x="2859082" y="1199072"/>
                </a:cubicBezTo>
                <a:cubicBezTo>
                  <a:pt x="2556395" y="1260741"/>
                  <a:pt x="2348688" y="1121251"/>
                  <a:pt x="2132594" y="1199072"/>
                </a:cubicBezTo>
                <a:cubicBezTo>
                  <a:pt x="1916500" y="1276893"/>
                  <a:pt x="1829857" y="1163419"/>
                  <a:pt x="1546716" y="1199072"/>
                </a:cubicBezTo>
                <a:cubicBezTo>
                  <a:pt x="1263575" y="1234725"/>
                  <a:pt x="1297441" y="1164191"/>
                  <a:pt x="1171755" y="1199072"/>
                </a:cubicBezTo>
                <a:cubicBezTo>
                  <a:pt x="1046069" y="1233953"/>
                  <a:pt x="939958" y="1162086"/>
                  <a:pt x="796793" y="1199072"/>
                </a:cubicBezTo>
                <a:cubicBezTo>
                  <a:pt x="653628" y="1236058"/>
                  <a:pt x="225041" y="1133308"/>
                  <a:pt x="0" y="1199072"/>
                </a:cubicBezTo>
                <a:cubicBezTo>
                  <a:pt x="-41693" y="983954"/>
                  <a:pt x="9569" y="849330"/>
                  <a:pt x="0" y="611527"/>
                </a:cubicBezTo>
                <a:cubicBezTo>
                  <a:pt x="-9569" y="373725"/>
                  <a:pt x="4026" y="288717"/>
                  <a:pt x="0" y="0"/>
                </a:cubicBezTo>
                <a:close/>
              </a:path>
            </a:pathLst>
          </a:custGeom>
          <a:noFill/>
          <a:ln w="38100">
            <a:solidFill>
              <a:schemeClr val="bg1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370692693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6511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0FEB9-E478-18F8-256E-977E20C9D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Problem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7499F-BC76-2856-84F1-1DA8C1E51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Create charts using the Tableau BLS Dataset</a:t>
            </a:r>
          </a:p>
          <a:p>
            <a:r>
              <a:rPr lang="en-US" dirty="0"/>
              <a:t>What occupational groups in WV have the highest and lowest salaries?</a:t>
            </a:r>
          </a:p>
          <a:p>
            <a:pPr lvl="1"/>
            <a:r>
              <a:rPr lang="en-US" dirty="0"/>
              <a:t>Position (common scale, stacked)</a:t>
            </a:r>
          </a:p>
          <a:p>
            <a:pPr lvl="1"/>
            <a:r>
              <a:rPr lang="en-US" dirty="0"/>
              <a:t>Angle</a:t>
            </a:r>
          </a:p>
          <a:p>
            <a:pPr lvl="1"/>
            <a:r>
              <a:rPr lang="en-US" dirty="0"/>
              <a:t>Size (circular, square, non-adjacent square)</a:t>
            </a:r>
          </a:p>
          <a:p>
            <a:pPr lvl="1"/>
            <a:r>
              <a:rPr lang="en-US" dirty="0"/>
              <a:t>Color (hue, intensity)</a:t>
            </a:r>
          </a:p>
          <a:p>
            <a:r>
              <a:rPr lang="en-US" dirty="0"/>
              <a:t>Suggestions:</a:t>
            </a:r>
          </a:p>
          <a:p>
            <a:pPr lvl="1"/>
            <a:r>
              <a:rPr lang="en-US" dirty="0"/>
              <a:t>Bar showing Occ Group Median Income </a:t>
            </a:r>
          </a:p>
          <a:p>
            <a:pPr lvl="1"/>
            <a:r>
              <a:rPr lang="en-US" dirty="0"/>
              <a:t>Stacked Bar showing 10</a:t>
            </a:r>
            <a:r>
              <a:rPr lang="en-US" baseline="30000" dirty="0"/>
              <a:t>th</a:t>
            </a:r>
            <a:r>
              <a:rPr lang="en-US" dirty="0"/>
              <a:t> and 90</a:t>
            </a:r>
            <a:r>
              <a:rPr lang="en-US" baseline="30000" dirty="0"/>
              <a:t>th</a:t>
            </a:r>
            <a:r>
              <a:rPr lang="en-US" dirty="0"/>
              <a:t> percentile income</a:t>
            </a:r>
          </a:p>
          <a:p>
            <a:pPr lvl="1"/>
            <a:r>
              <a:rPr lang="en-US" dirty="0" err="1"/>
              <a:t>Treemap</a:t>
            </a:r>
            <a:r>
              <a:rPr lang="en-US" dirty="0"/>
              <a:t> &amp; Pie showing jobs per 1000 people</a:t>
            </a:r>
          </a:p>
          <a:p>
            <a:pPr lvl="1"/>
            <a:r>
              <a:rPr lang="en-US" dirty="0"/>
              <a:t>Scatterplot showing Jobs per 1000 people against Median</a:t>
            </a:r>
          </a:p>
        </p:txBody>
      </p:sp>
    </p:spTree>
    <p:extLst>
      <p:ext uri="{BB962C8B-B14F-4D97-AF65-F5344CB8AC3E}">
        <p14:creationId xmlns:p14="http://schemas.microsoft.com/office/powerpoint/2010/main" val="21237080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9DBF5-D758-5483-9990-348C088F3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267039"/>
          </a:xfrm>
        </p:spPr>
        <p:txBody>
          <a:bodyPr/>
          <a:lstStyle/>
          <a:p>
            <a:r>
              <a:rPr lang="en-US" dirty="0"/>
              <a:t>Application problems!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DC0A0-0C2A-1A19-0BF8-97D6588995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What coding is being used?</a:t>
            </a:r>
          </a:p>
          <a:p>
            <a:r>
              <a:rPr lang="en-US" sz="3600" dirty="0">
                <a:solidFill>
                  <a:schemeClr val="tx1"/>
                </a:solidFill>
              </a:rPr>
              <a:t>What is the story?</a:t>
            </a:r>
          </a:p>
        </p:txBody>
      </p:sp>
    </p:spTree>
    <p:extLst>
      <p:ext uri="{BB962C8B-B14F-4D97-AF65-F5344CB8AC3E}">
        <p14:creationId xmlns:p14="http://schemas.microsoft.com/office/powerpoint/2010/main" val="32737898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background with many different colored circles&#10;&#10;Description automatically generated">
            <a:extLst>
              <a:ext uri="{FF2B5EF4-FFF2-40B4-BE49-F238E27FC236}">
                <a16:creationId xmlns:a16="http://schemas.microsoft.com/office/drawing/2014/main" id="{DB3683FB-3AEE-0048-88DB-A48EFE983C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566" y="-172528"/>
            <a:ext cx="6177673" cy="74791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8185CD-2A90-B726-CFEB-994804DE9E95}"/>
              </a:ext>
            </a:extLst>
          </p:cNvPr>
          <p:cNvSpPr txBox="1"/>
          <p:nvPr/>
        </p:nvSpPr>
        <p:spPr>
          <a:xfrm rot="5400000">
            <a:off x="-4137168" y="4183334"/>
            <a:ext cx="86436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https://www.visualcapitalist.com/the-best-visualizations-of-january-on-the-voronoi-app/</a:t>
            </a:r>
          </a:p>
        </p:txBody>
      </p:sp>
    </p:spTree>
    <p:extLst>
      <p:ext uri="{BB962C8B-B14F-4D97-AF65-F5344CB8AC3E}">
        <p14:creationId xmlns:p14="http://schemas.microsoft.com/office/powerpoint/2010/main" val="16613577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38185CD-2A90-B726-CFEB-994804DE9E95}"/>
              </a:ext>
            </a:extLst>
          </p:cNvPr>
          <p:cNvSpPr txBox="1"/>
          <p:nvPr/>
        </p:nvSpPr>
        <p:spPr>
          <a:xfrm rot="5400000">
            <a:off x="-4137168" y="4183334"/>
            <a:ext cx="86436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https://www.visualcapitalist.com/the-best-visualizations-of-january-on-the-voronoi-app/</a:t>
            </a:r>
          </a:p>
        </p:txBody>
      </p:sp>
      <p:pic>
        <p:nvPicPr>
          <p:cNvPr id="3" name="Picture 2" descr="A colorful chart of company logos&#10;&#10;Description automatically generated with medium confidence">
            <a:extLst>
              <a:ext uri="{FF2B5EF4-FFF2-40B4-BE49-F238E27FC236}">
                <a16:creationId xmlns:a16="http://schemas.microsoft.com/office/drawing/2014/main" id="{F6FB6336-5F67-7B7A-D5EE-807FBD117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0028" y="166954"/>
            <a:ext cx="5351944" cy="6691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938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515B7A-90F1-705D-4B0C-97E93A242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165" y="0"/>
            <a:ext cx="10097669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D7F4FA-D446-A1E2-11DC-6AF2E8FCC3A5}"/>
              </a:ext>
            </a:extLst>
          </p:cNvPr>
          <p:cNvSpPr txBox="1"/>
          <p:nvPr/>
        </p:nvSpPr>
        <p:spPr>
          <a:xfrm rot="5400000">
            <a:off x="-3308539" y="3275111"/>
            <a:ext cx="69248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https://www.visualcapitalist.com/all-the-people-in-the-world-1000-peop/</a:t>
            </a:r>
          </a:p>
        </p:txBody>
      </p:sp>
    </p:spTree>
    <p:extLst>
      <p:ext uri="{BB962C8B-B14F-4D97-AF65-F5344CB8AC3E}">
        <p14:creationId xmlns:p14="http://schemas.microsoft.com/office/powerpoint/2010/main" val="27600406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hand holding a shopping cart with a price tag&#10;&#10;Description automatically generated">
            <a:extLst>
              <a:ext uri="{FF2B5EF4-FFF2-40B4-BE49-F238E27FC236}">
                <a16:creationId xmlns:a16="http://schemas.microsoft.com/office/drawing/2014/main" id="{F01CB463-1750-CC5C-2F15-0A128A37C3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6248" y="0"/>
            <a:ext cx="5679503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0D9E3E-EE18-7E54-FB86-9BFC13B9D70C}"/>
              </a:ext>
            </a:extLst>
          </p:cNvPr>
          <p:cNvSpPr txBox="1"/>
          <p:nvPr/>
        </p:nvSpPr>
        <p:spPr>
          <a:xfrm rot="5400000">
            <a:off x="-3259724" y="3259724"/>
            <a:ext cx="68580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https://posts.voronoiapp.com/business/Visualizing-Costcos-Global-Presence-150</a:t>
            </a:r>
          </a:p>
        </p:txBody>
      </p:sp>
    </p:spTree>
    <p:extLst>
      <p:ext uri="{BB962C8B-B14F-4D97-AF65-F5344CB8AC3E}">
        <p14:creationId xmlns:p14="http://schemas.microsoft.com/office/powerpoint/2010/main" val="9712570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40D9E3E-EE18-7E54-FB86-9BFC13B9D70C}"/>
              </a:ext>
            </a:extLst>
          </p:cNvPr>
          <p:cNvSpPr txBox="1"/>
          <p:nvPr/>
        </p:nvSpPr>
        <p:spPr>
          <a:xfrm rot="5400000">
            <a:off x="-3259724" y="3259724"/>
            <a:ext cx="68580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https://www.visualcapitalist.com/infographic-the-longest-lasting-cars-in-miles/</a:t>
            </a:r>
          </a:p>
        </p:txBody>
      </p:sp>
      <p:pic>
        <p:nvPicPr>
          <p:cNvPr id="4" name="Picture 3" descr="A group of cars with text&#10;&#10;Description automatically generated">
            <a:extLst>
              <a:ext uri="{FF2B5EF4-FFF2-40B4-BE49-F238E27FC236}">
                <a16:creationId xmlns:a16="http://schemas.microsoft.com/office/drawing/2014/main" id="{C3FADDCE-271E-8AF5-AA99-BAFD13591F7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14"/>
          <a:stretch/>
        </p:blipFill>
        <p:spPr>
          <a:xfrm>
            <a:off x="6286894" y="80857"/>
            <a:ext cx="5729702" cy="6777143"/>
          </a:xfrm>
          <a:prstGeom prst="rect">
            <a:avLst/>
          </a:prstGeom>
        </p:spPr>
      </p:pic>
      <p:pic>
        <p:nvPicPr>
          <p:cNvPr id="6" name="Picture 5" descr="A group of cars with text&#10;&#10;Description automatically generated">
            <a:extLst>
              <a:ext uri="{FF2B5EF4-FFF2-40B4-BE49-F238E27FC236}">
                <a16:creationId xmlns:a16="http://schemas.microsoft.com/office/drawing/2014/main" id="{27D5A092-3B2B-DA00-18B2-26144411D71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751"/>
          <a:stretch/>
        </p:blipFill>
        <p:spPr>
          <a:xfrm>
            <a:off x="1004651" y="66136"/>
            <a:ext cx="4985421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7333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D7F4FA-D446-A1E2-11DC-6AF2E8FCC3A5}"/>
              </a:ext>
            </a:extLst>
          </p:cNvPr>
          <p:cNvSpPr txBox="1"/>
          <p:nvPr/>
        </p:nvSpPr>
        <p:spPr>
          <a:xfrm rot="5400000">
            <a:off x="-3308539" y="3275111"/>
            <a:ext cx="69248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https://www.visualcapitalist.com/visualizing-the-odds-of-dying-in-accidents/</a:t>
            </a:r>
          </a:p>
        </p:txBody>
      </p:sp>
      <p:pic>
        <p:nvPicPr>
          <p:cNvPr id="6" name="Picture 5" descr="A poster of a car and a person&#10;&#10;Description automatically generated">
            <a:extLst>
              <a:ext uri="{FF2B5EF4-FFF2-40B4-BE49-F238E27FC236}">
                <a16:creationId xmlns:a16="http://schemas.microsoft.com/office/drawing/2014/main" id="{9C2B8A81-D1AB-4411-2AAB-5F1FF21866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594"/>
          <a:stretch/>
        </p:blipFill>
        <p:spPr>
          <a:xfrm>
            <a:off x="615352" y="-209442"/>
            <a:ext cx="5575540" cy="7040418"/>
          </a:xfrm>
          <a:prstGeom prst="rect">
            <a:avLst/>
          </a:prstGeom>
        </p:spPr>
      </p:pic>
      <p:pic>
        <p:nvPicPr>
          <p:cNvPr id="5" name="Picture 4" descr="A poster of a car and a person&#10;&#10;Description automatically generated">
            <a:extLst>
              <a:ext uri="{FF2B5EF4-FFF2-40B4-BE49-F238E27FC236}">
                <a16:creationId xmlns:a16="http://schemas.microsoft.com/office/drawing/2014/main" id="{9A03E78E-9954-8ECB-1DE6-C8DEE77B44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073" b="3665"/>
          <a:stretch/>
        </p:blipFill>
        <p:spPr>
          <a:xfrm>
            <a:off x="6346165" y="1489402"/>
            <a:ext cx="5845835" cy="3642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8095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france with text&#10;&#10;Description automatically generated">
            <a:extLst>
              <a:ext uri="{FF2B5EF4-FFF2-40B4-BE49-F238E27FC236}">
                <a16:creationId xmlns:a16="http://schemas.microsoft.com/office/drawing/2014/main" id="{AECF18F8-8E6E-FF45-3D34-7AC4834126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8367" y="0"/>
            <a:ext cx="783526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03532B-964A-72C6-C42F-84FA4A3104BB}"/>
              </a:ext>
            </a:extLst>
          </p:cNvPr>
          <p:cNvSpPr txBox="1"/>
          <p:nvPr/>
        </p:nvSpPr>
        <p:spPr>
          <a:xfrm rot="5400000">
            <a:off x="-3308539" y="3275111"/>
            <a:ext cx="69248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https://www.visualcapitalist.com/cp/population-density-patterns-countries/</a:t>
            </a:r>
          </a:p>
        </p:txBody>
      </p:sp>
    </p:spTree>
    <p:extLst>
      <p:ext uri="{BB962C8B-B14F-4D97-AF65-F5344CB8AC3E}">
        <p14:creationId xmlns:p14="http://schemas.microsoft.com/office/powerpoint/2010/main" val="23260782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6AE7AD-B729-31F2-4F58-6B2121705AE7}"/>
              </a:ext>
            </a:extLst>
          </p:cNvPr>
          <p:cNvSpPr txBox="1"/>
          <p:nvPr/>
        </p:nvSpPr>
        <p:spPr>
          <a:xfrm>
            <a:off x="3047281" y="3244334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https://www.visualcapitalist.com/cp/air-quality-in-cities-2022/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695360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map&#10;&#10;Description automatically generated">
            <a:extLst>
              <a:ext uri="{FF2B5EF4-FFF2-40B4-BE49-F238E27FC236}">
                <a16:creationId xmlns:a16="http://schemas.microsoft.com/office/drawing/2014/main" id="{29FE2F1E-8A9F-B02A-D3ED-DB75C24F3C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124791"/>
            <a:ext cx="10871200" cy="59452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3F4166-5593-7347-7E09-CCD5EE7979BD}"/>
              </a:ext>
            </a:extLst>
          </p:cNvPr>
          <p:cNvSpPr txBox="1"/>
          <p:nvPr/>
        </p:nvSpPr>
        <p:spPr>
          <a:xfrm>
            <a:off x="0" y="6488668"/>
            <a:ext cx="7755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https://commons.wikimedia.org/wiki/File:Nightingale-mortality.jpg</a:t>
            </a:r>
          </a:p>
        </p:txBody>
      </p:sp>
    </p:spTree>
    <p:extLst>
      <p:ext uri="{BB962C8B-B14F-4D97-AF65-F5344CB8AC3E}">
        <p14:creationId xmlns:p14="http://schemas.microsoft.com/office/powerpoint/2010/main" val="22412720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images of different languages&#10;&#10;Description automatically generated">
            <a:extLst>
              <a:ext uri="{FF2B5EF4-FFF2-40B4-BE49-F238E27FC236}">
                <a16:creationId xmlns:a16="http://schemas.microsoft.com/office/drawing/2014/main" id="{B2095A79-DEEF-2247-DC5A-1A39582C77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527" y="0"/>
            <a:ext cx="5280602" cy="60875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E55DF0-2D95-3142-AD95-1EBC06CCDACF}"/>
              </a:ext>
            </a:extLst>
          </p:cNvPr>
          <p:cNvSpPr txBox="1"/>
          <p:nvPr/>
        </p:nvSpPr>
        <p:spPr>
          <a:xfrm>
            <a:off x="0" y="6488668"/>
            <a:ext cx="9064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https://www.reddit.com/media?url=https%3A%2F%2Fi.redd.it%2F5z606kdtodfc1.png</a:t>
            </a:r>
          </a:p>
        </p:txBody>
      </p:sp>
    </p:spTree>
    <p:extLst>
      <p:ext uri="{BB962C8B-B14F-4D97-AF65-F5344CB8AC3E}">
        <p14:creationId xmlns:p14="http://schemas.microsoft.com/office/powerpoint/2010/main" val="21296531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D5D7E88-5E2F-42F4-8785-0EBAE1248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John Snow</a:t>
            </a:r>
            <a:br>
              <a:rPr lang="en-US" dirty="0"/>
            </a:br>
            <a:r>
              <a:rPr lang="en-US" dirty="0"/>
              <a:t>Cholera Map</a:t>
            </a:r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88325C3F-418D-4CBE-9B67-4D6A922BE78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1" t="11587" r="38374" b="60880"/>
          <a:stretch/>
        </p:blipFill>
        <p:spPr>
          <a:xfrm>
            <a:off x="174170" y="3867378"/>
            <a:ext cx="4124573" cy="2492828"/>
          </a:xfrm>
          <a:prstGeom prst="rect">
            <a:avLst/>
          </a:prstGeom>
        </p:spPr>
      </p:pic>
      <p:pic>
        <p:nvPicPr>
          <p:cNvPr id="2" name="Picture 1" descr="Text&#10;&#10;Description automatically generated">
            <a:extLst>
              <a:ext uri="{FF2B5EF4-FFF2-40B4-BE49-F238E27FC236}">
                <a16:creationId xmlns:a16="http://schemas.microsoft.com/office/drawing/2014/main" id="{26BB4B45-3B58-A32C-633B-1F0F46D0536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3" t="42064" r="38703" b="18616"/>
          <a:stretch/>
        </p:blipFill>
        <p:spPr>
          <a:xfrm>
            <a:off x="4876801" y="240390"/>
            <a:ext cx="7053942" cy="6377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6140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8316A-9A21-410D-98BD-DF95F56EA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2843" y="204777"/>
            <a:ext cx="2830286" cy="5769429"/>
          </a:xfrm>
        </p:spPr>
        <p:txBody>
          <a:bodyPr/>
          <a:lstStyle/>
          <a:p>
            <a:r>
              <a:rPr lang="en-US" dirty="0"/>
              <a:t>Geography + Quantities</a:t>
            </a:r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E40385AF-612B-46F6-9309-0CF220EABC9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6" t="14482" r="34475" b="46007"/>
          <a:stretch/>
        </p:blipFill>
        <p:spPr>
          <a:xfrm>
            <a:off x="1260396" y="44457"/>
            <a:ext cx="10626804" cy="5651489"/>
          </a:xfrm>
          <a:prstGeom prst="rect">
            <a:avLst/>
          </a:prstGeom>
        </p:spPr>
      </p:pic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5E2A047B-C585-1485-2561-B7AD123DD58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48" t="82552" r="40532" b="9967"/>
          <a:stretch/>
        </p:blipFill>
        <p:spPr>
          <a:xfrm>
            <a:off x="119743" y="6134526"/>
            <a:ext cx="3842658" cy="72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6722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C64DE-AD60-C079-FEBF-9016E6952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and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8C884-4F25-1DA2-BD38-5BB03CE5F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“Data Visualization - A practical introduction” by Kieran Healy</a:t>
            </a:r>
          </a:p>
          <a:p>
            <a:pPr lvl="1"/>
            <a:r>
              <a:rPr lang="en-US" i="1" dirty="0"/>
              <a:t>Duke University </a:t>
            </a:r>
            <a:r>
              <a:rPr lang="en-US" i="1" dirty="0">
                <a:hlinkClick r:id="rId2"/>
              </a:rPr>
              <a:t>kieran.healy@duke.edu</a:t>
            </a:r>
            <a:r>
              <a:rPr lang="en-US" i="1" dirty="0"/>
              <a:t> </a:t>
            </a:r>
          </a:p>
          <a:p>
            <a:pPr lvl="1"/>
            <a:r>
              <a:rPr lang="en-US" dirty="0">
                <a:hlinkClick r:id="rId3"/>
              </a:rPr>
              <a:t>https://socviz.co/lookatdata.html</a:t>
            </a:r>
            <a:endParaRPr lang="en-US" dirty="0"/>
          </a:p>
          <a:p>
            <a:r>
              <a:rPr lang="en-US" dirty="0"/>
              <a:t>Wikipedia Normal and Uniform Distribution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126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699</TotalTime>
  <Words>598</Words>
  <Application>Microsoft Macintosh PowerPoint</Application>
  <PresentationFormat>Widescreen</PresentationFormat>
  <Paragraphs>87</Paragraphs>
  <Slides>49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3" baseType="lpstr">
      <vt:lpstr>Arial</vt:lpstr>
      <vt:lpstr>Calibri</vt:lpstr>
      <vt:lpstr>Calibri Light</vt:lpstr>
      <vt:lpstr>Office Theme</vt:lpstr>
      <vt:lpstr>Pre-attentive Attributes</vt:lpstr>
      <vt:lpstr>PowerPoint Presentation</vt:lpstr>
      <vt:lpstr>Draw your data with each channel</vt:lpstr>
      <vt:lpstr>PowerPoint Presentation</vt:lpstr>
      <vt:lpstr>PowerPoint Presentation</vt:lpstr>
      <vt:lpstr>PowerPoint Presentation</vt:lpstr>
      <vt:lpstr>PowerPoint Presentation</vt:lpstr>
      <vt:lpstr>Draw your data with each channel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Category v. Number Data Mapping Schemes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about accuracy?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Review results</vt:lpstr>
      <vt:lpstr>Accuracy</vt:lpstr>
      <vt:lpstr>Same axis + adjacency</vt:lpstr>
      <vt:lpstr>Length (axis not aligned)</vt:lpstr>
      <vt:lpstr>Angle</vt:lpstr>
      <vt:lpstr>Size (rectangle &amp; circle)</vt:lpstr>
      <vt:lpstr>Application Problem </vt:lpstr>
      <vt:lpstr>Application problems!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John Snow Cholera Map</vt:lpstr>
      <vt:lpstr>Geography + Quantities</vt:lpstr>
      <vt:lpstr>References and Sources</vt:lpstr>
    </vt:vector>
  </TitlesOfParts>
  <Company>West Virginia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 Vis </dc:title>
  <dc:creator>Nathan Garrett</dc:creator>
  <cp:lastModifiedBy>Nathan Garrett</cp:lastModifiedBy>
  <cp:revision>47</cp:revision>
  <dcterms:created xsi:type="dcterms:W3CDTF">2024-01-29T15:06:02Z</dcterms:created>
  <dcterms:modified xsi:type="dcterms:W3CDTF">2026-07-29T18:35:46Z</dcterms:modified>
</cp:coreProperties>
</file>