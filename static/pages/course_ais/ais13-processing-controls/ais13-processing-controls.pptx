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25"/>
  </p:notesMasterIdLst>
  <p:handoutMasterIdLst>
    <p:handoutMasterId r:id="rId26"/>
  </p:handoutMasterIdLst>
  <p:sldIdLst>
    <p:sldId id="330" r:id="rId3"/>
    <p:sldId id="1718" r:id="rId4"/>
    <p:sldId id="1771" r:id="rId5"/>
    <p:sldId id="1806" r:id="rId6"/>
    <p:sldId id="1791" r:id="rId7"/>
    <p:sldId id="1792" r:id="rId8"/>
    <p:sldId id="1793" r:id="rId9"/>
    <p:sldId id="1782" r:id="rId10"/>
    <p:sldId id="1794" r:id="rId11"/>
    <p:sldId id="1795" r:id="rId12"/>
    <p:sldId id="1797" r:id="rId13"/>
    <p:sldId id="1802" r:id="rId14"/>
    <p:sldId id="1803" r:id="rId15"/>
    <p:sldId id="1804" r:id="rId16"/>
    <p:sldId id="1769" r:id="rId17"/>
    <p:sldId id="1796" r:id="rId18"/>
    <p:sldId id="1798" r:id="rId19"/>
    <p:sldId id="1800" r:id="rId20"/>
    <p:sldId id="1805" r:id="rId21"/>
    <p:sldId id="1799" r:id="rId22"/>
    <p:sldId id="1801" r:id="rId23"/>
    <p:sldId id="170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7120" autoAdjust="0"/>
    <p:restoredTop sz="86502" autoAdjust="0"/>
  </p:normalViewPr>
  <p:slideViewPr>
    <p:cSldViewPr>
      <p:cViewPr varScale="1">
        <p:scale>
          <a:sx n="92" d="100"/>
          <a:sy n="92" d="100"/>
        </p:scale>
        <p:origin x="432" y="184"/>
      </p:cViewPr>
      <p:guideLst>
        <p:guide pos="2880"/>
        <p:guide orient="horz" pos="384"/>
        <p:guide orient="horz" pos="144"/>
        <p:guide orient="horz" pos="624"/>
        <p:guide pos="288"/>
        <p:guide pos="5472"/>
        <p:guide orient="horz" pos="3984"/>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10/22/25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10/22/25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This chapter covers the last two principles of the Trust Services Framework.</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Processing integrity consists of input-processing-output controls. Input controls should prevent inaccurate data from getting into the system.</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Good forms design can minimize the chance for errors and having prenumbered documents in sequence allows you to know if a transaction is missing. For example, how do you know if you have billed the customers for all sales in a month? You would first see if the sales orders are invoiced; if a sales order is not in sequence, follow up to see if the goods have shipped or if it’s on backorder.</a:t>
            </a:r>
          </a:p>
          <a:p>
            <a:pPr marL="0" lvl="0" indent="0" algn="l" rtl="0">
              <a:spcBef>
                <a:spcPts val="0"/>
              </a:spcBef>
              <a:spcAft>
                <a:spcPts val="0"/>
              </a:spcAft>
              <a:buNone/>
            </a:pPr>
            <a:r>
              <a:rPr lang="en-IN" dirty="0"/>
              <a:t>	</a:t>
            </a:r>
          </a:p>
          <a:p>
            <a:pPr marL="0" lvl="0" indent="0" algn="l" rtl="0">
              <a:spcBef>
                <a:spcPts val="0"/>
              </a:spcBef>
              <a:spcAft>
                <a:spcPts val="0"/>
              </a:spcAft>
              <a:buNone/>
            </a:pPr>
            <a:r>
              <a:rPr lang="en-IN" dirty="0"/>
              <a:t>Turnaround documents are a good input control (an example is your credit card bill; when you pay the bill you tear off a portion of the front page of the bill;</a:t>
            </a:r>
            <a:r>
              <a:rPr lang="en-IN" baseline="0" dirty="0"/>
              <a:t> i</a:t>
            </a:r>
            <a:r>
              <a:rPr lang="en-IN" dirty="0"/>
              <a:t>t already has your account number </a:t>
            </a:r>
            <a:r>
              <a:rPr lang="en-IN" dirty="0" err="1"/>
              <a:t>preprinted</a:t>
            </a:r>
            <a:r>
              <a:rPr lang="en-IN" dirty="0"/>
              <a:t> on it) because they make processing more efficient and eliminate potential errors in input (can you imagine having to read someone’s handwriting on a credit card account number?).</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Processing controls ensure that data is processed correctly. Output controls are additional controls over processing integrity.</a:t>
            </a:r>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2212462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1963321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3260087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1906904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1901918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202063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 main objective of availability controls is to minimize the risk of downtime and to quickly recover and resume normal operations.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To minimize the risk of downtime, controls include:</a:t>
            </a:r>
          </a:p>
          <a:p>
            <a:pPr marL="0" lvl="0" indent="0" algn="l" rtl="0">
              <a:spcBef>
                <a:spcPts val="0"/>
              </a:spcBef>
              <a:spcAft>
                <a:spcPts val="0"/>
              </a:spcAft>
              <a:buNone/>
            </a:pPr>
            <a:r>
              <a:rPr lang="en-IN" dirty="0"/>
              <a:t>Preventive maintenance</a:t>
            </a:r>
          </a:p>
          <a:p>
            <a:pPr marL="0" lvl="0" indent="0" algn="l" rtl="0">
              <a:spcBef>
                <a:spcPts val="0"/>
              </a:spcBef>
              <a:spcAft>
                <a:spcPts val="0"/>
              </a:spcAft>
              <a:buNone/>
            </a:pPr>
            <a:r>
              <a:rPr lang="en-IN" dirty="0"/>
              <a:t>Fault tolerance</a:t>
            </a:r>
          </a:p>
          <a:p>
            <a:pPr marL="457200" lvl="1" indent="0" algn="l" rtl="0">
              <a:spcBef>
                <a:spcPts val="0"/>
              </a:spcBef>
              <a:spcAft>
                <a:spcPts val="0"/>
              </a:spcAft>
              <a:buNone/>
            </a:pPr>
            <a:r>
              <a:rPr lang="en-IN" dirty="0"/>
              <a:t>Use of redundant components</a:t>
            </a:r>
          </a:p>
          <a:p>
            <a:pPr marL="0" lvl="0" indent="0" algn="l" rtl="0">
              <a:spcBef>
                <a:spcPts val="0"/>
              </a:spcBef>
              <a:spcAft>
                <a:spcPts val="0"/>
              </a:spcAft>
              <a:buNone/>
            </a:pPr>
            <a:r>
              <a:rPr lang="en-IN" dirty="0"/>
              <a:t>Data </a:t>
            </a:r>
            <a:r>
              <a:rPr lang="en-IN" dirty="0" err="1"/>
              <a:t>center</a:t>
            </a:r>
            <a:r>
              <a:rPr lang="en-IN" dirty="0"/>
              <a:t> location and design</a:t>
            </a:r>
          </a:p>
          <a:p>
            <a:pPr marL="457200" lvl="1" indent="0" algn="l" rtl="0">
              <a:spcBef>
                <a:spcPts val="0"/>
              </a:spcBef>
              <a:spcAft>
                <a:spcPts val="0"/>
              </a:spcAft>
              <a:buNone/>
            </a:pPr>
            <a:r>
              <a:rPr lang="en-IN" dirty="0"/>
              <a:t>Raised floor</a:t>
            </a:r>
          </a:p>
          <a:p>
            <a:pPr marL="457200" lvl="1" indent="0" algn="l" rtl="0">
              <a:spcBef>
                <a:spcPts val="0"/>
              </a:spcBef>
              <a:spcAft>
                <a:spcPts val="0"/>
              </a:spcAft>
              <a:buNone/>
            </a:pPr>
            <a:r>
              <a:rPr lang="en-IN" dirty="0"/>
              <a:t>Fire suppression</a:t>
            </a:r>
          </a:p>
          <a:p>
            <a:pPr marL="457200" lvl="1" indent="0" algn="l" rtl="0">
              <a:spcBef>
                <a:spcPts val="0"/>
              </a:spcBef>
              <a:spcAft>
                <a:spcPts val="0"/>
              </a:spcAft>
              <a:buNone/>
            </a:pPr>
            <a:r>
              <a:rPr lang="en-IN" dirty="0"/>
              <a:t>Air conditioning</a:t>
            </a:r>
          </a:p>
          <a:p>
            <a:pPr marL="457200" lvl="1" indent="0" algn="l" rtl="0">
              <a:spcBef>
                <a:spcPts val="0"/>
              </a:spcBef>
              <a:spcAft>
                <a:spcPts val="0"/>
              </a:spcAft>
              <a:buNone/>
            </a:pPr>
            <a:r>
              <a:rPr lang="en-IN" dirty="0"/>
              <a:t>Uninterruptible power supply (UPS)</a:t>
            </a:r>
          </a:p>
          <a:p>
            <a:pPr marL="457200" lvl="1" indent="0" algn="l" rtl="0">
              <a:spcBef>
                <a:spcPts val="0"/>
              </a:spcBef>
              <a:spcAft>
                <a:spcPts val="0"/>
              </a:spcAft>
              <a:buNone/>
            </a:pPr>
            <a:r>
              <a:rPr lang="en-IN" dirty="0"/>
              <a:t>Surge protection</a:t>
            </a:r>
          </a:p>
          <a:p>
            <a:pPr marL="0" lvl="0" indent="0" algn="l" rtl="0">
              <a:spcBef>
                <a:spcPts val="0"/>
              </a:spcBef>
              <a:spcAft>
                <a:spcPts val="0"/>
              </a:spcAft>
              <a:buNone/>
            </a:pPr>
            <a:r>
              <a:rPr lang="en-IN" dirty="0"/>
              <a:t>Training</a:t>
            </a:r>
          </a:p>
          <a:p>
            <a:pPr marL="0" lvl="0" indent="0" algn="l" rtl="0">
              <a:spcBef>
                <a:spcPts val="0"/>
              </a:spcBef>
              <a:spcAft>
                <a:spcPts val="0"/>
              </a:spcAft>
              <a:buNone/>
            </a:pPr>
            <a:r>
              <a:rPr lang="en-IN" dirty="0"/>
              <a:t>Patch management and antivirus software</a:t>
            </a:r>
          </a:p>
          <a:p>
            <a:pPr marL="0" lvl="0" indent="0" algn="l" rtl="0">
              <a:spcBef>
                <a:spcPts val="0"/>
              </a:spcBef>
              <a:spcAft>
                <a:spcPts val="0"/>
              </a:spcAft>
              <a:buNone/>
            </a:pPr>
            <a:endParaRPr lang="en-IN" dirty="0"/>
          </a:p>
          <a:p>
            <a:pPr marL="0" lvl="0" indent="0" algn="l" rtl="0">
              <a:spcBef>
                <a:spcPts val="0"/>
              </a:spcBef>
              <a:spcAft>
                <a:spcPts val="0"/>
              </a:spcAft>
              <a:buNone/>
            </a:pPr>
            <a:endParaRPr lang="en-IN" dirty="0"/>
          </a:p>
          <a:p>
            <a:pPr marL="0" lvl="0" indent="0" algn="l" rtl="0">
              <a:spcBef>
                <a:spcPts val="0"/>
              </a:spcBef>
              <a:spcAft>
                <a:spcPts val="0"/>
              </a:spcAft>
              <a:buNone/>
            </a:pPr>
            <a:r>
              <a:rPr lang="en-IN" dirty="0"/>
              <a:t>For quick and complete recovery and resumption of normal processing controls include:</a:t>
            </a:r>
          </a:p>
          <a:p>
            <a:pPr marL="0" lvl="0" indent="0" algn="l" rtl="0">
              <a:spcBef>
                <a:spcPts val="0"/>
              </a:spcBef>
              <a:spcAft>
                <a:spcPts val="0"/>
              </a:spcAft>
              <a:buNone/>
            </a:pPr>
            <a:r>
              <a:rPr lang="en-IN" dirty="0"/>
              <a:t>Backup procedures</a:t>
            </a:r>
          </a:p>
          <a:p>
            <a:pPr marL="457200" lvl="1" indent="0" algn="l" rtl="0">
              <a:spcBef>
                <a:spcPts val="0"/>
              </a:spcBef>
              <a:spcAft>
                <a:spcPts val="0"/>
              </a:spcAft>
              <a:buNone/>
            </a:pPr>
            <a:r>
              <a:rPr lang="en-IN" dirty="0"/>
              <a:t>Incremental</a:t>
            </a:r>
          </a:p>
          <a:p>
            <a:pPr marL="914400" lvl="2" indent="0" algn="l" rtl="0">
              <a:spcBef>
                <a:spcPts val="0"/>
              </a:spcBef>
              <a:spcAft>
                <a:spcPts val="0"/>
              </a:spcAft>
              <a:buNone/>
            </a:pPr>
            <a:r>
              <a:rPr lang="en-IN" dirty="0"/>
              <a:t>Copies only items that have changed since last partial backup</a:t>
            </a:r>
          </a:p>
          <a:p>
            <a:pPr marL="457200" lvl="1" indent="0" algn="l" rtl="0">
              <a:spcBef>
                <a:spcPts val="0"/>
              </a:spcBef>
              <a:spcAft>
                <a:spcPts val="0"/>
              </a:spcAft>
              <a:buNone/>
            </a:pPr>
            <a:r>
              <a:rPr lang="en-IN" dirty="0"/>
              <a:t>Differential backup</a:t>
            </a:r>
          </a:p>
          <a:p>
            <a:pPr marL="914400" lvl="2" indent="0" algn="l" rtl="0">
              <a:spcBef>
                <a:spcPts val="0"/>
              </a:spcBef>
              <a:spcAft>
                <a:spcPts val="0"/>
              </a:spcAft>
              <a:buNone/>
            </a:pPr>
            <a:r>
              <a:rPr lang="en-IN" dirty="0"/>
              <a:t>Copies all changes made since last full backup</a:t>
            </a:r>
          </a:p>
          <a:p>
            <a:pPr marL="0" lvl="0" indent="0" algn="l" rtl="0">
              <a:spcBef>
                <a:spcPts val="0"/>
              </a:spcBef>
              <a:spcAft>
                <a:spcPts val="0"/>
              </a:spcAft>
              <a:buNone/>
            </a:pPr>
            <a:r>
              <a:rPr lang="en-IN" dirty="0"/>
              <a:t>Disaster recovery plan (DRP)</a:t>
            </a:r>
          </a:p>
          <a:p>
            <a:pPr marL="457200" lvl="1" indent="0" algn="l" rtl="0">
              <a:spcBef>
                <a:spcPts val="0"/>
              </a:spcBef>
              <a:spcAft>
                <a:spcPts val="0"/>
              </a:spcAft>
              <a:buNone/>
            </a:pPr>
            <a:r>
              <a:rPr lang="en-IN" dirty="0"/>
              <a:t>Procedures to restore organization’s IT function</a:t>
            </a:r>
          </a:p>
          <a:p>
            <a:pPr marL="914400" lvl="2" indent="0" algn="l" rtl="0">
              <a:spcBef>
                <a:spcPts val="0"/>
              </a:spcBef>
              <a:spcAft>
                <a:spcPts val="0"/>
              </a:spcAft>
              <a:buNone/>
            </a:pPr>
            <a:r>
              <a:rPr lang="en-IN" dirty="0"/>
              <a:t>Cold site</a:t>
            </a:r>
          </a:p>
          <a:p>
            <a:pPr marL="914400" lvl="2" indent="0" algn="l" rtl="0">
              <a:spcBef>
                <a:spcPts val="0"/>
              </a:spcBef>
              <a:spcAft>
                <a:spcPts val="0"/>
              </a:spcAft>
              <a:buNone/>
            </a:pPr>
            <a:r>
              <a:rPr lang="en-IN" dirty="0"/>
              <a:t>Hot site</a:t>
            </a:r>
          </a:p>
          <a:p>
            <a:pPr marL="0" lvl="0" indent="0" algn="l" rtl="0">
              <a:spcBef>
                <a:spcPts val="0"/>
              </a:spcBef>
              <a:spcAft>
                <a:spcPts val="0"/>
              </a:spcAft>
              <a:buNone/>
            </a:pPr>
            <a:r>
              <a:rPr lang="en-IN" dirty="0"/>
              <a:t>Business continuity plan (BCP)</a:t>
            </a:r>
          </a:p>
          <a:p>
            <a:pPr marL="457200" lvl="1" indent="0" algn="l" rtl="0">
              <a:spcBef>
                <a:spcPts val="0"/>
              </a:spcBef>
              <a:spcAft>
                <a:spcPts val="0"/>
              </a:spcAft>
              <a:buNone/>
            </a:pPr>
            <a:r>
              <a:rPr lang="en-IN" dirty="0"/>
              <a:t>How to resume all operations, not just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392403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1396885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402428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04652495"/>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10/22/25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10/22/25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7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0"/>
            <a:ext cx="8229600" cy="13716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60248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a:extLst>
              <a:ext uri="{FF2B5EF4-FFF2-40B4-BE49-F238E27FC236}">
                <a16:creationId xmlns:a16="http://schemas.microsoft.com/office/drawing/2014/main" id="{EA13232C-DF31-4CED-AB61-62F26E3165BA}"/>
              </a:ext>
            </a:extLst>
          </p:cNvPr>
          <p:cNvSpPr>
            <a:spLocks noGrp="1"/>
          </p:cNvSpPr>
          <p:nvPr>
            <p:ph sz="quarter" idx="15"/>
          </p:nvPr>
        </p:nvSpPr>
        <p:spPr>
          <a:xfrm>
            <a:off x="533400" y="3733800"/>
            <a:ext cx="80772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25DD6962-3095-446C-A57F-4E808E224A95}"/>
              </a:ext>
            </a:extLst>
          </p:cNvPr>
          <p:cNvSpPr>
            <a:spLocks noGrp="1"/>
          </p:cNvSpPr>
          <p:nvPr>
            <p:ph sz="quarter" idx="16"/>
          </p:nvPr>
        </p:nvSpPr>
        <p:spPr>
          <a:xfrm>
            <a:off x="762000" y="5619750"/>
            <a:ext cx="7848600" cy="323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a:extLst>
              <a:ext uri="{FF2B5EF4-FFF2-40B4-BE49-F238E27FC236}">
                <a16:creationId xmlns:a16="http://schemas.microsoft.com/office/drawing/2014/main" id="{FD058FF3-6114-471E-A9AA-A3D250496F47}"/>
              </a:ext>
            </a:extLst>
          </p:cNvPr>
          <p:cNvSpPr>
            <a:spLocks noGrp="1"/>
          </p:cNvSpPr>
          <p:nvPr>
            <p:ph sz="quarter" idx="17"/>
          </p:nvPr>
        </p:nvSpPr>
        <p:spPr>
          <a:xfrm>
            <a:off x="381000" y="2255838"/>
            <a:ext cx="8458200" cy="334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10/22/25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e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10/22/25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8"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10/22/25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registrar.wvu.edu/files/d/25914eab-6382-42e1-adb6-17059a60d157/ug-application-to-enroll-in-500-level-course_updated_062524.pdf"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dirty="0">
                <a:solidFill>
                  <a:srgbClr val="007FA3"/>
                </a:solidFill>
                <a:latin typeface="Arial" panose="020B0604020202020204" pitchFamily="34" charset="0"/>
                <a:cs typeface="Arial" panose="020B0604020202020204" pitchFamily="34" charset="0"/>
              </a:rPr>
              <a:t>Sixteenth Edition</a:t>
            </a:r>
            <a:endParaRPr lang="en-US" dirty="0">
              <a:latin typeface="Arial" panose="020B0604020202020204" pitchFamily="34" charset="0"/>
              <a:cs typeface="Arial" panose="020B0604020202020204" pitchFamily="34" charset="0"/>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1999" y="2430301"/>
            <a:ext cx="2104845" cy="498016"/>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Chapter 13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083896"/>
            <a:ext cx="4140200" cy="713460"/>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Processing Integrity and Availability Controls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34922"/>
            <a:ext cx="8229600" cy="618079"/>
          </a:xfrm>
        </p:spPr>
        <p:txBody>
          <a:bodyPr anchor="ctr">
            <a:noAutofit/>
          </a:bodyPr>
          <a:lstStyle/>
          <a:p>
            <a:r>
              <a:rPr lang="en-IN" sz="3600" dirty="0">
                <a:latin typeface="+mj-lt"/>
              </a:rPr>
              <a:t>Learning Objectives</a:t>
            </a:r>
          </a:p>
        </p:txBody>
      </p:sp>
      <p:sp>
        <p:nvSpPr>
          <p:cNvPr id="2" name="Content Placeholder 1"/>
          <p:cNvSpPr>
            <a:spLocks noGrp="1"/>
          </p:cNvSpPr>
          <p:nvPr>
            <p:ph idx="13"/>
          </p:nvPr>
        </p:nvSpPr>
        <p:spPr>
          <a:xfrm>
            <a:off x="477115" y="999226"/>
            <a:ext cx="8229600" cy="2103140"/>
          </a:xfrm>
        </p:spPr>
        <p:txBody>
          <a:bodyPr>
            <a:noAutofit/>
          </a:bodyPr>
          <a:lstStyle/>
          <a:p>
            <a:pPr lvl="0">
              <a:spcBef>
                <a:spcPts val="0"/>
              </a:spcBef>
              <a:buSzPts val="2400"/>
            </a:pPr>
            <a:r>
              <a:rPr lang="en-IN" sz="2400" dirty="0"/>
              <a:t>Identify and explain the input, processing, and output controls designed to ensure processing integrity.</a:t>
            </a:r>
          </a:p>
          <a:p>
            <a:pPr lvl="0">
              <a:spcBef>
                <a:spcPts val="2000"/>
              </a:spcBef>
              <a:buSzPts val="2400"/>
            </a:pPr>
            <a:r>
              <a:rPr lang="en-IN" sz="2400" dirty="0"/>
              <a:t>Identify and explain controls designed to ensure systems availability by minimizing the risk of system downtime and enabling efficient recovery and resumption of operations.</a:t>
            </a:r>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52400"/>
            <a:ext cx="8229600" cy="553998"/>
          </a:xfrm>
        </p:spPr>
        <p:txBody>
          <a:bodyPr anchor="ctr">
            <a:noAutofit/>
          </a:bodyPr>
          <a:lstStyle/>
          <a:p>
            <a:r>
              <a:rPr lang="en-IN" sz="3600" dirty="0">
                <a:latin typeface="+mj-lt"/>
              </a:rPr>
              <a:t>Processing Integrity Controls</a:t>
            </a:r>
          </a:p>
        </p:txBody>
      </p:sp>
      <p:sp>
        <p:nvSpPr>
          <p:cNvPr id="2" name="Content Placeholder 1"/>
          <p:cNvSpPr>
            <a:spLocks noGrp="1"/>
          </p:cNvSpPr>
          <p:nvPr>
            <p:ph idx="13"/>
          </p:nvPr>
        </p:nvSpPr>
        <p:spPr>
          <a:xfrm>
            <a:off x="477115" y="1010355"/>
            <a:ext cx="8229600" cy="2600712"/>
          </a:xfrm>
        </p:spPr>
        <p:txBody>
          <a:bodyPr>
            <a:noAutofit/>
          </a:bodyPr>
          <a:lstStyle/>
          <a:p>
            <a:pPr>
              <a:spcBef>
                <a:spcPts val="600"/>
              </a:spcBef>
              <a:buSzPts val="2400"/>
            </a:pPr>
            <a:r>
              <a:rPr lang="en-IN" sz="2400" dirty="0"/>
              <a:t>Input Process Stage</a:t>
            </a:r>
          </a:p>
          <a:p>
            <a:pPr lvl="1">
              <a:buSzPts val="2400"/>
            </a:pPr>
            <a:r>
              <a:rPr lang="en-IN" sz="2400" dirty="0"/>
              <a:t>Forms design</a:t>
            </a:r>
          </a:p>
          <a:p>
            <a:pPr lvl="2">
              <a:buSzPts val="2400"/>
            </a:pPr>
            <a:r>
              <a:rPr lang="en-IN" sz="2400" dirty="0"/>
              <a:t>Sequentially prenumbered</a:t>
            </a:r>
          </a:p>
          <a:p>
            <a:pPr lvl="1">
              <a:buSzPts val="2400"/>
            </a:pPr>
            <a:r>
              <a:rPr lang="en-IN" sz="2400" dirty="0"/>
              <a:t>Turnaround documents</a:t>
            </a:r>
          </a:p>
          <a:p>
            <a:pPr lvl="1">
              <a:buSzPts val="2400"/>
            </a:pPr>
            <a:r>
              <a:rPr lang="en-IN" sz="2400" dirty="0"/>
              <a:t>Cancelation and storage of source documents</a:t>
            </a:r>
          </a:p>
          <a:p>
            <a:pPr lvl="1">
              <a:buSzPts val="2400"/>
            </a:pPr>
            <a:r>
              <a:rPr lang="en-IN" sz="2400" dirty="0"/>
              <a:t>Data entry controls</a:t>
            </a:r>
          </a:p>
        </p:txBody>
      </p:sp>
    </p:spTree>
    <p:extLst>
      <p:ext uri="{BB962C8B-B14F-4D97-AF65-F5344CB8AC3E}">
        <p14:creationId xmlns:p14="http://schemas.microsoft.com/office/powerpoint/2010/main" val="788392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BC4B49-D833-7D29-987F-811D2A83320B}"/>
              </a:ext>
            </a:extLst>
          </p:cNvPr>
          <p:cNvSpPr txBox="1"/>
          <p:nvPr/>
        </p:nvSpPr>
        <p:spPr>
          <a:xfrm>
            <a:off x="304800" y="1517308"/>
            <a:ext cx="3276600" cy="1477328"/>
          </a:xfrm>
          <a:prstGeom prst="rect">
            <a:avLst/>
          </a:prstGeom>
          <a:noFill/>
        </p:spPr>
        <p:txBody>
          <a:bodyPr wrap="square">
            <a:spAutoFit/>
          </a:bodyPr>
          <a:lstStyle/>
          <a:p>
            <a:r>
              <a:rPr lang="en-US" dirty="0">
                <a:hlinkClick r:id="rId2"/>
              </a:rPr>
              <a:t>https://registrar.wvu.edu/files/d/25914eab-6382-42e1-adb6-17059a60d157/ug-application-to-enroll-in-500-level-course_updated_062524.pdf</a:t>
            </a:r>
            <a:r>
              <a:rPr lang="en-US" dirty="0"/>
              <a:t> </a:t>
            </a:r>
          </a:p>
        </p:txBody>
      </p:sp>
      <p:pic>
        <p:nvPicPr>
          <p:cNvPr id="5" name="Picture 4" descr="A document with text and numbers&#10;&#10;AI-generated content may be incorrect.">
            <a:extLst>
              <a:ext uri="{FF2B5EF4-FFF2-40B4-BE49-F238E27FC236}">
                <a16:creationId xmlns:a16="http://schemas.microsoft.com/office/drawing/2014/main" id="{81550469-A6DF-B2F0-C995-6DE7384F67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2400" y="1465846"/>
            <a:ext cx="4131000" cy="5371710"/>
          </a:xfrm>
          <a:prstGeom prst="rect">
            <a:avLst/>
          </a:prstGeom>
        </p:spPr>
      </p:pic>
      <p:sp>
        <p:nvSpPr>
          <p:cNvPr id="6" name="Title 5">
            <a:extLst>
              <a:ext uri="{FF2B5EF4-FFF2-40B4-BE49-F238E27FC236}">
                <a16:creationId xmlns:a16="http://schemas.microsoft.com/office/drawing/2014/main" id="{7C797ED2-17B5-9A15-BAAA-E6DE02F7E0FC}"/>
              </a:ext>
            </a:extLst>
          </p:cNvPr>
          <p:cNvSpPr>
            <a:spLocks noGrp="1"/>
          </p:cNvSpPr>
          <p:nvPr>
            <p:ph type="title"/>
          </p:nvPr>
        </p:nvSpPr>
        <p:spPr>
          <a:xfrm>
            <a:off x="457200" y="204656"/>
            <a:ext cx="8229600" cy="1107996"/>
          </a:xfrm>
        </p:spPr>
        <p:txBody>
          <a:bodyPr/>
          <a:lstStyle/>
          <a:p>
            <a:r>
              <a:rPr lang="en-US" dirty="0"/>
              <a:t>What processing controls are missing/present in this form?</a:t>
            </a:r>
          </a:p>
        </p:txBody>
      </p:sp>
    </p:spTree>
    <p:extLst>
      <p:ext uri="{BB962C8B-B14F-4D97-AF65-F5344CB8AC3E}">
        <p14:creationId xmlns:p14="http://schemas.microsoft.com/office/powerpoint/2010/main" val="1778040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9375" y="190500"/>
            <a:ext cx="8229600" cy="506673"/>
          </a:xfrm>
        </p:spPr>
        <p:txBody>
          <a:bodyPr>
            <a:noAutofit/>
          </a:bodyPr>
          <a:lstStyle/>
          <a:p>
            <a:r>
              <a:rPr lang="en-IN" sz="3200" dirty="0">
                <a:latin typeface="+mj-lt"/>
              </a:rPr>
              <a:t>Processing Integrity: Data Entry Controls</a:t>
            </a:r>
          </a:p>
        </p:txBody>
      </p:sp>
      <p:sp>
        <p:nvSpPr>
          <p:cNvPr id="2" name="Content Placeholder 1"/>
          <p:cNvSpPr>
            <a:spLocks noGrp="1"/>
          </p:cNvSpPr>
          <p:nvPr>
            <p:ph idx="1"/>
          </p:nvPr>
        </p:nvSpPr>
        <p:spPr>
          <a:xfrm>
            <a:off x="457200" y="997221"/>
            <a:ext cx="3798278" cy="2749471"/>
          </a:xfrm>
        </p:spPr>
        <p:txBody>
          <a:bodyPr wrap="square">
            <a:spAutoFit/>
          </a:bodyPr>
          <a:lstStyle/>
          <a:p>
            <a:pPr lvl="0">
              <a:spcBef>
                <a:spcPts val="0"/>
              </a:spcBef>
              <a:buSzPts val="2000"/>
            </a:pPr>
            <a:r>
              <a:rPr lang="en-IN" sz="1800" b="1" dirty="0"/>
              <a:t>Field check</a:t>
            </a:r>
          </a:p>
          <a:p>
            <a:pPr lvl="1">
              <a:spcBef>
                <a:spcPts val="400"/>
              </a:spcBef>
              <a:buSzPts val="1600"/>
            </a:pPr>
            <a:r>
              <a:rPr lang="en-IN" sz="1800" dirty="0"/>
              <a:t>Characters in a field are proper type </a:t>
            </a:r>
          </a:p>
          <a:p>
            <a:pPr lvl="0">
              <a:spcBef>
                <a:spcPts val="400"/>
              </a:spcBef>
              <a:buSzPts val="2000"/>
            </a:pPr>
            <a:r>
              <a:rPr lang="en-IN" sz="1800" b="1" dirty="0"/>
              <a:t>Sign check</a:t>
            </a:r>
          </a:p>
          <a:p>
            <a:pPr lvl="1">
              <a:spcBef>
                <a:spcPts val="400"/>
              </a:spcBef>
              <a:buSzPts val="1600"/>
            </a:pPr>
            <a:r>
              <a:rPr lang="en-IN" sz="1800" dirty="0"/>
              <a:t>Data in a field is appropriate sign (positive/negative)</a:t>
            </a:r>
          </a:p>
          <a:p>
            <a:pPr lvl="0">
              <a:spcBef>
                <a:spcPts val="400"/>
              </a:spcBef>
              <a:buSzPts val="2000"/>
            </a:pPr>
            <a:r>
              <a:rPr lang="en-IN" sz="1800" b="1" dirty="0"/>
              <a:t>Range check</a:t>
            </a:r>
          </a:p>
          <a:p>
            <a:pPr lvl="1">
              <a:spcBef>
                <a:spcPts val="400"/>
              </a:spcBef>
              <a:buSzPts val="1600"/>
            </a:pPr>
            <a:r>
              <a:rPr lang="en-IN" sz="1800" dirty="0"/>
              <a:t>Tests numerical amount against lower and upper limits</a:t>
            </a:r>
          </a:p>
        </p:txBody>
      </p:sp>
      <p:sp>
        <p:nvSpPr>
          <p:cNvPr id="3" name="Content Placeholder 2"/>
          <p:cNvSpPr>
            <a:spLocks noGrp="1"/>
          </p:cNvSpPr>
          <p:nvPr>
            <p:ph idx="13"/>
          </p:nvPr>
        </p:nvSpPr>
        <p:spPr>
          <a:xfrm>
            <a:off x="4572000" y="997221"/>
            <a:ext cx="4114800" cy="5174979"/>
          </a:xfrm>
        </p:spPr>
        <p:txBody>
          <a:bodyPr>
            <a:noAutofit/>
          </a:bodyPr>
          <a:lstStyle/>
          <a:p>
            <a:pPr lvl="0">
              <a:spcBef>
                <a:spcPts val="0"/>
              </a:spcBef>
              <a:buSzPts val="2000"/>
            </a:pPr>
            <a:r>
              <a:rPr lang="en-IN" sz="1800" b="1" dirty="0"/>
              <a:t>Size check</a:t>
            </a:r>
          </a:p>
          <a:p>
            <a:pPr lvl="1">
              <a:spcBef>
                <a:spcPts val="400"/>
              </a:spcBef>
              <a:buSzPts val="1600"/>
            </a:pPr>
            <a:r>
              <a:rPr lang="en-IN" sz="1800" dirty="0"/>
              <a:t>Input data fits into the field</a:t>
            </a:r>
          </a:p>
          <a:p>
            <a:pPr lvl="0">
              <a:spcBef>
                <a:spcPts val="400"/>
              </a:spcBef>
              <a:buSzPts val="2000"/>
            </a:pPr>
            <a:r>
              <a:rPr lang="en-IN" sz="1800" b="1" dirty="0"/>
              <a:t>Completeness check</a:t>
            </a:r>
          </a:p>
          <a:p>
            <a:pPr lvl="1">
              <a:spcBef>
                <a:spcPts val="400"/>
              </a:spcBef>
              <a:buSzPts val="1600"/>
            </a:pPr>
            <a:r>
              <a:rPr lang="en-IN" sz="1800" dirty="0"/>
              <a:t>Verifies that all required data is entered</a:t>
            </a:r>
          </a:p>
          <a:p>
            <a:pPr lvl="0">
              <a:spcBef>
                <a:spcPts val="400"/>
              </a:spcBef>
              <a:buSzPts val="2000"/>
            </a:pPr>
            <a:r>
              <a:rPr lang="en-IN" sz="1800" b="1" dirty="0"/>
              <a:t>Validity check</a:t>
            </a:r>
          </a:p>
          <a:p>
            <a:pPr lvl="1">
              <a:spcBef>
                <a:spcPts val="400"/>
              </a:spcBef>
              <a:buSzPts val="1600"/>
            </a:pPr>
            <a:r>
              <a:rPr lang="en-IN" sz="1800" dirty="0"/>
              <a:t>Compares data from transaction file to that of master file to verify existence</a:t>
            </a:r>
          </a:p>
          <a:p>
            <a:pPr lvl="0">
              <a:spcBef>
                <a:spcPts val="400"/>
              </a:spcBef>
              <a:buSzPts val="2000"/>
            </a:pPr>
            <a:r>
              <a:rPr lang="en-IN" sz="1800" b="1" dirty="0"/>
              <a:t>Reasonableness test</a:t>
            </a:r>
          </a:p>
          <a:p>
            <a:pPr lvl="1">
              <a:spcBef>
                <a:spcPts val="400"/>
              </a:spcBef>
              <a:buSzPts val="1600"/>
            </a:pPr>
            <a:r>
              <a:rPr lang="en-IN" sz="1800" dirty="0"/>
              <a:t>Correctness of logical relationship between two data items</a:t>
            </a:r>
          </a:p>
          <a:p>
            <a:pPr lvl="0">
              <a:spcBef>
                <a:spcPts val="400"/>
              </a:spcBef>
              <a:buSzPts val="2000"/>
            </a:pPr>
            <a:r>
              <a:rPr lang="en-IN" sz="1800" b="1" dirty="0"/>
              <a:t>Check digit verification</a:t>
            </a:r>
          </a:p>
          <a:p>
            <a:pPr lvl="1">
              <a:spcBef>
                <a:spcPts val="400"/>
              </a:spcBef>
              <a:buSzPts val="1600"/>
            </a:pPr>
            <a:r>
              <a:rPr lang="en-IN" sz="1800" dirty="0"/>
              <a:t>Recalculating check digit to verify data entry error has not been made</a:t>
            </a:r>
          </a:p>
        </p:txBody>
      </p:sp>
    </p:spTree>
    <p:extLst>
      <p:ext uri="{BB962C8B-B14F-4D97-AF65-F5344CB8AC3E}">
        <p14:creationId xmlns:p14="http://schemas.microsoft.com/office/powerpoint/2010/main" val="641233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9375" y="163689"/>
            <a:ext cx="8229600" cy="553998"/>
          </a:xfrm>
        </p:spPr>
        <p:txBody>
          <a:bodyPr>
            <a:noAutofit/>
          </a:bodyPr>
          <a:lstStyle/>
          <a:p>
            <a:r>
              <a:rPr lang="en-IN" sz="3600" dirty="0">
                <a:latin typeface="+mj-lt"/>
              </a:rPr>
              <a:t>Additional Data Entry Controls</a:t>
            </a:r>
          </a:p>
        </p:txBody>
      </p:sp>
      <p:sp>
        <p:nvSpPr>
          <p:cNvPr id="2" name="Content Placeholder 1"/>
          <p:cNvSpPr>
            <a:spLocks noGrp="1"/>
          </p:cNvSpPr>
          <p:nvPr>
            <p:ph idx="1"/>
          </p:nvPr>
        </p:nvSpPr>
        <p:spPr>
          <a:xfrm>
            <a:off x="468922" y="1000318"/>
            <a:ext cx="3874478" cy="4231928"/>
          </a:xfrm>
        </p:spPr>
        <p:txBody>
          <a:bodyPr wrap="square">
            <a:spAutoFit/>
          </a:bodyPr>
          <a:lstStyle/>
          <a:p>
            <a:pPr>
              <a:spcBef>
                <a:spcPts val="600"/>
              </a:spcBef>
              <a:buSzPts val="2000"/>
            </a:pPr>
            <a:r>
              <a:rPr lang="en-IN" sz="2000" dirty="0"/>
              <a:t>Batch processing</a:t>
            </a:r>
          </a:p>
          <a:p>
            <a:pPr lvl="1">
              <a:buSzPts val="2000"/>
            </a:pPr>
            <a:r>
              <a:rPr lang="en-IN" sz="2000" b="1" dirty="0"/>
              <a:t>Sequence check</a:t>
            </a:r>
          </a:p>
          <a:p>
            <a:pPr lvl="2">
              <a:buSzPts val="2000"/>
            </a:pPr>
            <a:r>
              <a:rPr lang="en-IN" sz="2000" dirty="0"/>
              <a:t>Test of batch data in proper numerical or alphabetical sequence</a:t>
            </a:r>
          </a:p>
          <a:p>
            <a:pPr lvl="1">
              <a:buSzPts val="2000"/>
            </a:pPr>
            <a:r>
              <a:rPr lang="en-IN" sz="2000" b="1" dirty="0"/>
              <a:t>Batch totals</a:t>
            </a:r>
          </a:p>
          <a:p>
            <a:pPr lvl="2">
              <a:buSzPts val="2000"/>
            </a:pPr>
            <a:r>
              <a:rPr lang="en-IN" sz="2000" dirty="0"/>
              <a:t>Summarize numeric values for a batch of input records</a:t>
            </a:r>
          </a:p>
          <a:p>
            <a:pPr lvl="3">
              <a:buSzPts val="2000"/>
            </a:pPr>
            <a:r>
              <a:rPr lang="en-IN" sz="2000" dirty="0"/>
              <a:t>Financial total</a:t>
            </a:r>
          </a:p>
          <a:p>
            <a:pPr lvl="3">
              <a:buSzPts val="2000"/>
            </a:pPr>
            <a:r>
              <a:rPr lang="en-IN" sz="2000" dirty="0"/>
              <a:t>Hash total</a:t>
            </a:r>
          </a:p>
          <a:p>
            <a:pPr lvl="3">
              <a:buSzPts val="2000"/>
            </a:pPr>
            <a:r>
              <a:rPr lang="en-IN" sz="2000" dirty="0"/>
              <a:t>Record count</a:t>
            </a:r>
          </a:p>
        </p:txBody>
      </p:sp>
      <p:sp>
        <p:nvSpPr>
          <p:cNvPr id="5" name="Content Placeholder 4">
            <a:extLst>
              <a:ext uri="{FF2B5EF4-FFF2-40B4-BE49-F238E27FC236}">
                <a16:creationId xmlns:a16="http://schemas.microsoft.com/office/drawing/2014/main" id="{FA72D265-A6CB-4B2B-AA4B-FD75BBD006DF}"/>
              </a:ext>
            </a:extLst>
          </p:cNvPr>
          <p:cNvSpPr>
            <a:spLocks noGrp="1"/>
          </p:cNvSpPr>
          <p:nvPr>
            <p:ph idx="13"/>
          </p:nvPr>
        </p:nvSpPr>
        <p:spPr/>
        <p:txBody>
          <a:bodyPr/>
          <a:lstStyle/>
          <a:p>
            <a:endParaRPr lang="en-US"/>
          </a:p>
        </p:txBody>
      </p:sp>
    </p:spTree>
    <p:extLst>
      <p:ext uri="{BB962C8B-B14F-4D97-AF65-F5344CB8AC3E}">
        <p14:creationId xmlns:p14="http://schemas.microsoft.com/office/powerpoint/2010/main" val="1390739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9375" y="163689"/>
            <a:ext cx="8229600" cy="553998"/>
          </a:xfrm>
        </p:spPr>
        <p:txBody>
          <a:bodyPr>
            <a:noAutofit/>
          </a:bodyPr>
          <a:lstStyle/>
          <a:p>
            <a:r>
              <a:rPr lang="en-IN" sz="3600" dirty="0">
                <a:latin typeface="+mj-lt"/>
              </a:rPr>
              <a:t>Processing Controls</a:t>
            </a:r>
          </a:p>
        </p:txBody>
      </p:sp>
      <p:sp>
        <p:nvSpPr>
          <p:cNvPr id="2" name="Content Placeholder 1"/>
          <p:cNvSpPr>
            <a:spLocks noGrp="1"/>
          </p:cNvSpPr>
          <p:nvPr>
            <p:ph idx="1"/>
          </p:nvPr>
        </p:nvSpPr>
        <p:spPr>
          <a:xfrm>
            <a:off x="468922" y="1000318"/>
            <a:ext cx="3874478" cy="2385268"/>
          </a:xfrm>
        </p:spPr>
        <p:txBody>
          <a:bodyPr wrap="square">
            <a:spAutoFit/>
          </a:bodyPr>
          <a:lstStyle/>
          <a:p>
            <a:pPr lvl="0">
              <a:spcBef>
                <a:spcPts val="0"/>
              </a:spcBef>
              <a:buSzPts val="2000"/>
            </a:pPr>
            <a:r>
              <a:rPr lang="en-IN" sz="2000" b="1" dirty="0"/>
              <a:t>Data matching</a:t>
            </a:r>
          </a:p>
          <a:p>
            <a:pPr lvl="1">
              <a:buSzPts val="1600"/>
            </a:pPr>
            <a:r>
              <a:rPr lang="en-IN" sz="2000" dirty="0"/>
              <a:t>Two or more items must be matched before an action takes place</a:t>
            </a:r>
          </a:p>
          <a:p>
            <a:pPr lvl="0">
              <a:spcBef>
                <a:spcPts val="600"/>
              </a:spcBef>
              <a:buSzPts val="2000"/>
            </a:pPr>
            <a:r>
              <a:rPr lang="en-IN" sz="2000" b="1" dirty="0"/>
              <a:t>File labels</a:t>
            </a:r>
          </a:p>
          <a:p>
            <a:pPr lvl="1">
              <a:buSzPts val="1600"/>
            </a:pPr>
            <a:r>
              <a:rPr lang="en-IN" sz="2000" dirty="0"/>
              <a:t>Ensures correct and most updated file is used</a:t>
            </a:r>
          </a:p>
        </p:txBody>
      </p:sp>
      <p:sp>
        <p:nvSpPr>
          <p:cNvPr id="3" name="Content Placeholder 2"/>
          <p:cNvSpPr>
            <a:spLocks noGrp="1"/>
          </p:cNvSpPr>
          <p:nvPr>
            <p:ph idx="13"/>
          </p:nvPr>
        </p:nvSpPr>
        <p:spPr>
          <a:xfrm>
            <a:off x="4572000" y="1010355"/>
            <a:ext cx="4114800" cy="5085645"/>
          </a:xfrm>
        </p:spPr>
        <p:txBody>
          <a:bodyPr>
            <a:noAutofit/>
          </a:bodyPr>
          <a:lstStyle/>
          <a:p>
            <a:pPr lvl="0">
              <a:spcBef>
                <a:spcPts val="0"/>
              </a:spcBef>
              <a:buSzPts val="2000"/>
            </a:pPr>
            <a:r>
              <a:rPr lang="en-IN" sz="2000" b="1" dirty="0"/>
              <a:t>Cross-footing </a:t>
            </a:r>
          </a:p>
          <a:p>
            <a:pPr lvl="1">
              <a:buSzPts val="1600"/>
            </a:pPr>
            <a:r>
              <a:rPr lang="en-IN" sz="2000" dirty="0"/>
              <a:t>Verifies accuracy by comparing two alternative ways of calculating the same total</a:t>
            </a:r>
          </a:p>
          <a:p>
            <a:pPr lvl="0">
              <a:spcBef>
                <a:spcPts val="600"/>
              </a:spcBef>
              <a:buSzPts val="2000"/>
            </a:pPr>
            <a:r>
              <a:rPr lang="en-IN" sz="2000" b="1" dirty="0"/>
              <a:t>Zero-balance tests</a:t>
            </a:r>
          </a:p>
          <a:p>
            <a:pPr lvl="1">
              <a:buSzPts val="1600"/>
            </a:pPr>
            <a:r>
              <a:rPr lang="en-IN" sz="2000" dirty="0"/>
              <a:t>For control accounts (e.g., payroll clearing)</a:t>
            </a:r>
          </a:p>
          <a:p>
            <a:pPr lvl="0">
              <a:spcBef>
                <a:spcPts val="600"/>
              </a:spcBef>
              <a:buSzPts val="2000"/>
            </a:pPr>
            <a:r>
              <a:rPr lang="en-IN" sz="2000" b="1" dirty="0"/>
              <a:t>Write-protection mechanisms</a:t>
            </a:r>
          </a:p>
          <a:p>
            <a:pPr lvl="1">
              <a:buSzPts val="1600"/>
            </a:pPr>
            <a:r>
              <a:rPr lang="en-IN" sz="2000" dirty="0"/>
              <a:t>Protect against overwriting or erasing data</a:t>
            </a:r>
          </a:p>
          <a:p>
            <a:pPr lvl="0">
              <a:spcBef>
                <a:spcPts val="600"/>
              </a:spcBef>
              <a:buSzPts val="2000"/>
            </a:pPr>
            <a:r>
              <a:rPr lang="en-IN" sz="2000" b="1" dirty="0"/>
              <a:t>Concurrent update controls</a:t>
            </a:r>
          </a:p>
          <a:p>
            <a:pPr lvl="1">
              <a:buSzPts val="1600"/>
            </a:pPr>
            <a:r>
              <a:rPr lang="en-IN" sz="2000" dirty="0"/>
              <a:t>Prevent error of two or more users updating the same record at the same time</a:t>
            </a:r>
          </a:p>
        </p:txBody>
      </p:sp>
    </p:spTree>
    <p:extLst>
      <p:ext uri="{BB962C8B-B14F-4D97-AF65-F5344CB8AC3E}">
        <p14:creationId xmlns:p14="http://schemas.microsoft.com/office/powerpoint/2010/main" val="2027440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66512"/>
            <a:ext cx="8229600" cy="553998"/>
          </a:xfrm>
        </p:spPr>
        <p:txBody>
          <a:bodyPr anchor="ctr">
            <a:noAutofit/>
          </a:bodyPr>
          <a:lstStyle/>
          <a:p>
            <a:r>
              <a:rPr lang="en-IN" sz="3600" dirty="0">
                <a:latin typeface="+mj-lt"/>
              </a:rPr>
              <a:t>Output Controls</a:t>
            </a:r>
          </a:p>
        </p:txBody>
      </p:sp>
      <p:sp>
        <p:nvSpPr>
          <p:cNvPr id="2" name="Content Placeholder 1"/>
          <p:cNvSpPr>
            <a:spLocks noGrp="1"/>
          </p:cNvSpPr>
          <p:nvPr>
            <p:ph idx="13"/>
          </p:nvPr>
        </p:nvSpPr>
        <p:spPr>
          <a:xfrm>
            <a:off x="477115" y="1010355"/>
            <a:ext cx="8229600" cy="4231928"/>
          </a:xfrm>
        </p:spPr>
        <p:txBody>
          <a:bodyPr>
            <a:noAutofit/>
          </a:bodyPr>
          <a:lstStyle/>
          <a:p>
            <a:pPr lvl="0">
              <a:spcBef>
                <a:spcPts val="0"/>
              </a:spcBef>
              <a:buSzPts val="2400"/>
            </a:pPr>
            <a:r>
              <a:rPr lang="en-IN" sz="2400" dirty="0"/>
              <a:t>User review of output</a:t>
            </a:r>
          </a:p>
          <a:p>
            <a:pPr lvl="0">
              <a:spcBef>
                <a:spcPts val="600"/>
              </a:spcBef>
              <a:buSzPts val="2400"/>
            </a:pPr>
            <a:r>
              <a:rPr lang="en-IN" sz="2400" dirty="0"/>
              <a:t>Reconciliation procedures</a:t>
            </a:r>
          </a:p>
          <a:p>
            <a:pPr lvl="1">
              <a:buSzPts val="2000"/>
            </a:pPr>
            <a:r>
              <a:rPr lang="en-IN" sz="2400" dirty="0"/>
              <a:t>Procedures to reconcile to control reports (e.g., general ledger A/R account reconciled to Accounts Receivable Subsidiary Ledger)</a:t>
            </a:r>
          </a:p>
          <a:p>
            <a:pPr lvl="1">
              <a:buSzPts val="2000"/>
            </a:pPr>
            <a:r>
              <a:rPr lang="en-IN" sz="2400" dirty="0"/>
              <a:t>External data reconciliation</a:t>
            </a:r>
          </a:p>
          <a:p>
            <a:pPr lvl="0">
              <a:spcBef>
                <a:spcPts val="600"/>
              </a:spcBef>
              <a:buSzPts val="2400"/>
            </a:pPr>
            <a:r>
              <a:rPr lang="en-IN" sz="2400" dirty="0"/>
              <a:t>Data transmission controls</a:t>
            </a:r>
          </a:p>
          <a:p>
            <a:pPr lvl="1">
              <a:buSzPts val="2000"/>
            </a:pPr>
            <a:r>
              <a:rPr lang="en-IN" sz="2400" dirty="0"/>
              <a:t>Checksums</a:t>
            </a:r>
          </a:p>
          <a:p>
            <a:pPr lvl="1">
              <a:buSzPts val="2000"/>
            </a:pPr>
            <a:r>
              <a:rPr lang="en-IN" sz="2400" dirty="0"/>
              <a:t>Parity bits</a:t>
            </a:r>
          </a:p>
          <a:p>
            <a:pPr lvl="1">
              <a:buSzPts val="2000"/>
            </a:pPr>
            <a:r>
              <a:rPr lang="en-IN" sz="2400" dirty="0"/>
              <a:t>Blockchain</a:t>
            </a:r>
          </a:p>
        </p:txBody>
      </p:sp>
    </p:spTree>
    <p:extLst>
      <p:ext uri="{BB962C8B-B14F-4D97-AF65-F5344CB8AC3E}">
        <p14:creationId xmlns:p14="http://schemas.microsoft.com/office/powerpoint/2010/main" val="583967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66512"/>
            <a:ext cx="8229600" cy="553998"/>
          </a:xfrm>
        </p:spPr>
        <p:txBody>
          <a:bodyPr anchor="ctr">
            <a:noAutofit/>
          </a:bodyPr>
          <a:lstStyle/>
          <a:p>
            <a:r>
              <a:rPr lang="en-IN" sz="3600" dirty="0">
                <a:latin typeface="+mj-lt"/>
              </a:rPr>
              <a:t>Availability Key Objectives</a:t>
            </a:r>
          </a:p>
        </p:txBody>
      </p:sp>
      <p:sp>
        <p:nvSpPr>
          <p:cNvPr id="2" name="Content Placeholder 1"/>
          <p:cNvSpPr>
            <a:spLocks noGrp="1"/>
          </p:cNvSpPr>
          <p:nvPr>
            <p:ph idx="13"/>
          </p:nvPr>
        </p:nvSpPr>
        <p:spPr>
          <a:xfrm>
            <a:off x="477115" y="1010355"/>
            <a:ext cx="8229600" cy="1300356"/>
          </a:xfrm>
        </p:spPr>
        <p:txBody>
          <a:bodyPr>
            <a:noAutofit/>
          </a:bodyPr>
          <a:lstStyle/>
          <a:p>
            <a:pPr lvl="0">
              <a:spcBef>
                <a:spcPts val="0"/>
              </a:spcBef>
              <a:buSzPts val="2400"/>
            </a:pPr>
            <a:r>
              <a:rPr lang="en-IN" sz="2400" dirty="0"/>
              <a:t>Minimize risk of system downtime</a:t>
            </a:r>
          </a:p>
          <a:p>
            <a:pPr lvl="0">
              <a:buSzPts val="2400"/>
            </a:pPr>
            <a:r>
              <a:rPr lang="en-IN" sz="2400" dirty="0"/>
              <a:t>Quick and complete recovery and resumption of normal operations</a:t>
            </a:r>
          </a:p>
        </p:txBody>
      </p:sp>
    </p:spTree>
    <p:extLst>
      <p:ext uri="{BB962C8B-B14F-4D97-AF65-F5344CB8AC3E}">
        <p14:creationId xmlns:p14="http://schemas.microsoft.com/office/powerpoint/2010/main" val="1652928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9375" y="163689"/>
            <a:ext cx="8229600" cy="553998"/>
          </a:xfrm>
        </p:spPr>
        <p:txBody>
          <a:bodyPr>
            <a:noAutofit/>
          </a:bodyPr>
          <a:lstStyle/>
          <a:p>
            <a:r>
              <a:rPr lang="en-IN" sz="3600" dirty="0">
                <a:latin typeface="+mj-lt"/>
              </a:rPr>
              <a:t>Availability Controls</a:t>
            </a:r>
          </a:p>
        </p:txBody>
      </p:sp>
      <p:sp>
        <p:nvSpPr>
          <p:cNvPr id="2" name="Content Placeholder 1"/>
          <p:cNvSpPr>
            <a:spLocks noGrp="1"/>
          </p:cNvSpPr>
          <p:nvPr>
            <p:ph idx="1"/>
          </p:nvPr>
        </p:nvSpPr>
        <p:spPr>
          <a:xfrm>
            <a:off x="468922" y="1000318"/>
            <a:ext cx="3950678" cy="5078313"/>
          </a:xfrm>
        </p:spPr>
        <p:txBody>
          <a:bodyPr wrap="square">
            <a:spAutoFit/>
          </a:bodyPr>
          <a:lstStyle/>
          <a:p>
            <a:pPr lvl="0">
              <a:spcBef>
                <a:spcPts val="0"/>
              </a:spcBef>
              <a:buSzPts val="2000"/>
            </a:pPr>
            <a:r>
              <a:rPr lang="en-IN" sz="2000" dirty="0"/>
              <a:t>Preventive maintenance</a:t>
            </a:r>
          </a:p>
          <a:p>
            <a:pPr lvl="0">
              <a:spcBef>
                <a:spcPts val="600"/>
              </a:spcBef>
              <a:buSzPts val="2000"/>
            </a:pPr>
            <a:r>
              <a:rPr lang="en-IN" sz="2000" dirty="0"/>
              <a:t>Fault tolerance</a:t>
            </a:r>
          </a:p>
          <a:p>
            <a:pPr lvl="1">
              <a:buSzPts val="1600"/>
            </a:pPr>
            <a:r>
              <a:rPr lang="en-IN" sz="2000" dirty="0"/>
              <a:t>Use of redundant components</a:t>
            </a:r>
          </a:p>
          <a:p>
            <a:pPr lvl="0">
              <a:spcBef>
                <a:spcPts val="600"/>
              </a:spcBef>
              <a:buSzPts val="2000"/>
            </a:pPr>
            <a:r>
              <a:rPr lang="en-IN" sz="2000" dirty="0"/>
              <a:t>Data </a:t>
            </a:r>
            <a:r>
              <a:rPr lang="en-IN" sz="2000" dirty="0" err="1"/>
              <a:t>center</a:t>
            </a:r>
            <a:r>
              <a:rPr lang="en-IN" sz="2000" dirty="0"/>
              <a:t> location and design</a:t>
            </a:r>
          </a:p>
          <a:p>
            <a:pPr lvl="1">
              <a:buSzPts val="1600"/>
            </a:pPr>
            <a:r>
              <a:rPr lang="en-IN" sz="2000" dirty="0"/>
              <a:t>Raised floor</a:t>
            </a:r>
          </a:p>
          <a:p>
            <a:pPr lvl="1">
              <a:buSzPts val="1600"/>
            </a:pPr>
            <a:r>
              <a:rPr lang="en-IN" sz="2000" dirty="0"/>
              <a:t>Fire suppression</a:t>
            </a:r>
          </a:p>
          <a:p>
            <a:pPr lvl="1">
              <a:buSzPts val="1600"/>
            </a:pPr>
            <a:r>
              <a:rPr lang="en-IN" sz="2000" dirty="0"/>
              <a:t>Air conditioning</a:t>
            </a:r>
          </a:p>
          <a:p>
            <a:pPr lvl="1">
              <a:buSzPts val="1600"/>
            </a:pPr>
            <a:r>
              <a:rPr lang="en-IN" sz="2000" dirty="0"/>
              <a:t>Uninterruptible power supply (</a:t>
            </a:r>
            <a:r>
              <a:rPr lang="en-IN" sz="2000" spc="-250" dirty="0"/>
              <a:t>U P </a:t>
            </a:r>
            <a:r>
              <a:rPr lang="en-IN" sz="2000" dirty="0"/>
              <a:t>S)</a:t>
            </a:r>
          </a:p>
          <a:p>
            <a:pPr lvl="1">
              <a:buSzPts val="1600"/>
            </a:pPr>
            <a:r>
              <a:rPr lang="en-IN" sz="2000" dirty="0"/>
              <a:t>Surge protection</a:t>
            </a:r>
          </a:p>
          <a:p>
            <a:pPr lvl="0">
              <a:spcBef>
                <a:spcPts val="600"/>
              </a:spcBef>
              <a:buSzPts val="2000"/>
            </a:pPr>
            <a:r>
              <a:rPr lang="en-IN" sz="2000" dirty="0"/>
              <a:t>Training</a:t>
            </a:r>
          </a:p>
          <a:p>
            <a:pPr lvl="0">
              <a:spcBef>
                <a:spcPts val="600"/>
              </a:spcBef>
              <a:buSzPts val="2000"/>
            </a:pPr>
            <a:r>
              <a:rPr lang="en-IN" sz="2000" dirty="0"/>
              <a:t>Patch management and antivirus software</a:t>
            </a:r>
          </a:p>
        </p:txBody>
      </p:sp>
      <p:sp>
        <p:nvSpPr>
          <p:cNvPr id="3" name="Content Placeholder 2"/>
          <p:cNvSpPr>
            <a:spLocks noGrp="1"/>
          </p:cNvSpPr>
          <p:nvPr>
            <p:ph idx="13"/>
          </p:nvPr>
        </p:nvSpPr>
        <p:spPr>
          <a:xfrm>
            <a:off x="4583289" y="1010355"/>
            <a:ext cx="4114800" cy="5180905"/>
          </a:xfrm>
        </p:spPr>
        <p:txBody>
          <a:bodyPr>
            <a:noAutofit/>
          </a:bodyPr>
          <a:lstStyle/>
          <a:p>
            <a:pPr>
              <a:spcBef>
                <a:spcPts val="0"/>
              </a:spcBef>
              <a:buSzPts val="2000"/>
            </a:pPr>
            <a:r>
              <a:rPr lang="en-IN" sz="2000" dirty="0"/>
              <a:t>Backup procedures</a:t>
            </a:r>
          </a:p>
          <a:p>
            <a:pPr lvl="1">
              <a:spcBef>
                <a:spcPts val="200"/>
              </a:spcBef>
              <a:buSzPts val="1600"/>
            </a:pPr>
            <a:r>
              <a:rPr lang="en-IN" sz="2000" dirty="0"/>
              <a:t>Incremental</a:t>
            </a:r>
          </a:p>
          <a:p>
            <a:pPr lvl="2">
              <a:spcBef>
                <a:spcPts val="200"/>
              </a:spcBef>
              <a:buSzPts val="1600"/>
            </a:pPr>
            <a:r>
              <a:rPr lang="en-IN" sz="2000" dirty="0"/>
              <a:t>Copies only items that have changed since last partial backup</a:t>
            </a:r>
          </a:p>
          <a:p>
            <a:pPr lvl="1">
              <a:spcBef>
                <a:spcPts val="200"/>
              </a:spcBef>
              <a:buSzPts val="1600"/>
            </a:pPr>
            <a:r>
              <a:rPr lang="en-IN" sz="2000" dirty="0"/>
              <a:t>Differential backup</a:t>
            </a:r>
          </a:p>
          <a:p>
            <a:pPr lvl="2">
              <a:spcBef>
                <a:spcPts val="200"/>
              </a:spcBef>
              <a:buSzPts val="1600"/>
            </a:pPr>
            <a:r>
              <a:rPr lang="en-IN" sz="2000" dirty="0"/>
              <a:t>Copies all changes made since last full backup</a:t>
            </a:r>
          </a:p>
          <a:p>
            <a:pPr>
              <a:spcBef>
                <a:spcPts val="200"/>
              </a:spcBef>
              <a:buSzPts val="2000"/>
            </a:pPr>
            <a:r>
              <a:rPr lang="en-IN" sz="2000" dirty="0"/>
              <a:t>Disaster recovery plan (</a:t>
            </a:r>
            <a:r>
              <a:rPr lang="en-IN" sz="2000" spc="-250" dirty="0"/>
              <a:t>D R </a:t>
            </a:r>
            <a:r>
              <a:rPr lang="en-IN" sz="2000" dirty="0"/>
              <a:t>P)</a:t>
            </a:r>
          </a:p>
          <a:p>
            <a:pPr lvl="1">
              <a:spcBef>
                <a:spcPts val="200"/>
              </a:spcBef>
              <a:buSzPts val="1600"/>
            </a:pPr>
            <a:r>
              <a:rPr lang="en-IN" sz="2000" dirty="0"/>
              <a:t>Procedures to restore organization’s </a:t>
            </a:r>
            <a:r>
              <a:rPr lang="en-IN" sz="2000" spc="-250" dirty="0"/>
              <a:t>I </a:t>
            </a:r>
            <a:r>
              <a:rPr lang="en-IN" sz="2000" dirty="0"/>
              <a:t>T function</a:t>
            </a:r>
          </a:p>
          <a:p>
            <a:pPr lvl="2">
              <a:spcBef>
                <a:spcPts val="200"/>
              </a:spcBef>
              <a:buSzPts val="1600"/>
            </a:pPr>
            <a:r>
              <a:rPr lang="en-IN" sz="2000" dirty="0"/>
              <a:t>Cold site</a:t>
            </a:r>
          </a:p>
          <a:p>
            <a:pPr lvl="2">
              <a:spcBef>
                <a:spcPts val="200"/>
              </a:spcBef>
              <a:buSzPts val="1600"/>
            </a:pPr>
            <a:r>
              <a:rPr lang="en-IN" sz="2000" dirty="0"/>
              <a:t>Hot site</a:t>
            </a:r>
          </a:p>
          <a:p>
            <a:pPr>
              <a:spcBef>
                <a:spcPts val="200"/>
              </a:spcBef>
              <a:buSzPts val="2000"/>
            </a:pPr>
            <a:r>
              <a:rPr lang="en-IN" sz="2000" dirty="0"/>
              <a:t>Business continuity plan (</a:t>
            </a:r>
            <a:r>
              <a:rPr lang="en-IN" sz="2000" spc="-250" dirty="0"/>
              <a:t>B C </a:t>
            </a:r>
            <a:r>
              <a:rPr lang="en-IN" sz="2000" dirty="0"/>
              <a:t>P)</a:t>
            </a:r>
          </a:p>
          <a:p>
            <a:pPr lvl="1">
              <a:spcBef>
                <a:spcPts val="200"/>
              </a:spcBef>
              <a:buSzPts val="1600"/>
            </a:pPr>
            <a:r>
              <a:rPr lang="en-IN" sz="2000" dirty="0"/>
              <a:t>How to resume all operations, not just </a:t>
            </a:r>
            <a:r>
              <a:rPr lang="en-IN" sz="2000" spc="-250" dirty="0"/>
              <a:t>I </a:t>
            </a:r>
            <a:r>
              <a:rPr lang="en-IN" sz="2000" dirty="0"/>
              <a:t>T</a:t>
            </a:r>
          </a:p>
        </p:txBody>
      </p:sp>
    </p:spTree>
    <p:extLst>
      <p:ext uri="{BB962C8B-B14F-4D97-AF65-F5344CB8AC3E}">
        <p14:creationId xmlns:p14="http://schemas.microsoft.com/office/powerpoint/2010/main" val="2947150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62FC-6D1D-884E-9A1A-33F88DAB08C7}"/>
              </a:ext>
            </a:extLst>
          </p:cNvPr>
          <p:cNvSpPr>
            <a:spLocks noGrp="1"/>
          </p:cNvSpPr>
          <p:nvPr>
            <p:ph type="title"/>
          </p:nvPr>
        </p:nvSpPr>
        <p:spPr/>
        <p:txBody>
          <a:bodyPr/>
          <a:lstStyle/>
          <a:p>
            <a:r>
              <a:rPr lang="en-US" dirty="0"/>
              <a:t>Problem 13.7</a:t>
            </a:r>
          </a:p>
        </p:txBody>
      </p:sp>
      <p:sp>
        <p:nvSpPr>
          <p:cNvPr id="6" name="Content Placeholder 5">
            <a:extLst>
              <a:ext uri="{FF2B5EF4-FFF2-40B4-BE49-F238E27FC236}">
                <a16:creationId xmlns:a16="http://schemas.microsoft.com/office/drawing/2014/main" id="{1F090FF1-8E0C-0244-812E-749F77620D0E}"/>
              </a:ext>
            </a:extLst>
          </p:cNvPr>
          <p:cNvSpPr>
            <a:spLocks noGrp="1"/>
          </p:cNvSpPr>
          <p:nvPr>
            <p:ph idx="1"/>
          </p:nvPr>
        </p:nvSpPr>
        <p:spPr/>
        <p:txBody>
          <a:bodyPr/>
          <a:lstStyle/>
          <a:p>
            <a:pPr marL="0" indent="0" hangingPunct="0">
              <a:buNone/>
            </a:pPr>
            <a:r>
              <a:rPr lang="en-AU" b="1" dirty="0"/>
              <a:t>13.7 </a:t>
            </a:r>
            <a:r>
              <a:rPr lang="en-US" b="1" dirty="0"/>
              <a:t> Which control(s) would best mitigate the following threats?</a:t>
            </a:r>
            <a:endParaRPr lang="en-US" dirty="0"/>
          </a:p>
          <a:p>
            <a:pPr hangingPunct="0"/>
            <a:r>
              <a:rPr lang="en-US" dirty="0"/>
              <a:t>The hours worked field in a payroll transaction record contained the value 400 instead of 40. As a result, the employee received a paycheck for $6,257.24 instead of $654.32.</a:t>
            </a:r>
          </a:p>
          <a:p>
            <a:pPr hangingPunct="0"/>
            <a:r>
              <a:rPr lang="en-US" dirty="0"/>
              <a:t>The accounts receivable file was destroyed because it was accidentally used to update accounts payable.</a:t>
            </a:r>
          </a:p>
          <a:p>
            <a:pPr hangingPunct="0"/>
            <a:r>
              <a:rPr lang="en-US" dirty="0"/>
              <a:t>During processing of customer payments, the digit 0 in a payment of $204 was mistakenly typed as the letter “O.” As a result, the transaction was not processed correctly and the customer erroneously received a letter that the account was delinquent.</a:t>
            </a:r>
          </a:p>
          <a:p>
            <a:pPr hangingPunct="0"/>
            <a:r>
              <a:rPr lang="en-US" dirty="0"/>
              <a:t> A salesperson mistakenly entered an online order for 50 laser printers instead of 50 laser printer toner cartridges.</a:t>
            </a:r>
          </a:p>
          <a:p>
            <a:pPr hangingPunct="0"/>
            <a:r>
              <a:rPr lang="en-US" dirty="0"/>
              <a:t> A 20-minute power brownout caused a mission-critical database server to crash, shutting down operations temporarily.</a:t>
            </a:r>
          </a:p>
          <a:p>
            <a:pPr hangingPunct="0"/>
            <a:r>
              <a:rPr lang="en-US" dirty="0"/>
              <a:t>A fire destroyed the data center, including all backup copies of the accounts receivable files.</a:t>
            </a:r>
          </a:p>
        </p:txBody>
      </p:sp>
    </p:spTree>
    <p:extLst>
      <p:ext uri="{BB962C8B-B14F-4D97-AF65-F5344CB8AC3E}">
        <p14:creationId xmlns:p14="http://schemas.microsoft.com/office/powerpoint/2010/main" val="1202097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62FC-6D1D-884E-9A1A-33F88DAB08C7}"/>
              </a:ext>
            </a:extLst>
          </p:cNvPr>
          <p:cNvSpPr>
            <a:spLocks noGrp="1"/>
          </p:cNvSpPr>
          <p:nvPr>
            <p:ph type="title"/>
          </p:nvPr>
        </p:nvSpPr>
        <p:spPr/>
        <p:txBody>
          <a:bodyPr/>
          <a:lstStyle/>
          <a:p>
            <a:r>
              <a:rPr lang="en-US" dirty="0"/>
              <a:t>Problem 13.7</a:t>
            </a:r>
          </a:p>
        </p:txBody>
      </p:sp>
      <p:sp>
        <p:nvSpPr>
          <p:cNvPr id="6" name="Content Placeholder 5">
            <a:extLst>
              <a:ext uri="{FF2B5EF4-FFF2-40B4-BE49-F238E27FC236}">
                <a16:creationId xmlns:a16="http://schemas.microsoft.com/office/drawing/2014/main" id="{1F090FF1-8E0C-0244-812E-749F77620D0E}"/>
              </a:ext>
            </a:extLst>
          </p:cNvPr>
          <p:cNvSpPr>
            <a:spLocks noGrp="1"/>
          </p:cNvSpPr>
          <p:nvPr>
            <p:ph idx="1"/>
          </p:nvPr>
        </p:nvSpPr>
        <p:spPr/>
        <p:txBody>
          <a:bodyPr/>
          <a:lstStyle/>
          <a:p>
            <a:pPr marL="0" indent="0" hangingPunct="0">
              <a:buNone/>
            </a:pPr>
            <a:r>
              <a:rPr lang="en-AU" b="1" dirty="0"/>
              <a:t>13.7 </a:t>
            </a:r>
            <a:r>
              <a:rPr lang="en-US" b="1" dirty="0"/>
              <a:t> Which control(s) would best mitigate the following threats?</a:t>
            </a:r>
            <a:endParaRPr lang="en-US" dirty="0"/>
          </a:p>
          <a:p>
            <a:pPr hangingPunct="0"/>
            <a:r>
              <a:rPr lang="en-US" dirty="0"/>
              <a:t>After processing sales transactions, the inventory report showed a negative quantity on hand for several items.</a:t>
            </a:r>
          </a:p>
          <a:p>
            <a:pPr lvl="0" hangingPunct="0"/>
            <a:r>
              <a:rPr lang="en-US" dirty="0"/>
              <a:t>A customer order for an important part did not include the customer’s address. Consequently, the order was not shipped on time and the customer called to complain.</a:t>
            </a:r>
          </a:p>
          <a:p>
            <a:pPr lvl="0" hangingPunct="0"/>
            <a:r>
              <a:rPr lang="en-US" dirty="0"/>
              <a:t>When entering a large credit sale, the clerk typed in the customer’s account number as 45982 instead of 45892. That account number did not exist. The mistake was not caught until later in the week when the weekly billing process was run. Consequently, the customer was not billed for another week, delaying receipt of payment.</a:t>
            </a:r>
          </a:p>
          <a:p>
            <a:pPr lvl="0" hangingPunct="0"/>
            <a:r>
              <a:rPr lang="en-US" dirty="0"/>
              <a:t>A visitor to the company’s Web site entered 400 characters into the five-digit Zip code field, causing the server to crash.</a:t>
            </a:r>
          </a:p>
          <a:p>
            <a:pPr lvl="0" hangingPunct="0"/>
            <a:endParaRPr lang="en-US" dirty="0"/>
          </a:p>
        </p:txBody>
      </p:sp>
    </p:spTree>
    <p:extLst>
      <p:ext uri="{BB962C8B-B14F-4D97-AF65-F5344CB8AC3E}">
        <p14:creationId xmlns:p14="http://schemas.microsoft.com/office/powerpoint/2010/main" val="2413614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62FC-6D1D-884E-9A1A-33F88DAB08C7}"/>
              </a:ext>
            </a:extLst>
          </p:cNvPr>
          <p:cNvSpPr>
            <a:spLocks noGrp="1"/>
          </p:cNvSpPr>
          <p:nvPr>
            <p:ph type="title"/>
          </p:nvPr>
        </p:nvSpPr>
        <p:spPr/>
        <p:txBody>
          <a:bodyPr/>
          <a:lstStyle/>
          <a:p>
            <a:r>
              <a:rPr lang="en-US" dirty="0"/>
              <a:t>Problem 13.7</a:t>
            </a:r>
          </a:p>
        </p:txBody>
      </p:sp>
      <p:sp>
        <p:nvSpPr>
          <p:cNvPr id="6" name="Content Placeholder 5">
            <a:extLst>
              <a:ext uri="{FF2B5EF4-FFF2-40B4-BE49-F238E27FC236}">
                <a16:creationId xmlns:a16="http://schemas.microsoft.com/office/drawing/2014/main" id="{1F090FF1-8E0C-0244-812E-749F77620D0E}"/>
              </a:ext>
            </a:extLst>
          </p:cNvPr>
          <p:cNvSpPr>
            <a:spLocks noGrp="1"/>
          </p:cNvSpPr>
          <p:nvPr>
            <p:ph idx="1"/>
          </p:nvPr>
        </p:nvSpPr>
        <p:spPr/>
        <p:txBody>
          <a:bodyPr/>
          <a:lstStyle/>
          <a:p>
            <a:pPr marL="0" indent="0" hangingPunct="0">
              <a:buNone/>
            </a:pPr>
            <a:r>
              <a:rPr lang="en-AU" b="1" dirty="0"/>
              <a:t>13.7 </a:t>
            </a:r>
            <a:r>
              <a:rPr lang="en-US" b="1" dirty="0"/>
              <a:t> Which control(s) would best mitigate the following threats?</a:t>
            </a:r>
            <a:endParaRPr lang="en-US" dirty="0"/>
          </a:p>
          <a:p>
            <a:pPr lvl="0" hangingPunct="0"/>
            <a:r>
              <a:rPr lang="en-US" dirty="0"/>
              <a:t>Two traveling sales representatives accessed the parts database at the same time. Salesperson A noted that there were still 55 units of part 723 available and entered an order for 45 of them. While salesperson A was keying in the order, salesperson B, in another state, also noted the availability of 55 units for part 723 and entered an order for 33 of them. Both sales reps promised their customer next-day delivery. Salesperson A’s customer, however, learned the next day that the part would have to be back-ordered. The customer canceled the sale and vowed to never again do business with the company.</a:t>
            </a:r>
          </a:p>
          <a:p>
            <a:pPr lvl="0" hangingPunct="0"/>
            <a:r>
              <a:rPr lang="en-US" dirty="0"/>
              <a:t>The warranty department manager was upset because special discount coupons were mailed to every customer who had purchased the product within the past 3 years, instead of to only those customers who had purchased the product within the past 3 months.</a:t>
            </a:r>
          </a:p>
          <a:p>
            <a:pPr lvl="0" hangingPunct="0"/>
            <a:r>
              <a:rPr lang="en-US" dirty="0"/>
              <a:t>The clerk entering details about a large credit sale mistakenly typed in a nonexistent account number. Consequently, the company never received payment for the items.</a:t>
            </a:r>
          </a:p>
        </p:txBody>
      </p:sp>
    </p:spTree>
    <p:extLst>
      <p:ext uri="{BB962C8B-B14F-4D97-AF65-F5344CB8AC3E}">
        <p14:creationId xmlns:p14="http://schemas.microsoft.com/office/powerpoint/2010/main" val="1369732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62FC-6D1D-884E-9A1A-33F88DAB08C7}"/>
              </a:ext>
            </a:extLst>
          </p:cNvPr>
          <p:cNvSpPr>
            <a:spLocks noGrp="1"/>
          </p:cNvSpPr>
          <p:nvPr>
            <p:ph type="title"/>
          </p:nvPr>
        </p:nvSpPr>
        <p:spPr/>
        <p:txBody>
          <a:bodyPr/>
          <a:lstStyle/>
          <a:p>
            <a:r>
              <a:rPr lang="en-US" dirty="0"/>
              <a:t>Problem 13.7</a:t>
            </a:r>
          </a:p>
        </p:txBody>
      </p:sp>
      <p:sp>
        <p:nvSpPr>
          <p:cNvPr id="6" name="Content Placeholder 5">
            <a:extLst>
              <a:ext uri="{FF2B5EF4-FFF2-40B4-BE49-F238E27FC236}">
                <a16:creationId xmlns:a16="http://schemas.microsoft.com/office/drawing/2014/main" id="{1F090FF1-8E0C-0244-812E-749F77620D0E}"/>
              </a:ext>
            </a:extLst>
          </p:cNvPr>
          <p:cNvSpPr>
            <a:spLocks noGrp="1"/>
          </p:cNvSpPr>
          <p:nvPr>
            <p:ph idx="1"/>
          </p:nvPr>
        </p:nvSpPr>
        <p:spPr/>
        <p:txBody>
          <a:bodyPr/>
          <a:lstStyle/>
          <a:p>
            <a:pPr marL="0" indent="0" hangingPunct="0">
              <a:buNone/>
            </a:pPr>
            <a:r>
              <a:rPr lang="en-AU" b="1" dirty="0"/>
              <a:t>13.7 </a:t>
            </a:r>
            <a:r>
              <a:rPr lang="en-US" b="1" dirty="0"/>
              <a:t> Which control(s) would best mitigate the following threats?</a:t>
            </a:r>
            <a:endParaRPr lang="en-US" dirty="0"/>
          </a:p>
          <a:p>
            <a:pPr lvl="0" hangingPunct="0"/>
            <a:r>
              <a:rPr lang="en-US" dirty="0"/>
              <a:t>A customer filled in the wrong account number on the portion of the invoice being returned with payment. Consequently, the payment was credited to another customer’s account.</a:t>
            </a:r>
          </a:p>
          <a:p>
            <a:pPr lvl="0" hangingPunct="0"/>
            <a:r>
              <a:rPr lang="en-US" dirty="0"/>
              <a:t>A batch of 73 time sheets was sent to the payroll department for weekly processing. Somehow, one of the time sheets did not get processed. The mistake was not caught until payday, when one employee complained about not receiving a paycheck.</a:t>
            </a:r>
          </a:p>
          <a:p>
            <a:pPr hangingPunct="0"/>
            <a:r>
              <a:rPr lang="en-US" dirty="0"/>
              <a:t>Sunspot activity resulted in the loss of some data being sent to the regional office. The problem was not discovered until several days later when managers attempted to query the database for that information. </a:t>
            </a:r>
          </a:p>
        </p:txBody>
      </p:sp>
    </p:spTree>
    <p:extLst>
      <p:ext uri="{BB962C8B-B14F-4D97-AF65-F5344CB8AC3E}">
        <p14:creationId xmlns:p14="http://schemas.microsoft.com/office/powerpoint/2010/main" val="39497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 </a:t>
            </a:r>
            <a:r>
              <a:rPr lang="en-IN" sz="2800" dirty="0">
                <a:latin typeface="+mj-lt"/>
              </a:rPr>
              <a:t>(1 of 2)</a:t>
            </a:r>
            <a:endParaRPr lang="en-IN" sz="3600" dirty="0">
              <a:latin typeface="+mj-lt"/>
            </a:endParaRPr>
          </a:p>
        </p:txBody>
      </p:sp>
      <p:sp>
        <p:nvSpPr>
          <p:cNvPr id="2" name="Content Placeholder 1"/>
          <p:cNvSpPr>
            <a:spLocks noGrp="1"/>
          </p:cNvSpPr>
          <p:nvPr>
            <p:ph idx="1"/>
          </p:nvPr>
        </p:nvSpPr>
        <p:spPr>
          <a:xfrm>
            <a:off x="468922" y="1000648"/>
            <a:ext cx="3520372" cy="4866752"/>
          </a:xfrm>
        </p:spPr>
        <p:txBody>
          <a:bodyPr wrap="square">
            <a:noAutofit/>
          </a:bodyPr>
          <a:lstStyle/>
          <a:p>
            <a:pPr lvl="0">
              <a:spcBef>
                <a:spcPts val="600"/>
              </a:spcBef>
              <a:buSzPts val="1600"/>
            </a:pPr>
            <a:r>
              <a:rPr lang="en-IN" sz="1800" b="1" dirty="0"/>
              <a:t>Field check</a:t>
            </a:r>
          </a:p>
          <a:p>
            <a:pPr lvl="0">
              <a:spcBef>
                <a:spcPts val="600"/>
              </a:spcBef>
              <a:buSzPts val="1600"/>
            </a:pPr>
            <a:r>
              <a:rPr lang="en-IN" sz="1800" b="1" dirty="0"/>
              <a:t>Sign check</a:t>
            </a:r>
          </a:p>
          <a:p>
            <a:pPr lvl="0">
              <a:spcBef>
                <a:spcPts val="600"/>
              </a:spcBef>
              <a:buSzPts val="1600"/>
            </a:pPr>
            <a:r>
              <a:rPr lang="en-IN" sz="1800" b="1" dirty="0"/>
              <a:t>Limit check</a:t>
            </a:r>
          </a:p>
          <a:p>
            <a:pPr lvl="0">
              <a:spcBef>
                <a:spcPts val="600"/>
              </a:spcBef>
              <a:buSzPts val="1600"/>
            </a:pPr>
            <a:r>
              <a:rPr lang="en-IN" sz="1800" b="1" dirty="0"/>
              <a:t>Range check</a:t>
            </a:r>
          </a:p>
          <a:p>
            <a:pPr lvl="0">
              <a:spcBef>
                <a:spcPts val="600"/>
              </a:spcBef>
              <a:buSzPts val="1600"/>
            </a:pPr>
            <a:r>
              <a:rPr lang="en-IN" sz="1800" b="1" dirty="0"/>
              <a:t>Size check</a:t>
            </a:r>
          </a:p>
          <a:p>
            <a:pPr lvl="0">
              <a:spcBef>
                <a:spcPts val="600"/>
              </a:spcBef>
              <a:buSzPts val="1600"/>
            </a:pPr>
            <a:r>
              <a:rPr lang="en-IN" sz="1800" b="1" dirty="0"/>
              <a:t>Completeness check (or test)</a:t>
            </a:r>
          </a:p>
          <a:p>
            <a:pPr lvl="0">
              <a:spcBef>
                <a:spcPts val="600"/>
              </a:spcBef>
              <a:buSzPts val="1600"/>
            </a:pPr>
            <a:r>
              <a:rPr lang="en-IN" sz="1800" b="1" dirty="0"/>
              <a:t>Validity check</a:t>
            </a:r>
          </a:p>
          <a:p>
            <a:pPr lvl="0">
              <a:spcBef>
                <a:spcPts val="600"/>
              </a:spcBef>
              <a:buSzPts val="1600"/>
            </a:pPr>
            <a:r>
              <a:rPr lang="en-IN" sz="1800" b="1" dirty="0"/>
              <a:t>Reasonableness test</a:t>
            </a:r>
          </a:p>
          <a:p>
            <a:pPr lvl="0">
              <a:spcBef>
                <a:spcPts val="600"/>
              </a:spcBef>
              <a:buSzPts val="1600"/>
            </a:pPr>
            <a:r>
              <a:rPr lang="en-IN" sz="1800" dirty="0"/>
              <a:t>Check digit</a:t>
            </a:r>
          </a:p>
          <a:p>
            <a:pPr lvl="0">
              <a:spcBef>
                <a:spcPts val="600"/>
              </a:spcBef>
              <a:buSzPts val="1600"/>
            </a:pPr>
            <a:r>
              <a:rPr lang="en-IN" sz="1800" dirty="0"/>
              <a:t>Check digit verification</a:t>
            </a:r>
          </a:p>
          <a:p>
            <a:pPr lvl="0">
              <a:spcBef>
                <a:spcPts val="600"/>
              </a:spcBef>
              <a:buSzPts val="1600"/>
            </a:pPr>
            <a:r>
              <a:rPr lang="en-IN" sz="1800" b="1" dirty="0"/>
              <a:t>Sequence check</a:t>
            </a:r>
          </a:p>
          <a:p>
            <a:pPr lvl="0">
              <a:spcBef>
                <a:spcPts val="600"/>
              </a:spcBef>
            </a:pPr>
            <a:r>
              <a:rPr lang="en-IN" sz="1800" dirty="0"/>
              <a:t>Batch totals</a:t>
            </a:r>
          </a:p>
          <a:p>
            <a:pPr lvl="0">
              <a:spcBef>
                <a:spcPts val="600"/>
              </a:spcBef>
            </a:pPr>
            <a:r>
              <a:rPr lang="en-IN" sz="1800" dirty="0"/>
              <a:t>Financial total</a:t>
            </a:r>
          </a:p>
          <a:p>
            <a:pPr>
              <a:spcBef>
                <a:spcPts val="600"/>
              </a:spcBef>
            </a:pPr>
            <a:r>
              <a:rPr lang="en-IN" sz="1800" dirty="0"/>
              <a:t>Hash total</a:t>
            </a:r>
          </a:p>
        </p:txBody>
      </p:sp>
      <p:sp>
        <p:nvSpPr>
          <p:cNvPr id="3" name="Content Placeholder 2"/>
          <p:cNvSpPr>
            <a:spLocks noGrp="1"/>
          </p:cNvSpPr>
          <p:nvPr>
            <p:ph idx="13"/>
          </p:nvPr>
        </p:nvSpPr>
        <p:spPr>
          <a:xfrm>
            <a:off x="4572000" y="1006186"/>
            <a:ext cx="4114800" cy="4524315"/>
          </a:xfrm>
        </p:spPr>
        <p:txBody>
          <a:bodyPr>
            <a:noAutofit/>
          </a:bodyPr>
          <a:lstStyle/>
          <a:p>
            <a:pPr lvl="0">
              <a:spcBef>
                <a:spcPts val="600"/>
              </a:spcBef>
              <a:buSzPts val="1600"/>
            </a:pPr>
            <a:r>
              <a:rPr lang="en-IN" sz="1800" dirty="0"/>
              <a:t>Record count</a:t>
            </a:r>
          </a:p>
          <a:p>
            <a:pPr lvl="0">
              <a:spcBef>
                <a:spcPts val="600"/>
              </a:spcBef>
              <a:buSzPts val="1600"/>
            </a:pPr>
            <a:r>
              <a:rPr lang="en-IN" sz="1800" dirty="0"/>
              <a:t>Prompting</a:t>
            </a:r>
          </a:p>
          <a:p>
            <a:pPr lvl="0">
              <a:spcBef>
                <a:spcPts val="600"/>
              </a:spcBef>
              <a:buSzPts val="1600"/>
            </a:pPr>
            <a:r>
              <a:rPr lang="en-IN" sz="1800" dirty="0"/>
              <a:t>Closed-loop verification</a:t>
            </a:r>
          </a:p>
          <a:p>
            <a:pPr lvl="0">
              <a:spcBef>
                <a:spcPts val="600"/>
              </a:spcBef>
              <a:buSzPts val="1600"/>
            </a:pPr>
            <a:r>
              <a:rPr lang="en-IN" sz="1800" dirty="0"/>
              <a:t>Header record</a:t>
            </a:r>
          </a:p>
          <a:p>
            <a:pPr lvl="0">
              <a:spcBef>
                <a:spcPts val="600"/>
              </a:spcBef>
              <a:buSzPts val="1600"/>
            </a:pPr>
            <a:r>
              <a:rPr lang="en-IN" sz="1800" dirty="0"/>
              <a:t>Trailer record</a:t>
            </a:r>
          </a:p>
          <a:p>
            <a:pPr lvl="0">
              <a:spcBef>
                <a:spcPts val="600"/>
              </a:spcBef>
              <a:buSzPts val="1600"/>
            </a:pPr>
            <a:r>
              <a:rPr lang="en-IN" sz="1800" b="1" dirty="0"/>
              <a:t>Transposition error</a:t>
            </a:r>
          </a:p>
          <a:p>
            <a:pPr lvl="0">
              <a:spcBef>
                <a:spcPts val="600"/>
              </a:spcBef>
              <a:buSzPts val="1600"/>
            </a:pPr>
            <a:r>
              <a:rPr lang="en-IN" sz="1800" b="1" dirty="0"/>
              <a:t>Cross-footing balance test</a:t>
            </a:r>
          </a:p>
          <a:p>
            <a:pPr lvl="0">
              <a:spcBef>
                <a:spcPts val="600"/>
              </a:spcBef>
              <a:buSzPts val="1600"/>
            </a:pPr>
            <a:r>
              <a:rPr lang="en-IN" sz="1800" dirty="0"/>
              <a:t>Zero-balance test</a:t>
            </a:r>
          </a:p>
          <a:p>
            <a:pPr lvl="0">
              <a:spcBef>
                <a:spcPts val="600"/>
              </a:spcBef>
              <a:buSzPts val="1600"/>
            </a:pPr>
            <a:r>
              <a:rPr lang="en-IN" sz="1800" b="1" dirty="0"/>
              <a:t>Concurrent update controls</a:t>
            </a:r>
          </a:p>
          <a:p>
            <a:pPr lvl="0">
              <a:spcBef>
                <a:spcPts val="600"/>
              </a:spcBef>
            </a:pPr>
            <a:r>
              <a:rPr lang="en-IN" sz="1800" dirty="0"/>
              <a:t>Checksum</a:t>
            </a:r>
          </a:p>
          <a:p>
            <a:pPr lvl="0">
              <a:spcBef>
                <a:spcPts val="600"/>
              </a:spcBef>
            </a:pPr>
            <a:r>
              <a:rPr lang="en-IN" sz="1800" dirty="0"/>
              <a:t>Parity bit</a:t>
            </a:r>
          </a:p>
          <a:p>
            <a:pPr lvl="0">
              <a:spcBef>
                <a:spcPts val="600"/>
              </a:spcBef>
            </a:pPr>
            <a:r>
              <a:rPr lang="en-IN" sz="1800" dirty="0"/>
              <a:t>Parity checking</a:t>
            </a:r>
          </a:p>
          <a:p>
            <a:pPr lvl="0">
              <a:spcBef>
                <a:spcPts val="600"/>
              </a:spcBef>
            </a:pPr>
            <a:r>
              <a:rPr lang="en-IN" sz="1800" b="1" dirty="0"/>
              <a:t>Fault tolerance</a:t>
            </a:r>
          </a:p>
        </p:txBody>
      </p:sp>
    </p:spTree>
    <p:extLst>
      <p:ext uri="{BB962C8B-B14F-4D97-AF65-F5344CB8AC3E}">
        <p14:creationId xmlns:p14="http://schemas.microsoft.com/office/powerpoint/2010/main" val="3558285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 </a:t>
            </a:r>
            <a:r>
              <a:rPr lang="en-IN" sz="2800" dirty="0">
                <a:latin typeface="+mj-lt"/>
              </a:rPr>
              <a:t>(2 of 2)</a:t>
            </a:r>
            <a:endParaRPr lang="en-IN" sz="3600" dirty="0">
              <a:latin typeface="+mj-lt"/>
            </a:endParaRPr>
          </a:p>
        </p:txBody>
      </p:sp>
      <p:sp>
        <p:nvSpPr>
          <p:cNvPr id="2" name="Content Placeholder 1"/>
          <p:cNvSpPr>
            <a:spLocks noGrp="1"/>
          </p:cNvSpPr>
          <p:nvPr>
            <p:ph idx="1"/>
          </p:nvPr>
        </p:nvSpPr>
        <p:spPr>
          <a:xfrm>
            <a:off x="468922" y="1000648"/>
            <a:ext cx="4103078" cy="4801314"/>
          </a:xfrm>
        </p:spPr>
        <p:txBody>
          <a:bodyPr wrap="square">
            <a:noAutofit/>
          </a:bodyPr>
          <a:lstStyle/>
          <a:p>
            <a:pPr lvl="0">
              <a:spcBef>
                <a:spcPts val="600"/>
              </a:spcBef>
            </a:pPr>
            <a:r>
              <a:rPr lang="en-US" sz="1800" b="1" dirty="0"/>
              <a:t>Redundant arrays of independent drives (</a:t>
            </a:r>
            <a:r>
              <a:rPr lang="en-US" sz="1800" b="1" spc="-250" dirty="0"/>
              <a:t>R A I </a:t>
            </a:r>
            <a:r>
              <a:rPr lang="en-US" sz="1800" b="1" dirty="0"/>
              <a:t>D)</a:t>
            </a:r>
          </a:p>
          <a:p>
            <a:pPr lvl="0">
              <a:spcBef>
                <a:spcPts val="600"/>
              </a:spcBef>
              <a:buSzPts val="1600"/>
            </a:pPr>
            <a:r>
              <a:rPr lang="en-US" sz="1800" dirty="0"/>
              <a:t>Uninterruptible power supply (</a:t>
            </a:r>
            <a:r>
              <a:rPr lang="en-US" sz="1800" spc="-250" dirty="0"/>
              <a:t>U P </a:t>
            </a:r>
            <a:r>
              <a:rPr lang="en-US" sz="1800" dirty="0"/>
              <a:t>S)</a:t>
            </a:r>
          </a:p>
          <a:p>
            <a:pPr lvl="0">
              <a:spcBef>
                <a:spcPts val="600"/>
              </a:spcBef>
              <a:buSzPts val="1600"/>
            </a:pPr>
            <a:r>
              <a:rPr lang="en-US" sz="1800" dirty="0"/>
              <a:t>Backup</a:t>
            </a:r>
          </a:p>
          <a:p>
            <a:pPr lvl="0">
              <a:spcBef>
                <a:spcPts val="600"/>
              </a:spcBef>
              <a:buSzPts val="1600"/>
            </a:pPr>
            <a:r>
              <a:rPr lang="en-US" sz="1800" dirty="0"/>
              <a:t>Recovery point objective (</a:t>
            </a:r>
            <a:r>
              <a:rPr lang="en-US" sz="1800" spc="-250" dirty="0"/>
              <a:t>R P </a:t>
            </a:r>
            <a:r>
              <a:rPr lang="en-US" sz="1800" dirty="0"/>
              <a:t>O)</a:t>
            </a:r>
          </a:p>
          <a:p>
            <a:pPr lvl="0">
              <a:spcBef>
                <a:spcPts val="600"/>
              </a:spcBef>
              <a:buSzPts val="1600"/>
            </a:pPr>
            <a:r>
              <a:rPr lang="en-US" sz="1800" dirty="0"/>
              <a:t>Recovery time objective (</a:t>
            </a:r>
            <a:r>
              <a:rPr lang="en-US" sz="1800" spc="-250" dirty="0"/>
              <a:t>R T </a:t>
            </a:r>
            <a:r>
              <a:rPr lang="en-US" sz="1800" dirty="0"/>
              <a:t>O)</a:t>
            </a:r>
          </a:p>
          <a:p>
            <a:pPr lvl="0">
              <a:spcBef>
                <a:spcPts val="600"/>
              </a:spcBef>
            </a:pPr>
            <a:r>
              <a:rPr lang="en-US" sz="1800" dirty="0"/>
              <a:t>Real-time mirroring</a:t>
            </a:r>
          </a:p>
          <a:p>
            <a:pPr lvl="0">
              <a:spcBef>
                <a:spcPts val="600"/>
              </a:spcBef>
            </a:pPr>
            <a:r>
              <a:rPr lang="en-US" sz="1800" b="1" dirty="0"/>
              <a:t>Full backup</a:t>
            </a:r>
          </a:p>
          <a:p>
            <a:pPr lvl="0">
              <a:spcBef>
                <a:spcPts val="600"/>
              </a:spcBef>
            </a:pPr>
            <a:r>
              <a:rPr lang="en-US" sz="1800" b="1" dirty="0"/>
              <a:t>Incremental backup</a:t>
            </a:r>
          </a:p>
          <a:p>
            <a:pPr lvl="0">
              <a:spcBef>
                <a:spcPts val="600"/>
              </a:spcBef>
            </a:pPr>
            <a:r>
              <a:rPr lang="en-US" sz="1800" dirty="0"/>
              <a:t>Differential backup</a:t>
            </a:r>
          </a:p>
          <a:p>
            <a:pPr lvl="0">
              <a:spcBef>
                <a:spcPts val="600"/>
              </a:spcBef>
            </a:pPr>
            <a:r>
              <a:rPr lang="en-US" sz="1800" dirty="0"/>
              <a:t>Deduplication</a:t>
            </a:r>
          </a:p>
          <a:p>
            <a:pPr lvl="0">
              <a:spcBef>
                <a:spcPts val="600"/>
              </a:spcBef>
            </a:pPr>
            <a:r>
              <a:rPr lang="en-US" sz="1800" dirty="0"/>
              <a:t>Archive</a:t>
            </a:r>
          </a:p>
          <a:p>
            <a:pPr lvl="0">
              <a:spcBef>
                <a:spcPts val="600"/>
              </a:spcBef>
            </a:pPr>
            <a:r>
              <a:rPr lang="en-US" sz="1800" dirty="0"/>
              <a:t>Disaster recovery plan (</a:t>
            </a:r>
            <a:r>
              <a:rPr lang="en-US" sz="1800" spc="-250" dirty="0"/>
              <a:t>D R </a:t>
            </a:r>
            <a:r>
              <a:rPr lang="en-US" sz="1800" dirty="0"/>
              <a:t>P)</a:t>
            </a:r>
          </a:p>
          <a:p>
            <a:pPr lvl="0">
              <a:spcBef>
                <a:spcPts val="600"/>
              </a:spcBef>
            </a:pPr>
            <a:r>
              <a:rPr lang="en-US" sz="1800" b="1" dirty="0"/>
              <a:t>Cold site</a:t>
            </a:r>
          </a:p>
        </p:txBody>
      </p:sp>
      <p:sp>
        <p:nvSpPr>
          <p:cNvPr id="3" name="Content Placeholder 2"/>
          <p:cNvSpPr>
            <a:spLocks noGrp="1"/>
          </p:cNvSpPr>
          <p:nvPr>
            <p:ph idx="13"/>
          </p:nvPr>
        </p:nvSpPr>
        <p:spPr>
          <a:xfrm>
            <a:off x="4800600" y="1006186"/>
            <a:ext cx="3886200" cy="984885"/>
          </a:xfrm>
        </p:spPr>
        <p:txBody>
          <a:bodyPr>
            <a:noAutofit/>
          </a:bodyPr>
          <a:lstStyle/>
          <a:p>
            <a:pPr lvl="0">
              <a:spcBef>
                <a:spcPts val="600"/>
              </a:spcBef>
              <a:buSzPts val="1600"/>
            </a:pPr>
            <a:r>
              <a:rPr lang="en-IN" sz="1800" b="1" dirty="0"/>
              <a:t>Hot site</a:t>
            </a:r>
          </a:p>
          <a:p>
            <a:pPr lvl="0">
              <a:spcBef>
                <a:spcPts val="600"/>
              </a:spcBef>
              <a:buSzPts val="1600"/>
            </a:pPr>
            <a:r>
              <a:rPr lang="en-IN" sz="1800" dirty="0"/>
              <a:t>Real-time mirroring</a:t>
            </a:r>
          </a:p>
          <a:p>
            <a:pPr lvl="0">
              <a:spcBef>
                <a:spcPts val="600"/>
              </a:spcBef>
              <a:buSzPts val="1600"/>
            </a:pPr>
            <a:r>
              <a:rPr lang="en-IN" sz="1800" dirty="0"/>
              <a:t>Business continuity plan (</a:t>
            </a:r>
            <a:r>
              <a:rPr lang="en-IN" sz="1800" spc="-250" dirty="0"/>
              <a:t>B C </a:t>
            </a:r>
            <a:r>
              <a:rPr lang="en-IN" sz="1800" dirty="0"/>
              <a:t>P)</a:t>
            </a:r>
          </a:p>
        </p:txBody>
      </p:sp>
    </p:spTree>
    <p:extLst>
      <p:ext uri="{BB962C8B-B14F-4D97-AF65-F5344CB8AC3E}">
        <p14:creationId xmlns:p14="http://schemas.microsoft.com/office/powerpoint/2010/main" val="421712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9E6A72-80C8-AE43-93B4-86EEECE4B478}"/>
              </a:ext>
            </a:extLst>
          </p:cNvPr>
          <p:cNvSpPr>
            <a:spLocks noGrp="1"/>
          </p:cNvSpPr>
          <p:nvPr>
            <p:ph type="title"/>
          </p:nvPr>
        </p:nvSpPr>
        <p:spPr/>
        <p:txBody>
          <a:bodyPr/>
          <a:lstStyle/>
          <a:p>
            <a:r>
              <a:rPr lang="en-US" dirty="0"/>
              <a:t>How to debug a spreadsheet?</a:t>
            </a:r>
          </a:p>
        </p:txBody>
      </p:sp>
      <p:sp>
        <p:nvSpPr>
          <p:cNvPr id="6" name="Content Placeholder 5">
            <a:extLst>
              <a:ext uri="{FF2B5EF4-FFF2-40B4-BE49-F238E27FC236}">
                <a16:creationId xmlns:a16="http://schemas.microsoft.com/office/drawing/2014/main" id="{F05BA5E7-330A-A945-8A92-98E7B5DE86BF}"/>
              </a:ext>
            </a:extLst>
          </p:cNvPr>
          <p:cNvSpPr>
            <a:spLocks noGrp="1"/>
          </p:cNvSpPr>
          <p:nvPr>
            <p:ph idx="1"/>
          </p:nvPr>
        </p:nvSpPr>
        <p:spPr/>
        <p:txBody>
          <a:bodyPr/>
          <a:lstStyle/>
          <a:p>
            <a:r>
              <a:rPr lang="en-US" dirty="0"/>
              <a:t>Panko’s work</a:t>
            </a:r>
          </a:p>
          <a:p>
            <a:pPr lvl="1"/>
            <a:r>
              <a:rPr lang="en-US" dirty="0"/>
              <a:t>88% of spreadsheets contain errors</a:t>
            </a:r>
          </a:p>
          <a:p>
            <a:pPr lvl="1"/>
            <a:r>
              <a:rPr lang="en-US" dirty="0"/>
              <a:t>Error of 5%-0.5% per action for humans</a:t>
            </a:r>
          </a:p>
          <a:p>
            <a:pPr lvl="1"/>
            <a:r>
              <a:rPr lang="en-US" dirty="0"/>
              <a:t>Key problem is developer </a:t>
            </a:r>
            <a:r>
              <a:rPr lang="en-US" i="1" dirty="0"/>
              <a:t>overconfidence</a:t>
            </a:r>
          </a:p>
          <a:p>
            <a:pPr lvl="1"/>
            <a:r>
              <a:rPr lang="en-US" dirty="0"/>
              <a:t>Auditing by one person finds only around half of errors</a:t>
            </a:r>
          </a:p>
          <a:p>
            <a:pPr lvl="1"/>
            <a:r>
              <a:rPr lang="en-US" dirty="0"/>
              <a:t>Best case 80%</a:t>
            </a:r>
          </a:p>
        </p:txBody>
      </p:sp>
    </p:spTree>
    <p:extLst>
      <p:ext uri="{BB962C8B-B14F-4D97-AF65-F5344CB8AC3E}">
        <p14:creationId xmlns:p14="http://schemas.microsoft.com/office/powerpoint/2010/main" val="3972468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D10B8-B61E-C947-8D75-F15FBB784586}"/>
              </a:ext>
            </a:extLst>
          </p:cNvPr>
          <p:cNvSpPr>
            <a:spLocks noGrp="1"/>
          </p:cNvSpPr>
          <p:nvPr>
            <p:ph type="title"/>
          </p:nvPr>
        </p:nvSpPr>
        <p:spPr>
          <a:xfrm>
            <a:off x="457200" y="758654"/>
            <a:ext cx="1905000" cy="3737146"/>
          </a:xfrm>
        </p:spPr>
        <p:txBody>
          <a:bodyPr/>
          <a:lstStyle/>
          <a:p>
            <a:r>
              <a:rPr lang="en-US" dirty="0"/>
              <a:t>How well does auditing find errors?</a:t>
            </a:r>
          </a:p>
        </p:txBody>
      </p:sp>
      <p:pic>
        <p:nvPicPr>
          <p:cNvPr id="6" name="Picture 5" descr="Table&#10;&#10;Description automatically generated">
            <a:extLst>
              <a:ext uri="{FF2B5EF4-FFF2-40B4-BE49-F238E27FC236}">
                <a16:creationId xmlns:a16="http://schemas.microsoft.com/office/drawing/2014/main" id="{E26B1C70-265D-384C-9AAF-7682CFDC04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5927" y="0"/>
            <a:ext cx="5015696" cy="6858000"/>
          </a:xfrm>
          <a:prstGeom prst="rect">
            <a:avLst/>
          </a:prstGeom>
        </p:spPr>
      </p:pic>
    </p:spTree>
    <p:extLst>
      <p:ext uri="{BB962C8B-B14F-4D97-AF65-F5344CB8AC3E}">
        <p14:creationId xmlns:p14="http://schemas.microsoft.com/office/powerpoint/2010/main" val="2570976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9E6A72-80C8-AE43-93B4-86EEECE4B478}"/>
              </a:ext>
            </a:extLst>
          </p:cNvPr>
          <p:cNvSpPr>
            <a:spLocks noGrp="1"/>
          </p:cNvSpPr>
          <p:nvPr>
            <p:ph type="title"/>
          </p:nvPr>
        </p:nvSpPr>
        <p:spPr/>
        <p:txBody>
          <a:bodyPr/>
          <a:lstStyle/>
          <a:p>
            <a:r>
              <a:rPr lang="en-US" dirty="0"/>
              <a:t>How to design a spreadsheet?</a:t>
            </a:r>
          </a:p>
        </p:txBody>
      </p:sp>
      <p:sp>
        <p:nvSpPr>
          <p:cNvPr id="6" name="Content Placeholder 5">
            <a:extLst>
              <a:ext uri="{FF2B5EF4-FFF2-40B4-BE49-F238E27FC236}">
                <a16:creationId xmlns:a16="http://schemas.microsoft.com/office/drawing/2014/main" id="{F05BA5E7-330A-A945-8A92-98E7B5DE86BF}"/>
              </a:ext>
            </a:extLst>
          </p:cNvPr>
          <p:cNvSpPr>
            <a:spLocks noGrp="1"/>
          </p:cNvSpPr>
          <p:nvPr>
            <p:ph idx="1"/>
          </p:nvPr>
        </p:nvSpPr>
        <p:spPr/>
        <p:txBody>
          <a:bodyPr/>
          <a:lstStyle/>
          <a:p>
            <a:r>
              <a:rPr lang="en-US" dirty="0"/>
              <a:t>Structuring</a:t>
            </a:r>
          </a:p>
          <a:p>
            <a:pPr lvl="1"/>
            <a:r>
              <a:rPr lang="en-US" dirty="0"/>
              <a:t>Input / Calculations / Output</a:t>
            </a:r>
          </a:p>
          <a:p>
            <a:pPr lvl="1"/>
            <a:r>
              <a:rPr lang="en-US" dirty="0"/>
              <a:t>Consistent row/columns</a:t>
            </a:r>
          </a:p>
          <a:p>
            <a:pPr lvl="2"/>
            <a:r>
              <a:rPr lang="en-US" dirty="0"/>
              <a:t>Use bottom row to carry forward.</a:t>
            </a:r>
          </a:p>
          <a:p>
            <a:pPr lvl="2"/>
            <a:r>
              <a:rPr lang="en-US" dirty="0"/>
              <a:t>Copy down values used in current block</a:t>
            </a:r>
          </a:p>
          <a:p>
            <a:pPr lvl="1"/>
            <a:r>
              <a:rPr lang="en-US" dirty="0"/>
              <a:t>Top to bottom, left to right</a:t>
            </a:r>
          </a:p>
          <a:p>
            <a:r>
              <a:rPr lang="en-US" dirty="0"/>
              <a:t>References</a:t>
            </a:r>
          </a:p>
          <a:p>
            <a:pPr lvl="1"/>
            <a:r>
              <a:rPr lang="en-US" dirty="0"/>
              <a:t>Naming, tables</a:t>
            </a:r>
          </a:p>
          <a:p>
            <a:r>
              <a:rPr lang="en-US" dirty="0"/>
              <a:t>Versioning (date, v1, …)</a:t>
            </a:r>
          </a:p>
          <a:p>
            <a:r>
              <a:rPr lang="en-US" dirty="0"/>
              <a:t>Labeling units (days, months, thousands, units, </a:t>
            </a:r>
            <a:r>
              <a:rPr lang="en-US" dirty="0" err="1"/>
              <a:t>etc</a:t>
            </a:r>
            <a:r>
              <a:rPr lang="en-US" dirty="0"/>
              <a:t>…)</a:t>
            </a:r>
          </a:p>
          <a:p>
            <a:r>
              <a:rPr lang="en-US" dirty="0"/>
              <a:t>Use negative sign on negative cash flows</a:t>
            </a:r>
          </a:p>
        </p:txBody>
      </p:sp>
    </p:spTree>
    <p:extLst>
      <p:ext uri="{BB962C8B-B14F-4D97-AF65-F5344CB8AC3E}">
        <p14:creationId xmlns:p14="http://schemas.microsoft.com/office/powerpoint/2010/main" val="3248201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9E6A72-80C8-AE43-93B4-86EEECE4B478}"/>
              </a:ext>
            </a:extLst>
          </p:cNvPr>
          <p:cNvSpPr>
            <a:spLocks noGrp="1"/>
          </p:cNvSpPr>
          <p:nvPr>
            <p:ph type="title"/>
          </p:nvPr>
        </p:nvSpPr>
        <p:spPr/>
        <p:txBody>
          <a:bodyPr/>
          <a:lstStyle/>
          <a:p>
            <a:r>
              <a:rPr lang="en-US" dirty="0"/>
              <a:t>How to design a spreadsheet?</a:t>
            </a:r>
          </a:p>
        </p:txBody>
      </p:sp>
      <p:sp>
        <p:nvSpPr>
          <p:cNvPr id="6" name="Content Placeholder 5">
            <a:extLst>
              <a:ext uri="{FF2B5EF4-FFF2-40B4-BE49-F238E27FC236}">
                <a16:creationId xmlns:a16="http://schemas.microsoft.com/office/drawing/2014/main" id="{F05BA5E7-330A-A945-8A92-98E7B5DE86BF}"/>
              </a:ext>
            </a:extLst>
          </p:cNvPr>
          <p:cNvSpPr>
            <a:spLocks noGrp="1"/>
          </p:cNvSpPr>
          <p:nvPr>
            <p:ph idx="1"/>
          </p:nvPr>
        </p:nvSpPr>
        <p:spPr/>
        <p:txBody>
          <a:bodyPr/>
          <a:lstStyle/>
          <a:p>
            <a:r>
              <a:rPr lang="en-US" dirty="0"/>
              <a:t>Visual cues</a:t>
            </a:r>
          </a:p>
          <a:p>
            <a:pPr lvl="1"/>
            <a:r>
              <a:rPr lang="en-US" dirty="0"/>
              <a:t>Solid borders for input cells</a:t>
            </a:r>
          </a:p>
          <a:p>
            <a:pPr lvl="1"/>
            <a:r>
              <a:rPr lang="en-US" dirty="0"/>
              <a:t>Avoid </a:t>
            </a:r>
            <a:r>
              <a:rPr lang="en-US" dirty="0" err="1"/>
              <a:t>merge+center</a:t>
            </a:r>
            <a:endParaRPr lang="en-US" dirty="0"/>
          </a:p>
          <a:p>
            <a:pPr lvl="1"/>
            <a:r>
              <a:rPr lang="en-US" dirty="0"/>
              <a:t>Appropriate number formatting</a:t>
            </a:r>
          </a:p>
          <a:p>
            <a:pPr lvl="1"/>
            <a:r>
              <a:rPr lang="en-US" dirty="0"/>
              <a:t>Colors for meaning</a:t>
            </a:r>
          </a:p>
          <a:p>
            <a:pPr lvl="1"/>
            <a:r>
              <a:rPr lang="en-US" dirty="0"/>
              <a:t>Solid top + double-bottom border</a:t>
            </a:r>
          </a:p>
          <a:p>
            <a:pPr lvl="1"/>
            <a:r>
              <a:rPr lang="en-US" dirty="0"/>
              <a:t>Align titles center, text left, numbers right</a:t>
            </a:r>
          </a:p>
          <a:p>
            <a:pPr lvl="1"/>
            <a:r>
              <a:rPr lang="en-US" dirty="0"/>
              <a:t>Use *highlight</a:t>
            </a:r>
            <a:r>
              <a:rPr lang="en-US"/>
              <a:t>* colors for errors</a:t>
            </a:r>
            <a:endParaRPr lang="en-US" dirty="0"/>
          </a:p>
        </p:txBody>
      </p:sp>
    </p:spTree>
    <p:extLst>
      <p:ext uri="{BB962C8B-B14F-4D97-AF65-F5344CB8AC3E}">
        <p14:creationId xmlns:p14="http://schemas.microsoft.com/office/powerpoint/2010/main" val="4149248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9E6A72-80C8-AE43-93B4-86EEECE4B478}"/>
              </a:ext>
            </a:extLst>
          </p:cNvPr>
          <p:cNvSpPr>
            <a:spLocks noGrp="1"/>
          </p:cNvSpPr>
          <p:nvPr>
            <p:ph type="title"/>
          </p:nvPr>
        </p:nvSpPr>
        <p:spPr/>
        <p:txBody>
          <a:bodyPr/>
          <a:lstStyle/>
          <a:p>
            <a:r>
              <a:rPr lang="en-US" dirty="0"/>
              <a:t>How to debug a spreadsheet?</a:t>
            </a:r>
          </a:p>
        </p:txBody>
      </p:sp>
      <p:sp>
        <p:nvSpPr>
          <p:cNvPr id="6" name="Content Placeholder 5">
            <a:extLst>
              <a:ext uri="{FF2B5EF4-FFF2-40B4-BE49-F238E27FC236}">
                <a16:creationId xmlns:a16="http://schemas.microsoft.com/office/drawing/2014/main" id="{F05BA5E7-330A-A945-8A92-98E7B5DE86BF}"/>
              </a:ext>
            </a:extLst>
          </p:cNvPr>
          <p:cNvSpPr>
            <a:spLocks noGrp="1"/>
          </p:cNvSpPr>
          <p:nvPr>
            <p:ph idx="1"/>
          </p:nvPr>
        </p:nvSpPr>
        <p:spPr/>
        <p:txBody>
          <a:bodyPr/>
          <a:lstStyle/>
          <a:p>
            <a:r>
              <a:rPr lang="en-US" dirty="0"/>
              <a:t>Debug Process</a:t>
            </a:r>
          </a:p>
          <a:p>
            <a:pPr lvl="1"/>
            <a:r>
              <a:rPr lang="en-US" dirty="0"/>
              <a:t>Show formulas (or find and format)</a:t>
            </a:r>
          </a:p>
          <a:p>
            <a:pPr lvl="1"/>
            <a:r>
              <a:rPr lang="en-US" dirty="0"/>
              <a:t>#Errors</a:t>
            </a:r>
          </a:p>
          <a:p>
            <a:pPr lvl="2"/>
            <a:r>
              <a:rPr lang="en-US" dirty="0"/>
              <a:t>Find precedents/dependents</a:t>
            </a:r>
          </a:p>
          <a:p>
            <a:pPr lvl="2"/>
            <a:r>
              <a:rPr lang="en-US" dirty="0"/>
              <a:t>Circular references</a:t>
            </a:r>
          </a:p>
          <a:p>
            <a:pPr lvl="1"/>
            <a:r>
              <a:rPr lang="en-US" dirty="0"/>
              <a:t>For each formula</a:t>
            </a:r>
          </a:p>
          <a:p>
            <a:pPr lvl="2"/>
            <a:r>
              <a:rPr lang="en-US" dirty="0"/>
              <a:t>See if there are hard-coded values AND pull out to an input cell</a:t>
            </a:r>
          </a:p>
          <a:p>
            <a:pPr lvl="2"/>
            <a:r>
              <a:rPr lang="en-US" dirty="0"/>
              <a:t>Check for inconsistent rows/columns AND make consistent</a:t>
            </a:r>
          </a:p>
          <a:p>
            <a:pPr lvl="2"/>
            <a:r>
              <a:rPr lang="en-US" dirty="0"/>
              <a:t>Check ranges for adjacent values AND use a named range</a:t>
            </a:r>
          </a:p>
          <a:p>
            <a:pPr lvl="2"/>
            <a:r>
              <a:rPr lang="en-US" dirty="0"/>
              <a:t>Split overly-complex formulas apart for auditing</a:t>
            </a:r>
          </a:p>
          <a:p>
            <a:pPr lvl="1"/>
            <a:r>
              <a:rPr lang="en-US" dirty="0"/>
              <a:t>Bad Values</a:t>
            </a:r>
          </a:p>
          <a:p>
            <a:pPr lvl="2"/>
            <a:r>
              <a:rPr lang="en-US" dirty="0"/>
              <a:t>Numbers stored as text</a:t>
            </a:r>
          </a:p>
          <a:p>
            <a:pPr lvl="2"/>
            <a:r>
              <a:rPr lang="en-US" dirty="0"/>
              <a:t>Blanks used instead of zeros (or text values)</a:t>
            </a:r>
          </a:p>
        </p:txBody>
      </p:sp>
    </p:spTree>
    <p:extLst>
      <p:ext uri="{BB962C8B-B14F-4D97-AF65-F5344CB8AC3E}">
        <p14:creationId xmlns:p14="http://schemas.microsoft.com/office/powerpoint/2010/main" val="2141914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25529</TotalTime>
  <Words>2017</Words>
  <Application>Microsoft Macintosh PowerPoint</Application>
  <PresentationFormat>On-screen Show (4:3)</PresentationFormat>
  <Paragraphs>258</Paragraphs>
  <Slides>22</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vt:lpstr>
      <vt:lpstr>Processing Integrity Controls</vt:lpstr>
      <vt:lpstr>What processing controls are missing/present in this form?</vt:lpstr>
      <vt:lpstr>Processing Integrity: Data Entry Controls</vt:lpstr>
      <vt:lpstr>Additional Data Entry Controls</vt:lpstr>
      <vt:lpstr>Processing Controls</vt:lpstr>
      <vt:lpstr>Output Controls</vt:lpstr>
      <vt:lpstr>Availability Key Objectives</vt:lpstr>
      <vt:lpstr>Availability Controls</vt:lpstr>
      <vt:lpstr>Problem 13.7</vt:lpstr>
      <vt:lpstr>Problem 13.7</vt:lpstr>
      <vt:lpstr>Problem 13.7</vt:lpstr>
      <vt:lpstr>Problem 13.7</vt:lpstr>
      <vt:lpstr>Key Terms (1 of 2)</vt:lpstr>
      <vt:lpstr>Key Terms (2 of 2)</vt:lpstr>
      <vt:lpstr>How to debug a spreadsheet?</vt:lpstr>
      <vt:lpstr>How well does auditing find errors?</vt:lpstr>
      <vt:lpstr>How to design a spreadsheet?</vt:lpstr>
      <vt:lpstr>How to design a spreadsheet?</vt:lpstr>
      <vt:lpstr>How to debug a spreadsheet?</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13, Processing Integrity and Availability Controls</dc:title>
  <dc:subject/>
  <dc:creator>Romney</dc:creator>
  <cp:keywords>Automotive</cp:keywords>
  <cp:lastModifiedBy>Nathan Garrett</cp:lastModifiedBy>
  <cp:revision>5077</cp:revision>
  <dcterms:created xsi:type="dcterms:W3CDTF">2014-07-14T20:04:21Z</dcterms:created>
  <dcterms:modified xsi:type="dcterms:W3CDTF">2025-10-22T15:30:30Z</dcterms:modified>
</cp:coreProperties>
</file>