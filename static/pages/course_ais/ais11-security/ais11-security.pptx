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48"/>
  </p:notesMasterIdLst>
  <p:handoutMasterIdLst>
    <p:handoutMasterId r:id="rId49"/>
  </p:handoutMasterIdLst>
  <p:sldIdLst>
    <p:sldId id="330" r:id="rId3"/>
    <p:sldId id="1813" r:id="rId4"/>
    <p:sldId id="1718" r:id="rId5"/>
    <p:sldId id="1770" r:id="rId6"/>
    <p:sldId id="1771" r:id="rId7"/>
    <p:sldId id="1088" r:id="rId8"/>
    <p:sldId id="1755" r:id="rId9"/>
    <p:sldId id="1782" r:id="rId10"/>
    <p:sldId id="1783" r:id="rId11"/>
    <p:sldId id="1784" r:id="rId12"/>
    <p:sldId id="1814" r:id="rId13"/>
    <p:sldId id="1785" r:id="rId14"/>
    <p:sldId id="1810" r:id="rId15"/>
    <p:sldId id="1786" r:id="rId16"/>
    <p:sldId id="1787" r:id="rId17"/>
    <p:sldId id="1788" r:id="rId18"/>
    <p:sldId id="1790" r:id="rId19"/>
    <p:sldId id="1791" r:id="rId20"/>
    <p:sldId id="1756" r:id="rId21"/>
    <p:sldId id="1757" r:id="rId22"/>
    <p:sldId id="1792" r:id="rId23"/>
    <p:sldId id="1793" r:id="rId24"/>
    <p:sldId id="1775" r:id="rId25"/>
    <p:sldId id="1794" r:id="rId26"/>
    <p:sldId id="1795" r:id="rId27"/>
    <p:sldId id="1776" r:id="rId28"/>
    <p:sldId id="1796" r:id="rId29"/>
    <p:sldId id="1798" r:id="rId30"/>
    <p:sldId id="1797" r:id="rId31"/>
    <p:sldId id="1777" r:id="rId32"/>
    <p:sldId id="1799" r:id="rId33"/>
    <p:sldId id="1778" r:id="rId34"/>
    <p:sldId id="1779" r:id="rId35"/>
    <p:sldId id="1780" r:id="rId36"/>
    <p:sldId id="1800" r:id="rId37"/>
    <p:sldId id="1801" r:id="rId38"/>
    <p:sldId id="1781" r:id="rId39"/>
    <p:sldId id="1802" r:id="rId40"/>
    <p:sldId id="1803" r:id="rId41"/>
    <p:sldId id="1804" r:id="rId42"/>
    <p:sldId id="1769" r:id="rId43"/>
    <p:sldId id="1805" r:id="rId44"/>
    <p:sldId id="1808" r:id="rId45"/>
    <p:sldId id="1809" r:id="rId46"/>
    <p:sldId id="1704"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77D4"/>
    <a:srgbClr val="007FA3"/>
    <a:srgbClr val="D4EAE4"/>
    <a:srgbClr val="99008C"/>
    <a:srgbClr val="001581"/>
    <a:srgbClr val="82007C"/>
    <a:srgbClr val="96008F"/>
    <a:srgbClr val="595375"/>
    <a:srgbClr val="6B638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3F62CF-8DF4-4C88-9ACA-1F3D5219906C}" v="4" dt="2022-10-07T17:29:27.517"/>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708" autoAdjust="0"/>
    <p:restoredTop sz="92874" autoAdjust="0"/>
  </p:normalViewPr>
  <p:slideViewPr>
    <p:cSldViewPr>
      <p:cViewPr varScale="1">
        <p:scale>
          <a:sx n="118" d="100"/>
          <a:sy n="118" d="100"/>
        </p:scale>
        <p:origin x="208" y="2088"/>
      </p:cViewPr>
      <p:guideLst>
        <p:guide pos="2880"/>
        <p:guide orient="horz" pos="384"/>
        <p:guide orient="horz" pos="144"/>
        <p:guide orient="horz" pos="624"/>
        <p:guide pos="288"/>
        <p:guide pos="5472"/>
        <p:guide orient="horz" pos="3984"/>
        <p:guide orient="horz" pos="2160"/>
      </p:guideLst>
    </p:cSldViewPr>
  </p:slideViewPr>
  <p:outlineViewPr>
    <p:cViewPr>
      <p:scale>
        <a:sx n="25" d="100"/>
        <a:sy n="25"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Garrett" userId="2e433c4c-36ae-4b16-acdd-ef7227993467" providerId="ADAL" clId="{903F62CF-8DF4-4C88-9ACA-1F3D5219906C}"/>
    <pc:docChg chg="custSel addSld modSld">
      <pc:chgData name="Nathan Garrett" userId="2e433c4c-36ae-4b16-acdd-ef7227993467" providerId="ADAL" clId="{903F62CF-8DF4-4C88-9ACA-1F3D5219906C}" dt="2022-10-07T17:29:27.516" v="5" actId="1076"/>
      <pc:docMkLst>
        <pc:docMk/>
      </pc:docMkLst>
      <pc:sldChg chg="modSp mod">
        <pc:chgData name="Nathan Garrett" userId="2e433c4c-36ae-4b16-acdd-ef7227993467" providerId="ADAL" clId="{903F62CF-8DF4-4C88-9ACA-1F3D5219906C}" dt="2022-10-04T12:02:34.695" v="0" actId="313"/>
        <pc:sldMkLst>
          <pc:docMk/>
          <pc:sldMk cId="2560582870" sldId="1718"/>
        </pc:sldMkLst>
        <pc:spChg chg="mod">
          <ac:chgData name="Nathan Garrett" userId="2e433c4c-36ae-4b16-acdd-ef7227993467" providerId="ADAL" clId="{903F62CF-8DF4-4C88-9ACA-1F3D5219906C}" dt="2022-10-04T12:02:34.695" v="0" actId="313"/>
          <ac:spMkLst>
            <pc:docMk/>
            <pc:sldMk cId="2560582870" sldId="1718"/>
            <ac:spMk id="2" creationId="{00000000-0000-0000-0000-000000000000}"/>
          </ac:spMkLst>
        </pc:spChg>
      </pc:sldChg>
      <pc:sldChg chg="addSp modSp new">
        <pc:chgData name="Nathan Garrett" userId="2e433c4c-36ae-4b16-acdd-ef7227993467" providerId="ADAL" clId="{903F62CF-8DF4-4C88-9ACA-1F3D5219906C}" dt="2022-10-07T17:29:27.516" v="5" actId="1076"/>
        <pc:sldMkLst>
          <pc:docMk/>
          <pc:sldMk cId="725005840" sldId="1810"/>
        </pc:sldMkLst>
        <pc:spChg chg="add">
          <ac:chgData name="Nathan Garrett" userId="2e433c4c-36ae-4b16-acdd-ef7227993467" providerId="ADAL" clId="{903F62CF-8DF4-4C88-9ACA-1F3D5219906C}" dt="2022-10-07T17:29:13.839" v="2"/>
          <ac:spMkLst>
            <pc:docMk/>
            <pc:sldMk cId="725005840" sldId="1810"/>
            <ac:spMk id="2" creationId="{ACA2BC75-5CD5-19C2-E986-E02B888D7E29}"/>
          </ac:spMkLst>
        </pc:spChg>
        <pc:picChg chg="add mod">
          <ac:chgData name="Nathan Garrett" userId="2e433c4c-36ae-4b16-acdd-ef7227993467" providerId="ADAL" clId="{903F62CF-8DF4-4C88-9ACA-1F3D5219906C}" dt="2022-10-07T17:29:27.516" v="5" actId="1076"/>
          <ac:picMkLst>
            <pc:docMk/>
            <pc:sldMk cId="725005840" sldId="1810"/>
            <ac:picMk id="1025" creationId="{438A9F22-49E7-FF91-4C0D-C8591B2E97F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7/22/25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7/22/25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1943810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The trust services framework is a means to organize IT controls to help ensure systems reliability. At the foundation of this framework is security, which is absolutely necessary for success and for achieving the other four principles.</a:t>
            </a:r>
          </a:p>
          <a:p>
            <a:pPr marL="0" lvl="0" indent="0" algn="l" rtl="0">
              <a:spcBef>
                <a:spcPts val="0"/>
              </a:spcBef>
              <a:spcAft>
                <a:spcPts val="0"/>
              </a:spcAft>
              <a:buNone/>
            </a:pPr>
            <a:r>
              <a:rPr lang="en-IN" dirty="0"/>
              <a:t>Security procedures:</a:t>
            </a:r>
          </a:p>
          <a:p>
            <a:pPr marL="0" lvl="0" indent="0" algn="l" rtl="0">
              <a:spcBef>
                <a:spcPts val="0"/>
              </a:spcBef>
              <a:spcAft>
                <a:spcPts val="0"/>
              </a:spcAft>
              <a:buNone/>
            </a:pPr>
            <a:r>
              <a:rPr lang="en-IN" dirty="0"/>
              <a:t>Restrict access to authorized users only, which protects confidentiality of sensitive organizational data and the privacy of personal data collected from customers, suppliers, employees, and so on.</a:t>
            </a:r>
          </a:p>
          <a:p>
            <a:pPr marL="0" lvl="0" indent="0" algn="l" rtl="0">
              <a:spcBef>
                <a:spcPts val="0"/>
              </a:spcBef>
              <a:spcAft>
                <a:spcPts val="0"/>
              </a:spcAft>
              <a:buNone/>
            </a:pPr>
            <a:r>
              <a:rPr lang="en-IN" dirty="0"/>
              <a:t>Security protects the processing integrity by preventing submission of unauthorized transactions or unauthorized changes to the data.</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Security provides protection from unwanted attacks that could bring down the system and make it unavailable.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2212462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This is a good visual of the Trust Services Framework.</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Using an analogy of building a house, you need a good foundation; otherwise the house will fall apart. Then to keep the roof over your head, you need to have well-constructed walls.</a:t>
            </a:r>
          </a:p>
          <a:p>
            <a:pPr marL="0" lvl="0" indent="0" algn="l" rtl="0">
              <a:spcBef>
                <a:spcPts val="0"/>
              </a:spcBef>
              <a:spcAft>
                <a:spcPts val="0"/>
              </a:spcAft>
              <a:buNone/>
            </a:pPr>
            <a:r>
              <a:rPr lang="en-IN" dirty="0"/>
              <a:t>Similarly, for good systems reliability, you need a good foundation of security. The walls are the four pillars focused on maintaining good systems reliability.</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Long Description:</a:t>
            </a:r>
          </a:p>
          <a:p>
            <a:pPr marL="0" lvl="0" indent="0" algn="l" rtl="0">
              <a:spcBef>
                <a:spcPts val="0"/>
              </a:spcBef>
              <a:spcAft>
                <a:spcPts val="0"/>
              </a:spcAft>
              <a:buNone/>
            </a:pPr>
            <a:r>
              <a:rPr lang="en-US" sz="1200" kern="1200" dirty="0">
                <a:solidFill>
                  <a:schemeClr val="tx1"/>
                </a:solidFill>
                <a:effectLst/>
                <a:latin typeface="+mn-lt"/>
                <a:ea typeface="+mn-ea"/>
                <a:cs typeface="+mn-cs"/>
              </a:rPr>
              <a:t>The diagram shows the five principles of system reliability as security, confidentiality, privacy, processing integrity, and availability. Illustrated as a building, the security is shown as the foundation of systems reliability (Focus of Chapter 11) at the bottom. Confidentiality (Focus of Chapter 12), privacy (Focus of Chapter 12), processing integrity (Focus of Chapter 13), and availability (Focus of Chapter 13) make four pillars holding up systems reliability, shown as the roof of the building.</a:t>
            </a: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54166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1274455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2209216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3626600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r>
              <a:rPr lang="en-IN" dirty="0"/>
              <a:t>These two concepts are related, to get into a system, you need to be authenticated, then authorization is where you are allowed to go once you are in the system.</a:t>
            </a:r>
          </a:p>
        </p:txBody>
      </p:sp>
      <p:sp>
        <p:nvSpPr>
          <p:cNvPr id="4" name="Slide Number Placeholder 3"/>
          <p:cNvSpPr>
            <a:spLocks noGrp="1"/>
          </p:cNvSpPr>
          <p:nvPr>
            <p:ph type="sldNum" sz="quarter" idx="10"/>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606290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26</a:t>
            </a:fld>
            <a:endParaRPr lang="en-US" dirty="0"/>
          </a:p>
        </p:txBody>
      </p:sp>
    </p:spTree>
    <p:extLst>
      <p:ext uri="{BB962C8B-B14F-4D97-AF65-F5344CB8AC3E}">
        <p14:creationId xmlns:p14="http://schemas.microsoft.com/office/powerpoint/2010/main" val="996522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30</a:t>
            </a:fld>
            <a:endParaRPr lang="en-US" dirty="0"/>
          </a:p>
        </p:txBody>
      </p:sp>
    </p:spTree>
    <p:extLst>
      <p:ext uri="{BB962C8B-B14F-4D97-AF65-F5344CB8AC3E}">
        <p14:creationId xmlns:p14="http://schemas.microsoft.com/office/powerpoint/2010/main" val="2829912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32</a:t>
            </a:fld>
            <a:endParaRPr lang="en-US" dirty="0"/>
          </a:p>
        </p:txBody>
      </p:sp>
    </p:spTree>
    <p:extLst>
      <p:ext uri="{BB962C8B-B14F-4D97-AF65-F5344CB8AC3E}">
        <p14:creationId xmlns:p14="http://schemas.microsoft.com/office/powerpoint/2010/main" val="2432363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33</a:t>
            </a:fld>
            <a:endParaRPr lang="en-US" dirty="0"/>
          </a:p>
        </p:txBody>
      </p:sp>
    </p:spTree>
    <p:extLst>
      <p:ext uri="{BB962C8B-B14F-4D97-AF65-F5344CB8AC3E}">
        <p14:creationId xmlns:p14="http://schemas.microsoft.com/office/powerpoint/2010/main" val="2026022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34</a:t>
            </a:fld>
            <a:endParaRPr lang="en-US" dirty="0"/>
          </a:p>
        </p:txBody>
      </p:sp>
    </p:spTree>
    <p:extLst>
      <p:ext uri="{BB962C8B-B14F-4D97-AF65-F5344CB8AC3E}">
        <p14:creationId xmlns:p14="http://schemas.microsoft.com/office/powerpoint/2010/main" val="17775893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sz="1200" dirty="0">
                <a:solidFill>
                  <a:schemeClr val="dk1"/>
                </a:solidFill>
                <a:latin typeface="+mn-lt"/>
                <a:ea typeface="Arial"/>
                <a:cs typeface="Arial"/>
                <a:sym typeface="Arial"/>
              </a:rPr>
              <a:t>Virtualization and Cloud computing can increase risks possibly by:</a:t>
            </a:r>
            <a:endParaRPr lang="en-IN" dirty="0"/>
          </a:p>
          <a:p>
            <a:pPr marL="171450" lvl="0" indent="-171450" algn="l" rtl="0">
              <a:spcBef>
                <a:spcPts val="0"/>
              </a:spcBef>
              <a:spcAft>
                <a:spcPts val="0"/>
              </a:spcAft>
              <a:buClr>
                <a:schemeClr val="dk1"/>
              </a:buClr>
              <a:buSzPts val="1200"/>
              <a:buFont typeface="Arial"/>
              <a:buChar char="•"/>
            </a:pPr>
            <a:r>
              <a:rPr lang="en-IN" sz="1200" dirty="0">
                <a:solidFill>
                  <a:schemeClr val="dk1"/>
                </a:solidFill>
                <a:latin typeface="+mn-lt"/>
                <a:ea typeface="Arial"/>
                <a:cs typeface="Arial"/>
                <a:sym typeface="Arial"/>
              </a:rPr>
              <a:t>Unsupervised physical access in virtualization environment exposes the entire virtual network to risk of theft or destruction</a:t>
            </a:r>
            <a:endParaRPr lang="en-IN" dirty="0"/>
          </a:p>
          <a:p>
            <a:pPr marL="171450" lvl="0" indent="-171450" algn="l" rtl="0">
              <a:spcBef>
                <a:spcPts val="0"/>
              </a:spcBef>
              <a:spcAft>
                <a:spcPts val="0"/>
              </a:spcAft>
              <a:buClr>
                <a:schemeClr val="dk1"/>
              </a:buClr>
              <a:buSzPts val="1200"/>
              <a:buFont typeface="Arial"/>
              <a:buChar char="•"/>
            </a:pPr>
            <a:r>
              <a:rPr lang="en-IN" sz="1200" dirty="0">
                <a:solidFill>
                  <a:schemeClr val="dk1"/>
                </a:solidFill>
                <a:latin typeface="+mn-lt"/>
                <a:ea typeface="Arial"/>
                <a:cs typeface="Arial"/>
                <a:sym typeface="Arial"/>
              </a:rPr>
              <a:t>Public clouds may have reliability issues because the organization is outsourcing control of its data and computing resources to a third party</a:t>
            </a:r>
            <a:endParaRPr lang="en-IN" dirty="0"/>
          </a:p>
          <a:p>
            <a:pPr marL="0" lvl="0" indent="0" algn="l" rtl="0">
              <a:spcBef>
                <a:spcPts val="0"/>
              </a:spcBef>
              <a:spcAft>
                <a:spcPts val="0"/>
              </a:spcAft>
              <a:buNone/>
            </a:pPr>
            <a:r>
              <a:rPr lang="en-IN" sz="1200" dirty="0">
                <a:solidFill>
                  <a:schemeClr val="dk1"/>
                </a:solidFill>
                <a:latin typeface="+mn-lt"/>
                <a:ea typeface="Arial"/>
                <a:cs typeface="Arial"/>
                <a:sym typeface="Arial"/>
              </a:rPr>
              <a:t>However, there are opportunities to improve overall security by:</a:t>
            </a:r>
            <a:endParaRPr lang="en-IN" dirty="0"/>
          </a:p>
          <a:p>
            <a:pPr marL="0" lvl="0" indent="0" algn="l" rtl="0">
              <a:spcBef>
                <a:spcPts val="0"/>
              </a:spcBef>
              <a:spcAft>
                <a:spcPts val="0"/>
              </a:spcAft>
              <a:buNone/>
            </a:pPr>
            <a:r>
              <a:rPr lang="en-IN" sz="1200" dirty="0">
                <a:solidFill>
                  <a:schemeClr val="dk1"/>
                </a:solidFill>
                <a:latin typeface="+mn-lt"/>
                <a:ea typeface="Arial"/>
                <a:cs typeface="Arial"/>
                <a:sym typeface="Arial"/>
              </a:rPr>
              <a:t>Implementing strong access controls in the cloud and using multifactor authentication.</a:t>
            </a:r>
          </a:p>
          <a:p>
            <a:pPr marL="0" lvl="0" indent="0" algn="l" rtl="0">
              <a:spcBef>
                <a:spcPts val="0"/>
              </a:spcBef>
              <a:spcAft>
                <a:spcPts val="0"/>
              </a:spcAft>
              <a:buNone/>
            </a:pPr>
            <a:r>
              <a:rPr lang="en-IN" sz="1200" dirty="0">
                <a:solidFill>
                  <a:schemeClr val="dk1"/>
                </a:solidFill>
                <a:latin typeface="+mn-lt"/>
                <a:ea typeface="Arial"/>
                <a:cs typeface="Arial"/>
                <a:sym typeface="Arial"/>
              </a:rPr>
              <a:t> </a:t>
            </a:r>
            <a:endParaRPr lang="en-IN" dirty="0"/>
          </a:p>
          <a:p>
            <a:pPr marL="0" lvl="0" indent="0" algn="l" rtl="0">
              <a:spcBef>
                <a:spcPts val="0"/>
              </a:spcBef>
              <a:spcAft>
                <a:spcPts val="0"/>
              </a:spcAft>
              <a:buNone/>
            </a:pPr>
            <a:r>
              <a:rPr lang="en-IN" sz="1200" dirty="0">
                <a:solidFill>
                  <a:schemeClr val="dk1"/>
                </a:solidFill>
                <a:latin typeface="+mn-lt"/>
                <a:ea typeface="Arial"/>
                <a:cs typeface="Arial"/>
                <a:sym typeface="Arial"/>
              </a:rPr>
              <a:t>Internet of Things (IoT) refers to embedding sensors in a multitude of devices so they can connect to the Internet. Again there is a net effect of positive and negative effects.</a:t>
            </a:r>
            <a:endParaRPr lang="en-IN" dirty="0"/>
          </a:p>
          <a:p>
            <a:pPr marL="0" lvl="0" indent="0" algn="l" rtl="0">
              <a:spcBef>
                <a:spcPts val="0"/>
              </a:spcBef>
              <a:spcAft>
                <a:spcPts val="0"/>
              </a:spcAft>
              <a:buNone/>
            </a:pPr>
            <a:r>
              <a:rPr lang="en-IN" sz="1200" dirty="0">
                <a:solidFill>
                  <a:schemeClr val="dk1"/>
                </a:solidFill>
                <a:latin typeface="+mn-lt"/>
                <a:ea typeface="Arial"/>
                <a:cs typeface="Arial"/>
                <a:sym typeface="Arial"/>
              </a:rPr>
              <a:t>The major issue is that since these devices are connected to the Internet, there are more ways to gain access to the corporate network and they must be secured.</a:t>
            </a:r>
            <a:endParaRPr lang="en-IN" dirty="0"/>
          </a:p>
          <a:p>
            <a:pPr marL="0" lvl="0" indent="0" algn="l" rtl="0">
              <a:spcBef>
                <a:spcPts val="0"/>
              </a:spcBef>
              <a:spcAft>
                <a:spcPts val="0"/>
              </a:spcAft>
              <a:buNone/>
            </a:pPr>
            <a:endParaRPr lang="en-IN" dirty="0"/>
          </a:p>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37</a:t>
            </a:fld>
            <a:endParaRPr lang="en-US" dirty="0"/>
          </a:p>
        </p:txBody>
      </p:sp>
    </p:spTree>
    <p:extLst>
      <p:ext uri="{BB962C8B-B14F-4D97-AF65-F5344CB8AC3E}">
        <p14:creationId xmlns:p14="http://schemas.microsoft.com/office/powerpoint/2010/main" val="1275218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41</a:t>
            </a:fld>
            <a:endParaRPr lang="en-US" dirty="0"/>
          </a:p>
        </p:txBody>
      </p:sp>
    </p:spTree>
    <p:extLst>
      <p:ext uri="{BB962C8B-B14F-4D97-AF65-F5344CB8AC3E}">
        <p14:creationId xmlns:p14="http://schemas.microsoft.com/office/powerpoint/2010/main" val="1396885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A73D6722-9B4D-4E29-B226-C325925A8118}" type="slidenum">
              <a:rPr lang="en-US" smtClean="0"/>
              <a:t>45</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358777272"/>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457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0"/>
            <a:ext cx="8229600" cy="13716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60248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
        <p:nvSpPr>
          <p:cNvPr id="5" name="Content Placeholder 4">
            <a:extLst>
              <a:ext uri="{FF2B5EF4-FFF2-40B4-BE49-F238E27FC236}">
                <a16:creationId xmlns:a16="http://schemas.microsoft.com/office/drawing/2014/main" id="{EA13232C-DF31-4CED-AB61-62F26E3165BA}"/>
              </a:ext>
            </a:extLst>
          </p:cNvPr>
          <p:cNvSpPr>
            <a:spLocks noGrp="1"/>
          </p:cNvSpPr>
          <p:nvPr>
            <p:ph sz="quarter" idx="15"/>
          </p:nvPr>
        </p:nvSpPr>
        <p:spPr>
          <a:xfrm>
            <a:off x="533400" y="3733800"/>
            <a:ext cx="80772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a:extLst>
              <a:ext uri="{FF2B5EF4-FFF2-40B4-BE49-F238E27FC236}">
                <a16:creationId xmlns:a16="http://schemas.microsoft.com/office/drawing/2014/main" id="{25DD6962-3095-446C-A57F-4E808E224A95}"/>
              </a:ext>
            </a:extLst>
          </p:cNvPr>
          <p:cNvSpPr>
            <a:spLocks noGrp="1"/>
          </p:cNvSpPr>
          <p:nvPr>
            <p:ph sz="quarter" idx="16"/>
          </p:nvPr>
        </p:nvSpPr>
        <p:spPr>
          <a:xfrm>
            <a:off x="762000" y="5619750"/>
            <a:ext cx="7848600" cy="323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a:extLst>
              <a:ext uri="{FF2B5EF4-FFF2-40B4-BE49-F238E27FC236}">
                <a16:creationId xmlns:a16="http://schemas.microsoft.com/office/drawing/2014/main" id="{FD058FF3-6114-471E-A9AA-A3D250496F47}"/>
              </a:ext>
            </a:extLst>
          </p:cNvPr>
          <p:cNvSpPr>
            <a:spLocks noGrp="1"/>
          </p:cNvSpPr>
          <p:nvPr>
            <p:ph sz="quarter" idx="17"/>
          </p:nvPr>
        </p:nvSpPr>
        <p:spPr>
          <a:xfrm>
            <a:off x="381000" y="2255838"/>
            <a:ext cx="8458200" cy="334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147131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emf"/><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699"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 id="2147483698" r:id="rId14"/>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hyperlink" Target="https://www.theguardian.com/uk-news/2020/nov/06/companies-house-forces-business-name-change-to-prevent-security-risk" TargetMode="External"/><Relationship Id="rId2" Type="http://schemas.openxmlformats.org/officeDocument/2006/relationships/hyperlink" Target="https://www.theregister.com/2024/10/29/macron_location_strava/" TargetMode="External"/><Relationship Id="rId1" Type="http://schemas.openxmlformats.org/officeDocument/2006/relationships/slideLayout" Target="../slideLayouts/slideLayout10.xml"/><Relationship Id="rId5" Type="http://schemas.openxmlformats.org/officeDocument/2006/relationships/hyperlink" Target="https://quizlet.com/653918458/ais-chapter-11-terms-flash-cards/" TargetMode="External"/><Relationship Id="rId4" Type="http://schemas.openxmlformats.org/officeDocument/2006/relationships/hyperlink" Target="https://www.theregister.com/2024/09/29/interview_with_a_social_engineering/"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cid:image001.png@01D8D8C0.A75FBF20" TargetMode="External"/><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3.xml"/><Relationship Id="rId4" Type="http://schemas.openxmlformats.org/officeDocument/2006/relationships/hyperlink" Target="https://www.okta.com/identity-101/security-toke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3.xml"/><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rPr>
              <a:t>Sixteenth </a:t>
            </a:r>
            <a:r>
              <a:rPr lang="en-US" sz="2000" noProof="0" dirty="0">
                <a:solidFill>
                  <a:srgbClr val="007FA3"/>
                </a:solidFill>
                <a:latin typeface="+mn-lt"/>
              </a:rPr>
              <a:t>Edition</a:t>
            </a:r>
            <a:endParaRPr lang="en-US" noProof="0" dirty="0">
              <a:latin typeface="+mn-lt"/>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991762" cy="498016"/>
          </a:xfrm>
        </p:spPr>
        <p:txBody>
          <a:bodyPr wrap="square" lIns="0" tIns="18000" rIns="0" bIns="18000" anchor="ctr" anchorCtr="0">
            <a:spAutoFit/>
          </a:bodyPr>
          <a:lstStyle/>
          <a:p>
            <a:pPr marL="0"/>
            <a:r>
              <a:rPr lang="en-US" noProof="0" dirty="0">
                <a:latin typeface="+mn-lt"/>
              </a:rPr>
              <a:t>Chapter 11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108013"/>
            <a:ext cx="4140200" cy="374906"/>
          </a:xfrm>
        </p:spPr>
        <p:txBody>
          <a:bodyPr wrap="square" lIns="0" tIns="18000" rIns="0" bIns="18000" anchor="ctr" anchorCtr="0">
            <a:spAutoFit/>
          </a:bodyPr>
          <a:lstStyle/>
          <a:p>
            <a:pPr marL="0" lvl="0">
              <a:spcBef>
                <a:spcPts val="0"/>
              </a:spcBef>
              <a:buSzPts val="2200"/>
            </a:pPr>
            <a:r>
              <a:rPr lang="en-US" dirty="0"/>
              <a:t>Controls for Information Security</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5A258C-CAFE-E085-6D0D-449552D22D4A}"/>
              </a:ext>
            </a:extLst>
          </p:cNvPr>
          <p:cNvSpPr txBox="1"/>
          <p:nvPr/>
        </p:nvSpPr>
        <p:spPr>
          <a:xfrm>
            <a:off x="2286000" y="3108241"/>
            <a:ext cx="4572000" cy="646331"/>
          </a:xfrm>
          <a:prstGeom prst="rect">
            <a:avLst/>
          </a:prstGeom>
          <a:noFill/>
        </p:spPr>
        <p:txBody>
          <a:bodyPr wrap="square">
            <a:spAutoFit/>
          </a:bodyPr>
          <a:lstStyle/>
          <a:p>
            <a:r>
              <a:rPr lang="en-US" dirty="0">
                <a:hlinkClick r:id="rId2"/>
              </a:rPr>
              <a:t>https://www.theregister.com/2024/10/29/macron_location_strava/</a:t>
            </a:r>
            <a:r>
              <a:rPr lang="en-US" dirty="0"/>
              <a:t> </a:t>
            </a:r>
          </a:p>
        </p:txBody>
      </p:sp>
      <p:sp>
        <p:nvSpPr>
          <p:cNvPr id="5" name="TextBox 4">
            <a:extLst>
              <a:ext uri="{FF2B5EF4-FFF2-40B4-BE49-F238E27FC236}">
                <a16:creationId xmlns:a16="http://schemas.microsoft.com/office/drawing/2014/main" id="{3FC7496F-7914-C991-B8B1-1E2F4D4C90A3}"/>
              </a:ext>
            </a:extLst>
          </p:cNvPr>
          <p:cNvSpPr txBox="1"/>
          <p:nvPr/>
        </p:nvSpPr>
        <p:spPr>
          <a:xfrm>
            <a:off x="2286000" y="4191000"/>
            <a:ext cx="4572000" cy="1200329"/>
          </a:xfrm>
          <a:prstGeom prst="rect">
            <a:avLst/>
          </a:prstGeom>
          <a:noFill/>
        </p:spPr>
        <p:txBody>
          <a:bodyPr wrap="square">
            <a:spAutoFit/>
          </a:bodyPr>
          <a:lstStyle/>
          <a:p>
            <a:r>
              <a:rPr lang="en-US" dirty="0">
                <a:hlinkClick r:id="rId3"/>
              </a:rPr>
              <a:t>https://www.theguardian.com/uk-news/2020/nov/06/companies-house-forces-business-name-change-to-prevent-security-risk</a:t>
            </a:r>
            <a:r>
              <a:rPr lang="en-US" dirty="0"/>
              <a:t> </a:t>
            </a:r>
          </a:p>
        </p:txBody>
      </p:sp>
      <p:sp>
        <p:nvSpPr>
          <p:cNvPr id="7" name="TextBox 6">
            <a:extLst>
              <a:ext uri="{FF2B5EF4-FFF2-40B4-BE49-F238E27FC236}">
                <a16:creationId xmlns:a16="http://schemas.microsoft.com/office/drawing/2014/main" id="{0C17CC85-5BE3-EA1A-3A19-F0F98F5BD2E5}"/>
              </a:ext>
            </a:extLst>
          </p:cNvPr>
          <p:cNvSpPr txBox="1"/>
          <p:nvPr/>
        </p:nvSpPr>
        <p:spPr>
          <a:xfrm>
            <a:off x="2312469" y="1371600"/>
            <a:ext cx="4572000" cy="646331"/>
          </a:xfrm>
          <a:prstGeom prst="rect">
            <a:avLst/>
          </a:prstGeom>
          <a:noFill/>
        </p:spPr>
        <p:txBody>
          <a:bodyPr wrap="square">
            <a:spAutoFit/>
          </a:bodyPr>
          <a:lstStyle/>
          <a:p>
            <a:r>
              <a:rPr lang="en-US" dirty="0">
                <a:hlinkClick r:id="rId4"/>
              </a:rPr>
              <a:t>https://www.theregister.com/2024/09/29/interview_with_a_social_engineering/</a:t>
            </a:r>
            <a:r>
              <a:rPr lang="en-US" dirty="0"/>
              <a:t> </a:t>
            </a:r>
          </a:p>
        </p:txBody>
      </p:sp>
      <p:sp>
        <p:nvSpPr>
          <p:cNvPr id="9" name="TextBox 8">
            <a:extLst>
              <a:ext uri="{FF2B5EF4-FFF2-40B4-BE49-F238E27FC236}">
                <a16:creationId xmlns:a16="http://schemas.microsoft.com/office/drawing/2014/main" id="{ED2DA8C5-A3FE-37A8-1355-20F9FCA31006}"/>
              </a:ext>
            </a:extLst>
          </p:cNvPr>
          <p:cNvSpPr txBox="1"/>
          <p:nvPr/>
        </p:nvSpPr>
        <p:spPr>
          <a:xfrm>
            <a:off x="2312469" y="381000"/>
            <a:ext cx="4572000" cy="646331"/>
          </a:xfrm>
          <a:prstGeom prst="rect">
            <a:avLst/>
          </a:prstGeom>
          <a:noFill/>
        </p:spPr>
        <p:txBody>
          <a:bodyPr wrap="square">
            <a:spAutoFit/>
          </a:bodyPr>
          <a:lstStyle/>
          <a:p>
            <a:r>
              <a:rPr lang="en-US" dirty="0">
                <a:hlinkClick r:id="rId5"/>
              </a:rPr>
              <a:t>https://quizlet.com/653918458/ais-chapter-11-terms-flash-cards/</a:t>
            </a:r>
            <a:r>
              <a:rPr lang="en-US" dirty="0"/>
              <a:t> </a:t>
            </a:r>
          </a:p>
        </p:txBody>
      </p:sp>
    </p:spTree>
    <p:extLst>
      <p:ext uri="{BB962C8B-B14F-4D97-AF65-F5344CB8AC3E}">
        <p14:creationId xmlns:p14="http://schemas.microsoft.com/office/powerpoint/2010/main" val="317810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32598"/>
            <a:ext cx="8229600" cy="618079"/>
          </a:xfrm>
        </p:spPr>
        <p:txBody>
          <a:bodyPr anchor="ctr">
            <a:noAutofit/>
          </a:bodyPr>
          <a:lstStyle/>
          <a:p>
            <a:r>
              <a:rPr lang="en-IN" sz="3600" dirty="0">
                <a:latin typeface="+mj-lt"/>
              </a:rPr>
              <a:t>Learning Objectives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65826" y="999226"/>
            <a:ext cx="8229600" cy="3595856"/>
          </a:xfrm>
        </p:spPr>
        <p:txBody>
          <a:bodyPr>
            <a:noAutofit/>
          </a:bodyPr>
          <a:lstStyle/>
          <a:p>
            <a:pPr lvl="0">
              <a:spcBef>
                <a:spcPts val="0"/>
              </a:spcBef>
              <a:buSzPts val="2400"/>
            </a:pPr>
            <a:r>
              <a:rPr lang="en-IN" sz="2400" strike="sngStrike" dirty="0"/>
              <a:t>Explain how security and the other four principles in the Trust Services Framework affect systems reliability.</a:t>
            </a:r>
          </a:p>
          <a:p>
            <a:pPr lvl="0">
              <a:spcBef>
                <a:spcPts val="2500"/>
              </a:spcBef>
              <a:buSzPts val="2400"/>
            </a:pPr>
            <a:r>
              <a:rPr lang="en-IN" sz="2400" dirty="0"/>
              <a:t>Explain three fundamental concepts: why information security is a management issue, how people’s behaviour impacts security, </a:t>
            </a:r>
            <a:r>
              <a:rPr lang="en-IN" sz="2400" strike="sngStrike" dirty="0"/>
              <a:t>and the time-based model of information security.</a:t>
            </a:r>
          </a:p>
          <a:p>
            <a:pPr lvl="0">
              <a:spcBef>
                <a:spcPts val="2500"/>
              </a:spcBef>
              <a:buSzPts val="2400"/>
            </a:pPr>
            <a:r>
              <a:rPr lang="en-IN" sz="2400" dirty="0"/>
              <a:t>Describe the controls that can be used to protect an organization’s information.</a:t>
            </a:r>
          </a:p>
        </p:txBody>
      </p:sp>
    </p:spTree>
    <p:extLst>
      <p:ext uri="{BB962C8B-B14F-4D97-AF65-F5344CB8AC3E}">
        <p14:creationId xmlns:p14="http://schemas.microsoft.com/office/powerpoint/2010/main" val="2560582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32598"/>
            <a:ext cx="8229600" cy="618079"/>
          </a:xfrm>
        </p:spPr>
        <p:txBody>
          <a:bodyPr anchor="ctr">
            <a:noAutofit/>
          </a:bodyPr>
          <a:lstStyle/>
          <a:p>
            <a:r>
              <a:rPr lang="en-IN" sz="3600" dirty="0">
                <a:latin typeface="+mj-lt"/>
              </a:rPr>
              <a:t>Learning Objectives </a:t>
            </a:r>
            <a:r>
              <a:rPr lang="en-IN" sz="2800" dirty="0">
                <a:latin typeface="+mj-lt"/>
              </a:rPr>
              <a:t>(2 of 2)</a:t>
            </a:r>
            <a:endParaRPr lang="en-IN" sz="3600" dirty="0">
              <a:latin typeface="+mj-lt"/>
            </a:endParaRPr>
          </a:p>
        </p:txBody>
      </p:sp>
      <p:sp>
        <p:nvSpPr>
          <p:cNvPr id="2" name="Content Placeholder 1"/>
          <p:cNvSpPr>
            <a:spLocks noGrp="1"/>
          </p:cNvSpPr>
          <p:nvPr>
            <p:ph idx="13"/>
          </p:nvPr>
        </p:nvSpPr>
        <p:spPr>
          <a:xfrm>
            <a:off x="465826" y="999226"/>
            <a:ext cx="8229600" cy="2857192"/>
          </a:xfrm>
        </p:spPr>
        <p:txBody>
          <a:bodyPr>
            <a:noAutofit/>
          </a:bodyPr>
          <a:lstStyle/>
          <a:p>
            <a:pPr lvl="0">
              <a:spcBef>
                <a:spcPts val="0"/>
              </a:spcBef>
              <a:buSzPts val="2400"/>
            </a:pPr>
            <a:r>
              <a:rPr lang="en-IN" sz="2400" dirty="0"/>
              <a:t>Describe the controls that can be used to timely detect that an organization’s information system is under attack.</a:t>
            </a:r>
          </a:p>
          <a:p>
            <a:pPr lvl="0">
              <a:spcBef>
                <a:spcPts val="2500"/>
              </a:spcBef>
              <a:buSzPts val="2400"/>
            </a:pPr>
            <a:r>
              <a:rPr lang="en-IN" sz="2400" dirty="0"/>
              <a:t>Discuss how organizations can timely respond to attacks against their information system.</a:t>
            </a:r>
          </a:p>
          <a:p>
            <a:pPr lvl="0">
              <a:spcBef>
                <a:spcPts val="2500"/>
              </a:spcBef>
              <a:buSzPts val="2400"/>
            </a:pPr>
            <a:r>
              <a:rPr lang="en-IN" sz="2400" dirty="0"/>
              <a:t>Explain how virtualization, cloud computing, and the Internet of Things affect information security.</a:t>
            </a:r>
          </a:p>
        </p:txBody>
      </p:sp>
    </p:spTree>
    <p:extLst>
      <p:ext uri="{BB962C8B-B14F-4D97-AF65-F5344CB8AC3E}">
        <p14:creationId xmlns:p14="http://schemas.microsoft.com/office/powerpoint/2010/main" val="1872837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32598"/>
            <a:ext cx="8229600" cy="618079"/>
          </a:xfrm>
        </p:spPr>
        <p:txBody>
          <a:bodyPr anchor="ctr">
            <a:noAutofit/>
          </a:bodyPr>
          <a:lstStyle/>
          <a:p>
            <a:r>
              <a:rPr lang="en-IN" sz="3600" dirty="0">
                <a:latin typeface="+mj-lt"/>
              </a:rPr>
              <a:t>Trust Services Framework</a:t>
            </a:r>
          </a:p>
        </p:txBody>
      </p:sp>
      <p:sp>
        <p:nvSpPr>
          <p:cNvPr id="2" name="Content Placeholder 1"/>
          <p:cNvSpPr>
            <a:spLocks noGrp="1"/>
          </p:cNvSpPr>
          <p:nvPr>
            <p:ph idx="13"/>
          </p:nvPr>
        </p:nvSpPr>
        <p:spPr>
          <a:xfrm>
            <a:off x="465826" y="999226"/>
            <a:ext cx="8229600" cy="5032147"/>
          </a:xfrm>
        </p:spPr>
        <p:txBody>
          <a:bodyPr>
            <a:noAutofit/>
          </a:bodyPr>
          <a:lstStyle/>
          <a:p>
            <a:pPr>
              <a:spcBef>
                <a:spcPts val="0"/>
              </a:spcBef>
              <a:buSzPts val="2400"/>
            </a:pPr>
            <a:r>
              <a:rPr lang="en-IN" sz="2400" dirty="0"/>
              <a:t>Security, </a:t>
            </a:r>
          </a:p>
          <a:p>
            <a:pPr lvl="1">
              <a:spcBef>
                <a:spcPts val="200"/>
              </a:spcBef>
              <a:buSzPct val="100000"/>
            </a:pPr>
            <a:r>
              <a:rPr lang="en-IN" sz="2400" dirty="0"/>
              <a:t>Access to the system and data is controlled and restricted to legitimate users.</a:t>
            </a:r>
          </a:p>
          <a:p>
            <a:pPr>
              <a:spcBef>
                <a:spcPts val="200"/>
              </a:spcBef>
              <a:buSzPts val="2400"/>
            </a:pPr>
            <a:r>
              <a:rPr lang="en-IN" sz="2400" dirty="0"/>
              <a:t>Confidentiality</a:t>
            </a:r>
          </a:p>
          <a:p>
            <a:pPr lvl="1">
              <a:spcBef>
                <a:spcPts val="200"/>
              </a:spcBef>
              <a:buSzPct val="100000"/>
            </a:pPr>
            <a:r>
              <a:rPr lang="en-IN" sz="2400" dirty="0"/>
              <a:t>Sensitive organizational data is protected. </a:t>
            </a:r>
          </a:p>
          <a:p>
            <a:pPr>
              <a:spcBef>
                <a:spcPts val="200"/>
              </a:spcBef>
              <a:buSzPts val="2400"/>
            </a:pPr>
            <a:r>
              <a:rPr lang="en-IN" sz="2400" dirty="0"/>
              <a:t>Privacy</a:t>
            </a:r>
          </a:p>
          <a:p>
            <a:pPr lvl="1">
              <a:spcBef>
                <a:spcPts val="200"/>
              </a:spcBef>
              <a:buSzPct val="100000"/>
            </a:pPr>
            <a:r>
              <a:rPr lang="en-IN" sz="2400" dirty="0"/>
              <a:t>Personal information about trading partners, investors, and employees is protected.</a:t>
            </a:r>
          </a:p>
          <a:p>
            <a:pPr>
              <a:spcBef>
                <a:spcPts val="200"/>
              </a:spcBef>
              <a:buSzPts val="2400"/>
            </a:pPr>
            <a:r>
              <a:rPr lang="en-IN" sz="2400" dirty="0"/>
              <a:t>Processing integrity</a:t>
            </a:r>
          </a:p>
          <a:p>
            <a:pPr lvl="1">
              <a:spcBef>
                <a:spcPts val="200"/>
              </a:spcBef>
              <a:buSzPct val="100000"/>
            </a:pPr>
            <a:r>
              <a:rPr lang="en-IN" sz="2400" dirty="0"/>
              <a:t>Data are processed accurately, completely, in a timely manner, and only with proper authorization.</a:t>
            </a:r>
          </a:p>
          <a:p>
            <a:pPr>
              <a:spcBef>
                <a:spcPts val="200"/>
              </a:spcBef>
              <a:buSzPts val="2400"/>
            </a:pPr>
            <a:r>
              <a:rPr lang="en-IN" sz="2400" dirty="0"/>
              <a:t>Availability</a:t>
            </a:r>
          </a:p>
          <a:p>
            <a:pPr lvl="1">
              <a:spcBef>
                <a:spcPts val="200"/>
              </a:spcBef>
              <a:buSzPct val="100000"/>
            </a:pPr>
            <a:r>
              <a:rPr lang="en-IN" sz="2400" dirty="0"/>
              <a:t>System and information are available.</a:t>
            </a:r>
          </a:p>
        </p:txBody>
      </p:sp>
    </p:spTree>
    <p:extLst>
      <p:ext uri="{BB962C8B-B14F-4D97-AF65-F5344CB8AC3E}">
        <p14:creationId xmlns:p14="http://schemas.microsoft.com/office/powerpoint/2010/main" val="788392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217" y="150991"/>
            <a:ext cx="8229600" cy="1661993"/>
          </a:xfrm>
        </p:spPr>
        <p:txBody>
          <a:bodyPr>
            <a:noAutofit/>
          </a:bodyPr>
          <a:lstStyle/>
          <a:p>
            <a:r>
              <a:rPr lang="en-IN" sz="3600" dirty="0">
                <a:latin typeface="+mj-lt"/>
              </a:rPr>
              <a:t>Figure 11.1 Relationships Among the Five Trust Services Principles for Systems Reliability</a:t>
            </a:r>
          </a:p>
        </p:txBody>
      </p:sp>
      <p:pic>
        <p:nvPicPr>
          <p:cNvPr id="6" name="Picture Placeholder 4" descr="A diagram illustrates the relationships between the five trust services principles for systems reliability: confidentiality, privacy, processing integrity, availability, and security.&#10;Long description is available in notes, press F6">
            <a:extLst>
              <a:ext uri="{FF2B5EF4-FFF2-40B4-BE49-F238E27FC236}">
                <a16:creationId xmlns:a16="http://schemas.microsoft.com/office/drawing/2014/main" id="{A5720365-F027-4F33-A84F-62C0AA0E4D22}"/>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1688269" y="2095462"/>
            <a:ext cx="5772702" cy="4036725"/>
          </a:xfrm>
          <a:prstGeom prst="rect">
            <a:avLst/>
          </a:prstGeom>
        </p:spPr>
      </p:pic>
    </p:spTree>
    <p:extLst>
      <p:ext uri="{BB962C8B-B14F-4D97-AF65-F5344CB8AC3E}">
        <p14:creationId xmlns:p14="http://schemas.microsoft.com/office/powerpoint/2010/main" val="1044660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52400"/>
            <a:ext cx="8229600" cy="1107996"/>
          </a:xfrm>
        </p:spPr>
        <p:txBody>
          <a:bodyPr anchor="ctr">
            <a:noAutofit/>
          </a:bodyPr>
          <a:lstStyle/>
          <a:p>
            <a:r>
              <a:rPr lang="en-IN" sz="3600" dirty="0">
                <a:latin typeface="+mj-lt"/>
              </a:rPr>
              <a:t>Three Fundamental Information Security Concepts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65826" y="1474470"/>
            <a:ext cx="8229600" cy="3162404"/>
          </a:xfrm>
        </p:spPr>
        <p:txBody>
          <a:bodyPr>
            <a:noAutofit/>
          </a:bodyPr>
          <a:lstStyle/>
          <a:p>
            <a:pPr>
              <a:spcBef>
                <a:spcPts val="0"/>
              </a:spcBef>
              <a:buSzPts val="2400"/>
            </a:pPr>
            <a:r>
              <a:rPr lang="en-US" sz="2400" dirty="0"/>
              <a:t>Security is a management issue</a:t>
            </a:r>
          </a:p>
          <a:p>
            <a:pPr lvl="1">
              <a:spcBef>
                <a:spcPts val="1500"/>
              </a:spcBef>
            </a:pPr>
            <a:r>
              <a:rPr lang="en-US" sz="2400" dirty="0"/>
              <a:t>Senior management involvement and support throughout all phases of the security life cycle is absolutely essential.</a:t>
            </a:r>
          </a:p>
          <a:p>
            <a:r>
              <a:rPr lang="en-US" sz="2400" dirty="0"/>
              <a:t>People are the critical factor</a:t>
            </a:r>
          </a:p>
          <a:p>
            <a:pPr lvl="1">
              <a:spcBef>
                <a:spcPts val="1500"/>
              </a:spcBef>
            </a:pPr>
            <a:r>
              <a:rPr lang="en-US" sz="2400" dirty="0"/>
              <a:t>People can either be the “weakest link” in security or an important asset.</a:t>
            </a:r>
          </a:p>
        </p:txBody>
      </p:sp>
    </p:spTree>
    <p:extLst>
      <p:ext uri="{BB962C8B-B14F-4D97-AF65-F5344CB8AC3E}">
        <p14:creationId xmlns:p14="http://schemas.microsoft.com/office/powerpoint/2010/main" val="686403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al-life phishing example 3">
            <a:extLst>
              <a:ext uri="{FF2B5EF4-FFF2-40B4-BE49-F238E27FC236}">
                <a16:creationId xmlns:a16="http://schemas.microsoft.com/office/drawing/2014/main" id="{7A2EFB38-ECD0-B448-AAAD-EE856B8FC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3738"/>
            <a:ext cx="9144000" cy="54705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287257A-E203-7143-BA25-0535D07D8D7E}"/>
              </a:ext>
            </a:extLst>
          </p:cNvPr>
          <p:cNvSpPr txBox="1"/>
          <p:nvPr/>
        </p:nvSpPr>
        <p:spPr>
          <a:xfrm>
            <a:off x="0" y="0"/>
            <a:ext cx="8382000" cy="369332"/>
          </a:xfrm>
          <a:prstGeom prst="rect">
            <a:avLst/>
          </a:prstGeom>
          <a:noFill/>
        </p:spPr>
        <p:txBody>
          <a:bodyPr wrap="square">
            <a:spAutoFit/>
          </a:bodyPr>
          <a:lstStyle/>
          <a:p>
            <a:r>
              <a:rPr lang="en-US" dirty="0"/>
              <a:t>https://</a:t>
            </a:r>
            <a:r>
              <a:rPr lang="en-US" dirty="0" err="1"/>
              <a:t>thecyphere.com</a:t>
            </a:r>
            <a:r>
              <a:rPr lang="en-US" dirty="0"/>
              <a:t>/blog/examples-of-phishing-emails/</a:t>
            </a:r>
          </a:p>
        </p:txBody>
      </p:sp>
    </p:spTree>
    <p:extLst>
      <p:ext uri="{BB962C8B-B14F-4D97-AF65-F5344CB8AC3E}">
        <p14:creationId xmlns:p14="http://schemas.microsoft.com/office/powerpoint/2010/main" val="4260572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65938DBD-3279-2947-9C7D-7BC42CD83A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9" b="51373"/>
          <a:stretch/>
        </p:blipFill>
        <p:spPr bwMode="auto">
          <a:xfrm>
            <a:off x="362659" y="152400"/>
            <a:ext cx="4359564" cy="44958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
            <a:extLst>
              <a:ext uri="{FF2B5EF4-FFF2-40B4-BE49-F238E27FC236}">
                <a16:creationId xmlns:a16="http://schemas.microsoft.com/office/drawing/2014/main" id="{9B8F3C2F-513B-8C44-8614-B886049F90C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8542"/>
          <a:stretch/>
        </p:blipFill>
        <p:spPr bwMode="auto">
          <a:xfrm>
            <a:off x="4754880" y="1371600"/>
            <a:ext cx="438912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894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1">
            <a:extLst>
              <a:ext uri="{FF2B5EF4-FFF2-40B4-BE49-F238E27FC236}">
                <a16:creationId xmlns:a16="http://schemas.microsoft.com/office/drawing/2014/main" id="{00A084D7-CB98-9444-9889-0AE9769422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533400"/>
            <a:ext cx="7226300" cy="54737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7AFC26E-CF54-A44B-84EC-169355238BBE}"/>
              </a:ext>
            </a:extLst>
          </p:cNvPr>
          <p:cNvSpPr txBox="1"/>
          <p:nvPr/>
        </p:nvSpPr>
        <p:spPr>
          <a:xfrm>
            <a:off x="0" y="0"/>
            <a:ext cx="4572000" cy="369332"/>
          </a:xfrm>
          <a:prstGeom prst="rect">
            <a:avLst/>
          </a:prstGeom>
          <a:noFill/>
        </p:spPr>
        <p:txBody>
          <a:bodyPr wrap="square">
            <a:spAutoFit/>
          </a:bodyPr>
          <a:lstStyle/>
          <a:p>
            <a:r>
              <a:rPr lang="en-US" dirty="0"/>
              <a:t>https://</a:t>
            </a:r>
            <a:r>
              <a:rPr lang="en-US" dirty="0" err="1"/>
              <a:t>uit.stanford.edu</a:t>
            </a:r>
            <a:r>
              <a:rPr lang="en-US" dirty="0"/>
              <a:t>/phishing</a:t>
            </a:r>
          </a:p>
        </p:txBody>
      </p:sp>
    </p:spTree>
    <p:extLst>
      <p:ext uri="{BB962C8B-B14F-4D97-AF65-F5344CB8AC3E}">
        <p14:creationId xmlns:p14="http://schemas.microsoft.com/office/powerpoint/2010/main" val="3891217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B57E03DD-BFCA-2285-1964-B6F64646AF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619" y="525528"/>
            <a:ext cx="8100762" cy="5806943"/>
          </a:xfrm>
          <a:prstGeom prst="rect">
            <a:avLst/>
          </a:prstGeom>
        </p:spPr>
      </p:pic>
    </p:spTree>
    <p:extLst>
      <p:ext uri="{BB962C8B-B14F-4D97-AF65-F5344CB8AC3E}">
        <p14:creationId xmlns:p14="http://schemas.microsoft.com/office/powerpoint/2010/main" val="1340941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1">
            <a:extLst>
              <a:ext uri="{FF2B5EF4-FFF2-40B4-BE49-F238E27FC236}">
                <a16:creationId xmlns:a16="http://schemas.microsoft.com/office/drawing/2014/main" id="{7316DE38-C802-5F46-BDC6-2BA7467EF4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977900"/>
            <a:ext cx="6934200" cy="490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787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CA2BC75-5CD5-19C2-E986-E02B888D7E29}"/>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a:extLst>
              <a:ext uri="{FF2B5EF4-FFF2-40B4-BE49-F238E27FC236}">
                <a16:creationId xmlns:a16="http://schemas.microsoft.com/office/drawing/2014/main" id="{438A9F22-49E7-FF91-4C0D-C8591B2E97F7}"/>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286000" y="0"/>
            <a:ext cx="4324350" cy="885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005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Picture 1">
            <a:extLst>
              <a:ext uri="{FF2B5EF4-FFF2-40B4-BE49-F238E27FC236}">
                <a16:creationId xmlns:a16="http://schemas.microsoft.com/office/drawing/2014/main" id="{F11E85C4-96FC-C043-BFA3-D141634FAA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176497"/>
            <a:ext cx="7278358" cy="4505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189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a:extLst>
              <a:ext uri="{FF2B5EF4-FFF2-40B4-BE49-F238E27FC236}">
                <a16:creationId xmlns:a16="http://schemas.microsoft.com/office/drawing/2014/main" id="{269EE423-0D65-1D4A-AA5E-928CF8700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09600"/>
            <a:ext cx="6934200" cy="5864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164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 name="Picture 1">
            <a:extLst>
              <a:ext uri="{FF2B5EF4-FFF2-40B4-BE49-F238E27FC236}">
                <a16:creationId xmlns:a16="http://schemas.microsoft.com/office/drawing/2014/main" id="{65D9DE36-37FA-6748-9917-786F3E33FB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14400"/>
            <a:ext cx="7932056"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769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F0A01-3F0F-984B-BFDB-64C8ACF0E585}"/>
              </a:ext>
            </a:extLst>
          </p:cNvPr>
          <p:cNvSpPr>
            <a:spLocks noGrp="1"/>
          </p:cNvSpPr>
          <p:nvPr>
            <p:ph type="title"/>
          </p:nvPr>
        </p:nvSpPr>
        <p:spPr/>
        <p:txBody>
          <a:bodyPr/>
          <a:lstStyle/>
          <a:p>
            <a:r>
              <a:rPr lang="en-US" dirty="0"/>
              <a:t>How easy is it to setup a phishing site?</a:t>
            </a:r>
          </a:p>
        </p:txBody>
      </p:sp>
      <p:sp>
        <p:nvSpPr>
          <p:cNvPr id="3" name="Text Placeholder 2">
            <a:extLst>
              <a:ext uri="{FF2B5EF4-FFF2-40B4-BE49-F238E27FC236}">
                <a16:creationId xmlns:a16="http://schemas.microsoft.com/office/drawing/2014/main" id="{3CE4FD43-F3BD-C240-9456-079A3E551D5A}"/>
              </a:ext>
            </a:extLst>
          </p:cNvPr>
          <p:cNvSpPr>
            <a:spLocks noGrp="1"/>
          </p:cNvSpPr>
          <p:nvPr>
            <p:ph type="body" idx="1"/>
          </p:nvPr>
        </p:nvSpPr>
        <p:spPr/>
        <p:txBody>
          <a:bodyPr/>
          <a:lstStyle/>
          <a:p>
            <a:endParaRPr lang="en-US" dirty="0"/>
          </a:p>
        </p:txBody>
      </p:sp>
      <p:pic>
        <p:nvPicPr>
          <p:cNvPr id="7" name="Picture 6" descr="Graphical user interface, text, letter&#10;&#10;Description automatically generated">
            <a:extLst>
              <a:ext uri="{FF2B5EF4-FFF2-40B4-BE49-F238E27FC236}">
                <a16:creationId xmlns:a16="http://schemas.microsoft.com/office/drawing/2014/main" id="{CF82B528-2F26-344C-97DC-F4600D1CAE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93600"/>
            <a:ext cx="7010400" cy="6210300"/>
          </a:xfrm>
          <a:prstGeom prst="rect">
            <a:avLst/>
          </a:prstGeom>
        </p:spPr>
      </p:pic>
    </p:spTree>
    <p:extLst>
      <p:ext uri="{BB962C8B-B14F-4D97-AF65-F5344CB8AC3E}">
        <p14:creationId xmlns:p14="http://schemas.microsoft.com/office/powerpoint/2010/main" val="4268342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F0A01-3F0F-984B-BFDB-64C8ACF0E585}"/>
              </a:ext>
            </a:extLst>
          </p:cNvPr>
          <p:cNvSpPr>
            <a:spLocks noGrp="1"/>
          </p:cNvSpPr>
          <p:nvPr>
            <p:ph type="title"/>
          </p:nvPr>
        </p:nvSpPr>
        <p:spPr/>
        <p:txBody>
          <a:bodyPr/>
          <a:lstStyle/>
          <a:p>
            <a:r>
              <a:rPr lang="en-US" dirty="0"/>
              <a:t>How easy is it to setup a phishing site?</a:t>
            </a:r>
          </a:p>
        </p:txBody>
      </p:sp>
      <p:sp>
        <p:nvSpPr>
          <p:cNvPr id="3" name="Text Placeholder 2">
            <a:extLst>
              <a:ext uri="{FF2B5EF4-FFF2-40B4-BE49-F238E27FC236}">
                <a16:creationId xmlns:a16="http://schemas.microsoft.com/office/drawing/2014/main" id="{3CE4FD43-F3BD-C240-9456-079A3E551D5A}"/>
              </a:ext>
            </a:extLst>
          </p:cNvPr>
          <p:cNvSpPr>
            <a:spLocks noGrp="1"/>
          </p:cNvSpPr>
          <p:nvPr>
            <p:ph type="body" idx="1"/>
          </p:nvPr>
        </p:nvSpPr>
        <p:spPr/>
        <p:txBody>
          <a:bodyPr/>
          <a:lstStyle/>
          <a:p>
            <a:endParaRPr lang="en-US" dirty="0"/>
          </a:p>
        </p:txBody>
      </p:sp>
      <p:pic>
        <p:nvPicPr>
          <p:cNvPr id="7" name="Picture 6" descr="Graphical user interface, text, letter&#10;&#10;Description automatically generated">
            <a:extLst>
              <a:ext uri="{FF2B5EF4-FFF2-40B4-BE49-F238E27FC236}">
                <a16:creationId xmlns:a16="http://schemas.microsoft.com/office/drawing/2014/main" id="{CF82B528-2F26-344C-97DC-F4600D1CAE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93600"/>
            <a:ext cx="7010400" cy="6210300"/>
          </a:xfrm>
          <a:prstGeom prst="rect">
            <a:avLst/>
          </a:prstGeom>
        </p:spPr>
      </p:pic>
      <p:sp>
        <p:nvSpPr>
          <p:cNvPr id="4" name="Rectangle 3">
            <a:extLst>
              <a:ext uri="{FF2B5EF4-FFF2-40B4-BE49-F238E27FC236}">
                <a16:creationId xmlns:a16="http://schemas.microsoft.com/office/drawing/2014/main" id="{545F08D9-241E-3B43-89FB-93AC8CB3AA8B}"/>
              </a:ext>
            </a:extLst>
          </p:cNvPr>
          <p:cNvSpPr/>
          <p:nvPr/>
        </p:nvSpPr>
        <p:spPr>
          <a:xfrm>
            <a:off x="2400300" y="277619"/>
            <a:ext cx="3124200" cy="2961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rgbClr val="0177D4"/>
                </a:solidFill>
              </a:rPr>
              <a:t>&lt;</a:t>
            </a:r>
            <a:r>
              <a:rPr lang="en-US" sz="1600" dirty="0" err="1">
                <a:solidFill>
                  <a:srgbClr val="0177D4"/>
                </a:solidFill>
              </a:rPr>
              <a:t>notifications@instrcture.com</a:t>
            </a:r>
            <a:r>
              <a:rPr lang="en-US" sz="1600" dirty="0">
                <a:solidFill>
                  <a:srgbClr val="0177D4"/>
                </a:solidFill>
              </a:rPr>
              <a:t>&gt;</a:t>
            </a:r>
          </a:p>
        </p:txBody>
      </p:sp>
      <p:pic>
        <p:nvPicPr>
          <p:cNvPr id="6" name="Picture 5" descr="Graphical user interface, text, application, letter, email&#10;&#10;Description automatically generated">
            <a:extLst>
              <a:ext uri="{FF2B5EF4-FFF2-40B4-BE49-F238E27FC236}">
                <a16:creationId xmlns:a16="http://schemas.microsoft.com/office/drawing/2014/main" id="{2FBA81E1-3B01-C64C-85ED-CCD13B3AB5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1695450"/>
            <a:ext cx="7962900" cy="3467100"/>
          </a:xfrm>
          <a:prstGeom prst="rect">
            <a:avLst/>
          </a:prstGeom>
        </p:spPr>
      </p:pic>
    </p:spTree>
    <p:extLst>
      <p:ext uri="{BB962C8B-B14F-4D97-AF65-F5344CB8AC3E}">
        <p14:creationId xmlns:p14="http://schemas.microsoft.com/office/powerpoint/2010/main" val="2555855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7200" y="152400"/>
            <a:ext cx="8229600" cy="553998"/>
          </a:xfrm>
        </p:spPr>
        <p:txBody>
          <a:bodyPr anchor="ctr">
            <a:noAutofit/>
          </a:bodyPr>
          <a:lstStyle/>
          <a:p>
            <a:r>
              <a:rPr lang="en-IN" sz="3600" dirty="0">
                <a:latin typeface="+mj-lt"/>
              </a:rPr>
              <a:t>How to Mitigate Risk of Attack</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013460"/>
            <a:ext cx="3962400" cy="369332"/>
          </a:xfrm>
          <a:solidFill>
            <a:schemeClr val="bg2"/>
          </a:solidFill>
        </p:spPr>
        <p:txBody>
          <a:bodyPr>
            <a:noAutofit/>
          </a:bodyPr>
          <a:lstStyle/>
          <a:p>
            <a:pPr marL="0" indent="92075">
              <a:buNone/>
            </a:pPr>
            <a:r>
              <a:rPr lang="en-US" sz="2400" b="1" dirty="0">
                <a:solidFill>
                  <a:schemeClr val="bg1"/>
                </a:solidFill>
              </a:rPr>
              <a:t>Preventive Controls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469886"/>
            <a:ext cx="3962400" cy="1261884"/>
          </a:xfrm>
        </p:spPr>
        <p:txBody>
          <a:bodyPr>
            <a:noAutofit/>
          </a:bodyPr>
          <a:lstStyle/>
          <a:p>
            <a:pPr lvl="0">
              <a:spcBef>
                <a:spcPts val="0"/>
              </a:spcBef>
              <a:buSzPts val="2000"/>
            </a:pPr>
            <a:r>
              <a:rPr lang="en-IN" sz="2400" dirty="0"/>
              <a:t>Physical security</a:t>
            </a:r>
          </a:p>
          <a:p>
            <a:pPr lvl="0">
              <a:spcBef>
                <a:spcPts val="600"/>
              </a:spcBef>
              <a:buSzPts val="2000"/>
            </a:pPr>
            <a:r>
              <a:rPr lang="en-IN" sz="2400" dirty="0"/>
              <a:t>Process</a:t>
            </a:r>
          </a:p>
          <a:p>
            <a:pPr lvl="0">
              <a:spcBef>
                <a:spcPts val="600"/>
              </a:spcBef>
              <a:buSzPts val="2000"/>
            </a:pPr>
            <a:r>
              <a:rPr lang="en-IN" sz="2400" dirty="0"/>
              <a:t>IT solutions</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013698"/>
            <a:ext cx="3939540" cy="369332"/>
          </a:xfrm>
          <a:solidFill>
            <a:schemeClr val="bg2"/>
          </a:solidFill>
        </p:spPr>
        <p:txBody>
          <a:bodyPr>
            <a:noAutofit/>
          </a:bodyPr>
          <a:lstStyle/>
          <a:p>
            <a:pPr marL="0" indent="92075">
              <a:spcBef>
                <a:spcPts val="0"/>
              </a:spcBef>
              <a:buSzPts val="2400"/>
              <a:buNone/>
            </a:pPr>
            <a:r>
              <a:rPr lang="en-US" sz="2400" b="1" dirty="0">
                <a:solidFill>
                  <a:schemeClr val="bg1"/>
                </a:solidFill>
              </a:rPr>
              <a:t>Detective 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473428"/>
            <a:ext cx="3939540" cy="2077492"/>
          </a:xfrm>
        </p:spPr>
        <p:txBody>
          <a:bodyPr>
            <a:noAutofit/>
          </a:bodyPr>
          <a:lstStyle/>
          <a:p>
            <a:pPr lvl="0">
              <a:spcBef>
                <a:spcPts val="0"/>
              </a:spcBef>
              <a:buSzPts val="2000"/>
            </a:pPr>
            <a:r>
              <a:rPr lang="en-US" sz="2400" dirty="0"/>
              <a:t>Log analysis</a:t>
            </a:r>
          </a:p>
          <a:p>
            <a:pPr lvl="0">
              <a:spcBef>
                <a:spcPts val="600"/>
              </a:spcBef>
              <a:buSzPts val="2000"/>
            </a:pPr>
            <a:r>
              <a:rPr lang="en-US" sz="2400" dirty="0"/>
              <a:t>Intrusion detection systems</a:t>
            </a:r>
          </a:p>
          <a:p>
            <a:pPr lvl="0">
              <a:spcBef>
                <a:spcPts val="600"/>
              </a:spcBef>
              <a:buSzPts val="2000"/>
            </a:pPr>
            <a:r>
              <a:rPr lang="en-US" sz="2400" dirty="0"/>
              <a:t>Honeypots</a:t>
            </a:r>
          </a:p>
          <a:p>
            <a:pPr lvl="0">
              <a:spcBef>
                <a:spcPts val="600"/>
              </a:spcBef>
              <a:buSzPts val="2000"/>
            </a:pPr>
            <a:r>
              <a:rPr lang="en-US" sz="2400" dirty="0"/>
              <a:t>Continuous monitoring</a:t>
            </a:r>
          </a:p>
        </p:txBody>
      </p:sp>
      <p:sp>
        <p:nvSpPr>
          <p:cNvPr id="9" name="Content Placeholder 8">
            <a:extLst>
              <a:ext uri="{FF2B5EF4-FFF2-40B4-BE49-F238E27FC236}">
                <a16:creationId xmlns:a16="http://schemas.microsoft.com/office/drawing/2014/main" id="{07684E38-6283-409C-9A58-A0142183E769}"/>
              </a:ext>
            </a:extLst>
          </p:cNvPr>
          <p:cNvSpPr>
            <a:spLocks noGrp="1"/>
          </p:cNvSpPr>
          <p:nvPr>
            <p:ph sz="quarter" idx="16"/>
          </p:nvPr>
        </p:nvSpPr>
        <p:spPr>
          <a:xfrm>
            <a:off x="4747260" y="3669268"/>
            <a:ext cx="3939540" cy="369332"/>
          </a:xfrm>
          <a:solidFill>
            <a:schemeClr val="bg2"/>
          </a:solidFill>
        </p:spPr>
        <p:txBody>
          <a:bodyPr>
            <a:noAutofit/>
          </a:bodyPr>
          <a:lstStyle/>
          <a:p>
            <a:pPr marL="0" indent="92075">
              <a:buNone/>
            </a:pPr>
            <a:r>
              <a:rPr lang="en-US" sz="2400" b="1" dirty="0">
                <a:solidFill>
                  <a:schemeClr val="bg1"/>
                </a:solidFill>
              </a:rPr>
              <a:t>Response</a:t>
            </a:r>
          </a:p>
        </p:txBody>
      </p:sp>
      <p:sp>
        <p:nvSpPr>
          <p:cNvPr id="10" name="Content Placeholder 9">
            <a:extLst>
              <a:ext uri="{FF2B5EF4-FFF2-40B4-BE49-F238E27FC236}">
                <a16:creationId xmlns:a16="http://schemas.microsoft.com/office/drawing/2014/main" id="{9CF7054A-9FD4-4BCC-9139-B76903637371}"/>
              </a:ext>
            </a:extLst>
          </p:cNvPr>
          <p:cNvSpPr>
            <a:spLocks noGrp="1"/>
          </p:cNvSpPr>
          <p:nvPr>
            <p:ph sz="quarter" idx="17"/>
          </p:nvPr>
        </p:nvSpPr>
        <p:spPr>
          <a:xfrm>
            <a:off x="4747260" y="4126230"/>
            <a:ext cx="3939540" cy="1554272"/>
          </a:xfrm>
        </p:spPr>
        <p:txBody>
          <a:bodyPr>
            <a:noAutofit/>
          </a:bodyPr>
          <a:lstStyle/>
          <a:p>
            <a:pPr lvl="0">
              <a:spcBef>
                <a:spcPts val="0"/>
              </a:spcBef>
              <a:buSzPts val="2000"/>
            </a:pPr>
            <a:r>
              <a:rPr lang="en-IN" sz="2400" dirty="0"/>
              <a:t>Computer Incident Response Teams (</a:t>
            </a:r>
            <a:r>
              <a:rPr lang="en-IN" sz="2400" spc="-350" dirty="0"/>
              <a:t>C I R </a:t>
            </a:r>
            <a:r>
              <a:rPr lang="en-IN" sz="2400" dirty="0"/>
              <a:t>T)</a:t>
            </a:r>
          </a:p>
          <a:p>
            <a:pPr lvl="0">
              <a:spcBef>
                <a:spcPts val="600"/>
              </a:spcBef>
              <a:buSzPts val="2000"/>
            </a:pPr>
            <a:r>
              <a:rPr lang="en-IN" sz="2400" dirty="0"/>
              <a:t>Chief Information Security Officer (</a:t>
            </a:r>
            <a:r>
              <a:rPr lang="en-IN" sz="2400" spc="-350" dirty="0"/>
              <a:t>C I S </a:t>
            </a:r>
            <a:r>
              <a:rPr lang="en-IN" sz="2400" dirty="0"/>
              <a:t>O)</a:t>
            </a:r>
          </a:p>
        </p:txBody>
      </p:sp>
    </p:spTree>
    <p:extLst>
      <p:ext uri="{BB962C8B-B14F-4D97-AF65-F5344CB8AC3E}">
        <p14:creationId xmlns:p14="http://schemas.microsoft.com/office/powerpoint/2010/main" val="3694955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49304"/>
            <a:ext cx="8229600" cy="1107996"/>
          </a:xfrm>
        </p:spPr>
        <p:txBody>
          <a:bodyPr anchor="ctr">
            <a:noAutofit/>
          </a:bodyPr>
          <a:lstStyle/>
          <a:p>
            <a:r>
              <a:rPr lang="en-IN" sz="3600" dirty="0">
                <a:latin typeface="+mj-lt"/>
              </a:rPr>
              <a:t>Preventive: Physical Security: Access Controls</a:t>
            </a:r>
          </a:p>
        </p:txBody>
      </p:sp>
      <p:sp>
        <p:nvSpPr>
          <p:cNvPr id="2" name="Content Placeholder 1"/>
          <p:cNvSpPr>
            <a:spLocks noGrp="1"/>
          </p:cNvSpPr>
          <p:nvPr>
            <p:ph idx="13"/>
          </p:nvPr>
        </p:nvSpPr>
        <p:spPr>
          <a:xfrm>
            <a:off x="465826" y="1432560"/>
            <a:ext cx="8229600" cy="1620957"/>
          </a:xfrm>
        </p:spPr>
        <p:txBody>
          <a:bodyPr>
            <a:noAutofit/>
          </a:bodyPr>
          <a:lstStyle/>
          <a:p>
            <a:pPr lvl="0">
              <a:spcBef>
                <a:spcPts val="0"/>
              </a:spcBef>
              <a:buSzPts val="2400"/>
            </a:pPr>
            <a:r>
              <a:rPr lang="en-IN" sz="2400" dirty="0"/>
              <a:t>Physical security access controls</a:t>
            </a:r>
          </a:p>
          <a:p>
            <a:pPr lvl="1">
              <a:spcBef>
                <a:spcPts val="2000"/>
              </a:spcBef>
              <a:buSzPct val="100000"/>
            </a:pPr>
            <a:r>
              <a:rPr lang="en-IN" sz="2400" dirty="0"/>
              <a:t>Limit entry to building</a:t>
            </a:r>
          </a:p>
          <a:p>
            <a:pPr lvl="1">
              <a:spcBef>
                <a:spcPts val="2000"/>
              </a:spcBef>
              <a:buSzPct val="100000"/>
            </a:pPr>
            <a:r>
              <a:rPr lang="en-IN" sz="2400" dirty="0"/>
              <a:t>Restrict access to network and data</a:t>
            </a:r>
          </a:p>
        </p:txBody>
      </p:sp>
    </p:spTree>
    <p:extLst>
      <p:ext uri="{BB962C8B-B14F-4D97-AF65-F5344CB8AC3E}">
        <p14:creationId xmlns:p14="http://schemas.microsoft.com/office/powerpoint/2010/main" val="4203255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C24A51-16A3-8F49-ABEB-408947E98AC5}"/>
              </a:ext>
            </a:extLst>
          </p:cNvPr>
          <p:cNvSpPr>
            <a:spLocks noGrp="1"/>
          </p:cNvSpPr>
          <p:nvPr>
            <p:ph type="title" idx="4294967295"/>
          </p:nvPr>
        </p:nvSpPr>
        <p:spPr>
          <a:xfrm>
            <a:off x="228600" y="1"/>
            <a:ext cx="8229600" cy="609600"/>
          </a:xfrm>
        </p:spPr>
        <p:txBody>
          <a:bodyPr/>
          <a:lstStyle/>
          <a:p>
            <a:r>
              <a:rPr lang="en-US" dirty="0"/>
              <a:t>Server Room</a:t>
            </a:r>
          </a:p>
        </p:txBody>
      </p:sp>
      <p:pic>
        <p:nvPicPr>
          <p:cNvPr id="8194" name="Picture 2">
            <a:extLst>
              <a:ext uri="{FF2B5EF4-FFF2-40B4-BE49-F238E27FC236}">
                <a16:creationId xmlns:a16="http://schemas.microsoft.com/office/drawing/2014/main" id="{38BA2C87-142F-1E4F-85F0-CA06AE64DF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9700" y="1143000"/>
            <a:ext cx="6324600" cy="474345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05CD0B3-B5E7-674D-9A8F-5DD8ECE2A2E3}"/>
              </a:ext>
            </a:extLst>
          </p:cNvPr>
          <p:cNvSpPr txBox="1"/>
          <p:nvPr/>
        </p:nvSpPr>
        <p:spPr>
          <a:xfrm>
            <a:off x="1409700" y="5886450"/>
            <a:ext cx="7734300" cy="369332"/>
          </a:xfrm>
          <a:prstGeom prst="rect">
            <a:avLst/>
          </a:prstGeom>
          <a:noFill/>
        </p:spPr>
        <p:txBody>
          <a:bodyPr wrap="square">
            <a:spAutoFit/>
          </a:bodyPr>
          <a:lstStyle/>
          <a:p>
            <a:r>
              <a:rPr lang="en-US" dirty="0"/>
              <a:t>https://</a:t>
            </a:r>
            <a:r>
              <a:rPr lang="en-US" dirty="0" err="1"/>
              <a:t>commons.wikimedia.org</a:t>
            </a:r>
            <a:r>
              <a:rPr lang="en-US" dirty="0"/>
              <a:t>/wiki/File:139_Server_Room_01.jpg</a:t>
            </a:r>
          </a:p>
        </p:txBody>
      </p:sp>
    </p:spTree>
    <p:extLst>
      <p:ext uri="{BB962C8B-B14F-4D97-AF65-F5344CB8AC3E}">
        <p14:creationId xmlns:p14="http://schemas.microsoft.com/office/powerpoint/2010/main" val="889020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Office, Printer, Copier, Jobs, Printing, Scanner">
            <a:extLst>
              <a:ext uri="{FF2B5EF4-FFF2-40B4-BE49-F238E27FC236}">
                <a16:creationId xmlns:a16="http://schemas.microsoft.com/office/drawing/2014/main" id="{FB4AE33F-FEF5-554D-95F5-CC9FF634D1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9144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022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630" y="156210"/>
            <a:ext cx="8229600" cy="1097280"/>
          </a:xfrm>
        </p:spPr>
        <p:txBody>
          <a:bodyPr anchor="ctr">
            <a:noAutofit/>
          </a:bodyPr>
          <a:lstStyle/>
          <a:p>
            <a:r>
              <a:rPr lang="en-IN" sz="3600" dirty="0">
                <a:latin typeface="+mj-lt"/>
              </a:rPr>
              <a:t>Preventive Process: User Access Controls</a:t>
            </a:r>
          </a:p>
        </p:txBody>
      </p:sp>
      <p:sp>
        <p:nvSpPr>
          <p:cNvPr id="3" name="Content Placeholder 2">
            <a:extLst>
              <a:ext uri="{FF2B5EF4-FFF2-40B4-BE49-F238E27FC236}">
                <a16:creationId xmlns:a16="http://schemas.microsoft.com/office/drawing/2014/main" id="{B431F0A7-BB73-4736-941C-05A457ADF989}"/>
              </a:ext>
            </a:extLst>
          </p:cNvPr>
          <p:cNvSpPr>
            <a:spLocks noGrp="1"/>
          </p:cNvSpPr>
          <p:nvPr>
            <p:ph idx="1"/>
          </p:nvPr>
        </p:nvSpPr>
        <p:spPr>
          <a:xfrm>
            <a:off x="468630" y="1394698"/>
            <a:ext cx="8229600" cy="369332"/>
          </a:xfrm>
        </p:spPr>
        <p:txBody>
          <a:bodyPr>
            <a:noAutofit/>
          </a:bodyPr>
          <a:lstStyle/>
          <a:p>
            <a:r>
              <a:rPr lang="en-US" sz="2400" dirty="0"/>
              <a:t>Authentication—verifies the person</a:t>
            </a:r>
          </a:p>
        </p:txBody>
      </p:sp>
      <p:sp>
        <p:nvSpPr>
          <p:cNvPr id="2" name="Content Placeholder 1"/>
          <p:cNvSpPr>
            <a:spLocks noGrp="1"/>
          </p:cNvSpPr>
          <p:nvPr>
            <p:ph idx="13"/>
          </p:nvPr>
        </p:nvSpPr>
        <p:spPr>
          <a:xfrm>
            <a:off x="468630" y="1874520"/>
            <a:ext cx="8229600" cy="2054409"/>
          </a:xfrm>
        </p:spPr>
        <p:txBody>
          <a:bodyPr>
            <a:noAutofit/>
          </a:bodyPr>
          <a:lstStyle/>
          <a:p>
            <a:pPr marL="692150" lvl="1" indent="-342900">
              <a:buSzPts val="2000"/>
              <a:buFont typeface="Century Gothic"/>
              <a:buAutoNum type="arabicPeriod"/>
            </a:pPr>
            <a:r>
              <a:rPr lang="en-IN" sz="2400" dirty="0"/>
              <a:t>Something person knows</a:t>
            </a:r>
          </a:p>
          <a:p>
            <a:pPr marL="692150" lvl="1" indent="-342900">
              <a:spcBef>
                <a:spcPts val="1500"/>
              </a:spcBef>
              <a:buSzPts val="2000"/>
              <a:buFont typeface="Century Gothic"/>
              <a:buAutoNum type="arabicPeriod"/>
            </a:pPr>
            <a:r>
              <a:rPr lang="en-IN" sz="2400" dirty="0"/>
              <a:t>Something person has</a:t>
            </a:r>
          </a:p>
          <a:p>
            <a:pPr marL="692150" lvl="1" indent="-342900">
              <a:spcBef>
                <a:spcPts val="1500"/>
              </a:spcBef>
              <a:buSzPts val="2000"/>
              <a:buFont typeface="Century Gothic"/>
              <a:buAutoNum type="arabicPeriod"/>
            </a:pPr>
            <a:r>
              <a:rPr lang="en-IN" sz="2400" dirty="0"/>
              <a:t>Some biometric characteristic</a:t>
            </a:r>
          </a:p>
          <a:p>
            <a:pPr marL="692150" lvl="1" indent="-342900">
              <a:spcBef>
                <a:spcPts val="1500"/>
              </a:spcBef>
              <a:buSzPts val="2000"/>
              <a:buFont typeface="Noto Sans Symbols"/>
              <a:buAutoNum type="arabicPeriod"/>
            </a:pPr>
            <a:r>
              <a:rPr lang="en-IN" sz="2400" dirty="0"/>
              <a:t>Combination of all three</a:t>
            </a:r>
          </a:p>
        </p:txBody>
      </p:sp>
      <p:sp>
        <p:nvSpPr>
          <p:cNvPr id="7" name="Content Placeholder 6">
            <a:extLst>
              <a:ext uri="{FF2B5EF4-FFF2-40B4-BE49-F238E27FC236}">
                <a16:creationId xmlns:a16="http://schemas.microsoft.com/office/drawing/2014/main" id="{5507137B-485D-4FED-911C-2ABBB2C52F13}"/>
              </a:ext>
            </a:extLst>
          </p:cNvPr>
          <p:cNvSpPr>
            <a:spLocks noGrp="1"/>
          </p:cNvSpPr>
          <p:nvPr>
            <p:ph sz="quarter" idx="17"/>
          </p:nvPr>
        </p:nvSpPr>
        <p:spPr>
          <a:xfrm>
            <a:off x="457200" y="4019550"/>
            <a:ext cx="8241030" cy="369332"/>
          </a:xfrm>
        </p:spPr>
        <p:txBody>
          <a:bodyPr>
            <a:noAutofit/>
          </a:bodyPr>
          <a:lstStyle/>
          <a:p>
            <a:r>
              <a:rPr lang="en-IN" sz="2400" dirty="0"/>
              <a:t>Authorization—determines what a person can access</a:t>
            </a:r>
          </a:p>
        </p:txBody>
      </p:sp>
    </p:spTree>
    <p:extLst>
      <p:ext uri="{BB962C8B-B14F-4D97-AF65-F5344CB8AC3E}">
        <p14:creationId xmlns:p14="http://schemas.microsoft.com/office/powerpoint/2010/main" val="788761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Oneplus, Android, Smartphone, Oneplus 3, Mobile Phone">
            <a:extLst>
              <a:ext uri="{FF2B5EF4-FFF2-40B4-BE49-F238E27FC236}">
                <a16:creationId xmlns:a16="http://schemas.microsoft.com/office/drawing/2014/main" id="{DC62D200-EE20-BD47-899E-F04573C073A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501" t="23703" r="29166" b="20000"/>
          <a:stretch/>
        </p:blipFill>
        <p:spPr bwMode="auto">
          <a:xfrm rot="3956383">
            <a:off x="-238442" y="1442226"/>
            <a:ext cx="3600465" cy="2358926"/>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Security Token Illustration">
            <a:extLst>
              <a:ext uri="{FF2B5EF4-FFF2-40B4-BE49-F238E27FC236}">
                <a16:creationId xmlns:a16="http://schemas.microsoft.com/office/drawing/2014/main" id="{FC4ABD59-D4B7-0742-8F62-FC03F36275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867487"/>
            <a:ext cx="5486400" cy="41148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9CFEF28-36B4-1545-A0F0-5212C3351EB0}"/>
              </a:ext>
            </a:extLst>
          </p:cNvPr>
          <p:cNvSpPr txBox="1"/>
          <p:nvPr/>
        </p:nvSpPr>
        <p:spPr>
          <a:xfrm>
            <a:off x="3243775" y="5998699"/>
            <a:ext cx="5927188" cy="369332"/>
          </a:xfrm>
          <a:prstGeom prst="rect">
            <a:avLst/>
          </a:prstGeom>
          <a:noFill/>
        </p:spPr>
        <p:txBody>
          <a:bodyPr wrap="square">
            <a:spAutoFit/>
          </a:bodyPr>
          <a:lstStyle/>
          <a:p>
            <a:r>
              <a:rPr lang="en-US" dirty="0">
                <a:hlinkClick r:id="rId4"/>
              </a:rPr>
              <a:t>https://www.okta.com/identity-101/security-token/</a:t>
            </a:r>
            <a:r>
              <a:rPr lang="en-US" dirty="0"/>
              <a:t> </a:t>
            </a:r>
          </a:p>
        </p:txBody>
      </p:sp>
    </p:spTree>
    <p:extLst>
      <p:ext uri="{BB962C8B-B14F-4D97-AF65-F5344CB8AC3E}">
        <p14:creationId xmlns:p14="http://schemas.microsoft.com/office/powerpoint/2010/main" val="2176438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7C3753EA-6B25-E44C-A273-793CC2D163EC}"/>
              </a:ext>
            </a:extLst>
          </p:cNvPr>
          <p:cNvGraphicFramePr>
            <a:graphicFrameLocks noGrp="1"/>
          </p:cNvGraphicFramePr>
          <p:nvPr>
            <p:extLst>
              <p:ext uri="{D42A27DB-BD31-4B8C-83A1-F6EECF244321}">
                <p14:modId xmlns:p14="http://schemas.microsoft.com/office/powerpoint/2010/main" val="1873762570"/>
              </p:ext>
            </p:extLst>
          </p:nvPr>
        </p:nvGraphicFramePr>
        <p:xfrm>
          <a:off x="1066800" y="1905000"/>
          <a:ext cx="6096000" cy="2123440"/>
        </p:xfrm>
        <a:graphic>
          <a:graphicData uri="http://schemas.openxmlformats.org/drawingml/2006/table">
            <a:tbl>
              <a:tblPr firstRow="1" bandRow="1">
                <a:tableStyleId>{3B4B98B0-60AC-42C2-AFA5-B58CD77FA1E5}</a:tableStyleId>
              </a:tblPr>
              <a:tblGrid>
                <a:gridCol w="1524000">
                  <a:extLst>
                    <a:ext uri="{9D8B030D-6E8A-4147-A177-3AD203B41FA5}">
                      <a16:colId xmlns:a16="http://schemas.microsoft.com/office/drawing/2014/main" val="576857597"/>
                    </a:ext>
                  </a:extLst>
                </a:gridCol>
                <a:gridCol w="1524000">
                  <a:extLst>
                    <a:ext uri="{9D8B030D-6E8A-4147-A177-3AD203B41FA5}">
                      <a16:colId xmlns:a16="http://schemas.microsoft.com/office/drawing/2014/main" val="2653120990"/>
                    </a:ext>
                  </a:extLst>
                </a:gridCol>
                <a:gridCol w="1524000">
                  <a:extLst>
                    <a:ext uri="{9D8B030D-6E8A-4147-A177-3AD203B41FA5}">
                      <a16:colId xmlns:a16="http://schemas.microsoft.com/office/drawing/2014/main" val="702502521"/>
                    </a:ext>
                  </a:extLst>
                </a:gridCol>
                <a:gridCol w="1524000">
                  <a:extLst>
                    <a:ext uri="{9D8B030D-6E8A-4147-A177-3AD203B41FA5}">
                      <a16:colId xmlns:a16="http://schemas.microsoft.com/office/drawing/2014/main" val="1145456285"/>
                    </a:ext>
                  </a:extLst>
                </a:gridCol>
              </a:tblGrid>
              <a:tr h="370840">
                <a:tc>
                  <a:txBody>
                    <a:bodyPr/>
                    <a:lstStyle/>
                    <a:p>
                      <a:r>
                        <a:rPr lang="en-US" dirty="0"/>
                        <a:t>Username </a:t>
                      </a:r>
                    </a:p>
                  </a:txBody>
                  <a:tcPr/>
                </a:tc>
                <a:tc>
                  <a:txBody>
                    <a:bodyPr/>
                    <a:lstStyle/>
                    <a:p>
                      <a:r>
                        <a:rPr lang="en-US" dirty="0"/>
                        <a:t>File Share</a:t>
                      </a:r>
                    </a:p>
                    <a:p>
                      <a:r>
                        <a:rPr lang="en-US" dirty="0"/>
                        <a:t>Accounting</a:t>
                      </a:r>
                    </a:p>
                  </a:txBody>
                  <a:tcPr/>
                </a:tc>
                <a:tc>
                  <a:txBody>
                    <a:bodyPr/>
                    <a:lstStyle/>
                    <a:p>
                      <a:r>
                        <a:rPr lang="en-US" dirty="0"/>
                        <a:t>File Share</a:t>
                      </a:r>
                    </a:p>
                    <a:p>
                      <a:r>
                        <a:rPr lang="en-US" dirty="0"/>
                        <a:t>Production</a:t>
                      </a:r>
                    </a:p>
                  </a:txBody>
                  <a:tcPr/>
                </a:tc>
                <a:tc>
                  <a:txBody>
                    <a:bodyPr/>
                    <a:lstStyle/>
                    <a:p>
                      <a:r>
                        <a:rPr lang="en-US" dirty="0" err="1"/>
                        <a:t>Quickbooks</a:t>
                      </a:r>
                      <a:r>
                        <a:rPr lang="en-US" dirty="0"/>
                        <a:t> </a:t>
                      </a:r>
                    </a:p>
                  </a:txBody>
                  <a:tcPr/>
                </a:tc>
                <a:extLst>
                  <a:ext uri="{0D108BD9-81ED-4DB2-BD59-A6C34878D82A}">
                    <a16:rowId xmlns:a16="http://schemas.microsoft.com/office/drawing/2014/main" val="3191598778"/>
                  </a:ext>
                </a:extLst>
              </a:tr>
              <a:tr h="370840">
                <a:tc>
                  <a:txBody>
                    <a:bodyPr/>
                    <a:lstStyle/>
                    <a:p>
                      <a:r>
                        <a:rPr lang="en-US" dirty="0"/>
                        <a:t>Bob</a:t>
                      </a:r>
                    </a:p>
                  </a:txBody>
                  <a:tcPr/>
                </a:tc>
                <a:tc>
                  <a:txBody>
                    <a:bodyPr/>
                    <a:lstStyle/>
                    <a:p>
                      <a:r>
                        <a:rPr lang="en-US" dirty="0"/>
                        <a:t>Yes</a:t>
                      </a:r>
                    </a:p>
                  </a:txBody>
                  <a:tcPr/>
                </a:tc>
                <a:tc>
                  <a:txBody>
                    <a:bodyPr/>
                    <a:lstStyle/>
                    <a:p>
                      <a:r>
                        <a:rPr lang="en-US" dirty="0"/>
                        <a:t>Yes</a:t>
                      </a:r>
                    </a:p>
                  </a:txBody>
                  <a:tcPr/>
                </a:tc>
                <a:tc>
                  <a:txBody>
                    <a:bodyPr/>
                    <a:lstStyle/>
                    <a:p>
                      <a:r>
                        <a:rPr lang="en-US" dirty="0"/>
                        <a:t>No</a:t>
                      </a:r>
                    </a:p>
                  </a:txBody>
                  <a:tcPr/>
                </a:tc>
                <a:extLst>
                  <a:ext uri="{0D108BD9-81ED-4DB2-BD59-A6C34878D82A}">
                    <a16:rowId xmlns:a16="http://schemas.microsoft.com/office/drawing/2014/main" val="3124093475"/>
                  </a:ext>
                </a:extLst>
              </a:tr>
              <a:tr h="370840">
                <a:tc>
                  <a:txBody>
                    <a:bodyPr/>
                    <a:lstStyle/>
                    <a:p>
                      <a:r>
                        <a:rPr lang="en-US" dirty="0"/>
                        <a:t>Sarah</a:t>
                      </a:r>
                    </a:p>
                  </a:txBody>
                  <a:tcPr/>
                </a:tc>
                <a:tc>
                  <a:txBody>
                    <a:bodyPr/>
                    <a:lstStyle/>
                    <a:p>
                      <a:r>
                        <a:rPr lang="en-US" dirty="0" err="1"/>
                        <a:t>Readonly</a:t>
                      </a:r>
                      <a:endParaRPr lang="en-US" dirty="0"/>
                    </a:p>
                  </a:txBody>
                  <a:tcPr/>
                </a:tc>
                <a:tc>
                  <a:txBody>
                    <a:bodyPr/>
                    <a:lstStyle/>
                    <a:p>
                      <a:r>
                        <a:rPr lang="en-US" dirty="0"/>
                        <a:t>No</a:t>
                      </a:r>
                    </a:p>
                  </a:txBody>
                  <a:tcPr/>
                </a:tc>
                <a:tc>
                  <a:txBody>
                    <a:bodyPr/>
                    <a:lstStyle/>
                    <a:p>
                      <a:r>
                        <a:rPr lang="en-US" dirty="0"/>
                        <a:t>Yes</a:t>
                      </a:r>
                    </a:p>
                  </a:txBody>
                  <a:tcPr/>
                </a:tc>
                <a:extLst>
                  <a:ext uri="{0D108BD9-81ED-4DB2-BD59-A6C34878D82A}">
                    <a16:rowId xmlns:a16="http://schemas.microsoft.com/office/drawing/2014/main" val="3005268864"/>
                  </a:ext>
                </a:extLst>
              </a:tr>
              <a:tr h="370840">
                <a:tc>
                  <a:txBody>
                    <a:bodyPr/>
                    <a:lstStyle/>
                    <a:p>
                      <a:r>
                        <a:rPr lang="en-US" dirty="0"/>
                        <a:t>Tim</a:t>
                      </a:r>
                    </a:p>
                  </a:txBody>
                  <a:tcPr/>
                </a:tc>
                <a:tc>
                  <a:txBody>
                    <a:bodyPr/>
                    <a:lstStyle/>
                    <a:p>
                      <a:r>
                        <a:rPr lang="en-US" dirty="0"/>
                        <a:t>No</a:t>
                      </a:r>
                    </a:p>
                  </a:txBody>
                  <a:tcPr/>
                </a:tc>
                <a:tc>
                  <a:txBody>
                    <a:bodyPr/>
                    <a:lstStyle/>
                    <a:p>
                      <a:r>
                        <a:rPr lang="en-US" dirty="0"/>
                        <a:t>Yes</a:t>
                      </a:r>
                    </a:p>
                  </a:txBody>
                  <a:tcPr/>
                </a:tc>
                <a:tc>
                  <a:txBody>
                    <a:bodyPr/>
                    <a:lstStyle/>
                    <a:p>
                      <a:r>
                        <a:rPr lang="en-US" dirty="0"/>
                        <a:t>No</a:t>
                      </a:r>
                    </a:p>
                  </a:txBody>
                  <a:tcPr/>
                </a:tc>
                <a:extLst>
                  <a:ext uri="{0D108BD9-81ED-4DB2-BD59-A6C34878D82A}">
                    <a16:rowId xmlns:a16="http://schemas.microsoft.com/office/drawing/2014/main" val="3640809723"/>
                  </a:ext>
                </a:extLst>
              </a:tr>
              <a:tr h="370840">
                <a:tc>
                  <a:txBody>
                    <a:bodyPr/>
                    <a:lstStyle/>
                    <a:p>
                      <a:r>
                        <a:rPr lang="en-US" dirty="0"/>
                        <a:t>…</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293967925"/>
                  </a:ext>
                </a:extLst>
              </a:tr>
            </a:tbl>
          </a:graphicData>
        </a:graphic>
      </p:graphicFrame>
      <p:sp>
        <p:nvSpPr>
          <p:cNvPr id="3" name="Title 2">
            <a:extLst>
              <a:ext uri="{FF2B5EF4-FFF2-40B4-BE49-F238E27FC236}">
                <a16:creationId xmlns:a16="http://schemas.microsoft.com/office/drawing/2014/main" id="{EF6BE51C-87EF-C842-BEAB-89ED11867F75}"/>
              </a:ext>
            </a:extLst>
          </p:cNvPr>
          <p:cNvSpPr>
            <a:spLocks noGrp="1"/>
          </p:cNvSpPr>
          <p:nvPr>
            <p:ph type="title"/>
          </p:nvPr>
        </p:nvSpPr>
        <p:spPr/>
        <p:txBody>
          <a:bodyPr/>
          <a:lstStyle/>
          <a:p>
            <a:r>
              <a:rPr lang="en-US" dirty="0"/>
              <a:t>Access Control Matrix</a:t>
            </a:r>
          </a:p>
        </p:txBody>
      </p:sp>
      <p:sp>
        <p:nvSpPr>
          <p:cNvPr id="4" name="Text Placeholder 3">
            <a:extLst>
              <a:ext uri="{FF2B5EF4-FFF2-40B4-BE49-F238E27FC236}">
                <a16:creationId xmlns:a16="http://schemas.microsoft.com/office/drawing/2014/main" id="{97E6C02C-3FF1-EF47-A6D3-53A98B55BAF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8577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26776"/>
            <a:ext cx="8229600" cy="618079"/>
          </a:xfrm>
        </p:spPr>
        <p:txBody>
          <a:bodyPr anchor="ctr">
            <a:noAutofit/>
          </a:bodyPr>
          <a:lstStyle/>
          <a:p>
            <a:r>
              <a:rPr lang="en-IN" sz="3600" dirty="0">
                <a:latin typeface="+mj-lt"/>
              </a:rPr>
              <a:t>Preventive: IT Solutions</a:t>
            </a:r>
          </a:p>
        </p:txBody>
      </p:sp>
      <p:sp>
        <p:nvSpPr>
          <p:cNvPr id="2" name="Content Placeholder 1"/>
          <p:cNvSpPr>
            <a:spLocks noGrp="1"/>
          </p:cNvSpPr>
          <p:nvPr>
            <p:ph idx="13"/>
          </p:nvPr>
        </p:nvSpPr>
        <p:spPr>
          <a:xfrm>
            <a:off x="465826" y="1010656"/>
            <a:ext cx="8229600" cy="2308324"/>
          </a:xfrm>
        </p:spPr>
        <p:txBody>
          <a:bodyPr>
            <a:noAutofit/>
          </a:bodyPr>
          <a:lstStyle/>
          <a:p>
            <a:pPr lvl="0">
              <a:spcBef>
                <a:spcPts val="0"/>
              </a:spcBef>
              <a:buSzPts val="2400"/>
            </a:pPr>
            <a:r>
              <a:rPr lang="en-IN" sz="2400" dirty="0"/>
              <a:t>Antimalware controls</a:t>
            </a:r>
          </a:p>
          <a:p>
            <a:pPr lvl="0">
              <a:spcBef>
                <a:spcPts val="2000"/>
              </a:spcBef>
              <a:buSzPts val="2400"/>
            </a:pPr>
            <a:r>
              <a:rPr lang="en-IN" sz="2400" dirty="0"/>
              <a:t>Network access controls</a:t>
            </a:r>
          </a:p>
          <a:p>
            <a:pPr lvl="0">
              <a:spcBef>
                <a:spcPts val="2000"/>
              </a:spcBef>
              <a:buSzPts val="2400"/>
            </a:pPr>
            <a:r>
              <a:rPr lang="en-IN" sz="2400" dirty="0"/>
              <a:t>Device and software hardening controls</a:t>
            </a:r>
          </a:p>
          <a:p>
            <a:pPr lvl="0">
              <a:spcBef>
                <a:spcPts val="2000"/>
              </a:spcBef>
              <a:buSzPts val="2400"/>
            </a:pPr>
            <a:r>
              <a:rPr lang="en-IN" sz="2400" dirty="0"/>
              <a:t>Encryption</a:t>
            </a:r>
          </a:p>
        </p:txBody>
      </p:sp>
    </p:spTree>
    <p:extLst>
      <p:ext uri="{BB962C8B-B14F-4D97-AF65-F5344CB8AC3E}">
        <p14:creationId xmlns:p14="http://schemas.microsoft.com/office/powerpoint/2010/main" val="2789113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Diagram&#10;&#10;Description automatically generated">
            <a:extLst>
              <a:ext uri="{FF2B5EF4-FFF2-40B4-BE49-F238E27FC236}">
                <a16:creationId xmlns:a16="http://schemas.microsoft.com/office/drawing/2014/main" id="{AEE8B609-3C1B-B944-AED8-49F4F549E8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7400" y="421871"/>
            <a:ext cx="6975115" cy="6436129"/>
          </a:xfrm>
          <a:prstGeom prst="rect">
            <a:avLst/>
          </a:prstGeom>
        </p:spPr>
      </p:pic>
      <p:sp>
        <p:nvSpPr>
          <p:cNvPr id="11" name="Title 10">
            <a:extLst>
              <a:ext uri="{FF2B5EF4-FFF2-40B4-BE49-F238E27FC236}">
                <a16:creationId xmlns:a16="http://schemas.microsoft.com/office/drawing/2014/main" id="{C07AC960-359A-D848-BD6F-0C8CE7570181}"/>
              </a:ext>
            </a:extLst>
          </p:cNvPr>
          <p:cNvSpPr>
            <a:spLocks noGrp="1"/>
          </p:cNvSpPr>
          <p:nvPr>
            <p:ph type="title"/>
          </p:nvPr>
        </p:nvSpPr>
        <p:spPr/>
        <p:txBody>
          <a:bodyPr/>
          <a:lstStyle/>
          <a:p>
            <a:r>
              <a:rPr lang="en-US" dirty="0"/>
              <a:t>Firewall &amp; DMZ</a:t>
            </a:r>
          </a:p>
        </p:txBody>
      </p:sp>
    </p:spTree>
    <p:extLst>
      <p:ext uri="{BB962C8B-B14F-4D97-AF65-F5344CB8AC3E}">
        <p14:creationId xmlns:p14="http://schemas.microsoft.com/office/powerpoint/2010/main" val="1532604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30611FD4-EDA2-4145-A992-03BA9BF6F5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344167"/>
            <a:ext cx="8615498" cy="6169666"/>
          </a:xfrm>
          <a:prstGeom prst="rect">
            <a:avLst/>
          </a:prstGeom>
        </p:spPr>
      </p:pic>
      <p:sp>
        <p:nvSpPr>
          <p:cNvPr id="11" name="Title 10">
            <a:extLst>
              <a:ext uri="{FF2B5EF4-FFF2-40B4-BE49-F238E27FC236}">
                <a16:creationId xmlns:a16="http://schemas.microsoft.com/office/drawing/2014/main" id="{C07AC960-359A-D848-BD6F-0C8CE7570181}"/>
              </a:ext>
            </a:extLst>
          </p:cNvPr>
          <p:cNvSpPr>
            <a:spLocks noGrp="1"/>
          </p:cNvSpPr>
          <p:nvPr>
            <p:ph type="title"/>
          </p:nvPr>
        </p:nvSpPr>
        <p:spPr>
          <a:xfrm>
            <a:off x="457200" y="5257800"/>
            <a:ext cx="8229600" cy="553998"/>
          </a:xfrm>
        </p:spPr>
        <p:txBody>
          <a:bodyPr/>
          <a:lstStyle/>
          <a:p>
            <a:r>
              <a:rPr lang="en-US" dirty="0"/>
              <a:t>Packet Filtering</a:t>
            </a:r>
          </a:p>
        </p:txBody>
      </p:sp>
    </p:spTree>
    <p:extLst>
      <p:ext uri="{BB962C8B-B14F-4D97-AF65-F5344CB8AC3E}">
        <p14:creationId xmlns:p14="http://schemas.microsoft.com/office/powerpoint/2010/main" val="562120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graphical user interface&#10;&#10;Description automatically generated">
            <a:extLst>
              <a:ext uri="{FF2B5EF4-FFF2-40B4-BE49-F238E27FC236}">
                <a16:creationId xmlns:a16="http://schemas.microsoft.com/office/drawing/2014/main" id="{37416952-64EE-CA42-AA30-62971D1B94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571" y="0"/>
            <a:ext cx="8550858" cy="6858000"/>
          </a:xfrm>
          <a:prstGeom prst="rect">
            <a:avLst/>
          </a:prstGeom>
        </p:spPr>
      </p:pic>
    </p:spTree>
    <p:extLst>
      <p:ext uri="{BB962C8B-B14F-4D97-AF65-F5344CB8AC3E}">
        <p14:creationId xmlns:p14="http://schemas.microsoft.com/office/powerpoint/2010/main" val="32445764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26776"/>
            <a:ext cx="8229600" cy="618079"/>
          </a:xfrm>
        </p:spPr>
        <p:txBody>
          <a:bodyPr anchor="ctr">
            <a:noAutofit/>
          </a:bodyPr>
          <a:lstStyle/>
          <a:p>
            <a:r>
              <a:rPr lang="en-IN" sz="3600" dirty="0">
                <a:latin typeface="+mj-lt"/>
              </a:rPr>
              <a:t>Detecting Attacks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65826" y="1010656"/>
            <a:ext cx="8229600" cy="2408352"/>
          </a:xfrm>
        </p:spPr>
        <p:txBody>
          <a:bodyPr>
            <a:noAutofit/>
          </a:bodyPr>
          <a:lstStyle/>
          <a:p>
            <a:pPr lvl="0">
              <a:spcBef>
                <a:spcPts val="0"/>
              </a:spcBef>
              <a:buSzPts val="2400"/>
            </a:pPr>
            <a:r>
              <a:rPr lang="en-IN" sz="2400" b="1" dirty="0"/>
              <a:t>Log Analysis</a:t>
            </a:r>
            <a:r>
              <a:rPr lang="en-IN" sz="2400" dirty="0"/>
              <a:t>—examining logs to identify evidence of possible attacks</a:t>
            </a:r>
          </a:p>
          <a:p>
            <a:pPr lvl="0">
              <a:buSzPts val="2400"/>
            </a:pPr>
            <a:r>
              <a:rPr lang="en-IN" sz="2400" b="1" dirty="0"/>
              <a:t>Intrusion Detection Systems (IDSs)</a:t>
            </a:r>
            <a:r>
              <a:rPr lang="en-IN" sz="2400" dirty="0"/>
              <a:t>—system that creates logs of network traffic that was permitted to pass the firewall and then </a:t>
            </a:r>
            <a:r>
              <a:rPr lang="en-IN" sz="2400" dirty="0" err="1"/>
              <a:t>analyzes</a:t>
            </a:r>
            <a:r>
              <a:rPr lang="en-IN" sz="2400" dirty="0"/>
              <a:t> those logs for signs of attempted or successful intrusions</a:t>
            </a:r>
          </a:p>
        </p:txBody>
      </p:sp>
    </p:spTree>
    <p:extLst>
      <p:ext uri="{BB962C8B-B14F-4D97-AF65-F5344CB8AC3E}">
        <p14:creationId xmlns:p14="http://schemas.microsoft.com/office/powerpoint/2010/main" val="5879500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204CE99-DEED-D147-BF49-5FFD1185BC98}"/>
              </a:ext>
            </a:extLst>
          </p:cNvPr>
          <p:cNvSpPr>
            <a:spLocks noGrp="1"/>
          </p:cNvSpPr>
          <p:nvPr>
            <p:ph type="title"/>
          </p:nvPr>
        </p:nvSpPr>
        <p:spPr>
          <a:xfrm>
            <a:off x="457200" y="457200"/>
            <a:ext cx="8229600" cy="2215991"/>
          </a:xfrm>
        </p:spPr>
        <p:txBody>
          <a:bodyPr/>
          <a:lstStyle/>
          <a:p>
            <a:r>
              <a:rPr lang="en-US" dirty="0"/>
              <a:t>Logging Example</a:t>
            </a:r>
            <a:br>
              <a:rPr lang="en-US" dirty="0"/>
            </a:br>
            <a:br>
              <a:rPr lang="en-US" dirty="0"/>
            </a:br>
            <a:r>
              <a:rPr lang="en-US" dirty="0"/>
              <a:t>Activity Monitor (Mac) or Task Manager (PC)</a:t>
            </a:r>
          </a:p>
        </p:txBody>
      </p:sp>
    </p:spTree>
    <p:extLst>
      <p:ext uri="{BB962C8B-B14F-4D97-AF65-F5344CB8AC3E}">
        <p14:creationId xmlns:p14="http://schemas.microsoft.com/office/powerpoint/2010/main" val="3836027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26776"/>
            <a:ext cx="8229600" cy="618079"/>
          </a:xfrm>
        </p:spPr>
        <p:txBody>
          <a:bodyPr anchor="ctr">
            <a:noAutofit/>
          </a:bodyPr>
          <a:lstStyle/>
          <a:p>
            <a:r>
              <a:rPr lang="en-IN" sz="3600" dirty="0">
                <a:latin typeface="+mj-lt"/>
              </a:rPr>
              <a:t>Detecting Attacks </a:t>
            </a:r>
            <a:r>
              <a:rPr lang="en-IN" sz="2800" dirty="0">
                <a:latin typeface="+mj-lt"/>
              </a:rPr>
              <a:t>(2 of 2)</a:t>
            </a:r>
            <a:endParaRPr lang="en-IN" sz="3600" dirty="0">
              <a:latin typeface="+mj-lt"/>
            </a:endParaRPr>
          </a:p>
        </p:txBody>
      </p:sp>
      <p:sp>
        <p:nvSpPr>
          <p:cNvPr id="2" name="Content Placeholder 1"/>
          <p:cNvSpPr>
            <a:spLocks noGrp="1"/>
          </p:cNvSpPr>
          <p:nvPr>
            <p:ph idx="13"/>
          </p:nvPr>
        </p:nvSpPr>
        <p:spPr>
          <a:xfrm>
            <a:off x="465826" y="1010656"/>
            <a:ext cx="8229600" cy="2408352"/>
          </a:xfrm>
        </p:spPr>
        <p:txBody>
          <a:bodyPr>
            <a:noAutofit/>
          </a:bodyPr>
          <a:lstStyle/>
          <a:p>
            <a:pPr lvl="0">
              <a:spcBef>
                <a:spcPts val="0"/>
              </a:spcBef>
            </a:pPr>
            <a:r>
              <a:rPr lang="en-IN" sz="2400" b="1" dirty="0"/>
              <a:t>Honeypots</a:t>
            </a:r>
            <a:r>
              <a:rPr lang="en-IN" sz="2400" dirty="0"/>
              <a:t>—A decoy system used to provide early warning that an insider or outsider is attempting to search for confidential information</a:t>
            </a:r>
          </a:p>
          <a:p>
            <a:pPr lvl="0">
              <a:buSzPts val="2400"/>
            </a:pPr>
            <a:r>
              <a:rPr lang="en-IN" sz="2400" b="1" dirty="0"/>
              <a:t>Continuous Monitoring</a:t>
            </a:r>
            <a:r>
              <a:rPr lang="en-IN" sz="2400" dirty="0"/>
              <a:t>—employee compliance with organization’s information security policies and overall performance of business processes</a:t>
            </a:r>
          </a:p>
        </p:txBody>
      </p:sp>
    </p:spTree>
    <p:extLst>
      <p:ext uri="{BB962C8B-B14F-4D97-AF65-F5344CB8AC3E}">
        <p14:creationId xmlns:p14="http://schemas.microsoft.com/office/powerpoint/2010/main" val="1163818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26776"/>
            <a:ext cx="8229600" cy="618079"/>
          </a:xfrm>
        </p:spPr>
        <p:txBody>
          <a:bodyPr anchor="ctr">
            <a:noAutofit/>
          </a:bodyPr>
          <a:lstStyle/>
          <a:p>
            <a:r>
              <a:rPr lang="en-IN" sz="3600" dirty="0">
                <a:latin typeface="+mj-lt"/>
              </a:rPr>
              <a:t>Responding to Attacks</a:t>
            </a:r>
          </a:p>
        </p:txBody>
      </p:sp>
      <p:sp>
        <p:nvSpPr>
          <p:cNvPr id="2" name="Content Placeholder 1"/>
          <p:cNvSpPr>
            <a:spLocks noGrp="1"/>
          </p:cNvSpPr>
          <p:nvPr>
            <p:ph idx="13"/>
          </p:nvPr>
        </p:nvSpPr>
        <p:spPr>
          <a:xfrm>
            <a:off x="465826" y="1010656"/>
            <a:ext cx="8229600" cy="931024"/>
          </a:xfrm>
        </p:spPr>
        <p:txBody>
          <a:bodyPr>
            <a:noAutofit/>
          </a:bodyPr>
          <a:lstStyle/>
          <a:p>
            <a:pPr lvl="0">
              <a:spcBef>
                <a:spcPts val="0"/>
              </a:spcBef>
              <a:buSzPts val="2400"/>
            </a:pPr>
            <a:r>
              <a:rPr lang="en-IN" sz="2400" dirty="0"/>
              <a:t>Computer Incident Response Team (</a:t>
            </a:r>
            <a:r>
              <a:rPr lang="en-IN" sz="2400" spc="-350" dirty="0"/>
              <a:t>C I R </a:t>
            </a:r>
            <a:r>
              <a:rPr lang="en-IN" sz="2400" dirty="0"/>
              <a:t>T)</a:t>
            </a:r>
          </a:p>
          <a:p>
            <a:pPr lvl="0">
              <a:buSzPts val="2400"/>
            </a:pPr>
            <a:r>
              <a:rPr lang="en-IN" sz="2400" dirty="0"/>
              <a:t>Chief Information Security Officer (</a:t>
            </a:r>
            <a:r>
              <a:rPr lang="en-IN" sz="2400" spc="-350" dirty="0"/>
              <a:t>C I S </a:t>
            </a:r>
            <a:r>
              <a:rPr lang="en-IN" sz="2400" dirty="0"/>
              <a:t>O)</a:t>
            </a:r>
          </a:p>
        </p:txBody>
      </p:sp>
    </p:spTree>
    <p:extLst>
      <p:ext uri="{BB962C8B-B14F-4D97-AF65-F5344CB8AC3E}">
        <p14:creationId xmlns:p14="http://schemas.microsoft.com/office/powerpoint/2010/main" val="3448015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49304"/>
            <a:ext cx="8229600" cy="1107996"/>
          </a:xfrm>
        </p:spPr>
        <p:txBody>
          <a:bodyPr anchor="ctr">
            <a:noAutofit/>
          </a:bodyPr>
          <a:lstStyle/>
          <a:p>
            <a:r>
              <a:rPr lang="en-IN" sz="3600" dirty="0">
                <a:latin typeface="+mj-lt"/>
              </a:rPr>
              <a:t>Monitor and Revise Security Solutions</a:t>
            </a:r>
          </a:p>
        </p:txBody>
      </p:sp>
      <p:sp>
        <p:nvSpPr>
          <p:cNvPr id="2" name="Content Placeholder 1"/>
          <p:cNvSpPr>
            <a:spLocks noGrp="1"/>
          </p:cNvSpPr>
          <p:nvPr>
            <p:ph idx="13"/>
          </p:nvPr>
        </p:nvSpPr>
        <p:spPr>
          <a:xfrm>
            <a:off x="465826" y="1440180"/>
            <a:ext cx="8229600" cy="2039020"/>
          </a:xfrm>
        </p:spPr>
        <p:txBody>
          <a:bodyPr>
            <a:noAutofit/>
          </a:bodyPr>
          <a:lstStyle/>
          <a:p>
            <a:pPr lvl="0">
              <a:spcBef>
                <a:spcPts val="0"/>
              </a:spcBef>
            </a:pPr>
            <a:r>
              <a:rPr lang="en-IN" sz="2400" b="1" dirty="0"/>
              <a:t>Penetration Test</a:t>
            </a:r>
            <a:r>
              <a:rPr lang="en-IN" sz="2400" dirty="0"/>
              <a:t>–An authorized attempt to break into the organization’s information system</a:t>
            </a:r>
          </a:p>
          <a:p>
            <a:pPr lvl="0"/>
            <a:r>
              <a:rPr lang="en-IN" sz="2400" b="1" dirty="0"/>
              <a:t>Change Control and Change Management</a:t>
            </a:r>
            <a:r>
              <a:rPr lang="en-IN" sz="2400" dirty="0"/>
              <a:t>–the formal process used to ensure that modifications to hardware, software, or processes do not reduce systems reliability</a:t>
            </a:r>
          </a:p>
        </p:txBody>
      </p:sp>
    </p:spTree>
    <p:extLst>
      <p:ext uri="{BB962C8B-B14F-4D97-AF65-F5344CB8AC3E}">
        <p14:creationId xmlns:p14="http://schemas.microsoft.com/office/powerpoint/2010/main" val="17622699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7E2C102-A00F-A14C-B53B-1BB11A3BE792}"/>
              </a:ext>
            </a:extLst>
          </p:cNvPr>
          <p:cNvSpPr>
            <a:spLocks noGrp="1"/>
          </p:cNvSpPr>
          <p:nvPr>
            <p:ph type="title"/>
          </p:nvPr>
        </p:nvSpPr>
        <p:spPr/>
        <p:txBody>
          <a:bodyPr/>
          <a:lstStyle/>
          <a:p>
            <a:r>
              <a:rPr lang="en-US" dirty="0"/>
              <a:t>Change Control Process</a:t>
            </a:r>
          </a:p>
        </p:txBody>
      </p:sp>
      <p:sp>
        <p:nvSpPr>
          <p:cNvPr id="11" name="TextBox 10">
            <a:extLst>
              <a:ext uri="{FF2B5EF4-FFF2-40B4-BE49-F238E27FC236}">
                <a16:creationId xmlns:a16="http://schemas.microsoft.com/office/drawing/2014/main" id="{110A7723-8404-764C-A6D4-8AE0211D36F3}"/>
              </a:ext>
            </a:extLst>
          </p:cNvPr>
          <p:cNvSpPr txBox="1"/>
          <p:nvPr/>
        </p:nvSpPr>
        <p:spPr>
          <a:xfrm>
            <a:off x="152400" y="5862667"/>
            <a:ext cx="8991600" cy="369332"/>
          </a:xfrm>
          <a:prstGeom prst="rect">
            <a:avLst/>
          </a:prstGeom>
          <a:noFill/>
        </p:spPr>
        <p:txBody>
          <a:bodyPr wrap="square">
            <a:spAutoFit/>
          </a:bodyPr>
          <a:lstStyle/>
          <a:p>
            <a:r>
              <a:rPr lang="en-US" dirty="0"/>
              <a:t>https://</a:t>
            </a:r>
            <a:r>
              <a:rPr lang="en-US" dirty="0" err="1"/>
              <a:t>www.smartsheet.com</a:t>
            </a:r>
            <a:r>
              <a:rPr lang="en-US" dirty="0"/>
              <a:t>/8-elements-effective-change-management-process</a:t>
            </a:r>
          </a:p>
        </p:txBody>
      </p:sp>
      <p:pic>
        <p:nvPicPr>
          <p:cNvPr id="11265" name="Picture 1">
            <a:extLst>
              <a:ext uri="{FF2B5EF4-FFF2-40B4-BE49-F238E27FC236}">
                <a16:creationId xmlns:a16="http://schemas.microsoft.com/office/drawing/2014/main" id="{C8E72C53-92A3-0E49-9800-36C57219B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600" y="1424188"/>
            <a:ext cx="7670800" cy="4317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404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D6C62-B1ED-7A47-A36B-AE63D3E9FC79}"/>
              </a:ext>
            </a:extLst>
          </p:cNvPr>
          <p:cNvSpPr>
            <a:spLocks noGrp="1"/>
          </p:cNvSpPr>
          <p:nvPr>
            <p:ph type="title"/>
          </p:nvPr>
        </p:nvSpPr>
        <p:spPr/>
        <p:txBody>
          <a:bodyPr/>
          <a:lstStyle/>
          <a:p>
            <a:endParaRPr lang="en-US"/>
          </a:p>
        </p:txBody>
      </p:sp>
      <p:pic>
        <p:nvPicPr>
          <p:cNvPr id="4" name="Picture 3" descr="Graphical user interface, text, application&#10;&#10;Description automatically generated">
            <a:extLst>
              <a:ext uri="{FF2B5EF4-FFF2-40B4-BE49-F238E27FC236}">
                <a16:creationId xmlns:a16="http://schemas.microsoft.com/office/drawing/2014/main" id="{3BAAC66C-CA69-A34B-9093-A8CF8102F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127" y="1898650"/>
            <a:ext cx="8353745" cy="3060700"/>
          </a:xfrm>
          <a:prstGeom prst="rect">
            <a:avLst/>
          </a:prstGeom>
        </p:spPr>
      </p:pic>
    </p:spTree>
    <p:extLst>
      <p:ext uri="{BB962C8B-B14F-4D97-AF65-F5344CB8AC3E}">
        <p14:creationId xmlns:p14="http://schemas.microsoft.com/office/powerpoint/2010/main" val="25591181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47757"/>
            <a:ext cx="8229600" cy="1661993"/>
          </a:xfrm>
        </p:spPr>
        <p:txBody>
          <a:bodyPr anchor="ctr">
            <a:noAutofit/>
          </a:bodyPr>
          <a:lstStyle/>
          <a:p>
            <a:r>
              <a:rPr lang="en-IN" sz="3600" dirty="0">
                <a:latin typeface="+mj-lt"/>
              </a:rPr>
              <a:t>Security Implications of Virtualization, Cloud Computing, and the Internet of Things</a:t>
            </a:r>
          </a:p>
        </p:txBody>
      </p:sp>
      <p:sp>
        <p:nvSpPr>
          <p:cNvPr id="2" name="Content Placeholder 1"/>
          <p:cNvSpPr>
            <a:spLocks noGrp="1"/>
          </p:cNvSpPr>
          <p:nvPr>
            <p:ph idx="13"/>
          </p:nvPr>
        </p:nvSpPr>
        <p:spPr>
          <a:xfrm>
            <a:off x="465826" y="1958340"/>
            <a:ext cx="8229600" cy="3339376"/>
          </a:xfrm>
        </p:spPr>
        <p:txBody>
          <a:bodyPr>
            <a:noAutofit/>
          </a:bodyPr>
          <a:lstStyle/>
          <a:p>
            <a:pPr lvl="0">
              <a:spcBef>
                <a:spcPts val="600"/>
              </a:spcBef>
              <a:buSzPts val="2400"/>
            </a:pPr>
            <a:r>
              <a:rPr lang="en-IN" sz="2400" dirty="0"/>
              <a:t>Virtualization and Cloud Computing </a:t>
            </a:r>
          </a:p>
          <a:p>
            <a:pPr lvl="1">
              <a:buSzPts val="2400"/>
            </a:pPr>
            <a:r>
              <a:rPr lang="en-IN" sz="2400" dirty="0"/>
              <a:t>Positive impact on security</a:t>
            </a:r>
          </a:p>
          <a:p>
            <a:pPr lvl="2">
              <a:buSzPts val="2400"/>
            </a:pPr>
            <a:r>
              <a:rPr lang="en-IN" sz="2400" dirty="0"/>
              <a:t>Implementing strong access controls is good security over all the systems</a:t>
            </a:r>
          </a:p>
          <a:p>
            <a:pPr lvl="1">
              <a:buSzPts val="2400"/>
            </a:pPr>
            <a:r>
              <a:rPr lang="en-IN" sz="2400" dirty="0"/>
              <a:t>Negative impact on security</a:t>
            </a:r>
          </a:p>
          <a:p>
            <a:pPr lvl="2">
              <a:buSzPts val="2400"/>
            </a:pPr>
            <a:r>
              <a:rPr lang="en-IN" sz="2400" dirty="0"/>
              <a:t>Reliability issues</a:t>
            </a:r>
          </a:p>
          <a:p>
            <a:pPr lvl="2">
              <a:buSzPts val="2400"/>
            </a:pPr>
            <a:r>
              <a:rPr lang="en-IN" sz="2400" dirty="0"/>
              <a:t>Risk of theft or destruction if unsupervised physical access</a:t>
            </a:r>
          </a:p>
        </p:txBody>
      </p:sp>
    </p:spTree>
    <p:extLst>
      <p:ext uri="{BB962C8B-B14F-4D97-AF65-F5344CB8AC3E}">
        <p14:creationId xmlns:p14="http://schemas.microsoft.com/office/powerpoint/2010/main" val="1369494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176B6A7-A47B-6844-8CA3-DAE2D5BC6924}"/>
              </a:ext>
            </a:extLst>
          </p:cNvPr>
          <p:cNvSpPr txBox="1"/>
          <p:nvPr/>
        </p:nvSpPr>
        <p:spPr>
          <a:xfrm>
            <a:off x="0" y="0"/>
            <a:ext cx="6629400" cy="369332"/>
          </a:xfrm>
          <a:prstGeom prst="rect">
            <a:avLst/>
          </a:prstGeom>
          <a:noFill/>
        </p:spPr>
        <p:txBody>
          <a:bodyPr wrap="square">
            <a:spAutoFit/>
          </a:bodyPr>
          <a:lstStyle/>
          <a:p>
            <a:r>
              <a:rPr lang="en-US" dirty="0"/>
              <a:t>https://</a:t>
            </a:r>
            <a:r>
              <a:rPr lang="en-US" dirty="0" err="1"/>
              <a:t>fortune.com</a:t>
            </a:r>
            <a:r>
              <a:rPr lang="en-US" dirty="0"/>
              <a:t>/2016/11/03/light-bulb-hacking/</a:t>
            </a:r>
          </a:p>
        </p:txBody>
      </p:sp>
      <p:pic>
        <p:nvPicPr>
          <p:cNvPr id="16" name="Picture 15" descr="A picture containing text, arthropod, invertebrate, hydrozoan&#10;&#10;Description automatically generated">
            <a:extLst>
              <a:ext uri="{FF2B5EF4-FFF2-40B4-BE49-F238E27FC236}">
                <a16:creationId xmlns:a16="http://schemas.microsoft.com/office/drawing/2014/main" id="{C8CB5C7C-3C98-FA4B-8867-DA4C8FB014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 y="471217"/>
            <a:ext cx="8610600" cy="5915565"/>
          </a:xfrm>
          <a:prstGeom prst="rect">
            <a:avLst/>
          </a:prstGeom>
        </p:spPr>
      </p:pic>
      <p:pic>
        <p:nvPicPr>
          <p:cNvPr id="18" name="Picture 17" descr="Text&#10;&#10;Description automatically generated">
            <a:extLst>
              <a:ext uri="{FF2B5EF4-FFF2-40B4-BE49-F238E27FC236}">
                <a16:creationId xmlns:a16="http://schemas.microsoft.com/office/drawing/2014/main" id="{C16AD5E3-8624-D94B-9B44-3861F9CDA8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450" y="2197099"/>
            <a:ext cx="8801100" cy="1231900"/>
          </a:xfrm>
          <a:prstGeom prst="rect">
            <a:avLst/>
          </a:prstGeom>
        </p:spPr>
      </p:pic>
      <p:pic>
        <p:nvPicPr>
          <p:cNvPr id="20" name="Picture 19" descr="Text&#10;&#10;Description automatically generated">
            <a:extLst>
              <a:ext uri="{FF2B5EF4-FFF2-40B4-BE49-F238E27FC236}">
                <a16:creationId xmlns:a16="http://schemas.microsoft.com/office/drawing/2014/main" id="{78438A36-3D69-A449-A41C-5E3830558B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6999" y="3896637"/>
            <a:ext cx="6512169" cy="2956674"/>
          </a:xfrm>
          <a:prstGeom prst="rect">
            <a:avLst/>
          </a:prstGeom>
        </p:spPr>
      </p:pic>
    </p:spTree>
    <p:extLst>
      <p:ext uri="{BB962C8B-B14F-4D97-AF65-F5344CB8AC3E}">
        <p14:creationId xmlns:p14="http://schemas.microsoft.com/office/powerpoint/2010/main" val="346869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text, indoor, screenshot&#10;&#10;Description automatically generated">
            <a:extLst>
              <a:ext uri="{FF2B5EF4-FFF2-40B4-BE49-F238E27FC236}">
                <a16:creationId xmlns:a16="http://schemas.microsoft.com/office/drawing/2014/main" id="{0B3578B1-89DF-BA44-8421-987A901F58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443" y="0"/>
            <a:ext cx="7567113" cy="6858000"/>
          </a:xfrm>
          <a:prstGeom prst="rect">
            <a:avLst/>
          </a:prstGeom>
        </p:spPr>
      </p:pic>
      <p:sp>
        <p:nvSpPr>
          <p:cNvPr id="4" name="Left Arrow 3">
            <a:extLst>
              <a:ext uri="{FF2B5EF4-FFF2-40B4-BE49-F238E27FC236}">
                <a16:creationId xmlns:a16="http://schemas.microsoft.com/office/drawing/2014/main" id="{3FEF2B79-963A-5749-B18E-8369FB1F1927}"/>
              </a:ext>
            </a:extLst>
          </p:cNvPr>
          <p:cNvSpPr/>
          <p:nvPr/>
        </p:nvSpPr>
        <p:spPr>
          <a:xfrm rot="2138845">
            <a:off x="1708133" y="724153"/>
            <a:ext cx="2133600" cy="533400"/>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35018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53AF2-E3D7-8043-BA10-6C3B6DC8DD32}"/>
              </a:ext>
            </a:extLst>
          </p:cNvPr>
          <p:cNvSpPr>
            <a:spLocks noGrp="1"/>
          </p:cNvSpPr>
          <p:nvPr>
            <p:ph type="ctrTitle"/>
          </p:nvPr>
        </p:nvSpPr>
        <p:spPr/>
        <p:txBody>
          <a:bodyPr/>
          <a:lstStyle/>
          <a:p>
            <a:r>
              <a:rPr lang="en-US" dirty="0"/>
              <a:t>Update your stuff!</a:t>
            </a:r>
          </a:p>
        </p:txBody>
      </p:sp>
      <p:sp>
        <p:nvSpPr>
          <p:cNvPr id="3" name="Subtitle 2">
            <a:extLst>
              <a:ext uri="{FF2B5EF4-FFF2-40B4-BE49-F238E27FC236}">
                <a16:creationId xmlns:a16="http://schemas.microsoft.com/office/drawing/2014/main" id="{596D6C9C-9BA2-3340-98BA-A9C79A6857D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428798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159102"/>
            <a:ext cx="8229600" cy="553998"/>
          </a:xfrm>
        </p:spPr>
        <p:txBody>
          <a:bodyPr>
            <a:noAutofit/>
          </a:bodyPr>
          <a:lstStyle/>
          <a:p>
            <a:r>
              <a:rPr lang="en-IN" sz="3600" dirty="0">
                <a:latin typeface="+mj-lt"/>
              </a:rPr>
              <a:t>Key Terms</a:t>
            </a:r>
          </a:p>
        </p:txBody>
      </p:sp>
      <p:sp>
        <p:nvSpPr>
          <p:cNvPr id="2" name="Content Placeholder 1"/>
          <p:cNvSpPr>
            <a:spLocks noGrp="1"/>
          </p:cNvSpPr>
          <p:nvPr>
            <p:ph idx="1"/>
          </p:nvPr>
        </p:nvSpPr>
        <p:spPr>
          <a:xfrm>
            <a:off x="468922" y="1000648"/>
            <a:ext cx="3493478" cy="4970591"/>
          </a:xfrm>
        </p:spPr>
        <p:txBody>
          <a:bodyPr wrap="square">
            <a:spAutoFit/>
          </a:bodyPr>
          <a:lstStyle/>
          <a:p>
            <a:pPr>
              <a:spcBef>
                <a:spcPts val="300"/>
              </a:spcBef>
              <a:buSzPct val="100000"/>
            </a:pPr>
            <a:r>
              <a:rPr lang="en-US" sz="1800" dirty="0"/>
              <a:t>Time-based model of information security</a:t>
            </a:r>
          </a:p>
          <a:p>
            <a:pPr>
              <a:spcBef>
                <a:spcPts val="300"/>
              </a:spcBef>
              <a:buSzPct val="100000"/>
            </a:pPr>
            <a:r>
              <a:rPr lang="en-US" sz="1800" b="1" dirty="0"/>
              <a:t>Defense-in-depth</a:t>
            </a:r>
          </a:p>
          <a:p>
            <a:pPr>
              <a:spcBef>
                <a:spcPts val="300"/>
              </a:spcBef>
              <a:buSzPct val="100000"/>
            </a:pPr>
            <a:r>
              <a:rPr lang="en-US" sz="1800" dirty="0"/>
              <a:t>Authentication</a:t>
            </a:r>
          </a:p>
          <a:p>
            <a:pPr>
              <a:spcBef>
                <a:spcPts val="300"/>
              </a:spcBef>
              <a:buSzPct val="100000"/>
            </a:pPr>
            <a:r>
              <a:rPr lang="en-US" sz="1800" dirty="0"/>
              <a:t>Biometric identifier</a:t>
            </a:r>
          </a:p>
          <a:p>
            <a:pPr>
              <a:spcBef>
                <a:spcPts val="300"/>
              </a:spcBef>
              <a:buSzPct val="100000"/>
            </a:pPr>
            <a:r>
              <a:rPr lang="en-US" sz="1800" b="1" dirty="0"/>
              <a:t>Multifactor authentication</a:t>
            </a:r>
          </a:p>
          <a:p>
            <a:pPr>
              <a:spcBef>
                <a:spcPts val="300"/>
              </a:spcBef>
              <a:buSzPct val="100000"/>
            </a:pPr>
            <a:r>
              <a:rPr lang="en-US" sz="1800" dirty="0"/>
              <a:t>Multimodal authentication</a:t>
            </a:r>
          </a:p>
          <a:p>
            <a:pPr>
              <a:spcBef>
                <a:spcPts val="300"/>
              </a:spcBef>
              <a:buSzPct val="100000"/>
            </a:pPr>
            <a:r>
              <a:rPr lang="en-US" sz="1800" dirty="0"/>
              <a:t>Authorization</a:t>
            </a:r>
          </a:p>
          <a:p>
            <a:pPr>
              <a:spcBef>
                <a:spcPts val="300"/>
              </a:spcBef>
              <a:buSzPct val="100000"/>
            </a:pPr>
            <a:r>
              <a:rPr lang="en-US" sz="1800" dirty="0"/>
              <a:t>Access control matrix</a:t>
            </a:r>
          </a:p>
          <a:p>
            <a:pPr>
              <a:spcBef>
                <a:spcPts val="300"/>
              </a:spcBef>
              <a:buSzPct val="100000"/>
            </a:pPr>
            <a:r>
              <a:rPr lang="en-US" sz="1800" dirty="0"/>
              <a:t>Compatibility test</a:t>
            </a:r>
          </a:p>
          <a:p>
            <a:pPr>
              <a:spcBef>
                <a:spcPts val="300"/>
              </a:spcBef>
              <a:buSzPct val="100000"/>
            </a:pPr>
            <a:r>
              <a:rPr lang="en-US" sz="1800" dirty="0"/>
              <a:t>Border router</a:t>
            </a:r>
          </a:p>
          <a:p>
            <a:pPr>
              <a:spcBef>
                <a:spcPts val="300"/>
              </a:spcBef>
              <a:buSzPct val="100000"/>
            </a:pPr>
            <a:r>
              <a:rPr lang="en-US" sz="1800" b="1" dirty="0"/>
              <a:t>Firewall</a:t>
            </a:r>
          </a:p>
          <a:p>
            <a:pPr lvl="0">
              <a:spcBef>
                <a:spcPts val="300"/>
              </a:spcBef>
              <a:buSzPct val="100000"/>
            </a:pPr>
            <a:r>
              <a:rPr lang="en-US" sz="1800" b="1" dirty="0"/>
              <a:t>Demilitarized zone (</a:t>
            </a:r>
            <a:r>
              <a:rPr lang="en-US" sz="1800" b="1" spc="-250" dirty="0"/>
              <a:t>D M </a:t>
            </a:r>
            <a:r>
              <a:rPr lang="en-US" sz="1800" b="1" dirty="0"/>
              <a:t>Z)</a:t>
            </a:r>
          </a:p>
          <a:p>
            <a:pPr>
              <a:spcBef>
                <a:spcPts val="300"/>
              </a:spcBef>
              <a:buSzPct val="100000"/>
            </a:pPr>
            <a:r>
              <a:rPr lang="en-US" sz="1800" b="1" dirty="0"/>
              <a:t>Routers</a:t>
            </a:r>
          </a:p>
          <a:p>
            <a:pPr lvl="0">
              <a:spcBef>
                <a:spcPts val="300"/>
              </a:spcBef>
              <a:buSzPct val="100000"/>
            </a:pPr>
            <a:r>
              <a:rPr lang="en-US" sz="1800" dirty="0"/>
              <a:t>Access control lists (</a:t>
            </a:r>
            <a:r>
              <a:rPr lang="en-US" sz="1800" spc="-250" dirty="0"/>
              <a:t>A C </a:t>
            </a:r>
            <a:r>
              <a:rPr lang="en-US" sz="1800" dirty="0"/>
              <a:t>Ls)</a:t>
            </a:r>
          </a:p>
          <a:p>
            <a:pPr>
              <a:spcBef>
                <a:spcPts val="300"/>
              </a:spcBef>
              <a:buSzPct val="100000"/>
            </a:pPr>
            <a:r>
              <a:rPr lang="en-US" sz="1800" b="1" dirty="0"/>
              <a:t>Packet filtering</a:t>
            </a:r>
          </a:p>
        </p:txBody>
      </p:sp>
      <p:sp>
        <p:nvSpPr>
          <p:cNvPr id="3" name="Content Placeholder 2"/>
          <p:cNvSpPr>
            <a:spLocks noGrp="1"/>
          </p:cNvSpPr>
          <p:nvPr>
            <p:ph idx="13"/>
          </p:nvPr>
        </p:nvSpPr>
        <p:spPr>
          <a:xfrm>
            <a:off x="4126522" y="1006186"/>
            <a:ext cx="4560278" cy="4062651"/>
          </a:xfrm>
        </p:spPr>
        <p:txBody>
          <a:bodyPr>
            <a:noAutofit/>
          </a:bodyPr>
          <a:lstStyle/>
          <a:p>
            <a:pPr lvl="0">
              <a:spcBef>
                <a:spcPts val="300"/>
              </a:spcBef>
              <a:buSzPct val="100000"/>
            </a:pPr>
            <a:r>
              <a:rPr lang="en-US" sz="1800" b="1" dirty="0"/>
              <a:t>Deep packet inspection</a:t>
            </a:r>
          </a:p>
          <a:p>
            <a:pPr lvl="0">
              <a:spcBef>
                <a:spcPts val="300"/>
              </a:spcBef>
              <a:buSzPct val="100000"/>
            </a:pPr>
            <a:r>
              <a:rPr lang="en-US" sz="1800" dirty="0"/>
              <a:t>Intrusion prevention system (</a:t>
            </a:r>
            <a:r>
              <a:rPr lang="en-US" sz="1800" spc="-250" dirty="0"/>
              <a:t>I P </a:t>
            </a:r>
            <a:r>
              <a:rPr lang="en-US" sz="1800" dirty="0"/>
              <a:t>S)</a:t>
            </a:r>
          </a:p>
          <a:p>
            <a:pPr lvl="0">
              <a:spcBef>
                <a:spcPts val="300"/>
              </a:spcBef>
              <a:buSzPct val="100000"/>
            </a:pPr>
            <a:r>
              <a:rPr lang="en-US" sz="1800" dirty="0"/>
              <a:t>Endpoints</a:t>
            </a:r>
          </a:p>
          <a:p>
            <a:pPr lvl="0">
              <a:spcBef>
                <a:spcPts val="300"/>
              </a:spcBef>
              <a:buSzPct val="100000"/>
            </a:pPr>
            <a:r>
              <a:rPr lang="en-US" sz="1800" dirty="0"/>
              <a:t>Vulnerability scanners</a:t>
            </a:r>
          </a:p>
          <a:p>
            <a:pPr lvl="0">
              <a:spcBef>
                <a:spcPts val="300"/>
              </a:spcBef>
              <a:buSzPct val="100000"/>
            </a:pPr>
            <a:r>
              <a:rPr lang="en-US" sz="1800" b="1" dirty="0"/>
              <a:t>Exploit</a:t>
            </a:r>
          </a:p>
          <a:p>
            <a:pPr lvl="0">
              <a:spcBef>
                <a:spcPts val="300"/>
              </a:spcBef>
              <a:buSzPct val="100000"/>
            </a:pPr>
            <a:r>
              <a:rPr lang="en-US" sz="1800" b="1" dirty="0"/>
              <a:t>Patch</a:t>
            </a:r>
          </a:p>
          <a:p>
            <a:pPr lvl="0">
              <a:spcBef>
                <a:spcPts val="300"/>
              </a:spcBef>
              <a:buSzPct val="100000"/>
            </a:pPr>
            <a:r>
              <a:rPr lang="en-US" sz="1800" b="1" dirty="0"/>
              <a:t>Patch management</a:t>
            </a:r>
          </a:p>
          <a:p>
            <a:pPr lvl="0">
              <a:spcBef>
                <a:spcPts val="300"/>
              </a:spcBef>
              <a:buSzPct val="100000"/>
            </a:pPr>
            <a:r>
              <a:rPr lang="en-US" sz="1800" dirty="0"/>
              <a:t>Hardening</a:t>
            </a:r>
          </a:p>
          <a:p>
            <a:pPr lvl="0">
              <a:spcBef>
                <a:spcPts val="300"/>
              </a:spcBef>
              <a:buSzPct val="100000"/>
            </a:pPr>
            <a:r>
              <a:rPr lang="en-US" sz="1800" dirty="0"/>
              <a:t>Log analysis</a:t>
            </a:r>
          </a:p>
          <a:p>
            <a:pPr lvl="0">
              <a:spcBef>
                <a:spcPts val="300"/>
              </a:spcBef>
              <a:buSzPct val="100000"/>
            </a:pPr>
            <a:r>
              <a:rPr lang="en-US" sz="1800" dirty="0"/>
              <a:t>Intrusion detection system (</a:t>
            </a:r>
            <a:r>
              <a:rPr lang="en-US" sz="1800" spc="-250" dirty="0"/>
              <a:t>I D </a:t>
            </a:r>
            <a:r>
              <a:rPr lang="en-US" sz="1800" dirty="0"/>
              <a:t>S)</a:t>
            </a:r>
          </a:p>
          <a:p>
            <a:pPr lvl="0">
              <a:spcBef>
                <a:spcPts val="300"/>
              </a:spcBef>
              <a:buSzPct val="100000"/>
            </a:pPr>
            <a:r>
              <a:rPr lang="en-US" sz="1800" dirty="0"/>
              <a:t>Honeypot</a:t>
            </a:r>
          </a:p>
          <a:p>
            <a:pPr lvl="0">
              <a:spcBef>
                <a:spcPts val="300"/>
              </a:spcBef>
              <a:buSzPct val="100000"/>
            </a:pPr>
            <a:r>
              <a:rPr lang="en-US" sz="1800" dirty="0"/>
              <a:t>Computer incident response team (</a:t>
            </a:r>
            <a:r>
              <a:rPr lang="en-US" sz="1800" spc="-250" dirty="0"/>
              <a:t>C I R </a:t>
            </a:r>
            <a:r>
              <a:rPr lang="en-US" sz="1800" dirty="0"/>
              <a:t>T)</a:t>
            </a:r>
          </a:p>
          <a:p>
            <a:pPr lvl="0">
              <a:spcBef>
                <a:spcPts val="300"/>
              </a:spcBef>
              <a:buSzPct val="100000"/>
            </a:pPr>
            <a:r>
              <a:rPr lang="en-US" sz="1800" dirty="0"/>
              <a:t>Penetration test</a:t>
            </a:r>
          </a:p>
        </p:txBody>
      </p:sp>
    </p:spTree>
    <p:extLst>
      <p:ext uri="{BB962C8B-B14F-4D97-AF65-F5344CB8AC3E}">
        <p14:creationId xmlns:p14="http://schemas.microsoft.com/office/powerpoint/2010/main" val="35582851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FA448A-03B8-ED4D-AE71-A84ED9A1A5B7}"/>
              </a:ext>
            </a:extLst>
          </p:cNvPr>
          <p:cNvSpPr>
            <a:spLocks noGrp="1"/>
          </p:cNvSpPr>
          <p:nvPr>
            <p:ph type="title"/>
          </p:nvPr>
        </p:nvSpPr>
        <p:spPr/>
        <p:txBody>
          <a:bodyPr/>
          <a:lstStyle/>
          <a:p>
            <a:r>
              <a:rPr lang="en-US" dirty="0"/>
              <a:t>Application Problems</a:t>
            </a:r>
          </a:p>
        </p:txBody>
      </p:sp>
      <p:sp>
        <p:nvSpPr>
          <p:cNvPr id="6" name="Text Placeholder 5">
            <a:extLst>
              <a:ext uri="{FF2B5EF4-FFF2-40B4-BE49-F238E27FC236}">
                <a16:creationId xmlns:a16="http://schemas.microsoft.com/office/drawing/2014/main" id="{A2C70B2F-1FF2-644A-9DAF-0F0B35D1FBC9}"/>
              </a:ext>
            </a:extLst>
          </p:cNvPr>
          <p:cNvSpPr>
            <a:spLocks noGrp="1"/>
          </p:cNvSpPr>
          <p:nvPr>
            <p:ph type="body" idx="1"/>
          </p:nvPr>
        </p:nvSpPr>
        <p:spPr/>
        <p:txBody>
          <a:bodyPr/>
          <a:lstStyle/>
          <a:p>
            <a:pPr hangingPunct="0"/>
            <a:r>
              <a:rPr lang="en-AU" b="1" dirty="0"/>
              <a:t>11.4	</a:t>
            </a:r>
            <a:r>
              <a:rPr lang="en-US" b="1" dirty="0"/>
              <a:t>Which preventive, detective, and/or corrective controls would best mitigate the following threats?</a:t>
            </a:r>
            <a:endParaRPr lang="en-US" dirty="0"/>
          </a:p>
          <a:p>
            <a:pPr lvl="0"/>
            <a:r>
              <a:rPr lang="en-US" dirty="0"/>
              <a:t>An employee’s laptop was stolen at the airport. The laptop contained personally identifying information about the company’s customers that could potentially be used to commit identity theft. </a:t>
            </a:r>
          </a:p>
          <a:p>
            <a:pPr lvl="0"/>
            <a:r>
              <a:rPr lang="en-US" dirty="0"/>
              <a:t>A salesperson successfully logged into the payroll system by guessing the payroll supervisor’s password.</a:t>
            </a:r>
          </a:p>
          <a:p>
            <a:pPr lvl="0"/>
            <a:r>
              <a:rPr lang="en-US" dirty="0"/>
              <a:t>A criminal remotely accessed a sensitive database using the authentication credentials (user ID and strong password) of an IT manager. At the time the attack occurred, the IT manager was logged into the system at his workstation at company headquarters.</a:t>
            </a:r>
          </a:p>
          <a:p>
            <a:r>
              <a:rPr lang="en-US" dirty="0"/>
              <a:t> An employee received an email purporting to be from her boss informing her of an important new attendance policy. When she clicked on a link embedded in the email to view the new policy, she infected her laptop with a keystroke logger.</a:t>
            </a:r>
          </a:p>
          <a:p>
            <a:pPr lvl="0"/>
            <a:endParaRPr lang="en-US" dirty="0"/>
          </a:p>
        </p:txBody>
      </p:sp>
    </p:spTree>
    <p:extLst>
      <p:ext uri="{BB962C8B-B14F-4D97-AF65-F5344CB8AC3E}">
        <p14:creationId xmlns:p14="http://schemas.microsoft.com/office/powerpoint/2010/main" val="134591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FA448A-03B8-ED4D-AE71-A84ED9A1A5B7}"/>
              </a:ext>
            </a:extLst>
          </p:cNvPr>
          <p:cNvSpPr>
            <a:spLocks noGrp="1"/>
          </p:cNvSpPr>
          <p:nvPr>
            <p:ph type="title"/>
          </p:nvPr>
        </p:nvSpPr>
        <p:spPr/>
        <p:txBody>
          <a:bodyPr/>
          <a:lstStyle/>
          <a:p>
            <a:r>
              <a:rPr lang="en-US" dirty="0"/>
              <a:t>Application Problems</a:t>
            </a:r>
          </a:p>
        </p:txBody>
      </p:sp>
      <p:sp>
        <p:nvSpPr>
          <p:cNvPr id="6" name="Text Placeholder 5">
            <a:extLst>
              <a:ext uri="{FF2B5EF4-FFF2-40B4-BE49-F238E27FC236}">
                <a16:creationId xmlns:a16="http://schemas.microsoft.com/office/drawing/2014/main" id="{A2C70B2F-1FF2-644A-9DAF-0F0B35D1FBC9}"/>
              </a:ext>
            </a:extLst>
          </p:cNvPr>
          <p:cNvSpPr>
            <a:spLocks noGrp="1"/>
          </p:cNvSpPr>
          <p:nvPr>
            <p:ph type="body" idx="1"/>
          </p:nvPr>
        </p:nvSpPr>
        <p:spPr/>
        <p:txBody>
          <a:bodyPr/>
          <a:lstStyle/>
          <a:p>
            <a:pPr hangingPunct="0"/>
            <a:r>
              <a:rPr lang="en-AU" b="1" dirty="0"/>
              <a:t>11.4	</a:t>
            </a:r>
            <a:r>
              <a:rPr lang="en-US" b="1" dirty="0"/>
              <a:t>Which preventive, detective, and/or corrective controls would best mitigate the following threats?</a:t>
            </a:r>
            <a:endParaRPr lang="en-US" dirty="0"/>
          </a:p>
          <a:p>
            <a:pPr lvl="0"/>
            <a:r>
              <a:rPr lang="en-US" dirty="0"/>
              <a:t>A company’s programming staff wrote custom code for the shopping cart feature on its web site. The code contained a buffer overflow vulnerability that could be exploited when the customer typed in the ship-to address.</a:t>
            </a:r>
          </a:p>
          <a:p>
            <a:pPr lvl="0"/>
            <a:r>
              <a:rPr lang="en-US" dirty="0"/>
              <a:t>A company purchased the leading “off-the-shelf” e-commerce software for linking its electronic storefront to its inventory database. A customer discovered a way to directly access the back-end database by entering appropriate SQL code.</a:t>
            </a:r>
          </a:p>
          <a:p>
            <a:r>
              <a:rPr lang="en-US" dirty="0"/>
              <a:t>Attackers broke into the company’s information system through a wireless access point located in one of its retail stores. The wireless access point had been purchased and installed by the store manager without informing central IT or security.</a:t>
            </a:r>
          </a:p>
          <a:p>
            <a:r>
              <a:rPr lang="en-US" dirty="0"/>
              <a:t>An employee picked up a USB drive in the parking lot and plugged it into their laptop to “see what was on it,” which resulted in a keystroke logger being installed on that laptop.</a:t>
            </a:r>
          </a:p>
        </p:txBody>
      </p:sp>
    </p:spTree>
    <p:extLst>
      <p:ext uri="{BB962C8B-B14F-4D97-AF65-F5344CB8AC3E}">
        <p14:creationId xmlns:p14="http://schemas.microsoft.com/office/powerpoint/2010/main" val="3787716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FA448A-03B8-ED4D-AE71-A84ED9A1A5B7}"/>
              </a:ext>
            </a:extLst>
          </p:cNvPr>
          <p:cNvSpPr>
            <a:spLocks noGrp="1"/>
          </p:cNvSpPr>
          <p:nvPr>
            <p:ph type="title"/>
          </p:nvPr>
        </p:nvSpPr>
        <p:spPr/>
        <p:txBody>
          <a:bodyPr/>
          <a:lstStyle/>
          <a:p>
            <a:r>
              <a:rPr lang="en-US" dirty="0"/>
              <a:t>Application Problems</a:t>
            </a:r>
          </a:p>
        </p:txBody>
      </p:sp>
      <p:sp>
        <p:nvSpPr>
          <p:cNvPr id="6" name="Text Placeholder 5">
            <a:extLst>
              <a:ext uri="{FF2B5EF4-FFF2-40B4-BE49-F238E27FC236}">
                <a16:creationId xmlns:a16="http://schemas.microsoft.com/office/drawing/2014/main" id="{A2C70B2F-1FF2-644A-9DAF-0F0B35D1FBC9}"/>
              </a:ext>
            </a:extLst>
          </p:cNvPr>
          <p:cNvSpPr>
            <a:spLocks noGrp="1"/>
          </p:cNvSpPr>
          <p:nvPr>
            <p:ph type="body" idx="1"/>
          </p:nvPr>
        </p:nvSpPr>
        <p:spPr/>
        <p:txBody>
          <a:bodyPr/>
          <a:lstStyle/>
          <a:p>
            <a:pPr hangingPunct="0"/>
            <a:r>
              <a:rPr lang="en-AU" b="1" dirty="0"/>
              <a:t>11.4	</a:t>
            </a:r>
            <a:r>
              <a:rPr lang="en-US" b="1" dirty="0"/>
              <a:t>Which preventive, detective, and/or corrective controls would best mitigate the following threats?</a:t>
            </a:r>
            <a:endParaRPr lang="en-US" dirty="0"/>
          </a:p>
          <a:p>
            <a:r>
              <a:rPr lang="en-US" dirty="0"/>
              <a:t>Once an attack on the company’s website was discovered, it took more than 30 minutes to determine who to contact to initiate response actions.</a:t>
            </a:r>
          </a:p>
          <a:p>
            <a:r>
              <a:rPr lang="en-US" dirty="0"/>
              <a:t>To facilitate working from home, an employee installed a modem on his office workstation. An attacker successfully penetrated the company’s system by dialing into that modem.</a:t>
            </a:r>
          </a:p>
          <a:p>
            <a:r>
              <a:rPr lang="en-US" dirty="0"/>
              <a:t>An attacker gained access to the company’s internal network by installing a wireless access point in a wiring closet located next to the elevators on the fourth floor of a high-rise office building that the company shared with seven other companies.</a:t>
            </a:r>
          </a:p>
          <a:p>
            <a:r>
              <a:rPr lang="en-US" dirty="0"/>
              <a:t> </a:t>
            </a:r>
          </a:p>
        </p:txBody>
      </p:sp>
    </p:spTree>
    <p:extLst>
      <p:ext uri="{BB962C8B-B14F-4D97-AF65-F5344CB8AC3E}">
        <p14:creationId xmlns:p14="http://schemas.microsoft.com/office/powerpoint/2010/main" val="25399068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25535</TotalTime>
  <Words>1970</Words>
  <Application>Microsoft Macintosh PowerPoint</Application>
  <PresentationFormat>On-screen Show (4:3)</PresentationFormat>
  <Paragraphs>209</Paragraphs>
  <Slides>45</Slides>
  <Notes>17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45</vt:i4>
      </vt:variant>
    </vt:vector>
  </HeadingPairs>
  <TitlesOfParts>
    <vt:vector size="54" baseType="lpstr">
      <vt:lpstr>Arial</vt:lpstr>
      <vt:lpstr>Arial(Body)</vt:lpstr>
      <vt:lpstr>Century Gothic</vt:lpstr>
      <vt:lpstr>Noto Sans Symbols</vt:lpstr>
      <vt:lpstr>Times New Roman</vt:lpstr>
      <vt:lpstr>Verdana</vt:lpstr>
      <vt:lpstr>Wingdings</vt:lpstr>
      <vt:lpstr>508 Lecture</vt:lpstr>
      <vt:lpstr>1_508 Lecture</vt:lpstr>
      <vt:lpstr>Accounting Information Systems</vt:lpstr>
      <vt:lpstr>PowerPoint Presentation</vt:lpstr>
      <vt:lpstr>Learning Objectives (1 of 2)</vt:lpstr>
      <vt:lpstr>Learning Objectives (2 of 2)</vt:lpstr>
      <vt:lpstr>Trust Services Framework</vt:lpstr>
      <vt:lpstr>Figure 11.1 Relationships Among the Five Trust Services Principles for Systems Reliability</vt:lpstr>
      <vt:lpstr>Three Fundamental Information Security Concepts (1 of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easy is it to setup a phishing site?</vt:lpstr>
      <vt:lpstr>How easy is it to setup a phishing site?</vt:lpstr>
      <vt:lpstr>How to Mitigate Risk of Attack</vt:lpstr>
      <vt:lpstr>Preventive: Physical Security: Access Controls</vt:lpstr>
      <vt:lpstr>Server Room</vt:lpstr>
      <vt:lpstr>PowerPoint Presentation</vt:lpstr>
      <vt:lpstr>Preventive Process: User Access Controls</vt:lpstr>
      <vt:lpstr>PowerPoint Presentation</vt:lpstr>
      <vt:lpstr>Access Control Matrix</vt:lpstr>
      <vt:lpstr>Preventive: IT Solutions</vt:lpstr>
      <vt:lpstr>Firewall &amp; DMZ</vt:lpstr>
      <vt:lpstr>Packet Filtering</vt:lpstr>
      <vt:lpstr>PowerPoint Presentation</vt:lpstr>
      <vt:lpstr>Detecting Attacks (1 of 2)</vt:lpstr>
      <vt:lpstr>Logging Example  Activity Monitor (Mac) or Task Manager (PC)</vt:lpstr>
      <vt:lpstr>Detecting Attacks (2 of 2)</vt:lpstr>
      <vt:lpstr>Responding to Attacks</vt:lpstr>
      <vt:lpstr>Monitor and Revise Security Solutions</vt:lpstr>
      <vt:lpstr>Change Control Process</vt:lpstr>
      <vt:lpstr>PowerPoint Presentation</vt:lpstr>
      <vt:lpstr>Security Implications of Virtualization, Cloud Computing, and the Internet of Things</vt:lpstr>
      <vt:lpstr>PowerPoint Presentation</vt:lpstr>
      <vt:lpstr>PowerPoint Presentation</vt:lpstr>
      <vt:lpstr>Update your stuff!</vt:lpstr>
      <vt:lpstr>Key Terms</vt:lpstr>
      <vt:lpstr>Application Problems</vt:lpstr>
      <vt:lpstr>Application Problems</vt:lpstr>
      <vt:lpstr>Application Problems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11, Controls for Information Security</dc:title>
  <dc:subject/>
  <dc:creator>Romney</dc:creator>
  <cp:keywords>Automotive</cp:keywords>
  <cp:lastModifiedBy>Nathan Garrett</cp:lastModifiedBy>
  <cp:revision>5034</cp:revision>
  <dcterms:created xsi:type="dcterms:W3CDTF">2014-07-14T20:04:21Z</dcterms:created>
  <dcterms:modified xsi:type="dcterms:W3CDTF">2025-07-22T13:04:16Z</dcterms:modified>
</cp:coreProperties>
</file>