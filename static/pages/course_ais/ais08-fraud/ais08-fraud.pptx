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41"/>
  </p:notesMasterIdLst>
  <p:handoutMasterIdLst>
    <p:handoutMasterId r:id="rId42"/>
  </p:handoutMasterIdLst>
  <p:sldIdLst>
    <p:sldId id="330" r:id="rId3"/>
    <p:sldId id="1787" r:id="rId4"/>
    <p:sldId id="1785" r:id="rId5"/>
    <p:sldId id="1786" r:id="rId6"/>
    <p:sldId id="1718" r:id="rId7"/>
    <p:sldId id="1780" r:id="rId8"/>
    <p:sldId id="1783" r:id="rId9"/>
    <p:sldId id="1784" r:id="rId10"/>
    <p:sldId id="1773" r:id="rId11"/>
    <p:sldId id="1781" r:id="rId12"/>
    <p:sldId id="1724" r:id="rId13"/>
    <p:sldId id="1755" r:id="rId14"/>
    <p:sldId id="1756" r:id="rId15"/>
    <p:sldId id="1778" r:id="rId16"/>
    <p:sldId id="1767" r:id="rId17"/>
    <p:sldId id="1757" r:id="rId18"/>
    <p:sldId id="1776" r:id="rId19"/>
    <p:sldId id="1779" r:id="rId20"/>
    <p:sldId id="1088" r:id="rId21"/>
    <p:sldId id="1758" r:id="rId22"/>
    <p:sldId id="1768" r:id="rId23"/>
    <p:sldId id="1774" r:id="rId24"/>
    <p:sldId id="1788" r:id="rId25"/>
    <p:sldId id="1782" r:id="rId26"/>
    <p:sldId id="1769" r:id="rId27"/>
    <p:sldId id="1770" r:id="rId28"/>
    <p:sldId id="1719" r:id="rId29"/>
    <p:sldId id="1766" r:id="rId30"/>
    <p:sldId id="1759" r:id="rId31"/>
    <p:sldId id="1760" r:id="rId32"/>
    <p:sldId id="1761" r:id="rId33"/>
    <p:sldId id="1762" r:id="rId34"/>
    <p:sldId id="1763" r:id="rId35"/>
    <p:sldId id="1764" r:id="rId36"/>
    <p:sldId id="1771" r:id="rId37"/>
    <p:sldId id="1772" r:id="rId38"/>
    <p:sldId id="1717" r:id="rId39"/>
    <p:sldId id="1765"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15" autoAdjust="0"/>
    <p:restoredTop sz="70988" autoAdjust="0"/>
  </p:normalViewPr>
  <p:slideViewPr>
    <p:cSldViewPr>
      <p:cViewPr varScale="1">
        <p:scale>
          <a:sx n="88" d="100"/>
          <a:sy n="88" d="100"/>
        </p:scale>
        <p:origin x="2336" y="176"/>
      </p:cViewPr>
      <p:guideLst>
        <p:guide pos="2880"/>
        <p:guide orient="horz" pos="384"/>
        <p:guide orient="horz" pos="144"/>
        <p:guide orient="horz" pos="624"/>
        <p:guide pos="288"/>
        <p:guide pos="5472"/>
        <p:guide orient="horz" pos="3984"/>
        <p:guide orient="horz" pos="2160"/>
      </p:guideLst>
    </p:cSldViewPr>
  </p:slideViewPr>
  <p:outlineViewPr>
    <p:cViewPr>
      <p:scale>
        <a:sx n="25" d="100"/>
        <a:sy n="25"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Garrett" userId="2e433c4c-36ae-4b16-acdd-ef7227993467" providerId="ADAL" clId="{A3A093A0-9DCB-42D7-A8AC-6C6549BEA690}"/>
    <pc:docChg chg="custSel modSld">
      <pc:chgData name="Nathan Garrett" userId="2e433c4c-36ae-4b16-acdd-ef7227993467" providerId="ADAL" clId="{A3A093A0-9DCB-42D7-A8AC-6C6549BEA690}" dt="2022-09-19T21:26:34.723" v="10" actId="313"/>
      <pc:docMkLst>
        <pc:docMk/>
      </pc:docMkLst>
      <pc:sldChg chg="modSp mod">
        <pc:chgData name="Nathan Garrett" userId="2e433c4c-36ae-4b16-acdd-ef7227993467" providerId="ADAL" clId="{A3A093A0-9DCB-42D7-A8AC-6C6549BEA690}" dt="2022-09-19T21:26:07.177" v="9" actId="20577"/>
        <pc:sldMkLst>
          <pc:docMk/>
          <pc:sldMk cId="1429451705" sldId="1755"/>
        </pc:sldMkLst>
        <pc:spChg chg="mod">
          <ac:chgData name="Nathan Garrett" userId="2e433c4c-36ae-4b16-acdd-ef7227993467" providerId="ADAL" clId="{A3A093A0-9DCB-42D7-A8AC-6C6549BEA690}" dt="2022-09-19T21:26:07.177" v="9" actId="20577"/>
          <ac:spMkLst>
            <pc:docMk/>
            <pc:sldMk cId="1429451705" sldId="1755"/>
            <ac:spMk id="3" creationId="{143A245E-DBD4-4404-B4E9-81DC92081F4F}"/>
          </ac:spMkLst>
        </pc:spChg>
      </pc:sldChg>
      <pc:sldChg chg="modSp mod">
        <pc:chgData name="Nathan Garrett" userId="2e433c4c-36ae-4b16-acdd-ef7227993467" providerId="ADAL" clId="{A3A093A0-9DCB-42D7-A8AC-6C6549BEA690}" dt="2022-09-19T21:26:34.723" v="10" actId="313"/>
        <pc:sldMkLst>
          <pc:docMk/>
          <pc:sldMk cId="3856453513" sldId="1758"/>
        </pc:sldMkLst>
        <pc:spChg chg="mod">
          <ac:chgData name="Nathan Garrett" userId="2e433c4c-36ae-4b16-acdd-ef7227993467" providerId="ADAL" clId="{A3A093A0-9DCB-42D7-A8AC-6C6549BEA690}" dt="2022-09-19T21:26:34.723" v="10" actId="313"/>
          <ac:spMkLst>
            <pc:docMk/>
            <pc:sldMk cId="3856453513" sldId="1758"/>
            <ac:spMk id="3" creationId="{143A245E-DBD4-4404-B4E9-81DC92081F4F}"/>
          </ac:spMkLst>
        </pc:spChg>
      </pc:sldChg>
      <pc:sldChg chg="modSp mod">
        <pc:chgData name="Nathan Garrett" userId="2e433c4c-36ae-4b16-acdd-ef7227993467" providerId="ADAL" clId="{A3A093A0-9DCB-42D7-A8AC-6C6549BEA690}" dt="2022-09-19T21:25:45.660" v="1" actId="6549"/>
        <pc:sldMkLst>
          <pc:docMk/>
          <pc:sldMk cId="3826174126" sldId="1773"/>
        </pc:sldMkLst>
        <pc:spChg chg="mod">
          <ac:chgData name="Nathan Garrett" userId="2e433c4c-36ae-4b16-acdd-ef7227993467" providerId="ADAL" clId="{A3A093A0-9DCB-42D7-A8AC-6C6549BEA690}" dt="2022-09-19T21:25:45.660" v="1" actId="6549"/>
          <ac:spMkLst>
            <pc:docMk/>
            <pc:sldMk cId="3826174126" sldId="1773"/>
            <ac:spMk id="6" creationId="{F97959E2-3C5F-934E-A4A5-4489588ABDF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4/7/26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4/7/26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integrityline.com/expertise/blog/10-reasons-why-employees-do-not-speak-up/"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integrityline.com/expertise/blog/10-reasons-why-employees-do-not-speak-up/"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www.ft.com/content/73e48574-673a-4725-9b78-ba940a8060f5" TargetMode="External"/><Relationship Id="rId3" Type="http://schemas.openxmlformats.org/officeDocument/2006/relationships/hyperlink" Target="https://www.ft.com/" TargetMode="External"/><Relationship Id="rId7" Type="http://schemas.openxmlformats.org/officeDocument/2006/relationships/hyperlink" Target="https://www.ft.com/tour"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mailto:licensing@ft.com" TargetMode="External"/><Relationship Id="rId5" Type="http://schemas.openxmlformats.org/officeDocument/2006/relationships/hyperlink" Target="https://help.ft.com/help/legal-privacy/copyright/copyright-policy/" TargetMode="External"/><Relationship Id="rId4" Type="http://schemas.openxmlformats.org/officeDocument/2006/relationships/hyperlink" Target="https://help.ft.com/help/legal-privacy/terms-conditions/"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forbes.com/profile/charlie-javice/?sh=406986de9619"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www.linkedin.com/pulse/frank-now-part-jp-morgan-chase-family-charlie-javice/?src=aff-ref&amp;trk=aff-ir_progid.8005_partid.10078_sid._adid.449670&amp;clickid=XpsxERTPZxyNUtZSSOxx53ToUkATgM0VRUDn2s0&amp;mcid=6851962469594763264&amp;irgwc=1" TargetMode="External"/><Relationship Id="rId4" Type="http://schemas.openxmlformats.org/officeDocument/2006/relationships/hyperlink" Target="https://www.popsugar.com/news/Frank-FAFSA-Founder-CEO-Charlie-Javice-Interview-44518650"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what it has dubbed “Operation Bear Claw,” the California Insurance Department said four Los Angeles residents were arrested Wednesday, accused of defrauding three insurance companies out of nearly $142,000 by claiming a bear had caused damage to their vehicles. </a:t>
            </a:r>
          </a:p>
          <a:p>
            <a:r>
              <a:rPr lang="en-US" dirty="0"/>
              <a:t>The group is accused of providing video footage from the San Bernardino Mountains in January of a bear moving inside a Rolls-Royce and two Mercedes to the insurance companies as part of their damage claims, the department said. Photos provided by the insurance department show what appeared to be scratches on the seats and doors. </a:t>
            </a:r>
          </a:p>
          <a:p>
            <a:r>
              <a:rPr lang="en-US" dirty="0"/>
              <a:t>The company viewing video of the Rolls-Royce suspected it was not a bear inside, but someone in a bear costume.</a:t>
            </a:r>
          </a:p>
          <a:p>
            <a:endParaRPr lang="en-US" dirty="0"/>
          </a:p>
          <a:p>
            <a:r>
              <a:rPr lang="en-US" dirty="0"/>
              <a:t>Detectives found two additional claims and with two different insurance companies for the four with the same date of loss and at the same location. Similar video was provided of the “bear” inside the Mercedes vehicles.</a:t>
            </a:r>
          </a:p>
          <a:p>
            <a:endParaRPr lang="en-US" dirty="0"/>
          </a:p>
          <a:p>
            <a:r>
              <a:rPr lang="en-US" dirty="0"/>
              <a:t>The department had a biologist from the California Department of Fish and Wildlife review the three videos, who concluded it was “clearly a human in a bear suit,” the insurance department said. </a:t>
            </a:r>
          </a:p>
        </p:txBody>
      </p:sp>
      <p:sp>
        <p:nvSpPr>
          <p:cNvPr id="4" name="Slide Number Placeholder 3"/>
          <p:cNvSpPr>
            <a:spLocks noGrp="1"/>
          </p:cNvSpPr>
          <p:nvPr>
            <p:ph type="sldNum" sz="quarter" idx="5"/>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882326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dropping out of Stanford, Holmes used the money her parents had saved for her education as seed money for </a:t>
            </a:r>
            <a:r>
              <a:rPr lang="en-US" dirty="0" err="1"/>
              <a:t>Theranos</a:t>
            </a:r>
            <a:r>
              <a:rPr lang="en-US" dirty="0"/>
              <a:t>. She convinced her Stanford professor, Channing Robertson, of her idea and recruited him as the first board member. Robertson put Holmes in touch with venture capitalists and she had raised $6 million in capital by the end of 2004. Initially, the company operated in “stealth mode” without a corporate website or press releases. Although Holmes entered the limelight in 2013 and quickly turned into a media star, the aura of mystery surrounding </a:t>
            </a:r>
            <a:r>
              <a:rPr lang="en-US" dirty="0" err="1"/>
              <a:t>Theranos</a:t>
            </a:r>
            <a:r>
              <a:rPr lang="en-US" dirty="0"/>
              <a:t> would persist until the company’s fall. </a:t>
            </a:r>
          </a:p>
          <a:p>
            <a:r>
              <a:rPr lang="en-US" dirty="0"/>
              <a:t>Holmes is said to have worshipped and emulated Apple founder Steve Jobs. She hired Apple designers for the product design of the laboratory’s “Edison” device and she soon appeared wearing only black turtlenecks. Holmes also began to speak with a deeper voice. </a:t>
            </a:r>
          </a:p>
          <a:p>
            <a:r>
              <a:rPr lang="en-US" dirty="0"/>
              <a:t>She went public with this image in 2013. Two years later, the company entered into a partnership with US drugstore chain “Walgreens” whereby the company’s tests would be offered in more than 40 shops. Holmes promised that </a:t>
            </a:r>
            <a:r>
              <a:rPr lang="en-US" dirty="0" err="1"/>
              <a:t>Theranos</a:t>
            </a:r>
            <a:r>
              <a:rPr lang="en-US" dirty="0"/>
              <a:t> blood tests would soon be available within 5 miles of every American household. She claimed to investors and business partners that the tests were being used by the US military in their medivac helicopters, a claim she only recanted when questioned by investigators under oath. </a:t>
            </a:r>
          </a:p>
          <a:p>
            <a:r>
              <a:rPr lang="en-US" dirty="0"/>
              <a:t>Holmes became a media star and celebrated visionary, appearing on the cover of Fortune, Forbes and Inc. In 2015, </a:t>
            </a:r>
            <a:r>
              <a:rPr lang="en-US" dirty="0" err="1"/>
              <a:t>Theranos</a:t>
            </a:r>
            <a:r>
              <a:rPr lang="en-US" dirty="0"/>
              <a:t> was valued at $9 billion and with Holmes considered the youngest self-made billionaires in the US, she landed on Time magazine’s list of the 100 most influential people. That same year, then Vice President Joe Biden visited the </a:t>
            </a:r>
            <a:r>
              <a:rPr lang="en-US" dirty="0" err="1"/>
              <a:t>Theranos</a:t>
            </a:r>
            <a:r>
              <a:rPr lang="en-US" dirty="0"/>
              <a:t> lab in Palo Alto and praised Holmes as an inspiration.</a:t>
            </a:r>
          </a:p>
          <a:p>
            <a:r>
              <a:rPr lang="en-US" dirty="0"/>
              <a:t> </a:t>
            </a:r>
          </a:p>
          <a:p>
            <a:r>
              <a:rPr lang="en-US" dirty="0"/>
              <a:t>===</a:t>
            </a:r>
          </a:p>
          <a:p>
            <a:endParaRPr lang="en-US" dirty="0"/>
          </a:p>
          <a:p>
            <a:r>
              <a:rPr lang="en-US" dirty="0" err="1"/>
              <a:t>Theranos</a:t>
            </a:r>
            <a:r>
              <a:rPr lang="en-US" dirty="0"/>
              <a:t> claimed to be able to perform numerous tests for indications of diseases such as diabetes or cancer with just a few drops of blood. In the interviews with company founder Elizabeth Holmes, the number of tests that could supposedly be carried out varied: there was often talk of over 200 and a company profile in US business magazine Inc. in 2015 even spoke of more than 250. However, the “Edison” – the device supposed to carry out the tests – did not deliver what </a:t>
            </a:r>
            <a:r>
              <a:rPr lang="en-US" dirty="0" err="1"/>
              <a:t>Theranos</a:t>
            </a:r>
            <a:r>
              <a:rPr lang="en-US" dirty="0"/>
              <a:t> promised right to the very end, providing unreliable or false results. Only the test for the herpes virus was </a:t>
            </a:r>
            <a:r>
              <a:rPr lang="en-US" dirty="0" err="1"/>
              <a:t>recognised</a:t>
            </a:r>
            <a:r>
              <a:rPr lang="en-US" dirty="0"/>
              <a:t> as reliable by the US Food and Drug Administration (FDA) that July. In order to be able to perform the large number of advertised tests, </a:t>
            </a:r>
            <a:r>
              <a:rPr lang="en-US" dirty="0" err="1"/>
              <a:t>Theranos</a:t>
            </a:r>
            <a:r>
              <a:rPr lang="en-US" dirty="0"/>
              <a:t> obtained third-party equipment from Siemens but this was concealed from patients, business partners and investors. A 2015 FDA inspection also revealed shortcomings in the tests which </a:t>
            </a:r>
            <a:r>
              <a:rPr lang="en-US" dirty="0" err="1"/>
              <a:t>Theranos</a:t>
            </a:r>
            <a:r>
              <a:rPr lang="en-US" dirty="0"/>
              <a:t> only made public a few weeks later. </a:t>
            </a:r>
          </a:p>
          <a:p>
            <a:r>
              <a:rPr lang="en-US" dirty="0"/>
              <a:t>Employees in the laboratory drew attention to the problems with “Edison” and documented them in error reports. Those tips were ignored by company management. Instead of working on a solution to the problem, only the correct data was filtered out of the results of the test runs in the company and further evaluated. The wrong results were ignored. Holmes’ </a:t>
            </a:r>
            <a:r>
              <a:rPr lang="en-US" dirty="0" err="1"/>
              <a:t>parter</a:t>
            </a:r>
            <a:r>
              <a:rPr lang="en-US" dirty="0"/>
              <a:t> Balwani allegedly pressured doubting or critical employees. Former staff members describe the </a:t>
            </a:r>
            <a:r>
              <a:rPr lang="en-US" dirty="0" err="1"/>
              <a:t>Theranos</a:t>
            </a:r>
            <a:r>
              <a:rPr lang="en-US" dirty="0"/>
              <a:t> company culture as a mixture of distrust, psychological pressure and lies. Holmes herself allegedly lied to her co-workers about even minor details, claiming in emails, for example, to be out of the office even though she was still sitting at her desk just a few feet away. Numerous employees resigned or were fired if they asked too many questions or were too critical. </a:t>
            </a:r>
          </a:p>
          <a:p>
            <a:endParaRPr lang="en-US" dirty="0"/>
          </a:p>
          <a:p>
            <a:r>
              <a:rPr lang="en-US" b="1" dirty="0"/>
              <a:t>The whistleblowers</a:t>
            </a:r>
          </a:p>
          <a:p>
            <a:r>
              <a:rPr lang="en-US" dirty="0"/>
              <a:t>Tyler Shultz started working for </a:t>
            </a:r>
            <a:r>
              <a:rPr lang="en-US" dirty="0" err="1"/>
              <a:t>Theranos</a:t>
            </a:r>
            <a:r>
              <a:rPr lang="en-US" dirty="0"/>
              <a:t> in 2013 and he was an enthusiastic follower of Holmes’ vision. He was given a full-time position on the diagnostic team and he soon encountered problems with test results. Despite the erroneous results, reports were being documented in the internal statistics department while data was being altered. Shultz noticed that no one was exactly aware of the way “Edison” worked. Even inspectors were denied access to the laboratory where the machines were installed. This was because blood tests there were not run through </a:t>
            </a:r>
            <a:r>
              <a:rPr lang="en-US" dirty="0" err="1"/>
              <a:t>Theranos</a:t>
            </a:r>
            <a:r>
              <a:rPr lang="en-US" dirty="0"/>
              <a:t>’ own devices but through third-party equipment. </a:t>
            </a:r>
          </a:p>
          <a:p>
            <a:r>
              <a:rPr lang="en-US" dirty="0"/>
              <a:t>Lab assistant Erika Cheung also joined the company because she was excited by Holmes’ vision. Cheung worked in the </a:t>
            </a:r>
            <a:r>
              <a:rPr lang="en-US" dirty="0" err="1"/>
              <a:t>Theranos</a:t>
            </a:r>
            <a:r>
              <a:rPr lang="en-US" dirty="0"/>
              <a:t> lab for six months in 2013 and 2014 before also discovering that faulty test results were bring erased. When she had her own blood tested by a </a:t>
            </a:r>
            <a:r>
              <a:rPr lang="en-US" dirty="0" err="1"/>
              <a:t>Theranos</a:t>
            </a:r>
            <a:r>
              <a:rPr lang="en-US" dirty="0"/>
              <a:t> machine, the results indicated a vitamin D deficiency that conventional tests disproved. She brought the problems to the attention of Balwani but he questioned her competence. After six months at the company, Cheung was so alarmed by what was happening that she resigned. </a:t>
            </a:r>
            <a:r>
              <a:rPr lang="en-US" dirty="0" err="1"/>
              <a:t>Theranos</a:t>
            </a:r>
            <a:r>
              <a:rPr lang="en-US" dirty="0"/>
              <a:t> then began harassing Cheung, hiring private investigators who followed her. She later said she felt so threatened and monitored that she changed residence several times and got a prepaid phone so her calls could not be monitored. </a:t>
            </a:r>
          </a:p>
          <a:p>
            <a:r>
              <a:rPr lang="en-US" dirty="0"/>
              <a:t>Shultz also drew attention to the problems internally. He sought a conversation with Holmes but his concerns were </a:t>
            </a:r>
            <a:r>
              <a:rPr lang="en-US" dirty="0">
                <a:hlinkClick r:id="rId3"/>
              </a:rPr>
              <a:t>not taken seriously</a:t>
            </a:r>
            <a:r>
              <a:rPr lang="en-US" dirty="0"/>
              <a:t>. She refused to grant him a second discussion and asked him to </a:t>
            </a:r>
            <a:r>
              <a:rPr lang="en-US" dirty="0" err="1"/>
              <a:t>summarise</a:t>
            </a:r>
            <a:r>
              <a:rPr lang="en-US" dirty="0"/>
              <a:t> his observations in an email. The reply did not come from Holmes but from her partner Balwani who insulted and threatened Shultz in the email. He then turned to his grandfather, former Secretary of State George Shultz who sat on the board of </a:t>
            </a:r>
            <a:r>
              <a:rPr lang="en-US" dirty="0" err="1"/>
              <a:t>Theranos</a:t>
            </a:r>
            <a:r>
              <a:rPr lang="en-US" dirty="0"/>
              <a:t>, who refused to believe him at first. Tyler Shultz was advised to quit the company by his family and the situation culminated in a meeting at his grandfather’s house where </a:t>
            </a:r>
            <a:r>
              <a:rPr lang="en-US" dirty="0" err="1"/>
              <a:t>Theranos</a:t>
            </a:r>
            <a:r>
              <a:rPr lang="en-US" dirty="0"/>
              <a:t> lawyers urged him to sign a confidentiality agreement. He refused. </a:t>
            </a:r>
          </a:p>
          <a:p>
            <a:r>
              <a:rPr lang="en-US" dirty="0"/>
              <a:t>Like Shultz, Cheung was also pressured by company lawyers. After a Wall Street Journal reporter named John Carreyrou contacted her, she received a threatening legal action from </a:t>
            </a:r>
            <a:r>
              <a:rPr lang="en-US" dirty="0" err="1"/>
              <a:t>Theranos</a:t>
            </a:r>
            <a:r>
              <a:rPr lang="en-US" dirty="0"/>
              <a:t>’ high-profile corporate lawyer. </a:t>
            </a:r>
          </a:p>
          <a:p>
            <a:r>
              <a:rPr lang="en-US" dirty="0"/>
              <a:t>In 2015, Cheung wrote a letter to the Centers for Medicare &amp; Medicaid Services (CMS), the regulatory agency, exposing the problems at the </a:t>
            </a:r>
            <a:r>
              <a:rPr lang="en-US" dirty="0" err="1"/>
              <a:t>Theranos</a:t>
            </a:r>
            <a:r>
              <a:rPr lang="en-US" dirty="0"/>
              <a:t> lab. The agency then undertook a surprise inspection of the start-up’s labs which uncovered numerous violations. Tyler Shultz, meanwhile, did not turn to the authorities but to reporter Carreyrou. With the help of Shultz’s information and his own research, Carreyrou published an internal article in October 2015 revealing that </a:t>
            </a:r>
            <a:r>
              <a:rPr lang="en-US" dirty="0" err="1"/>
              <a:t>Theranos</a:t>
            </a:r>
            <a:r>
              <a:rPr lang="en-US" dirty="0"/>
              <a:t> was not using its own machines for the blood tests and that the “Edison” device provided unreliable results. </a:t>
            </a:r>
            <a:r>
              <a:rPr lang="en-US" dirty="0" err="1"/>
              <a:t>Theranos</a:t>
            </a:r>
            <a:r>
              <a:rPr lang="en-US" dirty="0"/>
              <a:t> denied all the allegations as false while threatening Carreyrou and Shultz with lawsuits. </a:t>
            </a:r>
          </a:p>
          <a:p>
            <a:r>
              <a:rPr lang="en-US" dirty="0"/>
              <a:t>The drugstore chain Walgreens temporarily stopped working with </a:t>
            </a:r>
            <a:r>
              <a:rPr lang="en-US" dirty="0" err="1"/>
              <a:t>Theranos</a:t>
            </a:r>
            <a:r>
              <a:rPr lang="en-US" dirty="0"/>
              <a:t>. In January 2016, after unreliable results in the detection of a blood thinner, the state regulator CMS warned that </a:t>
            </a:r>
            <a:r>
              <a:rPr lang="en-US" dirty="0" err="1"/>
              <a:t>Theranos</a:t>
            </a:r>
            <a:r>
              <a:rPr lang="en-US" dirty="0"/>
              <a:t> tests endangered patient health. Three months later, law enforcement and the Financial Industry Regulatory Authority (SEC) began investigating </a:t>
            </a:r>
            <a:r>
              <a:rPr lang="en-US" dirty="0" err="1"/>
              <a:t>Theranos</a:t>
            </a:r>
            <a:r>
              <a:rPr lang="en-US" dirty="0"/>
              <a:t>. Balwani, who had run the company’s day-to-day operations, left the </a:t>
            </a:r>
            <a:r>
              <a:rPr lang="en-US" dirty="0" err="1"/>
              <a:t>organisation</a:t>
            </a:r>
            <a:r>
              <a:rPr lang="en-US" dirty="0"/>
              <a:t>. </a:t>
            </a:r>
          </a:p>
          <a:p>
            <a:r>
              <a:rPr lang="en-US" dirty="0"/>
              <a:t>Walgreens and other partners sued </a:t>
            </a:r>
            <a:r>
              <a:rPr lang="en-US" dirty="0" err="1"/>
              <a:t>Theranos</a:t>
            </a:r>
            <a:r>
              <a:rPr lang="en-US" dirty="0"/>
              <a:t> and the case ended in a settlement in 2017. In early 2018, the SEC announced charges against Elizabeth Holmes and her business partner Balwani. Holmes had to resign from her position as CEO and she was banned from running a publicly traded company for the next ten years. In June 2018, California law enforcement filed charges against both Holmes and Balwani. </a:t>
            </a:r>
            <a:r>
              <a:rPr lang="en-US" dirty="0" err="1"/>
              <a:t>Theranos</a:t>
            </a:r>
            <a:r>
              <a:rPr lang="en-US" dirty="0"/>
              <a:t> was shut down in September of the same year. </a:t>
            </a:r>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307763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dropping out of Stanford, Holmes used the money her parents had saved for her education as seed money for </a:t>
            </a:r>
            <a:r>
              <a:rPr lang="en-US" dirty="0" err="1"/>
              <a:t>Theranos</a:t>
            </a:r>
            <a:r>
              <a:rPr lang="en-US" dirty="0"/>
              <a:t>. She convinced her Stanford professor, Channing Robertson, of her idea and recruited him as the first board member. Robertson put Holmes in touch with venture capitalists and she had raised $6 million in capital by the end of 2004. Initially, the company operated in “stealth mode” without a corporate website or press releases. Although Holmes entered the limelight in 2013 and quickly turned into a media star, the aura of mystery surrounding </a:t>
            </a:r>
            <a:r>
              <a:rPr lang="en-US" dirty="0" err="1"/>
              <a:t>Theranos</a:t>
            </a:r>
            <a:r>
              <a:rPr lang="en-US" dirty="0"/>
              <a:t> would persist until the company’s fall. </a:t>
            </a:r>
          </a:p>
          <a:p>
            <a:r>
              <a:rPr lang="en-US" dirty="0"/>
              <a:t>Holmes is said to have worshipped and emulated Apple founder Steve Jobs. She hired Apple designers for the product design of the laboratory’s “Edison” device and she soon appeared wearing only black turtlenecks. Holmes also began to speak with a deeper voice. </a:t>
            </a:r>
          </a:p>
          <a:p>
            <a:r>
              <a:rPr lang="en-US" dirty="0"/>
              <a:t>She went public with this image in 2013. Two years later, the company entered into a partnership with US drugstore chain “Walgreens” whereby the company’s tests would be offered in more than 40 shops. Holmes promised that </a:t>
            </a:r>
            <a:r>
              <a:rPr lang="en-US" dirty="0" err="1"/>
              <a:t>Theranos</a:t>
            </a:r>
            <a:r>
              <a:rPr lang="en-US" dirty="0"/>
              <a:t> blood tests would soon be available within 5 miles of every American household. She claimed to investors and business partners that the tests were being used by the US military in their medivac helicopters, a claim she only recanted when questioned by investigators under oath. </a:t>
            </a:r>
          </a:p>
          <a:p>
            <a:r>
              <a:rPr lang="en-US" dirty="0"/>
              <a:t>Holmes became a media star and celebrated visionary, appearing on the cover of Fortune, Forbes and Inc. In 2015, </a:t>
            </a:r>
            <a:r>
              <a:rPr lang="en-US" dirty="0" err="1"/>
              <a:t>Theranos</a:t>
            </a:r>
            <a:r>
              <a:rPr lang="en-US" dirty="0"/>
              <a:t> was valued at $9 billion and with Holmes considered the youngest self-made billionaires in the US, she landed on Time magazine’s list of the 100 most influential people. That same year, then Vice President Joe Biden visited the </a:t>
            </a:r>
            <a:r>
              <a:rPr lang="en-US" dirty="0" err="1"/>
              <a:t>Theranos</a:t>
            </a:r>
            <a:r>
              <a:rPr lang="en-US" dirty="0"/>
              <a:t> lab in Palo Alto and praised Holmes as an inspiration.</a:t>
            </a:r>
          </a:p>
          <a:p>
            <a:r>
              <a:rPr lang="en-US" dirty="0"/>
              <a:t> </a:t>
            </a:r>
          </a:p>
          <a:p>
            <a:r>
              <a:rPr lang="en-US" dirty="0"/>
              <a:t>===</a:t>
            </a:r>
          </a:p>
          <a:p>
            <a:endParaRPr lang="en-US" dirty="0"/>
          </a:p>
          <a:p>
            <a:r>
              <a:rPr lang="en-US" dirty="0" err="1"/>
              <a:t>Theranos</a:t>
            </a:r>
            <a:r>
              <a:rPr lang="en-US" dirty="0"/>
              <a:t> claimed to be able to perform numerous tests for indications of diseases such as diabetes or cancer with just a few drops of blood. In the interviews with company founder Elizabeth Holmes, the number of tests that could supposedly be carried out varied: there was often talk of over 200 and a company profile in US business magazine Inc. in 2015 even spoke of more than 250. However, the “Edison” – the device supposed to carry out the tests – did not deliver what </a:t>
            </a:r>
            <a:r>
              <a:rPr lang="en-US" dirty="0" err="1"/>
              <a:t>Theranos</a:t>
            </a:r>
            <a:r>
              <a:rPr lang="en-US" dirty="0"/>
              <a:t> promised right to the very end, providing unreliable or false results. Only the test for the herpes virus was </a:t>
            </a:r>
            <a:r>
              <a:rPr lang="en-US" dirty="0" err="1"/>
              <a:t>recognised</a:t>
            </a:r>
            <a:r>
              <a:rPr lang="en-US" dirty="0"/>
              <a:t> as reliable by the US Food and Drug Administration (FDA) that July. In order to be able to perform the large number of advertised tests, </a:t>
            </a:r>
            <a:r>
              <a:rPr lang="en-US" dirty="0" err="1"/>
              <a:t>Theranos</a:t>
            </a:r>
            <a:r>
              <a:rPr lang="en-US" dirty="0"/>
              <a:t> obtained third-party equipment from Siemens but this was concealed from patients, business partners and investors. A 2015 FDA inspection also revealed shortcomings in the tests which </a:t>
            </a:r>
            <a:r>
              <a:rPr lang="en-US" dirty="0" err="1"/>
              <a:t>Theranos</a:t>
            </a:r>
            <a:r>
              <a:rPr lang="en-US" dirty="0"/>
              <a:t> only made public a few weeks later. </a:t>
            </a:r>
          </a:p>
          <a:p>
            <a:r>
              <a:rPr lang="en-US" dirty="0"/>
              <a:t>Employees in the laboratory drew attention to the problems with “Edison” and documented them in error reports. Those tips were ignored by company management. Instead of working on a solution to the problem, only the correct data was filtered out of the results of the test runs in the company and further evaluated. The wrong results were ignored. Holmes’ </a:t>
            </a:r>
            <a:r>
              <a:rPr lang="en-US" dirty="0" err="1"/>
              <a:t>parter</a:t>
            </a:r>
            <a:r>
              <a:rPr lang="en-US" dirty="0"/>
              <a:t> Balwani allegedly pressured doubting or critical employees. Former staff members describe the </a:t>
            </a:r>
            <a:r>
              <a:rPr lang="en-US" dirty="0" err="1"/>
              <a:t>Theranos</a:t>
            </a:r>
            <a:r>
              <a:rPr lang="en-US" dirty="0"/>
              <a:t> company culture as a mixture of distrust, psychological pressure and lies. Holmes herself allegedly lied to her co-workers about even minor details, claiming in emails, for example, to be out of the office even though she was still sitting at her desk just a few feet away. Numerous employees resigned or were fired if they asked too many questions or were too critical. </a:t>
            </a:r>
          </a:p>
          <a:p>
            <a:endParaRPr lang="en-US" dirty="0"/>
          </a:p>
          <a:p>
            <a:r>
              <a:rPr lang="en-US" b="1" dirty="0"/>
              <a:t>The whistleblowers</a:t>
            </a:r>
          </a:p>
          <a:p>
            <a:r>
              <a:rPr lang="en-US" dirty="0"/>
              <a:t>Tyler Shultz started working for </a:t>
            </a:r>
            <a:r>
              <a:rPr lang="en-US" dirty="0" err="1"/>
              <a:t>Theranos</a:t>
            </a:r>
            <a:r>
              <a:rPr lang="en-US" dirty="0"/>
              <a:t> in 2013 and he was an enthusiastic follower of Holmes’ vision. He was given a full-time position on the diagnostic team and he soon encountered problems with test results. Despite the erroneous results, reports were being documented in the internal statistics department while data was being altered. Shultz noticed that no one was exactly aware of the way “Edison” worked. Even inspectors were denied access to the laboratory where the machines were installed. This was because blood tests there were not run through </a:t>
            </a:r>
            <a:r>
              <a:rPr lang="en-US" dirty="0" err="1"/>
              <a:t>Theranos</a:t>
            </a:r>
            <a:r>
              <a:rPr lang="en-US" dirty="0"/>
              <a:t>’ own devices but through third-party equipment. </a:t>
            </a:r>
          </a:p>
          <a:p>
            <a:r>
              <a:rPr lang="en-US" dirty="0"/>
              <a:t>Lab assistant Erika Cheung also joined the company because she was excited by Holmes’ vision. Cheung worked in the </a:t>
            </a:r>
            <a:r>
              <a:rPr lang="en-US" dirty="0" err="1"/>
              <a:t>Theranos</a:t>
            </a:r>
            <a:r>
              <a:rPr lang="en-US" dirty="0"/>
              <a:t> lab for six months in 2013 and 2014 before also discovering that faulty test results were bring erased. When she had her own blood tested by a </a:t>
            </a:r>
            <a:r>
              <a:rPr lang="en-US" dirty="0" err="1"/>
              <a:t>Theranos</a:t>
            </a:r>
            <a:r>
              <a:rPr lang="en-US" dirty="0"/>
              <a:t> machine, the results indicated a vitamin D deficiency that conventional tests disproved. She brought the problems to the attention of Balwani but he questioned her competence. After six months at the company, Cheung was so alarmed by what was happening that she resigned. </a:t>
            </a:r>
            <a:r>
              <a:rPr lang="en-US" dirty="0" err="1"/>
              <a:t>Theranos</a:t>
            </a:r>
            <a:r>
              <a:rPr lang="en-US" dirty="0"/>
              <a:t> then began harassing Cheung, hiring private investigators who followed her. She later said she felt so threatened and monitored that she changed residence several times and got a prepaid phone so her calls could not be monitored. </a:t>
            </a:r>
          </a:p>
          <a:p>
            <a:r>
              <a:rPr lang="en-US" dirty="0"/>
              <a:t>Shultz also drew attention to the problems internally. He sought a conversation with Holmes but his concerns were </a:t>
            </a:r>
            <a:r>
              <a:rPr lang="en-US" dirty="0">
                <a:hlinkClick r:id="rId3"/>
              </a:rPr>
              <a:t>not taken seriously</a:t>
            </a:r>
            <a:r>
              <a:rPr lang="en-US" dirty="0"/>
              <a:t>. She refused to grant him a second discussion and asked him to </a:t>
            </a:r>
            <a:r>
              <a:rPr lang="en-US" dirty="0" err="1"/>
              <a:t>summarise</a:t>
            </a:r>
            <a:r>
              <a:rPr lang="en-US" dirty="0"/>
              <a:t> his observations in an email. The reply did not come from Holmes but from her partner Balwani who insulted and threatened Shultz in the email. He then turned to his grandfather, former Secretary of State George Shultz who sat on the board of </a:t>
            </a:r>
            <a:r>
              <a:rPr lang="en-US" dirty="0" err="1"/>
              <a:t>Theranos</a:t>
            </a:r>
            <a:r>
              <a:rPr lang="en-US" dirty="0"/>
              <a:t>, who refused to believe him at first. Tyler Shultz was advised to quit the company by his family and the situation culminated in a meeting at his grandfather’s house where </a:t>
            </a:r>
            <a:r>
              <a:rPr lang="en-US" dirty="0" err="1"/>
              <a:t>Theranos</a:t>
            </a:r>
            <a:r>
              <a:rPr lang="en-US" dirty="0"/>
              <a:t> lawyers urged him to sign a confidentiality agreement. He refused. </a:t>
            </a:r>
          </a:p>
          <a:p>
            <a:r>
              <a:rPr lang="en-US" dirty="0"/>
              <a:t>Like Shultz, Cheung was also pressured by company lawyers. After a Wall Street Journal reporter named John Carreyrou contacted her, she received a threatening legal action from </a:t>
            </a:r>
            <a:r>
              <a:rPr lang="en-US" dirty="0" err="1"/>
              <a:t>Theranos</a:t>
            </a:r>
            <a:r>
              <a:rPr lang="en-US" dirty="0"/>
              <a:t>’ high-profile corporate lawyer. </a:t>
            </a:r>
          </a:p>
          <a:p>
            <a:r>
              <a:rPr lang="en-US" dirty="0"/>
              <a:t>In 2015, Cheung wrote a letter to the Centers for Medicare &amp; Medicaid Services (CMS), the regulatory agency, exposing the problems at the </a:t>
            </a:r>
            <a:r>
              <a:rPr lang="en-US" dirty="0" err="1"/>
              <a:t>Theranos</a:t>
            </a:r>
            <a:r>
              <a:rPr lang="en-US" dirty="0"/>
              <a:t> lab. The agency then undertook a surprise inspection of the start-up’s labs which uncovered numerous violations. Tyler Shultz, meanwhile, did not turn to the authorities but to reporter Carreyrou. With the help of Shultz’s information and his own research, Carreyrou published an internal article in October 2015 revealing that </a:t>
            </a:r>
            <a:r>
              <a:rPr lang="en-US" dirty="0" err="1"/>
              <a:t>Theranos</a:t>
            </a:r>
            <a:r>
              <a:rPr lang="en-US" dirty="0"/>
              <a:t> was not using its own machines for the blood tests and that the “Edison” device provided unreliable results. </a:t>
            </a:r>
            <a:r>
              <a:rPr lang="en-US" dirty="0" err="1"/>
              <a:t>Theranos</a:t>
            </a:r>
            <a:r>
              <a:rPr lang="en-US" dirty="0"/>
              <a:t> denied all the allegations as false while threatening Carreyrou and Shultz with lawsuits. </a:t>
            </a:r>
          </a:p>
          <a:p>
            <a:r>
              <a:rPr lang="en-US" dirty="0"/>
              <a:t>The drugstore chain Walgreens temporarily stopped working with </a:t>
            </a:r>
            <a:r>
              <a:rPr lang="en-US" dirty="0" err="1"/>
              <a:t>Theranos</a:t>
            </a:r>
            <a:r>
              <a:rPr lang="en-US" dirty="0"/>
              <a:t>. In January 2016, after unreliable results in the detection of a blood thinner, the state regulator CMS warned that </a:t>
            </a:r>
            <a:r>
              <a:rPr lang="en-US" dirty="0" err="1"/>
              <a:t>Theranos</a:t>
            </a:r>
            <a:r>
              <a:rPr lang="en-US" dirty="0"/>
              <a:t> tests endangered patient health. Three months later, law enforcement and the Financial Industry Regulatory Authority (SEC) began investigating </a:t>
            </a:r>
            <a:r>
              <a:rPr lang="en-US" dirty="0" err="1"/>
              <a:t>Theranos</a:t>
            </a:r>
            <a:r>
              <a:rPr lang="en-US" dirty="0"/>
              <a:t>. Balwani, who had run the company’s day-to-day operations, left the </a:t>
            </a:r>
            <a:r>
              <a:rPr lang="en-US" dirty="0" err="1"/>
              <a:t>organisation</a:t>
            </a:r>
            <a:r>
              <a:rPr lang="en-US" dirty="0"/>
              <a:t>. </a:t>
            </a:r>
          </a:p>
          <a:p>
            <a:r>
              <a:rPr lang="en-US" dirty="0"/>
              <a:t>Walgreens and other partners sued </a:t>
            </a:r>
            <a:r>
              <a:rPr lang="en-US" dirty="0" err="1"/>
              <a:t>Theranos</a:t>
            </a:r>
            <a:r>
              <a:rPr lang="en-US" dirty="0"/>
              <a:t> and the case ended in a settlement in 2017. In early 2018, the SEC announced charges against Elizabeth Holmes and her business partner Balwani. Holmes had to resign from her position as CEO and she was banned from running a publicly traded company for the next ten years. In June 2018, California law enforcement filed charges against both Holmes and Balwani. </a:t>
            </a:r>
            <a:r>
              <a:rPr lang="en-US" dirty="0" err="1"/>
              <a:t>Theranos</a:t>
            </a:r>
            <a:r>
              <a:rPr lang="en-US" dirty="0"/>
              <a:t> was shut down in September of the same year. </a:t>
            </a:r>
          </a:p>
          <a:p>
            <a:endParaRPr lang="en-US"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4084729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George Shultz was on the </a:t>
            </a:r>
            <a:r>
              <a:rPr lang="en-US" dirty="0" err="1"/>
              <a:t>Theranos</a:t>
            </a:r>
            <a:r>
              <a:rPr lang="en-US" dirty="0"/>
              <a:t> Board of Directors and had asked Holmes to offer Tyler Shultz a job opportunity. Shortly afterward, Tyler Shultz joined </a:t>
            </a:r>
            <a:r>
              <a:rPr lang="en-US" dirty="0" err="1"/>
              <a:t>Theranos</a:t>
            </a:r>
            <a:r>
              <a:rPr lang="en-US" dirty="0"/>
              <a:t> as an intern and was soon working full-time as a research engineer.</a:t>
            </a:r>
          </a:p>
          <a:p>
            <a:endParaRPr lang="en-US" dirty="0"/>
          </a:p>
          <a:p>
            <a:r>
              <a:rPr lang="en-US" dirty="0"/>
              <a:t>During his eight months at </a:t>
            </a:r>
            <a:r>
              <a:rPr lang="en-US" dirty="0" err="1"/>
              <a:t>Theranos</a:t>
            </a:r>
            <a:r>
              <a:rPr lang="en-US" dirty="0"/>
              <a:t>, he worked closely with Erika Cheung.</a:t>
            </a:r>
          </a:p>
          <a:p>
            <a:r>
              <a:rPr lang="en-US" dirty="0"/>
              <a:t>Together, they discovered </a:t>
            </a:r>
            <a:r>
              <a:rPr lang="en-US" dirty="0" err="1"/>
              <a:t>Theranos</a:t>
            </a:r>
            <a:r>
              <a:rPr lang="en-US" dirty="0"/>
              <a:t> had been removing outliers from its data, and therefore not producing accurate results and running blood samples in a secret lab, using commercially available machines, not the </a:t>
            </a:r>
            <a:r>
              <a:rPr lang="en-US" dirty="0" err="1"/>
              <a:t>Theranos</a:t>
            </a:r>
            <a:r>
              <a:rPr lang="en-US" dirty="0"/>
              <a:t> Edison Machine it had told investors and patients it was using.</a:t>
            </a:r>
          </a:p>
          <a:p>
            <a:endParaRPr lang="en-US" dirty="0"/>
          </a:p>
          <a:p>
            <a:r>
              <a:rPr lang="en-US" dirty="0"/>
              <a:t>As seen in </a:t>
            </a:r>
            <a:r>
              <a:rPr lang="en-US" i="1" dirty="0"/>
              <a:t>The Dropout,</a:t>
            </a:r>
            <a:r>
              <a:rPr lang="en-US" dirty="0"/>
              <a:t> Tyler Shultz did tell Holmes about what he witnessed but it fell on deaf ears. He resigned from </a:t>
            </a:r>
            <a:r>
              <a:rPr lang="en-US" dirty="0" err="1"/>
              <a:t>Theranos</a:t>
            </a:r>
            <a:r>
              <a:rPr lang="en-US" dirty="0"/>
              <a:t> soon after and would become one of the company's biggest whistleblowers, at just 22 years old.</a:t>
            </a:r>
          </a:p>
          <a:p>
            <a:r>
              <a:rPr lang="en-US" dirty="0"/>
              <a:t>Using an alias, Shultz also contacted New York state regulators about the failures of </a:t>
            </a:r>
            <a:r>
              <a:rPr lang="en-US" dirty="0" err="1"/>
              <a:t>Theranos</a:t>
            </a:r>
            <a:r>
              <a:rPr lang="en-US" dirty="0"/>
              <a:t>' blood-testing device.</a:t>
            </a:r>
          </a:p>
          <a:p>
            <a:r>
              <a:rPr lang="en-US" dirty="0"/>
              <a:t>He also contacted John Carreyrou of the </a:t>
            </a:r>
            <a:r>
              <a:rPr lang="en-US" i="1" dirty="0"/>
              <a:t>Wall Street Journal</a:t>
            </a:r>
            <a:r>
              <a:rPr lang="en-US" dirty="0"/>
              <a:t>, and became a key source in exposing </a:t>
            </a:r>
            <a:r>
              <a:rPr lang="en-US" dirty="0" err="1"/>
              <a:t>Theranos</a:t>
            </a:r>
            <a:r>
              <a:rPr lang="en-US" dirty="0"/>
              <a:t>' failings. Carreyrou's 2015 article and several articles thereafter served as the catalyst for bringing down </a:t>
            </a:r>
            <a:r>
              <a:rPr lang="en-US" dirty="0" err="1"/>
              <a:t>Theranos</a:t>
            </a:r>
            <a:r>
              <a:rPr lang="en-US" dirty="0"/>
              <a:t>.</a:t>
            </a:r>
          </a:p>
          <a:p>
            <a:endParaRPr lang="en-US" dirty="0"/>
          </a:p>
          <a:p>
            <a:r>
              <a:rPr lang="en-US" dirty="0"/>
              <a:t>===</a:t>
            </a:r>
          </a:p>
          <a:p>
            <a:endParaRPr lang="en-US" dirty="0"/>
          </a:p>
          <a:p>
            <a:r>
              <a:rPr lang="en-US" dirty="0"/>
              <a:t>Erika Cheung</a:t>
            </a:r>
          </a:p>
          <a:p>
            <a:endParaRPr lang="en-US" dirty="0"/>
          </a:p>
          <a:p>
            <a:r>
              <a:rPr lang="en-US" dirty="0"/>
              <a:t>But Ms. Cheung’s excitement faded after she witnessed actions she disagreed with in </a:t>
            </a:r>
            <a:r>
              <a:rPr lang="en-US" dirty="0" err="1"/>
              <a:t>Theranos’s</a:t>
            </a:r>
            <a:r>
              <a:rPr lang="en-US" dirty="0"/>
              <a:t> lab, she said. In some cases, outlier results of the blood tests were deleted to ensure that </a:t>
            </a:r>
            <a:r>
              <a:rPr lang="en-US" dirty="0" err="1"/>
              <a:t>Theranos’s</a:t>
            </a:r>
            <a:r>
              <a:rPr lang="en-US" dirty="0"/>
              <a:t> technology passed quality control tests. Ms. Cheung was also alarmed when she donated her own blood to </a:t>
            </a:r>
            <a:r>
              <a:rPr lang="en-US" dirty="0" err="1"/>
              <a:t>Theranos</a:t>
            </a:r>
            <a:r>
              <a:rPr lang="en-US" dirty="0"/>
              <a:t> and tests on the company’s machines said she had a vitamin D deficiency but traditional tests did not, she testified.</a:t>
            </a:r>
          </a:p>
          <a:p>
            <a:r>
              <a:rPr lang="en-US" dirty="0"/>
              <a:t>Ms. Cheung, who viewed a menu of around 90 blood tests offered by </a:t>
            </a:r>
            <a:r>
              <a:rPr lang="en-US" dirty="0" err="1"/>
              <a:t>Theranos</a:t>
            </a:r>
            <a:r>
              <a:rPr lang="en-US" dirty="0"/>
              <a:t>, said that despite Ms. Holmes’s promises about the Edison machines, they could process only a handful of the tests listed. The rest had to be done by traditional blood analyzers or sent out to a diagnostic company, she said.</a:t>
            </a:r>
          </a:p>
          <a:p>
            <a:r>
              <a:rPr lang="en-US" dirty="0"/>
              <a:t>Ultimately, Ms. Cheung resigned over her misgivings about </a:t>
            </a:r>
            <a:r>
              <a:rPr lang="en-US" dirty="0" err="1"/>
              <a:t>Theranos’s</a:t>
            </a:r>
            <a:r>
              <a:rPr lang="en-US" dirty="0"/>
              <a:t> testing services.</a:t>
            </a:r>
          </a:p>
          <a:p>
            <a:r>
              <a:rPr lang="en-US" dirty="0"/>
              <a:t>“I was uncomfortable processing patient samples,” she said. “I did not think the technology we were using was adequate enough to be engaging in that behavior.”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Lab assistant Erika Cheung also joined the company because she was excited by Holmes’ vision. Cheung worked in the </a:t>
            </a:r>
            <a:r>
              <a:rPr lang="en-US" dirty="0" err="1"/>
              <a:t>Theranos</a:t>
            </a:r>
            <a:r>
              <a:rPr lang="en-US" dirty="0"/>
              <a:t> lab for six months in 2013 and 2014 before also discovering that faulty test results were bring erased. When she had her own blood tested by a </a:t>
            </a:r>
            <a:r>
              <a:rPr lang="en-US" dirty="0" err="1"/>
              <a:t>Theranos</a:t>
            </a:r>
            <a:r>
              <a:rPr lang="en-US" dirty="0"/>
              <a:t> machine, the results indicated a vitamin D deficiency that conventional tests disproved. She brought the problems to the attention of Balwani but he questioned her competence. After six months at the company, Cheung was so alarmed by what was happening that she resigned. </a:t>
            </a:r>
            <a:r>
              <a:rPr lang="en-US" dirty="0" err="1"/>
              <a:t>Theranos</a:t>
            </a:r>
            <a:r>
              <a:rPr lang="en-US" dirty="0"/>
              <a:t> then began harassing Cheung, hiring private investigators who followed her. She later said she felt so threatened and monitored that she changed residence several times and got a prepaid phone so her calls could not be monitored. </a:t>
            </a:r>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3689368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https://www.ft.com/content/73e48574-673a-4725-9b78-ba940a8060f5</a:t>
            </a:r>
          </a:p>
          <a:p>
            <a:endParaRPr lang="en-US" dirty="0"/>
          </a:p>
          <a:p>
            <a:r>
              <a:rPr lang="en-US" dirty="0"/>
              <a:t>Please use the sharing tools found via the share button at the top or side of articles. Copying articles to share with others is a breach of </a:t>
            </a:r>
            <a:r>
              <a:rPr lang="en-US" dirty="0">
                <a:hlinkClick r:id="rId3"/>
              </a:rPr>
              <a:t>FT.com</a:t>
            </a:r>
            <a:r>
              <a:rPr lang="en-US" dirty="0"/>
              <a:t> </a:t>
            </a:r>
            <a:r>
              <a:rPr lang="en-US" dirty="0" err="1">
                <a:hlinkClick r:id="rId4"/>
              </a:rPr>
              <a:t>T&amp;Cs</a:t>
            </a:r>
            <a:r>
              <a:rPr lang="en-US" dirty="0"/>
              <a:t> and </a:t>
            </a:r>
            <a:r>
              <a:rPr lang="en-US" dirty="0">
                <a:hlinkClick r:id="rId5"/>
              </a:rPr>
              <a:t>Copyright Policy</a:t>
            </a:r>
            <a:r>
              <a:rPr lang="en-US" dirty="0"/>
              <a:t>. Email </a:t>
            </a:r>
            <a:r>
              <a:rPr lang="en-US" dirty="0">
                <a:hlinkClick r:id="rId6"/>
              </a:rPr>
              <a:t>licensing@ft.com</a:t>
            </a:r>
            <a:r>
              <a:rPr lang="en-US" dirty="0"/>
              <a:t> to buy additional rights. Subscribers may share up to 10 or 20 articles per month using the gift article service. More information can be </a:t>
            </a:r>
            <a:r>
              <a:rPr lang="en-US" dirty="0">
                <a:hlinkClick r:id="rId7"/>
              </a:rPr>
              <a:t>found here</a:t>
            </a:r>
            <a:r>
              <a:rPr lang="en-US" dirty="0"/>
              <a:t>. </a:t>
            </a:r>
            <a:br>
              <a:rPr lang="en-US" dirty="0"/>
            </a:br>
            <a:r>
              <a:rPr lang="en-US" dirty="0">
                <a:hlinkClick r:id="rId8"/>
              </a:rPr>
              <a:t>https://www.ft.com/content/73e48574-673a-4725-9b78-ba940a8060f5</a:t>
            </a:r>
            <a:br>
              <a:rPr lang="en-US" dirty="0"/>
            </a:br>
            <a:br>
              <a:rPr lang="en-US" dirty="0"/>
            </a:br>
            <a:r>
              <a:rPr lang="en-US" dirty="0"/>
              <a:t>UK accountancy firms were fined a record £46.5mn last year, according to data released on Thursday, with more than half of the total levied against KPMG after its involvement in a series of audit failures and misconduct scandals. The figures underline the depth of the problems at KPMG, which audits more FTSE 100 companies than any other firm and has been battling to clear a backlog of investigations into its work. Fines across the industry rose to £46.5mn before discounts for admissions and settlements compared with £16.7mn a year earlier, according to data from the Financial Reporting Council. This eclipsed the previous record of £42.9mn from the year up to March 2019. The level of fines after discounts, which are granted by the </a:t>
            </a:r>
            <a:r>
              <a:rPr lang="en-US" dirty="0" err="1"/>
              <a:t>FRC</a:t>
            </a:r>
            <a:r>
              <a:rPr lang="en-US" dirty="0"/>
              <a:t> to encourage firms to co-operate with its investigations, set a new high of £34.6mn. KPMG received four fines, more than any other firm, resulting in penalties of £23.9mn against the group and its partners, reduced to £21mn after discounts. It was also ordered to pay millions of pounds to cover the costs of the </a:t>
            </a:r>
            <a:r>
              <a:rPr lang="en-US" dirty="0" err="1"/>
              <a:t>FRC’s</a:t>
            </a:r>
            <a:r>
              <a:rPr lang="en-US" dirty="0"/>
              <a:t> investigations. The largest penalty against KPMG was a £13mn fine over a conflict of interest when it advised on the restructuring and sale of mattress company Silentnight in 2011 to a private equity group that it was trying to attract as a client. It was also fined over its audits of Rolls-Royce, Conviviality and Revolution Bars. The figures exclude the £14.4mn fine imposed on KPMG this week, its largest ever in the UK, after an industry tribunal found its auditors had misled inspectors examining its audit of the 2016 accounts of Carillion, the collapsed outsourcer, and the 2014 accounts of UK company </a:t>
            </a:r>
            <a:r>
              <a:rPr lang="en-US" dirty="0" err="1"/>
              <a:t>Regenersis</a:t>
            </a:r>
            <a:r>
              <a:rPr lang="en-US" dirty="0"/>
              <a:t>. KPMG said last week that a sharp improvement in its scores in the </a:t>
            </a:r>
            <a:r>
              <a:rPr lang="en-US" dirty="0" err="1"/>
              <a:t>FRC’s</a:t>
            </a:r>
            <a:r>
              <a:rPr lang="en-US" dirty="0"/>
              <a:t> annual inspections of audit quality showed its strategy was working. The watchdog welcomed the improvement but said it was “not yet a trend”. Among the other firms, Grant Thornton was fined three times, including over its auditing of Patisserie Valerie, the café chain that collapsed due to a suspected fraud in 2019. The UK’s sixth-largest audit firm by revenue was also fined over its audits of failed government contractor Interserve and retailer Sports Direct, now called Frasers Group. PwC was fined over its audits of construction groups Kier and </a:t>
            </a:r>
            <a:r>
              <a:rPr lang="en-US" dirty="0" err="1"/>
              <a:t>Galliford</a:t>
            </a:r>
            <a:r>
              <a:rPr lang="en-US" dirty="0"/>
              <a:t> Try, while EY and Deloitte were </a:t>
            </a:r>
            <a:r>
              <a:rPr lang="en-US" dirty="0" err="1"/>
              <a:t>penalised</a:t>
            </a:r>
            <a:r>
              <a:rPr lang="en-US" dirty="0"/>
              <a:t> once each. All of the firms to receive fines reported increased profits in their most recent results, helped by booming demand for consulting and deals advice and rising audit prices. The number of non-financial sanctions imposed by the </a:t>
            </a:r>
            <a:r>
              <a:rPr lang="en-US" dirty="0" err="1"/>
              <a:t>FRC</a:t>
            </a:r>
            <a:r>
              <a:rPr lang="en-US" dirty="0"/>
              <a:t> such as reprimands, exclusion from the profession or remedial actions, more than doubled to 62 in the year to March. Recommended Helen Thomas The rising risk of ‘audit orphans’ in a dysfunctional UK market Pastries on display in the window of a Patisserie Valerie cake store “High-quality financial reporting and audit are vital to provide users of financial statements with confidence in the accuracy of those statements and to uphold trust in corporate Britain,” said Elizabeth Barrett, </a:t>
            </a:r>
            <a:r>
              <a:rPr lang="en-US" dirty="0" err="1"/>
              <a:t>FRC</a:t>
            </a:r>
            <a:r>
              <a:rPr lang="en-US" dirty="0"/>
              <a:t> executive director of enforcement. The increase in non-financial sanctions “reflects the ongoing emphasis placed on identifying the underlying causes of failure and effecting long-term positive change”, she said. The number of people working in the </a:t>
            </a:r>
            <a:r>
              <a:rPr lang="en-US" dirty="0" err="1"/>
              <a:t>FRC’s</a:t>
            </a:r>
            <a:r>
              <a:rPr lang="en-US" dirty="0"/>
              <a:t> enforcement division rose by more than a fifth to 64 in the year to March. The regulator has expanded rapidly in anticipation of being renamed the Audit, Reporting and Governance Authority and gaining new powers under long-awaited reforms of the sector. </a:t>
            </a:r>
          </a:p>
        </p:txBody>
      </p:sp>
      <p:sp>
        <p:nvSpPr>
          <p:cNvPr id="4" name="Slide Number Placeholder 3"/>
          <p:cNvSpPr>
            <a:spLocks noGrp="1"/>
          </p:cNvSpPr>
          <p:nvPr>
            <p:ph type="sldNum" sz="quarter" idx="5"/>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711200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This is a good chapter that can be applied to current events locally, nationally, or internationally as many times in the news there are headlines that relate to computer fraud, computer errors, or some sort of natural or political disaster that has an impact on the AIS. Do a quick search on Google for computer fraud or computer error and see if you can categorize some of those news articles in the four different threats to AIS.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Natural disasters that often occur in the United States can be flooding from storms or hurricanes, the threat of tornadoes, and earthquakes. That is why many of the companies that do business on the Internet will have facilities that have redundancies in different parts of the United States and the world. For example, Google is headquartered in Silicon Valley but has many server farm locations around the world to ensure that the website is always up and running (http://www.google.com/about/datacenters/inside/locations/index.html). Could you imagine that if an earthquake hit Silicon Valley and a popular Internet company did not have this policy in place and their website went down? This would be a great risk to those companies with a loss of revenues.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Software errors which are often called software bugs can cause damage to a company’s ability to conduct business, have an impact on customer satisfaction, and damage an organization’s reputation.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Equipment malfunctions are another reason that companies such as Google have server farms located all over the world. If a server goes down in one location, the data can be rerouted to another server that is up and running.</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Unintentional acts are caused by human error. As humans, we make honest mistakes. That is why</a:t>
            </a:r>
            <a:r>
              <a:rPr lang="en-IN" baseline="0" dirty="0"/>
              <a:t> </a:t>
            </a:r>
            <a:r>
              <a:rPr lang="en-IN" dirty="0"/>
              <a:t>it’s important as an accountant to pay attention to details, check your work, and have good controls in place (we will discuss this in subsequent chapters).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Intentional acts include computer crime, fraud, or intentional sabotage on an information system. A great resource to find out more information about intentional acts is a blog written by Brian Krebs who was a writer for the </a:t>
            </a:r>
            <a:r>
              <a:rPr lang="en-IN" i="1" dirty="0"/>
              <a:t>Washington Pos</a:t>
            </a:r>
            <a:r>
              <a:rPr lang="en-IN" dirty="0"/>
              <a:t>t (http://krebsonsecurity.com/).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1473756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Scanning the headlines or doing a simple Google search can show many news articles at your local or regional level, as well as national and international fraud.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Because fraud is often perpetrated by knowledgeable insiders, it is important for accountants to maintain the highest level of professional ethics and this is a good time to remind students about their commitment to professional ethics.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285167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020515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ust</a:t>
            </a:r>
            <a:r>
              <a:rPr lang="en-US" dirty="0"/>
              <a:t> a few years ago, Charlie </a:t>
            </a:r>
            <a:r>
              <a:rPr lang="en-US" dirty="0" err="1"/>
              <a:t>Javice</a:t>
            </a:r>
            <a:r>
              <a:rPr lang="en-US" dirty="0"/>
              <a:t> was riding high. In 2019 the tech CEO landed a spot on Forbes’s </a:t>
            </a:r>
            <a:r>
              <a:rPr lang="en-US" dirty="0">
                <a:hlinkClick r:id="rId3"/>
              </a:rPr>
              <a:t>30 Under 30 list</a:t>
            </a:r>
            <a:r>
              <a:rPr lang="en-US" dirty="0"/>
              <a:t> for her work on a startup called Frank, which she described as “</a:t>
            </a:r>
            <a:r>
              <a:rPr lang="en-US" dirty="0">
                <a:hlinkClick r:id="rId4"/>
              </a:rPr>
              <a:t>Amazon for higher education</a:t>
            </a:r>
            <a:r>
              <a:rPr lang="en-US" dirty="0"/>
              <a:t>”. What does that catchy but completely empty phrase mean? It means Frank helped students navigate the financial aid process. It was apparently so successful at doing this that JPMorgan Chase acquired the company for $175m in 2021 and </a:t>
            </a:r>
            <a:r>
              <a:rPr lang="en-US" dirty="0" err="1"/>
              <a:t>Javice</a:t>
            </a:r>
            <a:r>
              <a:rPr lang="en-US" dirty="0"/>
              <a:t> was made a managing director at the bank. The entrepreneur shared the </a:t>
            </a:r>
            <a:r>
              <a:rPr lang="en-US" dirty="0">
                <a:hlinkClick r:id="rId5"/>
              </a:rPr>
              <a:t>news on LinkedIn</a:t>
            </a:r>
            <a:r>
              <a:rPr lang="en-US" dirty="0"/>
              <a:t>, boasting that in just four years Frank had grown to serve “over 5 million students at over 6,000 colleges”.</a:t>
            </a:r>
          </a:p>
        </p:txBody>
      </p:sp>
      <p:sp>
        <p:nvSpPr>
          <p:cNvPr id="4" name="Slide Number Placeholder 3"/>
          <p:cNvSpPr>
            <a:spLocks noGrp="1"/>
          </p:cNvSpPr>
          <p:nvPr>
            <p:ph type="sldNum" sz="quarter" idx="5"/>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486922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Statement of auditing standards SAS 99 (now referred to as auditing standards AU-C section 240) discusses the responsibility auditors have in detecting fraud:</a:t>
            </a:r>
          </a:p>
          <a:p>
            <a:pPr marL="0" lvl="0" indent="0" algn="l" rtl="0">
              <a:spcBef>
                <a:spcPts val="0"/>
              </a:spcBef>
              <a:spcAft>
                <a:spcPts val="0"/>
              </a:spcAft>
              <a:buNone/>
            </a:pPr>
            <a:endParaRPr lang="en-IN" dirty="0"/>
          </a:p>
          <a:p>
            <a:pPr marL="228600" lvl="0" indent="-228600" algn="l" rtl="0">
              <a:spcBef>
                <a:spcPts val="0"/>
              </a:spcBef>
              <a:spcAft>
                <a:spcPts val="0"/>
              </a:spcAft>
              <a:buClr>
                <a:schemeClr val="dk1"/>
              </a:buClr>
              <a:buSzPts val="1200"/>
              <a:buFont typeface="Arial"/>
              <a:buAutoNum type="arabicPeriod"/>
            </a:pPr>
            <a:r>
              <a:rPr lang="en-IN" dirty="0"/>
              <a:t>First auditors must understand fraud and how/why it is committed in order to detect fraud</a:t>
            </a:r>
          </a:p>
          <a:p>
            <a:pPr marL="228600" lvl="0" indent="-228600" algn="l" rtl="0">
              <a:spcBef>
                <a:spcPts val="0"/>
              </a:spcBef>
              <a:spcAft>
                <a:spcPts val="0"/>
              </a:spcAft>
              <a:buClr>
                <a:schemeClr val="dk1"/>
              </a:buClr>
              <a:buSzPts val="1200"/>
              <a:buFont typeface="Arial"/>
              <a:buAutoNum type="arabicPeriod"/>
            </a:pPr>
            <a:r>
              <a:rPr lang="en-IN" dirty="0"/>
              <a:t>During audit planning, auditors should discuss the risk of material fraudulent misstatements among themselves and where the company’s financial statements are susceptible to fraud</a:t>
            </a:r>
          </a:p>
          <a:p>
            <a:pPr marL="228600" lvl="0" indent="-228600" algn="l" rtl="0">
              <a:spcBef>
                <a:spcPts val="0"/>
              </a:spcBef>
              <a:spcAft>
                <a:spcPts val="0"/>
              </a:spcAft>
              <a:buClr>
                <a:schemeClr val="dk1"/>
              </a:buClr>
              <a:buSzPts val="1200"/>
              <a:buFont typeface="Arial"/>
              <a:buAutoNum type="arabicPeriod"/>
            </a:pPr>
            <a:r>
              <a:rPr lang="en-IN" dirty="0"/>
              <a:t>The audit team gathers evidence by looking for fraud risk factors: testing company records, many frauds use revenue recognition, auditors exercise special care (although not comprehensive this is a good resource: http://www2.deloitte.com/content/dam/Deloitte/in/Documents/risk/Corporate%20Governance/Audit%20Committee/in-gc-fraud-schemes-questions-to-consider-noexp.pdf.</a:t>
            </a:r>
          </a:p>
          <a:p>
            <a:pPr marL="228600" lvl="0" indent="-228600" algn="l" rtl="0">
              <a:spcBef>
                <a:spcPts val="0"/>
              </a:spcBef>
              <a:spcAft>
                <a:spcPts val="0"/>
              </a:spcAft>
              <a:buClr>
                <a:schemeClr val="dk1"/>
              </a:buClr>
              <a:buSzPts val="1200"/>
              <a:buFont typeface="Arial"/>
              <a:buAutoNum type="arabicPeriod"/>
            </a:pPr>
            <a:r>
              <a:rPr lang="en-IN" dirty="0"/>
              <a:t>Evidence is used to identify, assess, and respond to risks</a:t>
            </a:r>
          </a:p>
          <a:p>
            <a:pPr marL="228600" lvl="0" indent="-228600" algn="l" rtl="0">
              <a:spcBef>
                <a:spcPts val="0"/>
              </a:spcBef>
              <a:spcAft>
                <a:spcPts val="0"/>
              </a:spcAft>
              <a:buClr>
                <a:schemeClr val="dk1"/>
              </a:buClr>
              <a:buSzPts val="1200"/>
              <a:buFont typeface="Arial"/>
              <a:buAutoNum type="arabicPeriod"/>
            </a:pPr>
            <a:r>
              <a:rPr lang="en-IN" dirty="0"/>
              <a:t>Auditors must evaluate if identified financial misstatements indicate the presence of fraud and the impact on the financial statements and the audit</a:t>
            </a:r>
          </a:p>
          <a:p>
            <a:pPr marL="228600" lvl="0" indent="-228600" algn="l" rtl="0">
              <a:spcBef>
                <a:spcPts val="0"/>
              </a:spcBef>
              <a:spcAft>
                <a:spcPts val="0"/>
              </a:spcAft>
              <a:buClr>
                <a:schemeClr val="dk1"/>
              </a:buClr>
              <a:buSzPts val="1200"/>
              <a:buFont typeface="Arial"/>
              <a:buAutoNum type="arabicPeriod"/>
            </a:pPr>
            <a:r>
              <a:rPr lang="en-IN" dirty="0"/>
              <a:t>Auditors must document their findings and communicate them to management and the audit committee</a:t>
            </a:r>
          </a:p>
          <a:p>
            <a:pPr marL="228600" lvl="0" indent="-228600" algn="l" rtl="0">
              <a:spcBef>
                <a:spcPts val="0"/>
              </a:spcBef>
              <a:spcAft>
                <a:spcPts val="0"/>
              </a:spcAft>
              <a:buClr>
                <a:schemeClr val="dk1"/>
              </a:buClr>
              <a:buSzPts val="1200"/>
              <a:buFont typeface="Arial"/>
              <a:buAutoNum type="arabicPeriod"/>
            </a:pPr>
            <a:r>
              <a:rPr lang="en-IN" dirty="0"/>
              <a:t>Technology has an impact on fraud risks; there is an opportunity for auditors to use technology to design fraud auditing procedures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497324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Figure 8.1 in the text is a good visualization of the Fraud Triangle and the detailed components of the two major types of pressure, the 3 C’s needed for opportunity and types of rationalization. It is noted that committing a fraud requires that all three components occur: opportunity to commit the fraud, conceal the fraud, and then convert it.</a:t>
            </a:r>
          </a:p>
          <a:p>
            <a:pPr marL="0" lvl="0" indent="0" algn="l" rtl="0">
              <a:spcBef>
                <a:spcPts val="0"/>
              </a:spcBef>
              <a:spcAft>
                <a:spcPts val="0"/>
              </a:spcAft>
              <a:buNone/>
            </a:pPr>
            <a:endParaRPr lang="en-IN" dirty="0"/>
          </a:p>
          <a:p>
            <a:r>
              <a:rPr lang="en-US" sz="1200" kern="1200" dirty="0">
                <a:solidFill>
                  <a:schemeClr val="tx1"/>
                </a:solidFill>
                <a:effectLst/>
                <a:latin typeface="+mn-lt"/>
                <a:ea typeface="+mn-ea"/>
                <a:cs typeface="+mn-cs"/>
              </a:rPr>
              <a:t>Long Description:</a:t>
            </a:r>
          </a:p>
          <a:p>
            <a:r>
              <a:rPr lang="en-US" sz="1200" kern="1200" dirty="0">
                <a:solidFill>
                  <a:schemeClr val="tx1"/>
                </a:solidFill>
                <a:effectLst/>
                <a:latin typeface="+mn-lt"/>
                <a:ea typeface="+mn-ea"/>
                <a:cs typeface="+mn-cs"/>
              </a:rPr>
              <a:t>The sides making each of these triangles are as follows:</a:t>
            </a:r>
            <a:endParaRPr lang="en-IN" dirty="0">
              <a:effectLst/>
            </a:endParaRPr>
          </a:p>
          <a:p>
            <a:r>
              <a:rPr lang="en-US" sz="1200" kern="1200" dirty="0">
                <a:solidFill>
                  <a:schemeClr val="tx1"/>
                </a:solidFill>
                <a:effectLst/>
                <a:latin typeface="+mn-lt"/>
                <a:ea typeface="+mn-ea"/>
                <a:cs typeface="+mn-cs"/>
              </a:rPr>
              <a:t> </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Opportunity Triangle: Commit, Conceal, and Convert</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Rationalization Triangle: Lack of Personal Integrity, Justification, and Attitude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Employee Pressure Triangle: Financial, Emotional, and Lifestyle</a:t>
            </a:r>
            <a:endParaRPr lang="en-IN" dirty="0">
              <a:effectLst/>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Financial Statement Pressure Triangle: Industry Conditions, Management Characteristics, and Financial</a:t>
            </a:r>
            <a:endParaRPr lang="en-IN" dirty="0">
              <a:effectLst/>
            </a:endParaRPr>
          </a:p>
          <a:p>
            <a:pPr marL="0" lvl="0" indent="0" algn="l" rtl="0">
              <a:spcBef>
                <a:spcPts val="0"/>
              </a:spcBef>
              <a:spcAft>
                <a:spcPts val="0"/>
              </a:spcAft>
              <a:buNone/>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5416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Arial"/>
              <a:buNone/>
            </a:pPr>
            <a:r>
              <a:rPr lang="en-IN" dirty="0"/>
              <a:t>From your accounting coursework in your program, it is important to understand why internal controls are so important. In this book, we will cover many internal controls that will prevent and detect these two categories of fraud. In your financial accounting coursework, it is important to understand why transactions should be recorded correctly and in the proper time period. Inappropriate transactions recorded in the accounting system can be indicators of covering up misappropriation of assets or management’s intent to “cook the books.”  </a:t>
            </a:r>
          </a:p>
          <a:p>
            <a:pPr marL="0" marR="0" lvl="0" indent="0" algn="l" rtl="0">
              <a:lnSpc>
                <a:spcPct val="100000"/>
              </a:lnSpc>
              <a:spcBef>
                <a:spcPts val="0"/>
              </a:spcBef>
              <a:spcAft>
                <a:spcPts val="0"/>
              </a:spcAft>
              <a:buClr>
                <a:schemeClr val="dk1"/>
              </a:buClr>
              <a:buSzPts val="1200"/>
              <a:buFont typeface="Arial"/>
              <a:buNone/>
            </a:pPr>
            <a:r>
              <a:rPr lang="en-IN" dirty="0"/>
              <a:t>That is why for fraud to occur there must be:</a:t>
            </a:r>
          </a:p>
          <a:p>
            <a:pPr marL="0" marR="0" lvl="0" indent="0" algn="l" rtl="0">
              <a:lnSpc>
                <a:spcPct val="100000"/>
              </a:lnSpc>
              <a:spcBef>
                <a:spcPts val="0"/>
              </a:spcBef>
              <a:spcAft>
                <a:spcPts val="0"/>
              </a:spcAft>
              <a:buClr>
                <a:schemeClr val="dk1"/>
              </a:buClr>
              <a:buSzPts val="1200"/>
              <a:buFont typeface="Arial"/>
              <a:buNone/>
            </a:pPr>
            <a:r>
              <a:rPr lang="en-IN" dirty="0"/>
              <a:t>Pressure or incentive to commit the fraud</a:t>
            </a:r>
          </a:p>
          <a:p>
            <a:pPr marL="0" marR="0" lvl="0" indent="0" algn="l" rtl="0">
              <a:lnSpc>
                <a:spcPct val="100000"/>
              </a:lnSpc>
              <a:spcBef>
                <a:spcPts val="0"/>
              </a:spcBef>
              <a:spcAft>
                <a:spcPts val="0"/>
              </a:spcAft>
              <a:buClr>
                <a:schemeClr val="dk1"/>
              </a:buClr>
              <a:buSzPts val="1200"/>
              <a:buFont typeface="Arial"/>
              <a:buNone/>
            </a:pPr>
            <a:r>
              <a:rPr lang="en-IN" dirty="0"/>
              <a:t>Opportunity to commit the fraud</a:t>
            </a:r>
          </a:p>
          <a:p>
            <a:pPr marL="0" marR="0" lvl="0" indent="0" algn="l" rtl="0">
              <a:lnSpc>
                <a:spcPct val="100000"/>
              </a:lnSpc>
              <a:spcBef>
                <a:spcPts val="0"/>
              </a:spcBef>
              <a:spcAft>
                <a:spcPts val="0"/>
              </a:spcAft>
              <a:buClr>
                <a:schemeClr val="dk1"/>
              </a:buClr>
              <a:buSzPts val="1200"/>
              <a:buFont typeface="Arial"/>
              <a:buNone/>
            </a:pPr>
            <a:r>
              <a:rPr lang="en-IN" dirty="0"/>
              <a:t>Rationalization of the person committing the fraud as to why it’s ok that they committed the fraud</a:t>
            </a:r>
          </a:p>
          <a:p>
            <a:pPr marL="0" marR="0" lvl="0" indent="0" algn="l" rtl="0">
              <a:lnSpc>
                <a:spcPct val="100000"/>
              </a:lnSpc>
              <a:spcBef>
                <a:spcPts val="0"/>
              </a:spcBef>
              <a:spcAft>
                <a:spcPts val="0"/>
              </a:spcAft>
              <a:buClr>
                <a:schemeClr val="dk1"/>
              </a:buClr>
              <a:buSzPts val="1200"/>
              <a:buFont typeface="Arial"/>
              <a:buNone/>
            </a:pPr>
            <a:endParaRPr lang="en-IN" dirty="0"/>
          </a:p>
          <a:p>
            <a:pPr marL="0" marR="0" lvl="0" indent="0" algn="l" rtl="0">
              <a:lnSpc>
                <a:spcPct val="100000"/>
              </a:lnSpc>
              <a:spcBef>
                <a:spcPts val="0"/>
              </a:spcBef>
              <a:spcAft>
                <a:spcPts val="0"/>
              </a:spcAft>
              <a:buClr>
                <a:schemeClr val="dk1"/>
              </a:buClr>
              <a:buSzPts val="1200"/>
              <a:buFont typeface="Arial"/>
              <a:buNone/>
            </a:pPr>
            <a:r>
              <a:rPr lang="en-IN" dirty="0"/>
              <a:t>With articles that you find in the news on fraud, see if you can identify the pressure, opportunity, and rationalization as to how the person committed the fraud and why they did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19953393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Using the data processing diagram model that we discussed in Chapter 2, computer fraud is classified using this structure:</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From the processing cycle of the DP model, it would include processor and computer instruction fraud.</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best way to learn about the computer fraud classifications is to talk about stories that occurred within these classifications. The book does a good job at describing many stories within these classifications.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If you are a movie fan, there are many movies out there that use computer fraud as a storyline in the plot. For example, the movie </a:t>
            </a:r>
            <a:r>
              <a:rPr lang="en-IN" i="1" dirty="0"/>
              <a:t>Office Space </a:t>
            </a:r>
            <a:r>
              <a:rPr lang="en-IN" dirty="0"/>
              <a:t>is about a group of guys at a company that are unhappy with the company management. They change the computer code (computer instruction fraud) to divert fractions of pennies to an account that they own. You will have to watch the movie yourself to see if you can identify the components of fraud.</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 good example of output fraud is someone stealing the company trash to examine the reports generated and placed in the trash from a computer system. That is why many companies now have shredding policies.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Although not a complete list, here are some </a:t>
            </a:r>
            <a:r>
              <a:rPr lang="en-IN" dirty="0" err="1"/>
              <a:t>favorites</a:t>
            </a:r>
            <a:r>
              <a:rPr lang="en-IN" dirty="0"/>
              <a:t> (you can find many more just by going to the web and looking for movies with fraud in the plot):</a:t>
            </a:r>
          </a:p>
          <a:p>
            <a:pPr marL="0" lvl="0" indent="0" algn="l" rtl="0">
              <a:spcBef>
                <a:spcPts val="0"/>
              </a:spcBef>
              <a:spcAft>
                <a:spcPts val="0"/>
              </a:spcAft>
              <a:buNone/>
            </a:pPr>
            <a:r>
              <a:rPr lang="en-IN" i="1" dirty="0"/>
              <a:t>Office Space</a:t>
            </a:r>
          </a:p>
          <a:p>
            <a:pPr marL="0" lvl="0" indent="0" algn="l" rtl="0">
              <a:spcBef>
                <a:spcPts val="0"/>
              </a:spcBef>
              <a:spcAft>
                <a:spcPts val="0"/>
              </a:spcAft>
              <a:buNone/>
            </a:pPr>
            <a:r>
              <a:rPr lang="en-IN" i="1" dirty="0"/>
              <a:t>Catch Me If You Can</a:t>
            </a:r>
          </a:p>
          <a:p>
            <a:pPr marL="0" lvl="0" indent="0" algn="l" rtl="0">
              <a:spcBef>
                <a:spcPts val="0"/>
              </a:spcBef>
              <a:spcAft>
                <a:spcPts val="0"/>
              </a:spcAft>
              <a:buNone/>
            </a:pPr>
            <a:r>
              <a:rPr lang="en-IN" i="1" dirty="0"/>
              <a:t>The Informant!</a:t>
            </a:r>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Table 8.5 is a long list for students to remember; it may be simpler to break the list down into categories that would be general for the organization and those that are specific from a systems perspective.</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These details are discussed more in Chapters 10 through 13 in the text.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1536070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9367581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20537687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32</a:t>
            </a:fld>
            <a:endParaRPr lang="en-US" dirty="0"/>
          </a:p>
        </p:txBody>
      </p:sp>
    </p:spTree>
    <p:extLst>
      <p:ext uri="{BB962C8B-B14F-4D97-AF65-F5344CB8AC3E}">
        <p14:creationId xmlns:p14="http://schemas.microsoft.com/office/powerpoint/2010/main" val="1723696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i="0" dirty="0"/>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dirty="0"/>
          </a:p>
        </p:txBody>
      </p:sp>
    </p:spTree>
    <p:extLst>
      <p:ext uri="{BB962C8B-B14F-4D97-AF65-F5344CB8AC3E}">
        <p14:creationId xmlns:p14="http://schemas.microsoft.com/office/powerpoint/2010/main" val="2046957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endParaRPr lang="en-IN" i="0" dirty="0"/>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dirty="0"/>
          </a:p>
        </p:txBody>
      </p:sp>
    </p:spTree>
    <p:extLst>
      <p:ext uri="{BB962C8B-B14F-4D97-AF65-F5344CB8AC3E}">
        <p14:creationId xmlns:p14="http://schemas.microsoft.com/office/powerpoint/2010/main" val="4026977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37</a:t>
            </a:fld>
            <a:endParaRPr lang="en-US" dirty="0"/>
          </a:p>
        </p:txBody>
      </p:sp>
    </p:spTree>
    <p:extLst>
      <p:ext uri="{BB962C8B-B14F-4D97-AF65-F5344CB8AC3E}">
        <p14:creationId xmlns:p14="http://schemas.microsoft.com/office/powerpoint/2010/main" val="2289363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10"/>
          </p:nvPr>
        </p:nvSpPr>
        <p:spPr/>
        <p:txBody>
          <a:bodyPr/>
          <a:lstStyle/>
          <a:p>
            <a:fld id="{A73D6722-9B4D-4E29-B226-C325925A8118}" type="slidenum">
              <a:rPr lang="en-US" smtClean="0"/>
              <a:t>38</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4/7/26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a:extLst>
              <a:ext uri="{FF2B5EF4-FFF2-40B4-BE49-F238E27FC236}">
                <a16:creationId xmlns:a16="http://schemas.microsoft.com/office/drawing/2014/main" id="{E39259EA-8CD4-4078-9E0E-75175DF851B3}"/>
              </a:ext>
            </a:extLst>
          </p:cNvPr>
          <p:cNvSpPr>
            <a:spLocks noGrp="1"/>
          </p:cNvSpPr>
          <p:nvPr>
            <p:ph sz="quarter" idx="15"/>
          </p:nvPr>
        </p:nvSpPr>
        <p:spPr>
          <a:xfrm>
            <a:off x="838200" y="2209800"/>
            <a:ext cx="7086600" cy="1600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4/7/26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4/7/26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4/7/26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1811517018"/>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4/7/26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4/7/26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4/7/26</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4/7/26</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4/7/26</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4/7/26</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60671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4/7/26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9"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4/7/26</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8"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hyperlink" Target="https://www.visualcapitalist.com/sp/the-most-costly-financial-crimes-in-2024-in01/" TargetMode="External"/><Relationship Id="rId2" Type="http://schemas.openxmlformats.org/officeDocument/2006/relationships/hyperlink" Target="https://www.visualcapitalist.com/sp/ranked-americas-most-common-financial-crimes-in01/" TargetMode="External"/><Relationship Id="rId1" Type="http://schemas.openxmlformats.org/officeDocument/2006/relationships/slideLayout" Target="../slideLayouts/slideLayout10.xml"/><Relationship Id="rId6" Type="http://schemas.openxmlformats.org/officeDocument/2006/relationships/hyperlink" Target="https://www.visualcapitalist.com/5-facts-you-need-to-know-about-financial-fraud/" TargetMode="External"/><Relationship Id="rId5" Type="http://schemas.openxmlformats.org/officeDocument/2006/relationships/hyperlink" Target="https://www.visualcapitalist.com/sp/tracking-the-3-1-trillion-financial-crime-pandemic-in01/" TargetMode="External"/><Relationship Id="rId4" Type="http://schemas.openxmlformats.org/officeDocument/2006/relationships/hyperlink" Target="https://informationisbeautiful.net/visualizations/most-common-pin-codes/?fbclid=IwQ0xDSwLMonBleHRuA2FlbQIxMQABHhmDMQa5xjhqga9Y3UVeJ7K6g0fb8mELXWK7-N6pIGUHYlUOVCRM6YrEcwCh_aem_mHroACuf0fIQKVsqM5hwsg"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apnews.com/article/bear-costume-insurance-fraud-vehicles-california-791f330b81d0ef627caf1b00a6daf69f"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hyperlink" Target="https://www.consumerreports.org/money/scams-fraud/new-scams-to-watch-out-for-a9334297641/" TargetMode="External"/><Relationship Id="rId3" Type="http://schemas.openxmlformats.org/officeDocument/2006/relationships/hyperlink" Target="https://www.reddit.com/r/Slack/comments/1jeen0t/hr_company_says_it_caught_an_internal_spy_with_a/?share_id=XCFaGglOu7El25z7wLkpb" TargetMode="External"/><Relationship Id="rId7" Type="http://schemas.openxmlformats.org/officeDocument/2006/relationships/hyperlink" Target="https://www.reddit.com/r/Accounting/comments/1j2q1ax/citibank_accidentally_transferred_81_trillion_to/?share_id=f6Z2-H0zSYu30yzZM4MMm" TargetMode="External"/><Relationship Id="rId2" Type="http://schemas.openxmlformats.org/officeDocument/2006/relationships/hyperlink" Target="https://arstechnica.com/gadgets/2025/03/ceo-of-ai-ad-tech-firm-pledging-world-free-of-fraud-sentenced-for-fraud/" TargetMode="External"/><Relationship Id="rId1" Type="http://schemas.openxmlformats.org/officeDocument/2006/relationships/slideLayout" Target="../slideLayouts/slideLayout2.xml"/><Relationship Id="rId6" Type="http://schemas.openxmlformats.org/officeDocument/2006/relationships/hyperlink" Target="https://www.consumerreports.org/electronics/identity-theft/voice-cloning-apps-let-criminals-easily-steal-your-voice-a6024784872/" TargetMode="External"/><Relationship Id="rId5" Type="http://schemas.openxmlformats.org/officeDocument/2006/relationships/hyperlink" Target="https://www.cnn.com/2024/02/04/asia/deepfake-cfo-scam-hong-kong-intl-hnk/index.html" TargetMode="External"/><Relationship Id="rId4" Type="http://schemas.openxmlformats.org/officeDocument/2006/relationships/hyperlink" Target="https://blog.cloudflare.com/password-reuse-rampant-half-user-logins-compromised/" TargetMode="External"/><Relationship Id="rId9" Type="http://schemas.openxmlformats.org/officeDocument/2006/relationships/hyperlink" Target="https://www.visualcapitalist.com/ranked-most-common-types-of-fraud-in-america/"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8" Type="http://schemas.openxmlformats.org/officeDocument/2006/relationships/hyperlink" Target="https://en.wikipedia.org/wiki/Blood_test" TargetMode="External"/><Relationship Id="rId13" Type="http://schemas.openxmlformats.org/officeDocument/2006/relationships/hyperlink" Target="https://en.wikipedia.org/wiki/Elizabeth_Holmes#cite_note-ForbesSelfmadeWomen-5" TargetMode="External"/><Relationship Id="rId18" Type="http://schemas.openxmlformats.org/officeDocument/2006/relationships/hyperlink" Target="https://en.wikipedia.org/wiki/Elizabeth_Holmes" TargetMode="External"/><Relationship Id="rId3" Type="http://schemas.openxmlformats.org/officeDocument/2006/relationships/image" Target="../media/image5.png"/><Relationship Id="rId7" Type="http://schemas.openxmlformats.org/officeDocument/2006/relationships/hyperlink" Target="https://en.wikipedia.org/wiki/Valuation_(finance)" TargetMode="External"/><Relationship Id="rId12" Type="http://schemas.openxmlformats.org/officeDocument/2006/relationships/hyperlink" Target="https://en.wikipedia.org/wiki/Forbes.com" TargetMode="External"/><Relationship Id="rId17" Type="http://schemas.openxmlformats.org/officeDocument/2006/relationships/hyperlink" Target="https://en.wikipedia.org/wiki/Elizabeth_Holmes#cite_note-Fortune-7" TargetMode="External"/><Relationship Id="rId2" Type="http://schemas.openxmlformats.org/officeDocument/2006/relationships/notesSlide" Target="../notesSlides/notesSlide4.xml"/><Relationship Id="rId16" Type="http://schemas.openxmlformats.org/officeDocument/2006/relationships/hyperlink" Target="https://en.wikipedia.org/wiki/Fortune_(magazine)" TargetMode="External"/><Relationship Id="rId1" Type="http://schemas.openxmlformats.org/officeDocument/2006/relationships/slideLayout" Target="../slideLayouts/slideLayout23.xml"/><Relationship Id="rId6" Type="http://schemas.openxmlformats.org/officeDocument/2006/relationships/hyperlink" Target="https://en.wikipedia.org/wiki/Elizabeth_Holmes#cite_note-GriffithJan3-2" TargetMode="External"/><Relationship Id="rId11" Type="http://schemas.openxmlformats.org/officeDocument/2006/relationships/hyperlink" Target="https://en.wikipedia.org/wiki/Elizabeth_Holmes#cite_note-4" TargetMode="External"/><Relationship Id="rId5" Type="http://schemas.openxmlformats.org/officeDocument/2006/relationships/hyperlink" Target="https://en.wikipedia.org/wiki/Theranos" TargetMode="External"/><Relationship Id="rId15" Type="http://schemas.openxmlformats.org/officeDocument/2006/relationships/hyperlink" Target="https://en.wikipedia.org/wiki/Elizabeth_Holmes#cite_note-Forbes_nothing-6" TargetMode="External"/><Relationship Id="rId10" Type="http://schemas.openxmlformats.org/officeDocument/2006/relationships/hyperlink" Target="https://en.wikipedia.org/wiki/Elizabeth_Holmes#cite_note-3" TargetMode="External"/><Relationship Id="rId4" Type="http://schemas.openxmlformats.org/officeDocument/2006/relationships/hyperlink" Target="https://en.wikipedia.org/wiki/Fraud" TargetMode="External"/><Relationship Id="rId9" Type="http://schemas.openxmlformats.org/officeDocument/2006/relationships/hyperlink" Target="https://en.wikipedia.org/wiki/Fingerprick" TargetMode="External"/><Relationship Id="rId14" Type="http://schemas.openxmlformats.org/officeDocument/2006/relationships/hyperlink" Target="https://en.wikipedia.org/wiki/Net_worth"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3.xml"/><Relationship Id="rId5" Type="http://schemas.openxmlformats.org/officeDocument/2006/relationships/image" Target="../media/image7.png"/><Relationship Id="rId4" Type="http://schemas.openxmlformats.org/officeDocument/2006/relationships/hyperlink" Target="https://www.integrityline.com/expertise/blog/elizabeth-holmes-therano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hyperlink" Target="https://www.reuters.com/topic/person/donald-trump/" TargetMode="External"/><Relationship Id="rId2" Type="http://schemas.openxmlformats.org/officeDocument/2006/relationships/image" Target="../media/image15.png"/><Relationship Id="rId1" Type="http://schemas.openxmlformats.org/officeDocument/2006/relationships/slideLayout" Target="../slideLayouts/slideLayout23.xml"/><Relationship Id="rId4" Type="http://schemas.openxmlformats.org/officeDocument/2006/relationships/hyperlink" Target="https://www.theguardian.com/business/2023/jun/29/trump-media-insider-trading-charge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www.abc.net.au/news/2023-06-05/pwc-pricewaterhousecoopers-government-tax-leak-scandal-explained/102409528" TargetMode="External"/><Relationship Id="rId2" Type="http://schemas.openxmlformats.org/officeDocument/2006/relationships/notesSlide" Target="../notesSlides/notesSlide14.xml"/><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EdYpXuwGVFg" TargetMode="Externa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noProof="0"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noProof="0" dirty="0">
                <a:solidFill>
                  <a:srgbClr val="007FA3"/>
                </a:solidFill>
              </a:rPr>
              <a:t>Sixteenth </a:t>
            </a:r>
            <a:r>
              <a:rPr lang="en-US" sz="2000" noProof="0" dirty="0">
                <a:solidFill>
                  <a:srgbClr val="007FA3"/>
                </a:solidFill>
                <a:latin typeface="+mn-lt"/>
              </a:rPr>
              <a:t>Edition</a:t>
            </a:r>
            <a:endParaRPr lang="en-US" noProof="0" dirty="0">
              <a:latin typeface="+mn-lt"/>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2000" y="2430301"/>
            <a:ext cx="1874982" cy="498016"/>
          </a:xfrm>
        </p:spPr>
        <p:txBody>
          <a:bodyPr wrap="square" lIns="0" tIns="18000" rIns="0" bIns="18000" anchor="ctr" anchorCtr="0">
            <a:spAutoFit/>
          </a:bodyPr>
          <a:lstStyle/>
          <a:p>
            <a:pPr marL="0"/>
            <a:r>
              <a:rPr lang="en-US" noProof="0" dirty="0">
                <a:latin typeface="+mn-lt"/>
              </a:rPr>
              <a:t>Chapter 8</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123779"/>
            <a:ext cx="4140200" cy="374906"/>
          </a:xfrm>
        </p:spPr>
        <p:txBody>
          <a:bodyPr wrap="square" lIns="0" tIns="18000" rIns="0" bIns="18000" anchor="ctr" anchorCtr="0">
            <a:spAutoFit/>
          </a:bodyPr>
          <a:lstStyle/>
          <a:p>
            <a:pPr lvl="0" indent="-101600">
              <a:spcBef>
                <a:spcPts val="0"/>
              </a:spcBef>
              <a:buSzPts val="2200"/>
            </a:pPr>
            <a:r>
              <a:rPr lang="en-US" dirty="0"/>
              <a:t>Fraud and Errors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noProof="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8AE30D-996A-C39F-AE7D-D79E733B17A4}"/>
              </a:ext>
            </a:extLst>
          </p:cNvPr>
          <p:cNvSpPr txBox="1"/>
          <p:nvPr/>
        </p:nvSpPr>
        <p:spPr>
          <a:xfrm>
            <a:off x="381000" y="685800"/>
            <a:ext cx="8382000" cy="2308324"/>
          </a:xfrm>
          <a:prstGeom prst="rect">
            <a:avLst/>
          </a:prstGeom>
          <a:noFill/>
        </p:spPr>
        <p:txBody>
          <a:bodyPr wrap="square">
            <a:spAutoFit/>
          </a:bodyPr>
          <a:lstStyle/>
          <a:p>
            <a:r>
              <a:rPr lang="en-US" dirty="0">
                <a:hlinkClick r:id="rId2"/>
              </a:rPr>
              <a:t>https://www.visualcapitalist.com/sp/ranked-americas-most-common-financial-crimes-in01/</a:t>
            </a:r>
            <a:r>
              <a:rPr lang="en-US" dirty="0"/>
              <a:t> </a:t>
            </a:r>
          </a:p>
          <a:p>
            <a:r>
              <a:rPr lang="en-US" dirty="0">
                <a:hlinkClick r:id="rId3"/>
              </a:rPr>
              <a:t>https://www.visualcapitalist.com/sp/the-most-costly-financial-crimes-in-2024-in01/</a:t>
            </a:r>
            <a:r>
              <a:rPr lang="en-US" dirty="0"/>
              <a:t> </a:t>
            </a:r>
          </a:p>
          <a:p>
            <a:endParaRPr lang="en-US" dirty="0"/>
          </a:p>
          <a:p>
            <a:r>
              <a:rPr lang="en-US" dirty="0">
                <a:hlinkClick r:id="rId4"/>
              </a:rPr>
              <a:t>https://informationisbeautiful.net/visualizations/most-common-pin-codes/?fbclid=IwQ0xDSwLMonBleHRuA2FlbQIxMQABHhmDMQa5xjhqga9Y3UVeJ7K6g0fb8mELXWK7-N6pIGUHYlUOVCRM6YrEcwCh_aem_mHroACuf0fIQKVsqM5hwsg</a:t>
            </a:r>
            <a:r>
              <a:rPr lang="en-US" dirty="0"/>
              <a:t> </a:t>
            </a:r>
          </a:p>
        </p:txBody>
      </p:sp>
      <p:sp>
        <p:nvSpPr>
          <p:cNvPr id="5" name="TextBox 4">
            <a:extLst>
              <a:ext uri="{FF2B5EF4-FFF2-40B4-BE49-F238E27FC236}">
                <a16:creationId xmlns:a16="http://schemas.microsoft.com/office/drawing/2014/main" id="{F14D60CB-9573-11E9-C398-F3AA78E50038}"/>
              </a:ext>
            </a:extLst>
          </p:cNvPr>
          <p:cNvSpPr txBox="1"/>
          <p:nvPr/>
        </p:nvSpPr>
        <p:spPr>
          <a:xfrm>
            <a:off x="304800" y="4191000"/>
            <a:ext cx="8077200" cy="1477328"/>
          </a:xfrm>
          <a:prstGeom prst="rect">
            <a:avLst/>
          </a:prstGeom>
          <a:noFill/>
        </p:spPr>
        <p:txBody>
          <a:bodyPr wrap="square">
            <a:spAutoFit/>
          </a:bodyPr>
          <a:lstStyle/>
          <a:p>
            <a:r>
              <a:rPr lang="en-US" dirty="0">
                <a:hlinkClick r:id="rId5"/>
              </a:rPr>
              <a:t>https://www.visualcapitalist.com/sp/tracking-the-3-1-trillion-financial-crime-pandemic-in01/</a:t>
            </a:r>
            <a:r>
              <a:rPr lang="en-US" dirty="0"/>
              <a:t> </a:t>
            </a:r>
          </a:p>
          <a:p>
            <a:endParaRPr lang="en-US" dirty="0"/>
          </a:p>
          <a:p>
            <a:r>
              <a:rPr lang="en-US" dirty="0">
                <a:hlinkClick r:id="rId6"/>
              </a:rPr>
              <a:t>https://www.visualcapitalist.com/5-facts-you-need-to-know-about-financial-fraud/</a:t>
            </a:r>
            <a:r>
              <a:rPr lang="en-US" dirty="0"/>
              <a:t> </a:t>
            </a:r>
          </a:p>
        </p:txBody>
      </p:sp>
    </p:spTree>
    <p:extLst>
      <p:ext uri="{BB962C8B-B14F-4D97-AF65-F5344CB8AC3E}">
        <p14:creationId xmlns:p14="http://schemas.microsoft.com/office/powerpoint/2010/main" val="60658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8DDF77-439A-2825-9AB0-8814F4927156}"/>
              </a:ext>
            </a:extLst>
          </p:cNvPr>
          <p:cNvSpPr txBox="1"/>
          <p:nvPr/>
        </p:nvSpPr>
        <p:spPr>
          <a:xfrm>
            <a:off x="296584" y="5791200"/>
            <a:ext cx="8847416" cy="276999"/>
          </a:xfrm>
          <a:prstGeom prst="rect">
            <a:avLst/>
          </a:prstGeom>
          <a:noFill/>
        </p:spPr>
        <p:txBody>
          <a:bodyPr wrap="square">
            <a:spAutoFit/>
          </a:bodyPr>
          <a:lstStyle/>
          <a:p>
            <a:r>
              <a:rPr lang="en-US" sz="1200" dirty="0">
                <a:hlinkClick r:id="rId3"/>
              </a:rPr>
              <a:t>https://apnews.com/article/bear-costume-insurance-fraud-vehicles-california-791f330b81d0ef627caf1b00a6daf69f</a:t>
            </a:r>
            <a:r>
              <a:rPr lang="en-US" sz="1200" dirty="0"/>
              <a:t> </a:t>
            </a:r>
          </a:p>
        </p:txBody>
      </p:sp>
      <p:sp>
        <p:nvSpPr>
          <p:cNvPr id="7" name="TextBox 6">
            <a:extLst>
              <a:ext uri="{FF2B5EF4-FFF2-40B4-BE49-F238E27FC236}">
                <a16:creationId xmlns:a16="http://schemas.microsoft.com/office/drawing/2014/main" id="{836C2B54-C11B-AF32-A7FB-F2102CCE3B58}"/>
              </a:ext>
            </a:extLst>
          </p:cNvPr>
          <p:cNvSpPr txBox="1"/>
          <p:nvPr/>
        </p:nvSpPr>
        <p:spPr>
          <a:xfrm>
            <a:off x="327960" y="382783"/>
            <a:ext cx="3253440" cy="2246769"/>
          </a:xfrm>
          <a:prstGeom prst="rect">
            <a:avLst/>
          </a:prstGeom>
          <a:noFill/>
        </p:spPr>
        <p:txBody>
          <a:bodyPr wrap="square">
            <a:spAutoFit/>
          </a:bodyPr>
          <a:lstStyle/>
          <a:p>
            <a:r>
              <a:rPr lang="en-US" sz="2800" b="1" dirty="0"/>
              <a:t>Insurers say bear that damaged luxury cars was actually a person in a costume</a:t>
            </a:r>
          </a:p>
        </p:txBody>
      </p:sp>
      <p:pic>
        <p:nvPicPr>
          <p:cNvPr id="9" name="Picture 8" descr="A furry animal garment on a wood floor&#10;&#10;Description automatically generated">
            <a:extLst>
              <a:ext uri="{FF2B5EF4-FFF2-40B4-BE49-F238E27FC236}">
                <a16:creationId xmlns:a16="http://schemas.microsoft.com/office/drawing/2014/main" id="{3228F9D1-BA94-86BE-960D-A6E8E1BB66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6151" y="396230"/>
            <a:ext cx="3634439" cy="4872787"/>
          </a:xfrm>
          <a:prstGeom prst="rect">
            <a:avLst/>
          </a:prstGeom>
        </p:spPr>
      </p:pic>
    </p:spTree>
    <p:extLst>
      <p:ext uri="{BB962C8B-B14F-4D97-AF65-F5344CB8AC3E}">
        <p14:creationId xmlns:p14="http://schemas.microsoft.com/office/powerpoint/2010/main" val="1883451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64F2B-BC53-1D8C-B336-E87F9C2A6225}"/>
              </a:ext>
            </a:extLst>
          </p:cNvPr>
          <p:cNvSpPr>
            <a:spLocks noGrp="1"/>
          </p:cNvSpPr>
          <p:nvPr>
            <p:ph type="title"/>
          </p:nvPr>
        </p:nvSpPr>
        <p:spPr/>
        <p:txBody>
          <a:bodyPr/>
          <a:lstStyle/>
          <a:p>
            <a:r>
              <a:rPr lang="en-US" dirty="0"/>
              <a:t>Links</a:t>
            </a:r>
          </a:p>
        </p:txBody>
      </p:sp>
      <p:sp>
        <p:nvSpPr>
          <p:cNvPr id="3" name="Content Placeholder 2">
            <a:extLst>
              <a:ext uri="{FF2B5EF4-FFF2-40B4-BE49-F238E27FC236}">
                <a16:creationId xmlns:a16="http://schemas.microsoft.com/office/drawing/2014/main" id="{FD10B389-D549-8C80-2DBF-F2F05B2D4592}"/>
              </a:ext>
            </a:extLst>
          </p:cNvPr>
          <p:cNvSpPr>
            <a:spLocks noGrp="1"/>
          </p:cNvSpPr>
          <p:nvPr>
            <p:ph idx="1"/>
          </p:nvPr>
        </p:nvSpPr>
        <p:spPr>
          <a:xfrm>
            <a:off x="457200" y="1600200"/>
            <a:ext cx="8229600" cy="5424562"/>
          </a:xfrm>
        </p:spPr>
        <p:txBody>
          <a:bodyPr/>
          <a:lstStyle/>
          <a:p>
            <a:r>
              <a:rPr lang="en-US" dirty="0">
                <a:hlinkClick r:id="rId2"/>
              </a:rPr>
              <a:t>https://arstechnica.com/gadgets/2025/03/ceo-of-ai-ad-tech-firm-pledging-world-free-of-fraud-sentenced-for-fraud/</a:t>
            </a:r>
            <a:endParaRPr lang="en-US" dirty="0"/>
          </a:p>
          <a:p>
            <a:r>
              <a:rPr lang="en-US" dirty="0">
                <a:hlinkClick r:id="rId3"/>
              </a:rPr>
              <a:t>https://www.reddit.com/r/Slack/comments/1jeen0t/hr_company_says_it_caught_an_internal_spy_with_a/?share_id=XCFaGglOu7El25z7wLkpb</a:t>
            </a:r>
            <a:endParaRPr lang="en-US" dirty="0"/>
          </a:p>
          <a:p>
            <a:r>
              <a:rPr lang="en-US" dirty="0">
                <a:hlinkClick r:id="rId4"/>
              </a:rPr>
              <a:t>https://blog.cloudflare.com/password-reuse-rampant-half-user-logins-compromised/</a:t>
            </a:r>
            <a:endParaRPr lang="en-US" dirty="0"/>
          </a:p>
          <a:p>
            <a:r>
              <a:rPr lang="en-US" dirty="0">
                <a:hlinkClick r:id="rId5"/>
              </a:rPr>
              <a:t>https://www.cnn.com/2024/02/04/asia/deepfake-cfo-scam-hong-kong-intl-hnk/index.html</a:t>
            </a:r>
            <a:endParaRPr lang="en-US" dirty="0"/>
          </a:p>
          <a:p>
            <a:r>
              <a:rPr lang="en-US" dirty="0">
                <a:hlinkClick r:id="rId6"/>
              </a:rPr>
              <a:t>https://www.consumerreports.org/electronics/identity-theft/voice-cloning-apps-let-criminals-easily-steal-your-voice-a6024784872/</a:t>
            </a:r>
            <a:endParaRPr lang="en-US" dirty="0"/>
          </a:p>
          <a:p>
            <a:r>
              <a:rPr lang="en-US" dirty="0">
                <a:hlinkClick r:id="rId7"/>
              </a:rPr>
              <a:t>https://www.reddit.com/r/Accounting/comments/1j2q1ax/citibank_accidentally_transferred_81_trillion_to/?share_id=f6Z2-H0zSYu30yzZM4MMm</a:t>
            </a:r>
            <a:endParaRPr lang="en-US" dirty="0"/>
          </a:p>
          <a:p>
            <a:r>
              <a:rPr lang="en-US" dirty="0">
                <a:hlinkClick r:id="rId8"/>
              </a:rPr>
              <a:t>https://www.consumerreports.org/money/scams-fraud/new-scams-to-watch-out-for-a9334297641/</a:t>
            </a:r>
            <a:endParaRPr lang="en-US" dirty="0"/>
          </a:p>
          <a:p>
            <a:r>
              <a:rPr lang="en-US">
                <a:hlinkClick r:id="rId9"/>
              </a:rPr>
              <a:t>https://www.visualcapitalist.com/ranked-most-common-types-of-fraud-in-america/</a:t>
            </a:r>
            <a:r>
              <a:rPr lang="en-US"/>
              <a:t> </a:t>
            </a:r>
          </a:p>
          <a:p>
            <a:endParaRPr lang="en-US" dirty="0"/>
          </a:p>
          <a:p>
            <a:endParaRPr lang="en-US" dirty="0"/>
          </a:p>
        </p:txBody>
      </p:sp>
    </p:spTree>
    <p:extLst>
      <p:ext uri="{BB962C8B-B14F-4D97-AF65-F5344CB8AC3E}">
        <p14:creationId xmlns:p14="http://schemas.microsoft.com/office/powerpoint/2010/main" val="1099885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15346"/>
            <a:ext cx="8229600" cy="618079"/>
          </a:xfrm>
        </p:spPr>
        <p:txBody>
          <a:bodyPr anchor="ctr">
            <a:noAutofit/>
          </a:bodyPr>
          <a:lstStyle/>
          <a:p>
            <a:r>
              <a:rPr lang="en-IN" sz="3600" dirty="0">
                <a:latin typeface="+mj-lt"/>
              </a:rPr>
              <a:t>Learning Objectives</a:t>
            </a:r>
          </a:p>
        </p:txBody>
      </p:sp>
      <p:sp>
        <p:nvSpPr>
          <p:cNvPr id="2" name="Content Placeholder 1"/>
          <p:cNvSpPr>
            <a:spLocks noGrp="1"/>
          </p:cNvSpPr>
          <p:nvPr>
            <p:ph idx="13"/>
          </p:nvPr>
        </p:nvSpPr>
        <p:spPr>
          <a:xfrm>
            <a:off x="465826" y="999226"/>
            <a:ext cx="8229600" cy="4462760"/>
          </a:xfrm>
        </p:spPr>
        <p:txBody>
          <a:bodyPr>
            <a:noAutofit/>
          </a:bodyPr>
          <a:lstStyle/>
          <a:p>
            <a:pPr lvl="0">
              <a:spcBef>
                <a:spcPts val="0"/>
              </a:spcBef>
              <a:buSzPts val="2400"/>
            </a:pPr>
            <a:r>
              <a:rPr lang="en-IN" sz="2400" dirty="0"/>
              <a:t>Explain the threats faced by modern information systems.</a:t>
            </a:r>
          </a:p>
          <a:p>
            <a:pPr lvl="0">
              <a:buSzPts val="2400"/>
            </a:pPr>
            <a:r>
              <a:rPr lang="en-IN" sz="2400" dirty="0"/>
              <a:t>Define </a:t>
            </a:r>
            <a:r>
              <a:rPr lang="en-IN" sz="2400" i="1" dirty="0"/>
              <a:t>fraud</a:t>
            </a:r>
            <a:r>
              <a:rPr lang="en-IN" sz="2400" dirty="0"/>
              <a:t> and describe both the different types of fraud and the auditor’s responsibility to detect fraud.</a:t>
            </a:r>
          </a:p>
          <a:p>
            <a:pPr lvl="0">
              <a:buSzPts val="2400"/>
            </a:pPr>
            <a:r>
              <a:rPr lang="en-IN" sz="2400" dirty="0"/>
              <a:t>Discuss who perpetrates fraud and why it occurs, including the pressures, opportunities, and rationalizations that are present in most frauds.</a:t>
            </a:r>
          </a:p>
          <a:p>
            <a:pPr lvl="0">
              <a:buSzPts val="2400"/>
            </a:pPr>
            <a:r>
              <a:rPr lang="en-IN" sz="2400" dirty="0"/>
              <a:t>Define </a:t>
            </a:r>
            <a:r>
              <a:rPr lang="en-IN" sz="2400" i="1" dirty="0"/>
              <a:t>computer fraud </a:t>
            </a:r>
            <a:r>
              <a:rPr lang="en-IN" sz="2400" dirty="0"/>
              <a:t>and discuss the different computer fraud classifications.</a:t>
            </a:r>
          </a:p>
          <a:p>
            <a:pPr lvl="0">
              <a:buSzPts val="2400"/>
            </a:pPr>
            <a:r>
              <a:rPr lang="en-IN" sz="2400" dirty="0"/>
              <a:t>Explain how to prevent and detect computer fraud and abuse.</a:t>
            </a:r>
          </a:p>
        </p:txBody>
      </p:sp>
    </p:spTree>
    <p:extLst>
      <p:ext uri="{BB962C8B-B14F-4D97-AF65-F5344CB8AC3E}">
        <p14:creationId xmlns:p14="http://schemas.microsoft.com/office/powerpoint/2010/main" val="2560582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with blonde hair and blue eyes&#10;&#10;Description automatically generated">
            <a:extLst>
              <a:ext uri="{FF2B5EF4-FFF2-40B4-BE49-F238E27FC236}">
                <a16:creationId xmlns:a16="http://schemas.microsoft.com/office/drawing/2014/main" id="{AE8CD044-E006-7003-2B23-9D1B9FBACF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870394"/>
            <a:ext cx="2480472" cy="3909385"/>
          </a:xfrm>
          <a:prstGeom prst="rect">
            <a:avLst/>
          </a:prstGeom>
        </p:spPr>
      </p:pic>
      <p:sp>
        <p:nvSpPr>
          <p:cNvPr id="5" name="TextBox 4">
            <a:extLst>
              <a:ext uri="{FF2B5EF4-FFF2-40B4-BE49-F238E27FC236}">
                <a16:creationId xmlns:a16="http://schemas.microsoft.com/office/drawing/2014/main" id="{51792BF4-A932-F95F-3205-7E4996518920}"/>
              </a:ext>
            </a:extLst>
          </p:cNvPr>
          <p:cNvSpPr txBox="1"/>
          <p:nvPr/>
        </p:nvSpPr>
        <p:spPr>
          <a:xfrm>
            <a:off x="3425030" y="870394"/>
            <a:ext cx="5410200" cy="3108543"/>
          </a:xfrm>
          <a:prstGeom prst="rect">
            <a:avLst/>
          </a:prstGeom>
          <a:noFill/>
        </p:spPr>
        <p:txBody>
          <a:bodyPr wrap="square">
            <a:spAutoFit/>
          </a:bodyPr>
          <a:lstStyle/>
          <a:p>
            <a:r>
              <a:rPr lang="en-US" sz="1400" b="1" dirty="0"/>
              <a:t>Elizabeth Anne Holmes</a:t>
            </a:r>
            <a:r>
              <a:rPr lang="en-US" sz="1400" dirty="0"/>
              <a:t> (born February 3, 1984) is an American biotechnology entrepreneur who was convicted of </a:t>
            </a:r>
            <a:r>
              <a:rPr lang="en-US" sz="1400" dirty="0">
                <a:hlinkClick r:id="rId4" tooltip="Fraud"/>
              </a:rPr>
              <a:t>fraud</a:t>
            </a:r>
            <a:r>
              <a:rPr lang="en-US" sz="1400" dirty="0"/>
              <a:t> in connection to her blood-testing company, </a:t>
            </a:r>
            <a:r>
              <a:rPr lang="en-US" sz="1400" dirty="0" err="1">
                <a:hlinkClick r:id="rId5" tooltip="Theranos"/>
              </a:rPr>
              <a:t>Theranos</a:t>
            </a:r>
            <a:r>
              <a:rPr lang="en-US" sz="1400" dirty="0"/>
              <a:t>.</a:t>
            </a:r>
            <a:r>
              <a:rPr lang="en-US" sz="1400" baseline="30000" dirty="0">
                <a:hlinkClick r:id="rId6"/>
              </a:rPr>
              <a:t>[2]</a:t>
            </a:r>
            <a:r>
              <a:rPr lang="en-US" sz="1400" dirty="0"/>
              <a:t> The company's </a:t>
            </a:r>
            <a:r>
              <a:rPr lang="en-US" sz="1400" dirty="0">
                <a:hlinkClick r:id="rId7" tooltip="Valuation (finance)"/>
              </a:rPr>
              <a:t>valuation</a:t>
            </a:r>
            <a:r>
              <a:rPr lang="en-US" sz="1400" dirty="0"/>
              <a:t> soared after it claimed to have revolutionized </a:t>
            </a:r>
            <a:r>
              <a:rPr lang="en-US" sz="1400" dirty="0">
                <a:hlinkClick r:id="rId8" tooltip="Blood test"/>
              </a:rPr>
              <a:t>blood testing</a:t>
            </a:r>
            <a:r>
              <a:rPr lang="en-US" sz="1400" dirty="0"/>
              <a:t> by developing methods that needed only very small volumes of blood, such as from a </a:t>
            </a:r>
            <a:r>
              <a:rPr lang="en-US" sz="1400" dirty="0" err="1">
                <a:hlinkClick r:id="rId9" tooltip="Fingerprick"/>
              </a:rPr>
              <a:t>fingerprick</a:t>
            </a:r>
            <a:r>
              <a:rPr lang="en-US" sz="1400" dirty="0"/>
              <a:t>.</a:t>
            </a:r>
            <a:r>
              <a:rPr lang="en-US" sz="1400" baseline="30000" dirty="0">
                <a:hlinkClick r:id="rId10"/>
              </a:rPr>
              <a:t>[3]</a:t>
            </a:r>
            <a:r>
              <a:rPr lang="en-US" sz="1400" baseline="30000" dirty="0">
                <a:hlinkClick r:id="rId11"/>
              </a:rPr>
              <a:t>[4]</a:t>
            </a:r>
            <a:r>
              <a:rPr lang="en-US" sz="1400" dirty="0"/>
              <a:t> In 2015, </a:t>
            </a:r>
            <a:r>
              <a:rPr lang="en-US" sz="1400" i="1" dirty="0">
                <a:hlinkClick r:id="rId12" tooltip="Forbes.com"/>
              </a:rPr>
              <a:t>Forbes</a:t>
            </a:r>
            <a:r>
              <a:rPr lang="en-US" sz="1400" dirty="0"/>
              <a:t> had named Holmes the youngest and wealthiest self-made female billionaire in the United States on the basis of a $9-billion valuation of her company.</a:t>
            </a:r>
            <a:r>
              <a:rPr lang="en-US" sz="1400" baseline="30000" dirty="0">
                <a:hlinkClick r:id="rId13"/>
              </a:rPr>
              <a:t>[5]</a:t>
            </a:r>
            <a:r>
              <a:rPr lang="en-US" sz="1400" dirty="0"/>
              <a:t> </a:t>
            </a:r>
          </a:p>
          <a:p>
            <a:endParaRPr lang="en-US" sz="1400" dirty="0"/>
          </a:p>
          <a:p>
            <a:r>
              <a:rPr lang="en-US" sz="1400" dirty="0"/>
              <a:t>In the following year, as revelations of fraud about </a:t>
            </a:r>
            <a:r>
              <a:rPr lang="en-US" sz="1400" dirty="0" err="1"/>
              <a:t>Theranos's</a:t>
            </a:r>
            <a:r>
              <a:rPr lang="en-US" sz="1400" dirty="0"/>
              <a:t> claims began to surface, </a:t>
            </a:r>
            <a:r>
              <a:rPr lang="en-US" sz="1400" i="1" dirty="0"/>
              <a:t>Forbes</a:t>
            </a:r>
            <a:r>
              <a:rPr lang="en-US" sz="1400" dirty="0"/>
              <a:t> revised its estimate of Holmes's </a:t>
            </a:r>
            <a:r>
              <a:rPr lang="en-US" sz="1400" dirty="0">
                <a:hlinkClick r:id="rId14" tooltip="Net worth"/>
              </a:rPr>
              <a:t>net worth</a:t>
            </a:r>
            <a:r>
              <a:rPr lang="en-US" sz="1400" dirty="0"/>
              <a:t> to zero,</a:t>
            </a:r>
            <a:r>
              <a:rPr lang="en-US" sz="1400" baseline="30000" dirty="0">
                <a:hlinkClick r:id="rId15"/>
              </a:rPr>
              <a:t>[6]</a:t>
            </a:r>
            <a:r>
              <a:rPr lang="en-US" sz="1400" dirty="0"/>
              <a:t> and </a:t>
            </a:r>
            <a:r>
              <a:rPr lang="en-US" sz="1400" i="1" dirty="0">
                <a:hlinkClick r:id="rId16" tooltip="Fortune (magazine)"/>
              </a:rPr>
              <a:t>Fortune</a:t>
            </a:r>
            <a:r>
              <a:rPr lang="en-US" sz="1400" dirty="0"/>
              <a:t> named her in its feature article on "The World's 19 Most Disappointing Leaders".</a:t>
            </a:r>
            <a:r>
              <a:rPr lang="en-US" sz="1400" baseline="30000" dirty="0">
                <a:hlinkClick r:id="rId17"/>
              </a:rPr>
              <a:t>[7]</a:t>
            </a:r>
            <a:r>
              <a:rPr lang="en-US" sz="1400" dirty="0"/>
              <a:t> </a:t>
            </a:r>
          </a:p>
        </p:txBody>
      </p:sp>
      <p:sp>
        <p:nvSpPr>
          <p:cNvPr id="8" name="TextBox 7">
            <a:extLst>
              <a:ext uri="{FF2B5EF4-FFF2-40B4-BE49-F238E27FC236}">
                <a16:creationId xmlns:a16="http://schemas.microsoft.com/office/drawing/2014/main" id="{1174AFD4-49E7-E6E8-5116-1A5482940819}"/>
              </a:ext>
            </a:extLst>
          </p:cNvPr>
          <p:cNvSpPr txBox="1"/>
          <p:nvPr/>
        </p:nvSpPr>
        <p:spPr>
          <a:xfrm>
            <a:off x="381000" y="5486400"/>
            <a:ext cx="7467600" cy="369332"/>
          </a:xfrm>
          <a:prstGeom prst="rect">
            <a:avLst/>
          </a:prstGeom>
          <a:noFill/>
        </p:spPr>
        <p:txBody>
          <a:bodyPr wrap="square">
            <a:spAutoFit/>
          </a:bodyPr>
          <a:lstStyle/>
          <a:p>
            <a:r>
              <a:rPr lang="en-US" dirty="0">
                <a:hlinkClick r:id="rId18"/>
              </a:rPr>
              <a:t>https://en.wikipedia.org/wiki/Elizabeth_Holmes</a:t>
            </a:r>
            <a:r>
              <a:rPr lang="en-US" dirty="0"/>
              <a:t> </a:t>
            </a:r>
          </a:p>
        </p:txBody>
      </p:sp>
    </p:spTree>
    <p:extLst>
      <p:ext uri="{BB962C8B-B14F-4D97-AF65-F5344CB8AC3E}">
        <p14:creationId xmlns:p14="http://schemas.microsoft.com/office/powerpoint/2010/main" val="2621264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8D6F6C-D261-FEE5-070C-752D639739D7}"/>
              </a:ext>
            </a:extLst>
          </p:cNvPr>
          <p:cNvPicPr>
            <a:picLocks noChangeAspect="1"/>
          </p:cNvPicPr>
          <p:nvPr/>
        </p:nvPicPr>
        <p:blipFill>
          <a:blip r:embed="rId3"/>
          <a:stretch>
            <a:fillRect/>
          </a:stretch>
        </p:blipFill>
        <p:spPr>
          <a:xfrm>
            <a:off x="0" y="0"/>
            <a:ext cx="9144000" cy="1594981"/>
          </a:xfrm>
          <a:prstGeom prst="rect">
            <a:avLst/>
          </a:prstGeom>
        </p:spPr>
      </p:pic>
      <p:sp>
        <p:nvSpPr>
          <p:cNvPr id="9" name="TextBox 8">
            <a:extLst>
              <a:ext uri="{FF2B5EF4-FFF2-40B4-BE49-F238E27FC236}">
                <a16:creationId xmlns:a16="http://schemas.microsoft.com/office/drawing/2014/main" id="{71752BA9-2033-8508-A4C5-D7468334DAD8}"/>
              </a:ext>
            </a:extLst>
          </p:cNvPr>
          <p:cNvSpPr txBox="1"/>
          <p:nvPr/>
        </p:nvSpPr>
        <p:spPr>
          <a:xfrm>
            <a:off x="228600" y="5943600"/>
            <a:ext cx="9372600" cy="369332"/>
          </a:xfrm>
          <a:prstGeom prst="rect">
            <a:avLst/>
          </a:prstGeom>
          <a:noFill/>
        </p:spPr>
        <p:txBody>
          <a:bodyPr wrap="square">
            <a:spAutoFit/>
          </a:bodyPr>
          <a:lstStyle/>
          <a:p>
            <a:r>
              <a:rPr lang="en-US" dirty="0">
                <a:hlinkClick r:id="rId4"/>
              </a:rPr>
              <a:t>https://www.integrityline.com/expertise/blog/elizabeth-holmes-theranos/</a:t>
            </a:r>
            <a:r>
              <a:rPr lang="en-US" dirty="0"/>
              <a:t> </a:t>
            </a:r>
          </a:p>
        </p:txBody>
      </p:sp>
      <p:pic>
        <p:nvPicPr>
          <p:cNvPr id="11" name="Picture 10">
            <a:extLst>
              <a:ext uri="{FF2B5EF4-FFF2-40B4-BE49-F238E27FC236}">
                <a16:creationId xmlns:a16="http://schemas.microsoft.com/office/drawing/2014/main" id="{C7321029-A868-3C33-EAA9-325FED1C587F}"/>
              </a:ext>
            </a:extLst>
          </p:cNvPr>
          <p:cNvPicPr>
            <a:picLocks noChangeAspect="1"/>
          </p:cNvPicPr>
          <p:nvPr/>
        </p:nvPicPr>
        <p:blipFill>
          <a:blip r:embed="rId5"/>
          <a:stretch>
            <a:fillRect/>
          </a:stretch>
        </p:blipFill>
        <p:spPr>
          <a:xfrm>
            <a:off x="181732" y="2362200"/>
            <a:ext cx="8682182" cy="2667000"/>
          </a:xfrm>
          <a:prstGeom prst="rect">
            <a:avLst/>
          </a:prstGeom>
        </p:spPr>
      </p:pic>
    </p:spTree>
    <p:extLst>
      <p:ext uri="{BB962C8B-B14F-4D97-AF65-F5344CB8AC3E}">
        <p14:creationId xmlns:p14="http://schemas.microsoft.com/office/powerpoint/2010/main" val="2737813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llage of two men&#10;&#10;Description automatically generated">
            <a:extLst>
              <a:ext uri="{FF2B5EF4-FFF2-40B4-BE49-F238E27FC236}">
                <a16:creationId xmlns:a16="http://schemas.microsoft.com/office/drawing/2014/main" id="{F7520F46-77ED-C5B2-2274-805560501139}"/>
              </a:ext>
            </a:extLst>
          </p:cNvPr>
          <p:cNvPicPr>
            <a:picLocks noChangeAspect="1"/>
          </p:cNvPicPr>
          <p:nvPr/>
        </p:nvPicPr>
        <p:blipFill rotWithShape="1">
          <a:blip r:embed="rId3">
            <a:extLst>
              <a:ext uri="{28A0092B-C50C-407E-A947-70E740481C1C}">
                <a14:useLocalDpi xmlns:a14="http://schemas.microsoft.com/office/drawing/2010/main" val="0"/>
              </a:ext>
            </a:extLst>
          </a:blip>
          <a:srcRect r="51013"/>
          <a:stretch/>
        </p:blipFill>
        <p:spPr>
          <a:xfrm>
            <a:off x="859341" y="1468037"/>
            <a:ext cx="2798259" cy="3904547"/>
          </a:xfrm>
          <a:prstGeom prst="rect">
            <a:avLst/>
          </a:prstGeom>
        </p:spPr>
      </p:pic>
      <p:sp>
        <p:nvSpPr>
          <p:cNvPr id="5" name="TextBox 4">
            <a:extLst>
              <a:ext uri="{FF2B5EF4-FFF2-40B4-BE49-F238E27FC236}">
                <a16:creationId xmlns:a16="http://schemas.microsoft.com/office/drawing/2014/main" id="{A74E120B-B7E4-38E2-C153-DA6A51679CF3}"/>
              </a:ext>
            </a:extLst>
          </p:cNvPr>
          <p:cNvSpPr txBox="1"/>
          <p:nvPr/>
        </p:nvSpPr>
        <p:spPr>
          <a:xfrm>
            <a:off x="809625" y="487918"/>
            <a:ext cx="4572000" cy="369332"/>
          </a:xfrm>
          <a:prstGeom prst="rect">
            <a:avLst/>
          </a:prstGeom>
          <a:noFill/>
        </p:spPr>
        <p:txBody>
          <a:bodyPr wrap="square">
            <a:spAutoFit/>
          </a:bodyPr>
          <a:lstStyle/>
          <a:p>
            <a:r>
              <a:rPr lang="en-US" b="1" dirty="0"/>
              <a:t>Tyler Shultz </a:t>
            </a:r>
          </a:p>
        </p:txBody>
      </p:sp>
      <p:sp>
        <p:nvSpPr>
          <p:cNvPr id="6" name="TextBox 5">
            <a:extLst>
              <a:ext uri="{FF2B5EF4-FFF2-40B4-BE49-F238E27FC236}">
                <a16:creationId xmlns:a16="http://schemas.microsoft.com/office/drawing/2014/main" id="{112D85D4-69EB-F358-0633-B3F819DBC091}"/>
              </a:ext>
            </a:extLst>
          </p:cNvPr>
          <p:cNvSpPr txBox="1"/>
          <p:nvPr/>
        </p:nvSpPr>
        <p:spPr>
          <a:xfrm>
            <a:off x="4800600" y="487918"/>
            <a:ext cx="4572000" cy="369332"/>
          </a:xfrm>
          <a:prstGeom prst="rect">
            <a:avLst/>
          </a:prstGeom>
          <a:noFill/>
        </p:spPr>
        <p:txBody>
          <a:bodyPr wrap="square">
            <a:spAutoFit/>
          </a:bodyPr>
          <a:lstStyle/>
          <a:p>
            <a:r>
              <a:rPr lang="en-US" b="1" dirty="0"/>
              <a:t>Erika Cheung</a:t>
            </a:r>
          </a:p>
        </p:txBody>
      </p:sp>
      <p:pic>
        <p:nvPicPr>
          <p:cNvPr id="8" name="Picture 7">
            <a:extLst>
              <a:ext uri="{FF2B5EF4-FFF2-40B4-BE49-F238E27FC236}">
                <a16:creationId xmlns:a16="http://schemas.microsoft.com/office/drawing/2014/main" id="{5A3DC936-DF64-6337-44A5-A0207171D285}"/>
              </a:ext>
            </a:extLst>
          </p:cNvPr>
          <p:cNvPicPr>
            <a:picLocks noChangeAspect="1"/>
          </p:cNvPicPr>
          <p:nvPr/>
        </p:nvPicPr>
        <p:blipFill>
          <a:blip r:embed="rId4"/>
          <a:stretch>
            <a:fillRect/>
          </a:stretch>
        </p:blipFill>
        <p:spPr>
          <a:xfrm>
            <a:off x="4267200" y="1482265"/>
            <a:ext cx="3886200" cy="3886200"/>
          </a:xfrm>
          <a:prstGeom prst="rect">
            <a:avLst/>
          </a:prstGeom>
        </p:spPr>
      </p:pic>
    </p:spTree>
    <p:extLst>
      <p:ext uri="{BB962C8B-B14F-4D97-AF65-F5344CB8AC3E}">
        <p14:creationId xmlns:p14="http://schemas.microsoft.com/office/powerpoint/2010/main" val="320863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97959E2-3C5F-934E-A4A5-4489588ABDFB}"/>
              </a:ext>
            </a:extLst>
          </p:cNvPr>
          <p:cNvSpPr>
            <a:spLocks noGrp="1"/>
          </p:cNvSpPr>
          <p:nvPr>
            <p:ph type="title"/>
          </p:nvPr>
        </p:nvSpPr>
        <p:spPr/>
        <p:txBody>
          <a:bodyPr/>
          <a:lstStyle/>
          <a:p>
            <a:r>
              <a:rPr lang="en-US" dirty="0"/>
              <a:t>How bad is it?</a:t>
            </a:r>
          </a:p>
        </p:txBody>
      </p:sp>
      <p:sp>
        <p:nvSpPr>
          <p:cNvPr id="7" name="Content Placeholder 6">
            <a:extLst>
              <a:ext uri="{FF2B5EF4-FFF2-40B4-BE49-F238E27FC236}">
                <a16:creationId xmlns:a16="http://schemas.microsoft.com/office/drawing/2014/main" id="{34DF3227-94DA-8A4C-9C0C-6F6517C3F639}"/>
              </a:ext>
            </a:extLst>
          </p:cNvPr>
          <p:cNvSpPr>
            <a:spLocks noGrp="1"/>
          </p:cNvSpPr>
          <p:nvPr>
            <p:ph idx="1"/>
          </p:nvPr>
        </p:nvSpPr>
        <p:spPr/>
        <p:txBody>
          <a:bodyPr/>
          <a:lstStyle/>
          <a:p>
            <a:pPr lvl="0"/>
            <a:r>
              <a:rPr lang="en-US" dirty="0"/>
              <a:t>67% of companies had a security breach.</a:t>
            </a:r>
          </a:p>
          <a:p>
            <a:r>
              <a:rPr lang="en-US" dirty="0"/>
              <a:t>More than 45% were targeted by organized crime.</a:t>
            </a:r>
          </a:p>
          <a:p>
            <a:r>
              <a:rPr lang="en-US" dirty="0"/>
              <a:t>60% reported financial losses.</a:t>
            </a:r>
          </a:p>
          <a:p>
            <a:endParaRPr lang="en-US" dirty="0"/>
          </a:p>
          <a:p>
            <a:r>
              <a:rPr lang="en-US" dirty="0"/>
              <a:t>The </a:t>
            </a:r>
            <a:r>
              <a:rPr lang="en-US" b="1" dirty="0"/>
              <a:t>Association of Certified Fraud Examiners</a:t>
            </a:r>
            <a:r>
              <a:rPr lang="en-US" dirty="0"/>
              <a:t> (https://</a:t>
            </a:r>
            <a:r>
              <a:rPr lang="en-US" dirty="0" err="1"/>
              <a:t>www.acfe.com</a:t>
            </a:r>
            <a:r>
              <a:rPr lang="en-US" dirty="0"/>
              <a:t>/) estimates total yearly global fraud losses to be over </a:t>
            </a:r>
            <a:r>
              <a:rPr lang="en-US" b="1" dirty="0"/>
              <a:t>$3.7 trillion a year</a:t>
            </a:r>
            <a:r>
              <a:rPr lang="en-US" dirty="0"/>
              <a:t>.</a:t>
            </a:r>
          </a:p>
          <a:p>
            <a:endParaRPr lang="en-US" dirty="0"/>
          </a:p>
          <a:p>
            <a:endParaRPr lang="en-US" dirty="0"/>
          </a:p>
        </p:txBody>
      </p:sp>
    </p:spTree>
    <p:extLst>
      <p:ext uri="{BB962C8B-B14F-4D97-AF65-F5344CB8AC3E}">
        <p14:creationId xmlns:p14="http://schemas.microsoft.com/office/powerpoint/2010/main" val="3826174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A4E20F-C2C3-11B5-F342-88405BE3241C}"/>
              </a:ext>
            </a:extLst>
          </p:cNvPr>
          <p:cNvPicPr>
            <a:picLocks noChangeAspect="1"/>
          </p:cNvPicPr>
          <p:nvPr/>
        </p:nvPicPr>
        <p:blipFill>
          <a:blip r:embed="rId3"/>
          <a:stretch>
            <a:fillRect/>
          </a:stretch>
        </p:blipFill>
        <p:spPr>
          <a:xfrm>
            <a:off x="990600" y="29308"/>
            <a:ext cx="6992326" cy="6487430"/>
          </a:xfrm>
          <a:prstGeom prst="rect">
            <a:avLst/>
          </a:prstGeom>
        </p:spPr>
      </p:pic>
    </p:spTree>
    <p:extLst>
      <p:ext uri="{BB962C8B-B14F-4D97-AF65-F5344CB8AC3E}">
        <p14:creationId xmlns:p14="http://schemas.microsoft.com/office/powerpoint/2010/main" val="3870580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Threats to </a:t>
            </a:r>
            <a:r>
              <a:rPr lang="en-IN" sz="3600" spc="-450" dirty="0">
                <a:latin typeface="+mj-lt"/>
              </a:rPr>
              <a:t>A I </a:t>
            </a:r>
            <a:r>
              <a:rPr lang="en-IN" sz="3600" dirty="0">
                <a:latin typeface="+mj-lt"/>
              </a:rPr>
              <a:t>S</a:t>
            </a:r>
          </a:p>
        </p:txBody>
      </p:sp>
      <p:sp>
        <p:nvSpPr>
          <p:cNvPr id="2" name="Content Placeholder 1"/>
          <p:cNvSpPr>
            <a:spLocks noGrp="1"/>
          </p:cNvSpPr>
          <p:nvPr>
            <p:ph idx="13"/>
          </p:nvPr>
        </p:nvSpPr>
        <p:spPr>
          <a:xfrm>
            <a:off x="465826" y="999226"/>
            <a:ext cx="8229600" cy="2054409"/>
          </a:xfrm>
        </p:spPr>
        <p:txBody>
          <a:bodyPr>
            <a:noAutofit/>
          </a:bodyPr>
          <a:lstStyle/>
          <a:p>
            <a:pPr marL="339725" lvl="0" indent="-255588">
              <a:spcBef>
                <a:spcPts val="0"/>
              </a:spcBef>
              <a:buSzPts val="2400"/>
            </a:pPr>
            <a:r>
              <a:rPr lang="en-IN" sz="2400" dirty="0"/>
              <a:t>Natural and political disasters</a:t>
            </a:r>
          </a:p>
          <a:p>
            <a:pPr marL="339725" lvl="0" indent="-255588">
              <a:buSzPts val="2400"/>
            </a:pPr>
            <a:r>
              <a:rPr lang="en-IN" sz="2400" dirty="0"/>
              <a:t>Software errors and equipment malfunctions</a:t>
            </a:r>
          </a:p>
          <a:p>
            <a:pPr marL="339725" lvl="0" indent="-255588">
              <a:buSzPts val="2400"/>
            </a:pPr>
            <a:r>
              <a:rPr lang="en-IN" sz="2400" dirty="0"/>
              <a:t>Unintentional acts</a:t>
            </a:r>
          </a:p>
          <a:p>
            <a:pPr marL="826643" lvl="1" indent="-255588">
              <a:buSzPts val="2400"/>
            </a:pPr>
            <a:r>
              <a:rPr lang="en-IN" sz="2400" dirty="0"/>
              <a:t>80% of security problems are human error</a:t>
            </a:r>
          </a:p>
          <a:p>
            <a:pPr marL="339725" lvl="0" indent="-255588">
              <a:buSzPts val="2400"/>
            </a:pPr>
            <a:r>
              <a:rPr lang="en-IN" sz="2400" dirty="0"/>
              <a:t>Intentional acts</a:t>
            </a:r>
          </a:p>
        </p:txBody>
      </p:sp>
    </p:spTree>
    <p:extLst>
      <p:ext uri="{BB962C8B-B14F-4D97-AF65-F5344CB8AC3E}">
        <p14:creationId xmlns:p14="http://schemas.microsoft.com/office/powerpoint/2010/main" val="2654879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61026"/>
            <a:ext cx="8229600" cy="553998"/>
          </a:xfrm>
        </p:spPr>
        <p:txBody>
          <a:bodyPr anchor="ctr">
            <a:noAutofit/>
          </a:bodyPr>
          <a:lstStyle/>
          <a:p>
            <a:r>
              <a:rPr lang="en-IN" sz="3600" dirty="0">
                <a:latin typeface="+mj-lt"/>
              </a:rPr>
              <a:t>Fraud</a:t>
            </a:r>
          </a:p>
        </p:txBody>
      </p:sp>
      <p:sp>
        <p:nvSpPr>
          <p:cNvPr id="2" name="Content Placeholder 1"/>
          <p:cNvSpPr>
            <a:spLocks noGrp="1"/>
          </p:cNvSpPr>
          <p:nvPr>
            <p:ph idx="13"/>
          </p:nvPr>
        </p:nvSpPr>
        <p:spPr>
          <a:xfrm>
            <a:off x="465826" y="999226"/>
            <a:ext cx="8229600" cy="3611245"/>
          </a:xfrm>
        </p:spPr>
        <p:txBody>
          <a:bodyPr>
            <a:noAutofit/>
          </a:bodyPr>
          <a:lstStyle/>
          <a:p>
            <a:pPr>
              <a:spcBef>
                <a:spcPts val="0"/>
              </a:spcBef>
            </a:pPr>
            <a:r>
              <a:rPr lang="en-IN" sz="2400" dirty="0"/>
              <a:t>Any means a person uses to gain an unfair advantage over another person; includes: Fraud is white-collar crime</a:t>
            </a:r>
          </a:p>
          <a:p>
            <a:pPr lvl="1">
              <a:spcBef>
                <a:spcPts val="1600"/>
              </a:spcBef>
              <a:buSzPts val="2000"/>
            </a:pPr>
            <a:r>
              <a:rPr lang="en-IN" sz="2400" dirty="0"/>
              <a:t>A </a:t>
            </a:r>
            <a:r>
              <a:rPr lang="en-IN" sz="2400" b="1" dirty="0"/>
              <a:t>false</a:t>
            </a:r>
            <a:r>
              <a:rPr lang="en-IN" sz="2400" dirty="0"/>
              <a:t> statement, representation, or disclosure</a:t>
            </a:r>
          </a:p>
          <a:p>
            <a:pPr lvl="1">
              <a:spcBef>
                <a:spcPts val="1600"/>
              </a:spcBef>
              <a:buSzPts val="2000"/>
            </a:pPr>
            <a:r>
              <a:rPr lang="en-IN" sz="2400" dirty="0"/>
              <a:t>A </a:t>
            </a:r>
            <a:r>
              <a:rPr lang="en-IN" sz="2400" b="1" dirty="0"/>
              <a:t>material fact</a:t>
            </a:r>
            <a:r>
              <a:rPr lang="en-IN" sz="2400" dirty="0"/>
              <a:t>, which </a:t>
            </a:r>
            <a:r>
              <a:rPr lang="en-IN" sz="2400" b="1" dirty="0"/>
              <a:t>induces</a:t>
            </a:r>
            <a:r>
              <a:rPr lang="en-IN" sz="2400" dirty="0"/>
              <a:t> a victim to act</a:t>
            </a:r>
          </a:p>
          <a:p>
            <a:pPr lvl="1">
              <a:spcBef>
                <a:spcPts val="1600"/>
              </a:spcBef>
              <a:buSzPts val="2000"/>
            </a:pPr>
            <a:r>
              <a:rPr lang="en-IN" sz="2400" dirty="0"/>
              <a:t>An </a:t>
            </a:r>
            <a:r>
              <a:rPr lang="en-IN" sz="2400" b="1" dirty="0"/>
              <a:t>intent</a:t>
            </a:r>
            <a:r>
              <a:rPr lang="en-IN" sz="2400" dirty="0"/>
              <a:t> to deceive</a:t>
            </a:r>
          </a:p>
          <a:p>
            <a:pPr lvl="1">
              <a:spcBef>
                <a:spcPts val="1600"/>
              </a:spcBef>
              <a:buSzPts val="2000"/>
            </a:pPr>
            <a:r>
              <a:rPr lang="en-IN" sz="2400" dirty="0"/>
              <a:t>Victim </a:t>
            </a:r>
            <a:r>
              <a:rPr lang="en-IN" sz="2400" b="1" dirty="0"/>
              <a:t>relied</a:t>
            </a:r>
            <a:r>
              <a:rPr lang="en-IN" sz="2400" dirty="0"/>
              <a:t> on the misrepresentation</a:t>
            </a:r>
          </a:p>
          <a:p>
            <a:pPr lvl="1">
              <a:spcBef>
                <a:spcPts val="1600"/>
              </a:spcBef>
              <a:buSzPts val="2000"/>
            </a:pPr>
            <a:r>
              <a:rPr lang="en-IN" sz="2400" dirty="0"/>
              <a:t>Injury or </a:t>
            </a:r>
            <a:r>
              <a:rPr lang="en-IN" sz="2400" b="1" dirty="0"/>
              <a:t>loss</a:t>
            </a:r>
            <a:r>
              <a:rPr lang="en-IN" sz="2400" dirty="0"/>
              <a:t> was suffered by the victim</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67263" y="4699958"/>
            <a:ext cx="8229600" cy="369332"/>
          </a:xfrm>
        </p:spPr>
        <p:txBody>
          <a:bodyPr>
            <a:noAutofit/>
          </a:bodyPr>
          <a:lstStyle/>
          <a:p>
            <a:pPr marL="457200" lvl="1" indent="0">
              <a:buNone/>
            </a:pPr>
            <a:r>
              <a:rPr lang="en-IN" sz="2400" dirty="0"/>
              <a:t>Fraud is white-collar crime</a:t>
            </a:r>
          </a:p>
          <a:p>
            <a:pPr marL="457200" lvl="1" indent="0">
              <a:buNone/>
            </a:pPr>
            <a:endParaRPr lang="en-IN" sz="2400" b="1" dirty="0"/>
          </a:p>
          <a:p>
            <a:pPr marL="457200" lvl="1" indent="0">
              <a:buNone/>
            </a:pPr>
            <a:r>
              <a:rPr lang="en-IN" sz="2400" b="1" dirty="0"/>
              <a:t>5% of typical organization’s revenue is lost to fraud</a:t>
            </a:r>
          </a:p>
        </p:txBody>
      </p:sp>
    </p:spTree>
    <p:extLst>
      <p:ext uri="{BB962C8B-B14F-4D97-AF65-F5344CB8AC3E}">
        <p14:creationId xmlns:p14="http://schemas.microsoft.com/office/powerpoint/2010/main" val="1429451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Two Categories of Fraud</a:t>
            </a:r>
          </a:p>
        </p:txBody>
      </p:sp>
      <p:sp>
        <p:nvSpPr>
          <p:cNvPr id="2" name="Content Placeholder 1"/>
          <p:cNvSpPr>
            <a:spLocks noGrp="1"/>
          </p:cNvSpPr>
          <p:nvPr>
            <p:ph idx="13"/>
          </p:nvPr>
        </p:nvSpPr>
        <p:spPr>
          <a:xfrm>
            <a:off x="465826" y="999226"/>
            <a:ext cx="8229600" cy="3185487"/>
          </a:xfrm>
        </p:spPr>
        <p:txBody>
          <a:bodyPr>
            <a:noAutofit/>
          </a:bodyPr>
          <a:lstStyle/>
          <a:p>
            <a:pPr marL="338138" lvl="0" indent="-255588">
              <a:spcBef>
                <a:spcPts val="0"/>
              </a:spcBef>
              <a:buSzPts val="2400"/>
            </a:pPr>
            <a:r>
              <a:rPr lang="en-IN" sz="2400" b="1" dirty="0"/>
              <a:t>Misappropriation of assets</a:t>
            </a:r>
          </a:p>
          <a:p>
            <a:pPr lvl="1">
              <a:buSzPts val="2000"/>
            </a:pPr>
            <a:r>
              <a:rPr lang="en-IN" sz="2400" dirty="0"/>
              <a:t>Theft of company assets which can include physical assets (e.g., cash, inventory) and digital assets (e.g., intellectual property such as protected trade secrets, customer data)</a:t>
            </a:r>
          </a:p>
          <a:p>
            <a:pPr lvl="1">
              <a:buSzPts val="2000"/>
            </a:pPr>
            <a:r>
              <a:rPr lang="en-IN" sz="2400" i="1" dirty="0"/>
              <a:t>Median loss $125,000 and 83% of total cases</a:t>
            </a:r>
          </a:p>
          <a:p>
            <a:pPr marL="338138" lvl="0" indent="-255588">
              <a:spcBef>
                <a:spcPts val="600"/>
              </a:spcBef>
              <a:buSzPts val="2400"/>
            </a:pPr>
            <a:r>
              <a:rPr lang="en-IN" sz="2400" b="1" dirty="0"/>
              <a:t>Fraudulent financial reporting </a:t>
            </a:r>
          </a:p>
          <a:p>
            <a:pPr lvl="1">
              <a:buSzPts val="2000"/>
            </a:pPr>
            <a:r>
              <a:rPr lang="en-IN" sz="2400" dirty="0"/>
              <a:t>“cooking the books” (e.g., booking fictitious revenue, overstating assets, etc.)</a:t>
            </a:r>
          </a:p>
          <a:p>
            <a:pPr lvl="1">
              <a:buSzPts val="2000"/>
            </a:pPr>
            <a:r>
              <a:rPr lang="en-IN" sz="2400" i="1" dirty="0"/>
              <a:t>Median loss $975,000, &lt;10% total cases</a:t>
            </a:r>
          </a:p>
          <a:p>
            <a:pPr lvl="1">
              <a:buSzPts val="2000"/>
            </a:pPr>
            <a:r>
              <a:rPr lang="en-IN" sz="2400" i="1" dirty="0"/>
              <a:t>Undetected fraud is a factor in over half of lawsuits against auditors</a:t>
            </a:r>
          </a:p>
        </p:txBody>
      </p:sp>
    </p:spTree>
    <p:extLst>
      <p:ext uri="{BB962C8B-B14F-4D97-AF65-F5344CB8AC3E}">
        <p14:creationId xmlns:p14="http://schemas.microsoft.com/office/powerpoint/2010/main" val="1121977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507748-88FC-F674-9B7A-24765D7EE78A}"/>
              </a:ext>
            </a:extLst>
          </p:cNvPr>
          <p:cNvPicPr>
            <a:picLocks noChangeAspect="1"/>
          </p:cNvPicPr>
          <p:nvPr/>
        </p:nvPicPr>
        <p:blipFill>
          <a:blip r:embed="rId3"/>
          <a:stretch>
            <a:fillRect/>
          </a:stretch>
        </p:blipFill>
        <p:spPr>
          <a:xfrm>
            <a:off x="5029200" y="381000"/>
            <a:ext cx="3756249" cy="4191000"/>
          </a:xfrm>
          <a:prstGeom prst="rect">
            <a:avLst/>
          </a:prstGeom>
        </p:spPr>
      </p:pic>
      <p:sp>
        <p:nvSpPr>
          <p:cNvPr id="9" name="TextBox 8">
            <a:extLst>
              <a:ext uri="{FF2B5EF4-FFF2-40B4-BE49-F238E27FC236}">
                <a16:creationId xmlns:a16="http://schemas.microsoft.com/office/drawing/2014/main" id="{43DA6C0D-909C-AB06-BEBF-3AF374402F52}"/>
              </a:ext>
            </a:extLst>
          </p:cNvPr>
          <p:cNvSpPr txBox="1"/>
          <p:nvPr/>
        </p:nvSpPr>
        <p:spPr>
          <a:xfrm>
            <a:off x="304800" y="5334000"/>
            <a:ext cx="8839200" cy="646331"/>
          </a:xfrm>
          <a:prstGeom prst="rect">
            <a:avLst/>
          </a:prstGeom>
          <a:noFill/>
        </p:spPr>
        <p:txBody>
          <a:bodyPr wrap="square">
            <a:spAutoFit/>
          </a:bodyPr>
          <a:lstStyle/>
          <a:p>
            <a:r>
              <a:rPr lang="en-US" dirty="0"/>
              <a:t>https://www.theguardian.com/business/2023/apr/06/forbes-30-under-30-tech-finance-prison</a:t>
            </a:r>
          </a:p>
        </p:txBody>
      </p:sp>
      <p:pic>
        <p:nvPicPr>
          <p:cNvPr id="11" name="Picture 10">
            <a:extLst>
              <a:ext uri="{FF2B5EF4-FFF2-40B4-BE49-F238E27FC236}">
                <a16:creationId xmlns:a16="http://schemas.microsoft.com/office/drawing/2014/main" id="{0D335C4A-E346-E5A1-BE69-CC6B7A55B3E3}"/>
              </a:ext>
            </a:extLst>
          </p:cNvPr>
          <p:cNvPicPr>
            <a:picLocks noChangeAspect="1"/>
          </p:cNvPicPr>
          <p:nvPr/>
        </p:nvPicPr>
        <p:blipFill>
          <a:blip r:embed="rId4"/>
          <a:stretch>
            <a:fillRect/>
          </a:stretch>
        </p:blipFill>
        <p:spPr>
          <a:xfrm>
            <a:off x="152400" y="877669"/>
            <a:ext cx="4755806" cy="4010382"/>
          </a:xfrm>
          <a:prstGeom prst="rect">
            <a:avLst/>
          </a:prstGeom>
        </p:spPr>
      </p:pic>
    </p:spTree>
    <p:extLst>
      <p:ext uri="{BB962C8B-B14F-4D97-AF65-F5344CB8AC3E}">
        <p14:creationId xmlns:p14="http://schemas.microsoft.com/office/powerpoint/2010/main" val="2948727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A06222-6473-D942-B02F-95E1855E81AA}"/>
              </a:ext>
            </a:extLst>
          </p:cNvPr>
          <p:cNvSpPr>
            <a:spLocks noGrp="1"/>
          </p:cNvSpPr>
          <p:nvPr>
            <p:ph type="title"/>
          </p:nvPr>
        </p:nvSpPr>
        <p:spPr/>
        <p:txBody>
          <a:bodyPr/>
          <a:lstStyle/>
          <a:p>
            <a:r>
              <a:rPr lang="en-US" dirty="0"/>
              <a:t>Fraud statistics</a:t>
            </a:r>
          </a:p>
        </p:txBody>
      </p:sp>
      <p:sp>
        <p:nvSpPr>
          <p:cNvPr id="7" name="Content Placeholder 6">
            <a:extLst>
              <a:ext uri="{FF2B5EF4-FFF2-40B4-BE49-F238E27FC236}">
                <a16:creationId xmlns:a16="http://schemas.microsoft.com/office/drawing/2014/main" id="{B241E7ED-287C-BA43-850D-AE5F3830242A}"/>
              </a:ext>
            </a:extLst>
          </p:cNvPr>
          <p:cNvSpPr>
            <a:spLocks noGrp="1"/>
          </p:cNvSpPr>
          <p:nvPr>
            <p:ph idx="1"/>
          </p:nvPr>
        </p:nvSpPr>
        <p:spPr/>
        <p:txBody>
          <a:bodyPr/>
          <a:lstStyle/>
          <a:p>
            <a:r>
              <a:rPr lang="en-US" dirty="0"/>
              <a:t>Small companies more vulnerable than larger</a:t>
            </a:r>
          </a:p>
          <a:p>
            <a:r>
              <a:rPr lang="en-US" dirty="0"/>
              <a:t>75% of in accounting, operations, sales, upper management, customer service, purchasing, and finance.</a:t>
            </a:r>
          </a:p>
          <a:p>
            <a:r>
              <a:rPr lang="en-US" dirty="0"/>
              <a:t>41% not reported to police</a:t>
            </a:r>
          </a:p>
          <a:p>
            <a:r>
              <a:rPr lang="en-US" dirty="0"/>
              <a:t>79% of cases had warning behavior (living beyond means, financial difficulties, family problems)</a:t>
            </a:r>
          </a:p>
          <a:p>
            <a:r>
              <a:rPr lang="en-US" dirty="0"/>
              <a:t>Most are first-time offenders</a:t>
            </a:r>
            <a:endParaRPr lang="en-US" i="1" dirty="0"/>
          </a:p>
          <a:p>
            <a:pPr>
              <a:buSzPts val="2000"/>
            </a:pPr>
            <a:r>
              <a:rPr lang="en-IN" i="1" dirty="0"/>
              <a:t>Owner/Executive fraud 4x Manager fraud</a:t>
            </a:r>
          </a:p>
          <a:p>
            <a:pPr>
              <a:buSzPts val="2000"/>
            </a:pPr>
            <a:r>
              <a:rPr lang="en-IN" i="1" dirty="0"/>
              <a:t>Manager fraud 11x costly as employee fraud</a:t>
            </a:r>
          </a:p>
        </p:txBody>
      </p:sp>
    </p:spTree>
    <p:extLst>
      <p:ext uri="{BB962C8B-B14F-4D97-AF65-F5344CB8AC3E}">
        <p14:creationId xmlns:p14="http://schemas.microsoft.com/office/powerpoint/2010/main" val="495510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5826" y="132598"/>
            <a:ext cx="8229600" cy="618079"/>
          </a:xfrm>
        </p:spPr>
        <p:txBody>
          <a:bodyPr anchor="ctr">
            <a:noAutofit/>
          </a:bodyPr>
          <a:lstStyle/>
          <a:p>
            <a:r>
              <a:rPr lang="en-IN" sz="3600" dirty="0">
                <a:latin typeface="+mj-lt"/>
              </a:rPr>
              <a:t>Auditor’s Responsibility</a:t>
            </a:r>
          </a:p>
        </p:txBody>
      </p:sp>
      <p:sp>
        <p:nvSpPr>
          <p:cNvPr id="2" name="Content Placeholder 1"/>
          <p:cNvSpPr>
            <a:spLocks noGrp="1"/>
          </p:cNvSpPr>
          <p:nvPr>
            <p:ph idx="13"/>
          </p:nvPr>
        </p:nvSpPr>
        <p:spPr>
          <a:xfrm>
            <a:off x="465826" y="999226"/>
            <a:ext cx="8229600" cy="3493264"/>
          </a:xfrm>
        </p:spPr>
        <p:txBody>
          <a:bodyPr>
            <a:noAutofit/>
          </a:bodyPr>
          <a:lstStyle/>
          <a:p>
            <a:pPr marL="109728" lvl="0" indent="0">
              <a:spcBef>
                <a:spcPts val="0"/>
              </a:spcBef>
              <a:buSzPts val="2400"/>
              <a:buNone/>
            </a:pPr>
            <a:r>
              <a:rPr lang="en-IN" sz="2400" spc="-350" dirty="0"/>
              <a:t>S A </a:t>
            </a:r>
            <a:r>
              <a:rPr lang="en-IN" sz="2400" dirty="0"/>
              <a:t>S No. 99 (</a:t>
            </a:r>
            <a:r>
              <a:rPr lang="en-IN" sz="2400" spc="-350" dirty="0"/>
              <a:t>A </a:t>
            </a:r>
            <a:r>
              <a:rPr lang="en-IN" sz="2400" dirty="0"/>
              <a:t>U-C Section 240) requires auditors to:</a:t>
            </a:r>
          </a:p>
          <a:p>
            <a:pPr marL="398463" lvl="0" indent="-255588">
              <a:spcBef>
                <a:spcPts val="600"/>
              </a:spcBef>
              <a:buSzPct val="100000"/>
            </a:pPr>
            <a:r>
              <a:rPr lang="en-IN" sz="2400" dirty="0"/>
              <a:t>Understand fraud</a:t>
            </a:r>
          </a:p>
          <a:p>
            <a:pPr marL="398463" lvl="0" indent="-255588">
              <a:spcBef>
                <a:spcPts val="600"/>
              </a:spcBef>
              <a:buSzPct val="100000"/>
            </a:pPr>
            <a:r>
              <a:rPr lang="en-IN" sz="2400" dirty="0"/>
              <a:t>Discuss the risks of material fraudulent misstatements</a:t>
            </a:r>
          </a:p>
          <a:p>
            <a:pPr marL="398463" lvl="0" indent="-255588">
              <a:spcBef>
                <a:spcPts val="600"/>
              </a:spcBef>
              <a:buSzPct val="100000"/>
            </a:pPr>
            <a:r>
              <a:rPr lang="en-IN" sz="2400" dirty="0"/>
              <a:t>Obtain information</a:t>
            </a:r>
          </a:p>
          <a:p>
            <a:pPr marL="398463" lvl="0" indent="-255588">
              <a:spcBef>
                <a:spcPts val="600"/>
              </a:spcBef>
              <a:buSzPct val="100000"/>
            </a:pPr>
            <a:r>
              <a:rPr lang="en-IN" sz="2400" dirty="0"/>
              <a:t>Identify, assess, and respond to risks</a:t>
            </a:r>
          </a:p>
          <a:p>
            <a:pPr marL="398463" lvl="0" indent="-255588">
              <a:spcBef>
                <a:spcPts val="600"/>
              </a:spcBef>
              <a:buSzPct val="100000"/>
            </a:pPr>
            <a:r>
              <a:rPr lang="en-IN" sz="2400" dirty="0"/>
              <a:t>Evaluate the results of their audit tests</a:t>
            </a:r>
          </a:p>
          <a:p>
            <a:pPr marL="398463" lvl="0" indent="-255588">
              <a:spcBef>
                <a:spcPts val="600"/>
              </a:spcBef>
              <a:buSzPct val="100000"/>
            </a:pPr>
            <a:r>
              <a:rPr lang="en-IN" sz="2400" dirty="0"/>
              <a:t>Document and communicate findings</a:t>
            </a:r>
          </a:p>
          <a:p>
            <a:pPr marL="398463" lvl="0" indent="-255588">
              <a:spcBef>
                <a:spcPts val="600"/>
              </a:spcBef>
              <a:buSzPct val="100000"/>
            </a:pPr>
            <a:r>
              <a:rPr lang="en-IN" sz="2400" dirty="0"/>
              <a:t>Incorporate a technology focus</a:t>
            </a:r>
          </a:p>
        </p:txBody>
      </p:sp>
    </p:spTree>
    <p:extLst>
      <p:ext uri="{BB962C8B-B14F-4D97-AF65-F5344CB8AC3E}">
        <p14:creationId xmlns:p14="http://schemas.microsoft.com/office/powerpoint/2010/main" val="480172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3FFE02E-BC97-2340-7ADA-F9973B46F4A7}"/>
              </a:ext>
            </a:extLst>
          </p:cNvPr>
          <p:cNvPicPr>
            <a:picLocks noChangeAspect="1"/>
          </p:cNvPicPr>
          <p:nvPr/>
        </p:nvPicPr>
        <p:blipFill>
          <a:blip r:embed="rId2"/>
          <a:stretch>
            <a:fillRect/>
          </a:stretch>
        </p:blipFill>
        <p:spPr>
          <a:xfrm>
            <a:off x="0" y="304800"/>
            <a:ext cx="9144000" cy="1679322"/>
          </a:xfrm>
          <a:prstGeom prst="rect">
            <a:avLst/>
          </a:prstGeom>
        </p:spPr>
      </p:pic>
      <p:pic>
        <p:nvPicPr>
          <p:cNvPr id="9" name="Picture 8" descr="A close-up of a building&#10;&#10;Description automatically generated">
            <a:extLst>
              <a:ext uri="{FF2B5EF4-FFF2-40B4-BE49-F238E27FC236}">
                <a16:creationId xmlns:a16="http://schemas.microsoft.com/office/drawing/2014/main" id="{8F927855-AC35-3198-4064-9850DC378B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0" y="2971800"/>
            <a:ext cx="3654799" cy="2057400"/>
          </a:xfrm>
          <a:prstGeom prst="rect">
            <a:avLst/>
          </a:prstGeom>
        </p:spPr>
      </p:pic>
      <p:sp>
        <p:nvSpPr>
          <p:cNvPr id="11" name="TextBox 10">
            <a:extLst>
              <a:ext uri="{FF2B5EF4-FFF2-40B4-BE49-F238E27FC236}">
                <a16:creationId xmlns:a16="http://schemas.microsoft.com/office/drawing/2014/main" id="{DBF989A8-D1DE-80E2-58C9-077800CD11F9}"/>
              </a:ext>
            </a:extLst>
          </p:cNvPr>
          <p:cNvSpPr txBox="1"/>
          <p:nvPr/>
        </p:nvSpPr>
        <p:spPr>
          <a:xfrm>
            <a:off x="152400" y="2514600"/>
            <a:ext cx="4721599" cy="3539430"/>
          </a:xfrm>
          <a:prstGeom prst="rect">
            <a:avLst/>
          </a:prstGeom>
          <a:noFill/>
        </p:spPr>
        <p:txBody>
          <a:bodyPr wrap="square">
            <a:spAutoFit/>
          </a:bodyPr>
          <a:lstStyle/>
          <a:p>
            <a:r>
              <a:rPr lang="en-US" sz="1400" i="1" dirty="0"/>
              <a:t>New York CNN Business  —  </a:t>
            </a:r>
            <a:endParaRPr lang="en-US" sz="1400" dirty="0"/>
          </a:p>
          <a:p>
            <a:r>
              <a:rPr lang="en-US" sz="1400" dirty="0"/>
              <a:t>Ernst &amp; Young has been slapped with a record $100 million fine from the US government after regulators discovered that the company knew some of its auditors were cheating on exams for several years and did nothing to stop it. </a:t>
            </a:r>
          </a:p>
          <a:p>
            <a:endParaRPr lang="en-US" sz="1400" dirty="0"/>
          </a:p>
          <a:p>
            <a:r>
              <a:rPr lang="en-US" sz="1400" dirty="0"/>
              <a:t>The Securities and Exchange Commission said Tuesday that a “significant number” of the accounting firm’s auditors cheated on the ethics portion of the Certified Public Accountant test and other courses needed to maintain the licenses. Perhaps more stunningly, the SEC said that Ernst &amp; Young “made a submission” that it didn’t have “current issues with cheating when, in fact, the firm had been informed of potential cheating on a CPA ethics exam.” </a:t>
            </a:r>
          </a:p>
        </p:txBody>
      </p:sp>
    </p:spTree>
    <p:extLst>
      <p:ext uri="{BB962C8B-B14F-4D97-AF65-F5344CB8AC3E}">
        <p14:creationId xmlns:p14="http://schemas.microsoft.com/office/powerpoint/2010/main" val="2275578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C7C4D5-B134-BBEC-E8A8-FEA0100F74E4}"/>
              </a:ext>
            </a:extLst>
          </p:cNvPr>
          <p:cNvPicPr>
            <a:picLocks noChangeAspect="1"/>
          </p:cNvPicPr>
          <p:nvPr/>
        </p:nvPicPr>
        <p:blipFill>
          <a:blip r:embed="rId2"/>
          <a:stretch>
            <a:fillRect/>
          </a:stretch>
        </p:blipFill>
        <p:spPr>
          <a:xfrm>
            <a:off x="3581400" y="152400"/>
            <a:ext cx="4863236" cy="5005831"/>
          </a:xfrm>
          <a:prstGeom prst="rect">
            <a:avLst/>
          </a:prstGeom>
        </p:spPr>
      </p:pic>
      <p:sp>
        <p:nvSpPr>
          <p:cNvPr id="7" name="TextBox 6">
            <a:extLst>
              <a:ext uri="{FF2B5EF4-FFF2-40B4-BE49-F238E27FC236}">
                <a16:creationId xmlns:a16="http://schemas.microsoft.com/office/drawing/2014/main" id="{0A2031CD-2791-EBCA-1422-B8C652C4A05D}"/>
              </a:ext>
            </a:extLst>
          </p:cNvPr>
          <p:cNvSpPr txBox="1"/>
          <p:nvPr/>
        </p:nvSpPr>
        <p:spPr>
          <a:xfrm>
            <a:off x="152400" y="5638800"/>
            <a:ext cx="8839200" cy="646331"/>
          </a:xfrm>
          <a:prstGeom prst="rect">
            <a:avLst/>
          </a:prstGeom>
          <a:noFill/>
        </p:spPr>
        <p:txBody>
          <a:bodyPr wrap="square">
            <a:spAutoFit/>
          </a:bodyPr>
          <a:lstStyle/>
          <a:p>
            <a:r>
              <a:rPr lang="en-US" dirty="0"/>
              <a:t>https://www.theguardian.com/us-news/2024/apr/03/trump-media-inside-trading-guilty-plea</a:t>
            </a:r>
          </a:p>
        </p:txBody>
      </p:sp>
      <p:sp>
        <p:nvSpPr>
          <p:cNvPr id="9" name="TextBox 8">
            <a:extLst>
              <a:ext uri="{FF2B5EF4-FFF2-40B4-BE49-F238E27FC236}">
                <a16:creationId xmlns:a16="http://schemas.microsoft.com/office/drawing/2014/main" id="{F54E3BEA-230C-F841-8476-1C8842CD2BBE}"/>
              </a:ext>
            </a:extLst>
          </p:cNvPr>
          <p:cNvSpPr txBox="1"/>
          <p:nvPr/>
        </p:nvSpPr>
        <p:spPr>
          <a:xfrm>
            <a:off x="29308" y="373692"/>
            <a:ext cx="3094892" cy="1015663"/>
          </a:xfrm>
          <a:prstGeom prst="rect">
            <a:avLst/>
          </a:prstGeom>
          <a:noFill/>
        </p:spPr>
        <p:txBody>
          <a:bodyPr wrap="square">
            <a:spAutoFit/>
          </a:bodyPr>
          <a:lstStyle/>
          <a:p>
            <a:r>
              <a:rPr lang="en-US" sz="1200" dirty="0"/>
              <a:t>Two men pleaded guilty on Wednesday to insider trading in securities in the company that ultimately took </a:t>
            </a:r>
            <a:r>
              <a:rPr lang="en-US" sz="1200" dirty="0">
                <a:hlinkClick r:id="rId3"/>
              </a:rPr>
              <a:t>Donald Trump’s</a:t>
            </a:r>
            <a:r>
              <a:rPr lang="en-US" sz="1200" dirty="0"/>
              <a:t> media business public.</a:t>
            </a:r>
          </a:p>
          <a:p>
            <a:endParaRPr lang="en-US" sz="1200" dirty="0"/>
          </a:p>
        </p:txBody>
      </p:sp>
      <p:sp>
        <p:nvSpPr>
          <p:cNvPr id="10" name="Rectangle 1">
            <a:extLst>
              <a:ext uri="{FF2B5EF4-FFF2-40B4-BE49-F238E27FC236}">
                <a16:creationId xmlns:a16="http://schemas.microsoft.com/office/drawing/2014/main" id="{D489FADE-68E8-D194-4E62-B6786073B509}"/>
              </a:ext>
            </a:extLst>
          </p:cNvPr>
          <p:cNvSpPr>
            <a:spLocks noChangeArrowheads="1"/>
          </p:cNvSpPr>
          <p:nvPr/>
        </p:nvSpPr>
        <p:spPr bwMode="auto">
          <a:xfrm>
            <a:off x="0" y="1164663"/>
            <a:ext cx="34290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Prosecutors </a:t>
            </a:r>
            <a:r>
              <a:rPr kumimoji="0" lang="en-US" altLang="en-US" sz="1100" b="0" i="0" u="none" strike="noStrike" cap="none" normalizeH="0" baseline="0" dirty="0">
                <a:ln>
                  <a:noFill/>
                </a:ln>
                <a:solidFill>
                  <a:schemeClr val="tx1"/>
                </a:solidFill>
                <a:effectLst/>
                <a:latin typeface="Arial" panose="020B0604020202020204" pitchFamily="34" charset="0"/>
                <a:hlinkClick r:id="rId4"/>
              </a:rPr>
              <a:t>charged the trio last year</a:t>
            </a:r>
            <a:r>
              <a:rPr kumimoji="0" lang="en-US" altLang="en-US" sz="1100" b="0" i="0" u="none" strike="noStrike" cap="none" normalizeH="0" baseline="0" dirty="0">
                <a:ln>
                  <a:noFill/>
                </a:ln>
                <a:solidFill>
                  <a:schemeClr val="tx1"/>
                </a:solidFill>
                <a:effectLst/>
                <a:latin typeface="Arial" panose="020B0604020202020204" pitchFamily="34" charset="0"/>
              </a:rPr>
              <a:t> with illegally trading on inside information about Trump Media &amp; Technology Group’s (</a:t>
            </a:r>
            <a:r>
              <a:rPr kumimoji="0" lang="en-US" altLang="en-US" sz="1100" b="0" i="0" u="none" strike="noStrike" cap="none" normalizeH="0" baseline="0" dirty="0" err="1">
                <a:ln>
                  <a:noFill/>
                </a:ln>
                <a:solidFill>
                  <a:schemeClr val="tx1"/>
                </a:solidFill>
                <a:effectLst/>
                <a:latin typeface="Arial" panose="020B0604020202020204" pitchFamily="34" charset="0"/>
              </a:rPr>
              <a:t>TMTG</a:t>
            </a:r>
            <a:r>
              <a:rPr kumimoji="0" lang="en-US" altLang="en-US" sz="1100" b="0" i="0" u="none" strike="noStrike" cap="none" normalizeH="0" baseline="0" dirty="0">
                <a:ln>
                  <a:noFill/>
                </a:ln>
                <a:solidFill>
                  <a:schemeClr val="tx1"/>
                </a:solidFill>
                <a:effectLst/>
                <a:latin typeface="Arial" panose="020B0604020202020204" pitchFamily="34" charset="0"/>
              </a:rPr>
              <a:t>) plan to go public through a merger with a blank-check company. </a:t>
            </a:r>
            <a:r>
              <a:rPr kumimoji="0" lang="en-US" altLang="en-US" sz="1100" b="0" i="0" u="none" strike="noStrike" cap="none" normalizeH="0" baseline="0" dirty="0" err="1">
                <a:ln>
                  <a:noFill/>
                </a:ln>
                <a:solidFill>
                  <a:schemeClr val="tx1"/>
                </a:solidFill>
                <a:effectLst/>
                <a:latin typeface="Arial" panose="020B0604020202020204" pitchFamily="34" charset="0"/>
              </a:rPr>
              <a:t>TMTG</a:t>
            </a:r>
            <a:r>
              <a:rPr kumimoji="0" lang="en-US" altLang="en-US" sz="1100" b="0" i="0" u="none" strike="noStrike" cap="none" normalizeH="0" baseline="0" dirty="0">
                <a:ln>
                  <a:noFill/>
                </a:ln>
                <a:solidFill>
                  <a:schemeClr val="tx1"/>
                </a:solidFill>
                <a:effectLst/>
                <a:latin typeface="Arial" panose="020B0604020202020204" pitchFamily="34" charset="0"/>
              </a:rPr>
              <a:t> operates Truth Social, Trump’s main social media platform.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Prosecutors said the trio signed confidentiality agreements in June 2021 when they were approached to become early investors in Digital World Acquisition, the blank-check company. The agreements required them to keep information they learned confidential and not trade the company’s securities in the open market, prosecutors said.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After hearing the company was in merger talks with </a:t>
            </a:r>
            <a:r>
              <a:rPr kumimoji="0" lang="en-US" altLang="en-US" sz="1100" b="0" i="0" u="none" strike="noStrike" cap="none" normalizeH="0" baseline="0" dirty="0" err="1">
                <a:ln>
                  <a:noFill/>
                </a:ln>
                <a:solidFill>
                  <a:schemeClr val="tx1"/>
                </a:solidFill>
                <a:effectLst/>
                <a:latin typeface="Arial" panose="020B0604020202020204" pitchFamily="34" charset="0"/>
              </a:rPr>
              <a:t>TMTG</a:t>
            </a:r>
            <a:r>
              <a:rPr kumimoji="0" lang="en-US" altLang="en-US" sz="1100" b="0" i="0" u="none" strike="noStrike" cap="none" normalizeH="0" baseline="0" dirty="0">
                <a:ln>
                  <a:noFill/>
                </a:ln>
                <a:solidFill>
                  <a:schemeClr val="tx1"/>
                </a:solidFill>
                <a:effectLst/>
                <a:latin typeface="Arial" panose="020B0604020202020204" pitchFamily="34" charset="0"/>
              </a:rPr>
              <a:t>, prosecutors said the trio tipped others and bought Digital World securities, selling them after the deal was announced on 20 October 2021, to make a total of $22m in illegal profit.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Michael and Gerald </a:t>
            </a:r>
            <a:r>
              <a:rPr kumimoji="0" lang="en-US" altLang="en-US" sz="1100" b="0" i="0" u="none" strike="noStrike" cap="none" normalizeH="0" baseline="0" dirty="0" err="1">
                <a:ln>
                  <a:noFill/>
                </a:ln>
                <a:solidFill>
                  <a:schemeClr val="tx1"/>
                </a:solidFill>
                <a:effectLst/>
                <a:latin typeface="Arial" panose="020B0604020202020204" pitchFamily="34" charset="0"/>
              </a:rPr>
              <a:t>Shvartsman</a:t>
            </a:r>
            <a:r>
              <a:rPr kumimoji="0" lang="en-US" altLang="en-US" sz="1100" b="0" i="0" u="none" strike="noStrike" cap="none" normalizeH="0" baseline="0" dirty="0">
                <a:ln>
                  <a:noFill/>
                </a:ln>
                <a:solidFill>
                  <a:schemeClr val="tx1"/>
                </a:solidFill>
                <a:effectLst/>
                <a:latin typeface="Arial" panose="020B0604020202020204" pitchFamily="34" charset="0"/>
              </a:rPr>
              <a:t> said in court that they knew what they were doing was wrong when they traded on nonpublic information.</a:t>
            </a:r>
          </a:p>
        </p:txBody>
      </p:sp>
    </p:spTree>
    <p:extLst>
      <p:ext uri="{BB962C8B-B14F-4D97-AF65-F5344CB8AC3E}">
        <p14:creationId xmlns:p14="http://schemas.microsoft.com/office/powerpoint/2010/main" val="2544736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217" y="102081"/>
            <a:ext cx="8229600" cy="675736"/>
          </a:xfrm>
        </p:spPr>
        <p:txBody>
          <a:bodyPr anchor="ctr">
            <a:noAutofit/>
          </a:bodyPr>
          <a:lstStyle/>
          <a:p>
            <a:r>
              <a:rPr lang="en-IN" dirty="0"/>
              <a:t>Figure 8.1 Fraud Triangle</a:t>
            </a:r>
            <a:endParaRPr lang="en-IN" dirty="0">
              <a:latin typeface="+mj-lt"/>
            </a:endParaRPr>
          </a:p>
        </p:txBody>
      </p:sp>
      <p:pic>
        <p:nvPicPr>
          <p:cNvPr id="3" name="Picture Placeholder 2" descr="A diagram shows the fraud triangle with the opportunity triangle, rationalization triangle, and the pressure triangle (employee pressure triangle and financial statement pressure triangle).&#10;Long description is available in notes, press F6">
            <a:extLst>
              <a:ext uri="{FF2B5EF4-FFF2-40B4-BE49-F238E27FC236}">
                <a16:creationId xmlns:a16="http://schemas.microsoft.com/office/drawing/2014/main" id="{849EF649-AD78-4F79-B357-901F9451234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641097" y="1002672"/>
            <a:ext cx="7871064" cy="4897812"/>
          </a:xfrm>
          <a:prstGeom prst="rect">
            <a:avLst/>
          </a:prstGeom>
        </p:spPr>
      </p:pic>
    </p:spTree>
    <p:extLst>
      <p:ext uri="{BB962C8B-B14F-4D97-AF65-F5344CB8AC3E}">
        <p14:creationId xmlns:p14="http://schemas.microsoft.com/office/powerpoint/2010/main" val="1044660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63689"/>
            <a:ext cx="8229600" cy="553998"/>
          </a:xfrm>
        </p:spPr>
        <p:txBody>
          <a:bodyPr anchor="ctr">
            <a:noAutofit/>
          </a:bodyPr>
          <a:lstStyle/>
          <a:p>
            <a:r>
              <a:rPr lang="en-IN" sz="3600" dirty="0">
                <a:latin typeface="+mj-lt"/>
              </a:rPr>
              <a:t>Opportunity</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76727" y="1295400"/>
            <a:ext cx="3343859" cy="4601260"/>
          </a:xfrm>
        </p:spPr>
        <p:txBody>
          <a:bodyPr>
            <a:noAutofit/>
          </a:bodyPr>
          <a:lstStyle/>
          <a:p>
            <a:pPr marL="452628" indent="-342900">
              <a:spcBef>
                <a:spcPts val="600"/>
              </a:spcBef>
              <a:buSzPct val="100000"/>
            </a:pPr>
            <a:r>
              <a:rPr lang="en-IN" sz="2400" dirty="0"/>
              <a:t>Opportunity to:</a:t>
            </a:r>
          </a:p>
          <a:p>
            <a:pPr marL="939546" lvl="1" indent="-342900">
              <a:buSzPct val="100000"/>
            </a:pPr>
            <a:r>
              <a:rPr lang="en-IN" sz="2400" dirty="0"/>
              <a:t>Commit</a:t>
            </a:r>
          </a:p>
          <a:p>
            <a:pPr marL="939546" lvl="1" indent="-342900">
              <a:buSzPct val="100000"/>
            </a:pPr>
            <a:r>
              <a:rPr lang="en-IN" sz="2400" dirty="0"/>
              <a:t>Conceal</a:t>
            </a:r>
          </a:p>
          <a:p>
            <a:pPr marL="939546" lvl="1" indent="-342900">
              <a:buSzPct val="100000"/>
            </a:pPr>
            <a:r>
              <a:rPr lang="en-IN" sz="2400" dirty="0"/>
              <a:t>Convert to personal gain</a:t>
            </a:r>
          </a:p>
        </p:txBody>
      </p:sp>
      <p:sp>
        <p:nvSpPr>
          <p:cNvPr id="6" name="Content Placeholder 5">
            <a:extLst>
              <a:ext uri="{FF2B5EF4-FFF2-40B4-BE49-F238E27FC236}">
                <a16:creationId xmlns:a16="http://schemas.microsoft.com/office/drawing/2014/main" id="{753AF435-54CB-63AC-C495-EB0D79925D10}"/>
              </a:ext>
            </a:extLst>
          </p:cNvPr>
          <p:cNvSpPr>
            <a:spLocks noGrp="1"/>
          </p:cNvSpPr>
          <p:nvPr>
            <p:ph idx="14"/>
          </p:nvPr>
        </p:nvSpPr>
        <p:spPr/>
        <p:txBody>
          <a:bodyPr/>
          <a:lstStyle/>
          <a:p>
            <a:endParaRPr lang="en-US"/>
          </a:p>
        </p:txBody>
      </p:sp>
      <p:sp>
        <p:nvSpPr>
          <p:cNvPr id="8" name="Content Placeholder 7">
            <a:extLst>
              <a:ext uri="{FF2B5EF4-FFF2-40B4-BE49-F238E27FC236}">
                <a16:creationId xmlns:a16="http://schemas.microsoft.com/office/drawing/2014/main" id="{A89B1B98-DE46-284C-6D62-6A36FCF0B4F5}"/>
              </a:ext>
            </a:extLst>
          </p:cNvPr>
          <p:cNvSpPr>
            <a:spLocks noGrp="1"/>
          </p:cNvSpPr>
          <p:nvPr>
            <p:ph idx="13"/>
          </p:nvPr>
        </p:nvSpPr>
        <p:spPr/>
        <p:txBody>
          <a:bodyPr/>
          <a:lstStyle/>
          <a:p>
            <a:endParaRPr lang="en-US"/>
          </a:p>
        </p:txBody>
      </p:sp>
      <p:sp>
        <p:nvSpPr>
          <p:cNvPr id="9" name="TextBox 8">
            <a:extLst>
              <a:ext uri="{FF2B5EF4-FFF2-40B4-BE49-F238E27FC236}">
                <a16:creationId xmlns:a16="http://schemas.microsoft.com/office/drawing/2014/main" id="{C310CBDC-AA52-F400-1971-2F7754E6F38F}"/>
              </a:ext>
            </a:extLst>
          </p:cNvPr>
          <p:cNvSpPr txBox="1"/>
          <p:nvPr/>
        </p:nvSpPr>
        <p:spPr>
          <a:xfrm>
            <a:off x="3583023" y="1880484"/>
            <a:ext cx="6396148" cy="923330"/>
          </a:xfrm>
          <a:prstGeom prst="rect">
            <a:avLst/>
          </a:prstGeom>
          <a:noFill/>
        </p:spPr>
        <p:txBody>
          <a:bodyPr wrap="square">
            <a:spAutoFit/>
          </a:bodyPr>
          <a:lstStyle/>
          <a:p>
            <a:r>
              <a:rPr lang="en-US" dirty="0">
                <a:hlinkClick r:id="rId3"/>
              </a:rPr>
              <a:t>https://www.abc.net.au/news/2023-06-05/pwc-pricewaterhousecoopers-government-tax-leak-scandal-explained/102409528</a:t>
            </a:r>
            <a:r>
              <a:rPr lang="en-US" dirty="0"/>
              <a:t> </a:t>
            </a:r>
          </a:p>
        </p:txBody>
      </p:sp>
      <p:pic>
        <p:nvPicPr>
          <p:cNvPr id="10" name="Picture 9">
            <a:extLst>
              <a:ext uri="{FF2B5EF4-FFF2-40B4-BE49-F238E27FC236}">
                <a16:creationId xmlns:a16="http://schemas.microsoft.com/office/drawing/2014/main" id="{02783355-D358-5A04-A03E-24762DA60183}"/>
              </a:ext>
            </a:extLst>
          </p:cNvPr>
          <p:cNvPicPr>
            <a:picLocks noChangeAspect="1"/>
          </p:cNvPicPr>
          <p:nvPr/>
        </p:nvPicPr>
        <p:blipFill>
          <a:blip r:embed="rId4"/>
          <a:stretch>
            <a:fillRect/>
          </a:stretch>
        </p:blipFill>
        <p:spPr>
          <a:xfrm>
            <a:off x="3429000" y="419081"/>
            <a:ext cx="5628215" cy="1471700"/>
          </a:xfrm>
          <a:prstGeom prst="rect">
            <a:avLst/>
          </a:prstGeom>
        </p:spPr>
      </p:pic>
      <p:sp>
        <p:nvSpPr>
          <p:cNvPr id="12" name="TextBox 11">
            <a:extLst>
              <a:ext uri="{FF2B5EF4-FFF2-40B4-BE49-F238E27FC236}">
                <a16:creationId xmlns:a16="http://schemas.microsoft.com/office/drawing/2014/main" id="{CC22EFB4-18F2-95C6-0170-F733266D5932}"/>
              </a:ext>
            </a:extLst>
          </p:cNvPr>
          <p:cNvSpPr txBox="1"/>
          <p:nvPr/>
        </p:nvSpPr>
        <p:spPr>
          <a:xfrm>
            <a:off x="259479" y="3428999"/>
            <a:ext cx="8797735" cy="3231654"/>
          </a:xfrm>
          <a:prstGeom prst="rect">
            <a:avLst/>
          </a:prstGeom>
          <a:noFill/>
        </p:spPr>
        <p:txBody>
          <a:bodyPr wrap="square">
            <a:spAutoFit/>
          </a:bodyPr>
          <a:lstStyle/>
          <a:p>
            <a:r>
              <a:rPr lang="en-US" sz="1200" dirty="0"/>
              <a:t>About a decade ago, the federal government asked PwC's international tax expert Peter-John Collins to help them design laws that would solve a problem: getting big overseas companies like Google, Facebook and Apple to pay their fair share of tax in Australia.</a:t>
            </a:r>
          </a:p>
          <a:p>
            <a:endParaRPr lang="en-US" sz="1200" dirty="0"/>
          </a:p>
          <a:p>
            <a:r>
              <a:rPr lang="en-US" sz="1200" dirty="0"/>
              <a:t>That legislation was known as the Multinational Anti-Avoidance Law (MAAL) and was a major strategy of the then-treasurer Joe Hockey under the Coalition government, based on the </a:t>
            </a:r>
            <a:r>
              <a:rPr lang="en-US" sz="1200" dirty="0" err="1"/>
              <a:t>Organisation</a:t>
            </a:r>
            <a:r>
              <a:rPr lang="en-US" sz="1200" dirty="0"/>
              <a:t> for Economic Cooperation and Development (OECD)'s Base Erosion Profit Shifting project.</a:t>
            </a:r>
          </a:p>
          <a:p>
            <a:endParaRPr lang="en-US" sz="1200" dirty="0"/>
          </a:p>
          <a:p>
            <a:r>
              <a:rPr lang="en-US" sz="1200" dirty="0"/>
              <a:t>In his dealings with the government and designing the tax laws, </a:t>
            </a:r>
            <a:r>
              <a:rPr lang="en-US" sz="1200" dirty="0" err="1"/>
              <a:t>Mr</a:t>
            </a:r>
            <a:r>
              <a:rPr lang="en-US" sz="1200" dirty="0"/>
              <a:t> Collins was required to sign multiple confidentiality agreements which specifically stated that the knowledge could not be disclosed.</a:t>
            </a:r>
          </a:p>
          <a:p>
            <a:endParaRPr lang="en-US" sz="1200" dirty="0"/>
          </a:p>
          <a:p>
            <a:r>
              <a:rPr lang="en-US" sz="1200" dirty="0"/>
              <a:t>But the Tax Practitioners Board found </a:t>
            </a:r>
            <a:r>
              <a:rPr lang="en-US" sz="1200" dirty="0" err="1"/>
              <a:t>Mr</a:t>
            </a:r>
            <a:r>
              <a:rPr lang="en-US" sz="1200" dirty="0"/>
              <a:t> Collins shared that secret knowledge with people within PwC, which gave the firm an advantage by being able to come up with ways for companies to get around paying the new tax.</a:t>
            </a:r>
          </a:p>
          <a:p>
            <a:endParaRPr lang="en-US" sz="1200" dirty="0"/>
          </a:p>
          <a:p>
            <a:r>
              <a:rPr lang="en-US" sz="1200" dirty="0"/>
              <a:t>PwC then used this inside information to get new clients and make money. They were even boasting about it internally, and all of this was happening without the government's knowledge until earlier this year.</a:t>
            </a:r>
          </a:p>
          <a:p>
            <a:endParaRPr lang="en-US" sz="1200" dirty="0"/>
          </a:p>
        </p:txBody>
      </p:sp>
    </p:spTree>
    <p:extLst>
      <p:ext uri="{BB962C8B-B14F-4D97-AF65-F5344CB8AC3E}">
        <p14:creationId xmlns:p14="http://schemas.microsoft.com/office/powerpoint/2010/main" val="3856453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1438DDB-0E14-6043-8F79-CF3637C80D3B}"/>
              </a:ext>
            </a:extLst>
          </p:cNvPr>
          <p:cNvSpPr>
            <a:spLocks noGrp="1"/>
          </p:cNvSpPr>
          <p:nvPr>
            <p:ph type="title"/>
          </p:nvPr>
        </p:nvSpPr>
        <p:spPr/>
        <p:txBody>
          <a:bodyPr/>
          <a:lstStyle/>
          <a:p>
            <a:r>
              <a:rPr lang="en-US" dirty="0"/>
              <a:t>Pressures</a:t>
            </a:r>
          </a:p>
        </p:txBody>
      </p:sp>
      <p:sp>
        <p:nvSpPr>
          <p:cNvPr id="7" name="Content Placeholder 6">
            <a:extLst>
              <a:ext uri="{FF2B5EF4-FFF2-40B4-BE49-F238E27FC236}">
                <a16:creationId xmlns:a16="http://schemas.microsoft.com/office/drawing/2014/main" id="{2C47F31C-D4D9-5349-8CD9-8ADB24F800C2}"/>
              </a:ext>
            </a:extLst>
          </p:cNvPr>
          <p:cNvSpPr>
            <a:spLocks noGrp="1"/>
          </p:cNvSpPr>
          <p:nvPr>
            <p:ph idx="1"/>
          </p:nvPr>
        </p:nvSpPr>
        <p:spPr>
          <a:xfrm>
            <a:off x="457200" y="1447800"/>
            <a:ext cx="8229600" cy="4525963"/>
          </a:xfrm>
        </p:spPr>
        <p:txBody>
          <a:bodyPr/>
          <a:lstStyle/>
          <a:p>
            <a:r>
              <a:rPr lang="en-US" dirty="0"/>
              <a:t>Financial</a:t>
            </a:r>
          </a:p>
          <a:p>
            <a:pPr lvl="1"/>
            <a:r>
              <a:rPr lang="en-US" dirty="0"/>
              <a:t>Living beyond one’s means</a:t>
            </a:r>
          </a:p>
          <a:p>
            <a:pPr lvl="1"/>
            <a:r>
              <a:rPr lang="en-US" dirty="0"/>
              <a:t>High personal debt/expenses</a:t>
            </a:r>
          </a:p>
          <a:p>
            <a:pPr lvl="1"/>
            <a:r>
              <a:rPr lang="en-US" dirty="0"/>
              <a:t>Inadequate salary</a:t>
            </a:r>
          </a:p>
          <a:p>
            <a:pPr lvl="1"/>
            <a:r>
              <a:rPr lang="en-US" dirty="0"/>
              <a:t>Poor credit</a:t>
            </a:r>
          </a:p>
          <a:p>
            <a:pPr lvl="1"/>
            <a:r>
              <a:rPr lang="en-US" dirty="0"/>
              <a:t>Heavy losses / bad investments</a:t>
            </a:r>
          </a:p>
          <a:p>
            <a:pPr lvl="1"/>
            <a:r>
              <a:rPr lang="en-US" dirty="0"/>
              <a:t>Unreasonable goals/quotas</a:t>
            </a:r>
          </a:p>
          <a:p>
            <a:r>
              <a:rPr lang="en-US" dirty="0"/>
              <a:t>Emotional</a:t>
            </a:r>
          </a:p>
          <a:p>
            <a:pPr lvl="1"/>
            <a:r>
              <a:rPr lang="en-US" dirty="0"/>
              <a:t>Greed, pride, ego</a:t>
            </a:r>
          </a:p>
          <a:p>
            <a:pPr lvl="1"/>
            <a:r>
              <a:rPr lang="en-US" dirty="0"/>
              <a:t>Performance not being recognized</a:t>
            </a:r>
          </a:p>
          <a:p>
            <a:pPr lvl="1"/>
            <a:r>
              <a:rPr lang="en-US" dirty="0"/>
              <a:t>Fear of losing job</a:t>
            </a:r>
          </a:p>
          <a:p>
            <a:pPr lvl="1"/>
            <a:r>
              <a:rPr lang="en-US" dirty="0"/>
              <a:t>Challenge, envy, need to win</a:t>
            </a:r>
          </a:p>
          <a:p>
            <a:pPr lvl="1"/>
            <a:r>
              <a:rPr lang="en-US" dirty="0"/>
              <a:t>Coercion by bosses</a:t>
            </a:r>
          </a:p>
          <a:p>
            <a:r>
              <a:rPr lang="en-US" dirty="0"/>
              <a:t>Lifestyle: Gambling, drug, sex, family</a:t>
            </a:r>
          </a:p>
        </p:txBody>
      </p:sp>
    </p:spTree>
    <p:extLst>
      <p:ext uri="{BB962C8B-B14F-4D97-AF65-F5344CB8AC3E}">
        <p14:creationId xmlns:p14="http://schemas.microsoft.com/office/powerpoint/2010/main" val="3912413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1438DDB-0E14-6043-8F79-CF3637C80D3B}"/>
              </a:ext>
            </a:extLst>
          </p:cNvPr>
          <p:cNvSpPr>
            <a:spLocks noGrp="1"/>
          </p:cNvSpPr>
          <p:nvPr>
            <p:ph type="title"/>
          </p:nvPr>
        </p:nvSpPr>
        <p:spPr/>
        <p:txBody>
          <a:bodyPr/>
          <a:lstStyle/>
          <a:p>
            <a:r>
              <a:rPr lang="en-US" dirty="0"/>
              <a:t>Rationalizations</a:t>
            </a:r>
          </a:p>
        </p:txBody>
      </p:sp>
      <p:sp>
        <p:nvSpPr>
          <p:cNvPr id="7" name="Content Placeholder 6">
            <a:extLst>
              <a:ext uri="{FF2B5EF4-FFF2-40B4-BE49-F238E27FC236}">
                <a16:creationId xmlns:a16="http://schemas.microsoft.com/office/drawing/2014/main" id="{2C47F31C-D4D9-5349-8CD9-8ADB24F800C2}"/>
              </a:ext>
            </a:extLst>
          </p:cNvPr>
          <p:cNvSpPr>
            <a:spLocks noGrp="1"/>
          </p:cNvSpPr>
          <p:nvPr>
            <p:ph idx="1"/>
          </p:nvPr>
        </p:nvSpPr>
        <p:spPr>
          <a:xfrm>
            <a:off x="457200" y="1447800"/>
            <a:ext cx="8229600" cy="4525963"/>
          </a:xfrm>
        </p:spPr>
        <p:txBody>
          <a:bodyPr/>
          <a:lstStyle/>
          <a:p>
            <a:pPr lvl="0"/>
            <a:r>
              <a:rPr lang="en-US" dirty="0"/>
              <a:t>I am only “borrowing” the money (or asset) and will repay my “loan.”</a:t>
            </a:r>
          </a:p>
          <a:p>
            <a:r>
              <a:rPr lang="en-US" dirty="0"/>
              <a:t> You would understand if you knew how badly I needed it.</a:t>
            </a:r>
          </a:p>
          <a:p>
            <a:r>
              <a:rPr lang="en-US" dirty="0"/>
              <a:t> What I did was not that serious.</a:t>
            </a:r>
          </a:p>
          <a:p>
            <a:r>
              <a:rPr lang="en-US" dirty="0"/>
              <a:t> It was for a good cause (the Robin Hood syndrome, robbing from the rich to give to the poor).</a:t>
            </a:r>
          </a:p>
          <a:p>
            <a:r>
              <a:rPr lang="en-US" dirty="0"/>
              <a:t> I occupy a very important position of trust. I am above the rules.</a:t>
            </a:r>
          </a:p>
          <a:p>
            <a:r>
              <a:rPr lang="en-US" dirty="0"/>
              <a:t> Everyone else is doing it, so it is not that wrong.</a:t>
            </a:r>
          </a:p>
          <a:p>
            <a:r>
              <a:rPr lang="en-US" dirty="0"/>
              <a:t> No one will ever know.</a:t>
            </a:r>
          </a:p>
          <a:p>
            <a:r>
              <a:rPr lang="en-US" dirty="0"/>
              <a:t> The company owes it to me, and I am taking no more than is rightfully mine.</a:t>
            </a:r>
          </a:p>
          <a:p>
            <a:endParaRPr lang="en-US" dirty="0"/>
          </a:p>
        </p:txBody>
      </p:sp>
    </p:spTree>
    <p:extLst>
      <p:ext uri="{BB962C8B-B14F-4D97-AF65-F5344CB8AC3E}">
        <p14:creationId xmlns:p14="http://schemas.microsoft.com/office/powerpoint/2010/main" val="1309128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68BAA-C3CA-D389-7B92-B755A664FD69}"/>
              </a:ext>
            </a:extLst>
          </p:cNvPr>
          <p:cNvSpPr>
            <a:spLocks noGrp="1"/>
          </p:cNvSpPr>
          <p:nvPr>
            <p:ph type="title"/>
          </p:nvPr>
        </p:nvSpPr>
        <p:spPr/>
        <p:txBody>
          <a:bodyPr/>
          <a:lstStyle/>
          <a:p>
            <a:r>
              <a:rPr lang="en-US" dirty="0"/>
              <a:t>Stopped 4/7/26</a:t>
            </a:r>
          </a:p>
        </p:txBody>
      </p:sp>
      <p:sp>
        <p:nvSpPr>
          <p:cNvPr id="3" name="Content Placeholder 2">
            <a:extLst>
              <a:ext uri="{FF2B5EF4-FFF2-40B4-BE49-F238E27FC236}">
                <a16:creationId xmlns:a16="http://schemas.microsoft.com/office/drawing/2014/main" id="{12D7176E-2B0B-7BDA-C7AB-12DD4C7A24D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76559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8B752-7A4E-69B5-CEDB-7D357AC84CE7}"/>
              </a:ext>
            </a:extLst>
          </p:cNvPr>
          <p:cNvSpPr>
            <a:spLocks noGrp="1"/>
          </p:cNvSpPr>
          <p:nvPr>
            <p:ph type="title"/>
          </p:nvPr>
        </p:nvSpPr>
        <p:spPr/>
        <p:txBody>
          <a:bodyPr/>
          <a:lstStyle/>
          <a:p>
            <a:r>
              <a:rPr lang="en-US" dirty="0"/>
              <a:t>Missing </a:t>
            </a:r>
            <a:r>
              <a:rPr lang="en-US" dirty="0" err="1"/>
              <a:t>Wirecard</a:t>
            </a:r>
            <a:r>
              <a:rPr lang="en-US" dirty="0"/>
              <a:t> Money</a:t>
            </a:r>
          </a:p>
        </p:txBody>
      </p:sp>
      <p:sp>
        <p:nvSpPr>
          <p:cNvPr id="3" name="Content Placeholder 2">
            <a:extLst>
              <a:ext uri="{FF2B5EF4-FFF2-40B4-BE49-F238E27FC236}">
                <a16:creationId xmlns:a16="http://schemas.microsoft.com/office/drawing/2014/main" id="{063E787A-DB72-493C-14DD-2B02D2003775}"/>
              </a:ext>
            </a:extLst>
          </p:cNvPr>
          <p:cNvSpPr>
            <a:spLocks noGrp="1"/>
          </p:cNvSpPr>
          <p:nvPr>
            <p:ph idx="1"/>
          </p:nvPr>
        </p:nvSpPr>
        <p:spPr/>
        <p:txBody>
          <a:bodyPr/>
          <a:lstStyle/>
          <a:p>
            <a:r>
              <a:rPr lang="en-US" dirty="0">
                <a:hlinkClick r:id="rId2"/>
              </a:rPr>
              <a:t>https://www.youtube.com/watch?v=EdYpXuwGVFg</a:t>
            </a:r>
            <a:r>
              <a:rPr lang="en-US" dirty="0"/>
              <a:t> </a:t>
            </a:r>
          </a:p>
        </p:txBody>
      </p:sp>
    </p:spTree>
    <p:extLst>
      <p:ext uri="{BB962C8B-B14F-4D97-AF65-F5344CB8AC3E}">
        <p14:creationId xmlns:p14="http://schemas.microsoft.com/office/powerpoint/2010/main" val="15360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072B-2C47-C841-8A86-E82BF7DDE478}"/>
              </a:ext>
            </a:extLst>
          </p:cNvPr>
          <p:cNvSpPr>
            <a:spLocks noGrp="1"/>
          </p:cNvSpPr>
          <p:nvPr>
            <p:ph type="title"/>
          </p:nvPr>
        </p:nvSpPr>
        <p:spPr/>
        <p:txBody>
          <a:bodyPr/>
          <a:lstStyle/>
          <a:p>
            <a:r>
              <a:rPr lang="en-US" dirty="0"/>
              <a:t>Check Kiting</a:t>
            </a:r>
          </a:p>
        </p:txBody>
      </p:sp>
      <p:sp>
        <p:nvSpPr>
          <p:cNvPr id="3" name="Content Placeholder 2">
            <a:extLst>
              <a:ext uri="{FF2B5EF4-FFF2-40B4-BE49-F238E27FC236}">
                <a16:creationId xmlns:a16="http://schemas.microsoft.com/office/drawing/2014/main" id="{68C30A2D-0013-E140-9034-7CDF5522BE66}"/>
              </a:ext>
            </a:extLst>
          </p:cNvPr>
          <p:cNvSpPr>
            <a:spLocks noGrp="1"/>
          </p:cNvSpPr>
          <p:nvPr>
            <p:ph idx="1"/>
          </p:nvPr>
        </p:nvSpPr>
        <p:spPr/>
        <p:txBody>
          <a:bodyPr/>
          <a:lstStyle/>
          <a:p>
            <a:endParaRPr lang="en-US" dirty="0"/>
          </a:p>
        </p:txBody>
      </p:sp>
      <p:pic>
        <p:nvPicPr>
          <p:cNvPr id="1026" name="Picture 2">
            <a:extLst>
              <a:ext uri="{FF2B5EF4-FFF2-40B4-BE49-F238E27FC236}">
                <a16:creationId xmlns:a16="http://schemas.microsoft.com/office/drawing/2014/main" id="{0F11AD04-FED3-574B-B139-B6B6D3FCDE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92" y="215372"/>
            <a:ext cx="8991600" cy="595693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446BD00-3801-BF44-BA9E-7D2E8F6E8130}"/>
              </a:ext>
            </a:extLst>
          </p:cNvPr>
          <p:cNvSpPr txBox="1"/>
          <p:nvPr/>
        </p:nvSpPr>
        <p:spPr>
          <a:xfrm>
            <a:off x="0" y="-72176"/>
            <a:ext cx="6858000" cy="369332"/>
          </a:xfrm>
          <a:prstGeom prst="rect">
            <a:avLst/>
          </a:prstGeom>
          <a:noFill/>
        </p:spPr>
        <p:txBody>
          <a:bodyPr wrap="square">
            <a:spAutoFit/>
          </a:bodyPr>
          <a:lstStyle/>
          <a:p>
            <a:r>
              <a:rPr lang="en-US" dirty="0"/>
              <a:t>https://</a:t>
            </a:r>
            <a:r>
              <a:rPr lang="en-US" dirty="0" err="1"/>
              <a:t>www.depositaccounts.com</a:t>
            </a:r>
            <a:r>
              <a:rPr lang="en-US" dirty="0"/>
              <a:t>/blog/check-</a:t>
            </a:r>
            <a:r>
              <a:rPr lang="en-US" dirty="0" err="1"/>
              <a:t>kiting.html</a:t>
            </a:r>
            <a:endParaRPr lang="en-US" dirty="0"/>
          </a:p>
        </p:txBody>
      </p:sp>
    </p:spTree>
    <p:extLst>
      <p:ext uri="{BB962C8B-B14F-4D97-AF65-F5344CB8AC3E}">
        <p14:creationId xmlns:p14="http://schemas.microsoft.com/office/powerpoint/2010/main" val="3727764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BB535-D296-C641-A536-8E47005401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EC1845-C11D-174F-87C7-4125306F5A60}"/>
              </a:ext>
            </a:extLst>
          </p:cNvPr>
          <p:cNvSpPr>
            <a:spLocks noGrp="1"/>
          </p:cNvSpPr>
          <p:nvPr>
            <p:ph idx="1"/>
          </p:nvPr>
        </p:nvSpPr>
        <p:spPr/>
        <p:txBody>
          <a:bodyPr/>
          <a:lstStyle/>
          <a:p>
            <a:endParaRPr lang="en-US"/>
          </a:p>
        </p:txBody>
      </p:sp>
      <p:sp>
        <p:nvSpPr>
          <p:cNvPr id="5" name="TextBox 4">
            <a:extLst>
              <a:ext uri="{FF2B5EF4-FFF2-40B4-BE49-F238E27FC236}">
                <a16:creationId xmlns:a16="http://schemas.microsoft.com/office/drawing/2014/main" id="{381BF93E-51FE-9940-9DD9-F34D9F5899BA}"/>
              </a:ext>
            </a:extLst>
          </p:cNvPr>
          <p:cNvSpPr txBox="1"/>
          <p:nvPr/>
        </p:nvSpPr>
        <p:spPr>
          <a:xfrm>
            <a:off x="0" y="0"/>
            <a:ext cx="7391400" cy="369332"/>
          </a:xfrm>
          <a:prstGeom prst="rect">
            <a:avLst/>
          </a:prstGeom>
          <a:noFill/>
        </p:spPr>
        <p:txBody>
          <a:bodyPr wrap="square">
            <a:spAutoFit/>
          </a:bodyPr>
          <a:lstStyle/>
          <a:p>
            <a:r>
              <a:rPr lang="en-US" dirty="0"/>
              <a:t>https://</a:t>
            </a:r>
            <a:r>
              <a:rPr lang="en-US" dirty="0" err="1"/>
              <a:t>www.depositaccounts.com</a:t>
            </a:r>
            <a:r>
              <a:rPr lang="en-US" dirty="0"/>
              <a:t>/blog/check-</a:t>
            </a:r>
            <a:r>
              <a:rPr lang="en-US" dirty="0" err="1"/>
              <a:t>kiting.html</a:t>
            </a:r>
            <a:endParaRPr lang="en-US" dirty="0"/>
          </a:p>
        </p:txBody>
      </p:sp>
      <p:pic>
        <p:nvPicPr>
          <p:cNvPr id="2050" name="Picture 2">
            <a:extLst>
              <a:ext uri="{FF2B5EF4-FFF2-40B4-BE49-F238E27FC236}">
                <a16:creationId xmlns:a16="http://schemas.microsoft.com/office/drawing/2014/main" id="{6696FC28-A3C7-3244-B9CD-51A4E31E9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 y="731837"/>
            <a:ext cx="9067800" cy="429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238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6928" y="166842"/>
            <a:ext cx="8229600" cy="553998"/>
          </a:xfrm>
        </p:spPr>
        <p:txBody>
          <a:bodyPr anchor="ctr">
            <a:noAutofit/>
          </a:bodyPr>
          <a:lstStyle/>
          <a:p>
            <a:r>
              <a:rPr lang="en-US" dirty="0"/>
              <a:t>Computer Fraud</a:t>
            </a:r>
            <a:endParaRPr lang="en-IN" sz="3600" dirty="0">
              <a:latin typeface="+mj-lt"/>
            </a:endParaRPr>
          </a:p>
        </p:txBody>
      </p:sp>
      <p:sp>
        <p:nvSpPr>
          <p:cNvPr id="2" name="Content Placeholder 1"/>
          <p:cNvSpPr>
            <a:spLocks noGrp="1"/>
          </p:cNvSpPr>
          <p:nvPr>
            <p:ph idx="13"/>
          </p:nvPr>
        </p:nvSpPr>
        <p:spPr>
          <a:xfrm>
            <a:off x="466928" y="1000328"/>
            <a:ext cx="8229600" cy="3908762"/>
          </a:xfrm>
        </p:spPr>
        <p:txBody>
          <a:bodyPr>
            <a:noAutofit/>
          </a:bodyPr>
          <a:lstStyle/>
          <a:p>
            <a:pPr lvl="0">
              <a:spcBef>
                <a:spcPts val="0"/>
              </a:spcBef>
              <a:buSzPts val="2400"/>
            </a:pPr>
            <a:r>
              <a:rPr lang="en-IN" sz="2800" dirty="0"/>
              <a:t>If a computer is used to commit fraud, it is called computer fraud.</a:t>
            </a:r>
          </a:p>
          <a:p>
            <a:pPr lvl="0">
              <a:spcBef>
                <a:spcPts val="600"/>
              </a:spcBef>
              <a:buSzPts val="2400"/>
            </a:pPr>
            <a:r>
              <a:rPr lang="en-IN" sz="2800" dirty="0"/>
              <a:t>Computer fraud is classified as:</a:t>
            </a:r>
          </a:p>
          <a:p>
            <a:pPr lvl="1">
              <a:buSzPts val="2000"/>
            </a:pPr>
            <a:r>
              <a:rPr lang="en-IN" sz="2800" dirty="0"/>
              <a:t>Input</a:t>
            </a:r>
          </a:p>
          <a:p>
            <a:pPr lvl="1">
              <a:buSzPts val="2000"/>
            </a:pPr>
            <a:r>
              <a:rPr lang="en-IN" sz="2800" dirty="0"/>
              <a:t>Processor</a:t>
            </a:r>
          </a:p>
          <a:p>
            <a:pPr lvl="1">
              <a:buSzPts val="2000"/>
            </a:pPr>
            <a:r>
              <a:rPr lang="en-IN" sz="2800" dirty="0"/>
              <a:t>Computer instruction</a:t>
            </a:r>
          </a:p>
          <a:p>
            <a:pPr lvl="1">
              <a:buSzPts val="2000"/>
            </a:pPr>
            <a:r>
              <a:rPr lang="en-IN" sz="2800" dirty="0"/>
              <a:t>Data </a:t>
            </a:r>
          </a:p>
          <a:p>
            <a:pPr lvl="1">
              <a:buSzPts val="2000"/>
            </a:pPr>
            <a:r>
              <a:rPr lang="en-IN" sz="2800" dirty="0"/>
              <a:t>Output</a:t>
            </a:r>
          </a:p>
        </p:txBody>
      </p:sp>
    </p:spTree>
    <p:extLst>
      <p:ext uri="{BB962C8B-B14F-4D97-AF65-F5344CB8AC3E}">
        <p14:creationId xmlns:p14="http://schemas.microsoft.com/office/powerpoint/2010/main" val="792995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91C14-473D-3E41-B30E-7D8BF560FB49}"/>
              </a:ext>
            </a:extLst>
          </p:cNvPr>
          <p:cNvSpPr>
            <a:spLocks noGrp="1"/>
          </p:cNvSpPr>
          <p:nvPr>
            <p:ph type="title"/>
          </p:nvPr>
        </p:nvSpPr>
        <p:spPr/>
        <p:txBody>
          <a:bodyPr/>
          <a:lstStyle/>
          <a:p>
            <a:r>
              <a:rPr lang="en-US" dirty="0"/>
              <a:t>How is fraud caught?</a:t>
            </a:r>
          </a:p>
        </p:txBody>
      </p:sp>
      <p:sp>
        <p:nvSpPr>
          <p:cNvPr id="7" name="Content Placeholder 6">
            <a:extLst>
              <a:ext uri="{FF2B5EF4-FFF2-40B4-BE49-F238E27FC236}">
                <a16:creationId xmlns:a16="http://schemas.microsoft.com/office/drawing/2014/main" id="{73009378-41FC-4E47-8B17-1098D2494E80}"/>
              </a:ext>
            </a:extLst>
          </p:cNvPr>
          <p:cNvSpPr>
            <a:spLocks noGrp="1"/>
          </p:cNvSpPr>
          <p:nvPr>
            <p:ph idx="1"/>
          </p:nvPr>
        </p:nvSpPr>
        <p:spPr>
          <a:xfrm>
            <a:off x="457200" y="1600200"/>
            <a:ext cx="8229600" cy="2300630"/>
          </a:xfrm>
        </p:spPr>
        <p:txBody>
          <a:bodyPr/>
          <a:lstStyle/>
          <a:p>
            <a:r>
              <a:rPr lang="en-US" dirty="0"/>
              <a:t>Most common </a:t>
            </a:r>
            <a:r>
              <a:rPr lang="en-US" b="1" dirty="0"/>
              <a:t>through anonymous tips </a:t>
            </a:r>
            <a:r>
              <a:rPr lang="en-US" dirty="0"/>
              <a:t>(phone email, online form)</a:t>
            </a:r>
          </a:p>
          <a:p>
            <a:r>
              <a:rPr lang="en-US" dirty="0"/>
              <a:t>Typical misappropriation:</a:t>
            </a:r>
          </a:p>
          <a:p>
            <a:pPr lvl="1"/>
            <a:r>
              <a:rPr lang="en-US" dirty="0"/>
              <a:t>Gains trust, uses misleading information</a:t>
            </a:r>
          </a:p>
          <a:p>
            <a:pPr lvl="1"/>
            <a:r>
              <a:rPr lang="en-US" dirty="0"/>
              <a:t>Falsifies records to hide</a:t>
            </a:r>
          </a:p>
          <a:p>
            <a:pPr lvl="1"/>
            <a:r>
              <a:rPr lang="en-US" dirty="0"/>
              <a:t>Rarely stops on their own</a:t>
            </a:r>
          </a:p>
          <a:p>
            <a:pPr lvl="1"/>
            <a:r>
              <a:rPr lang="en-US" dirty="0"/>
              <a:t>Escalating, stopping will usually result in discovery</a:t>
            </a:r>
          </a:p>
          <a:p>
            <a:pPr lvl="1"/>
            <a:r>
              <a:rPr lang="en-US" dirty="0"/>
              <a:t>Spends gains (not investing/saving)</a:t>
            </a:r>
          </a:p>
        </p:txBody>
      </p:sp>
    </p:spTree>
    <p:extLst>
      <p:ext uri="{BB962C8B-B14F-4D97-AF65-F5344CB8AC3E}">
        <p14:creationId xmlns:p14="http://schemas.microsoft.com/office/powerpoint/2010/main" val="34776095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351" y="157665"/>
            <a:ext cx="8229600" cy="1107996"/>
          </a:xfrm>
        </p:spPr>
        <p:txBody>
          <a:bodyPr anchor="ctr">
            <a:noAutofit/>
          </a:bodyPr>
          <a:lstStyle/>
          <a:p>
            <a:r>
              <a:rPr lang="en-US" dirty="0"/>
              <a:t>Preventing and Detecting Fraud        1. Make Fraud Less Likely to Occur</a:t>
            </a:r>
            <a:endParaRPr lang="en-IN" sz="3600" dirty="0">
              <a:latin typeface="+mj-lt"/>
            </a:endParaRPr>
          </a:p>
        </p:txBody>
      </p:sp>
      <p:sp>
        <p:nvSpPr>
          <p:cNvPr id="2" name="Content Placeholder 1"/>
          <p:cNvSpPr>
            <a:spLocks noGrp="1"/>
          </p:cNvSpPr>
          <p:nvPr>
            <p:ph idx="13"/>
          </p:nvPr>
        </p:nvSpPr>
        <p:spPr>
          <a:xfrm>
            <a:off x="468351" y="1590732"/>
            <a:ext cx="3962400" cy="326713"/>
          </a:xfrm>
          <a:solidFill>
            <a:schemeClr val="bg2"/>
          </a:solidFill>
        </p:spPr>
        <p:txBody>
          <a:bodyPr>
            <a:noAutofit/>
          </a:bodyPr>
          <a:lstStyle/>
          <a:p>
            <a:pPr marL="0" indent="0" algn="ctr">
              <a:spcBef>
                <a:spcPts val="0"/>
              </a:spcBef>
              <a:buNone/>
            </a:pPr>
            <a:r>
              <a:rPr lang="en-US" sz="2000" b="1" dirty="0">
                <a:solidFill>
                  <a:schemeClr val="bg1"/>
                </a:solidFill>
              </a:rPr>
              <a:t>Organizational</a:t>
            </a:r>
          </a:p>
        </p:txBody>
      </p:sp>
      <p:sp>
        <p:nvSpPr>
          <p:cNvPr id="5" name="Content Placeholder 4">
            <a:extLst>
              <a:ext uri="{FF2B5EF4-FFF2-40B4-BE49-F238E27FC236}">
                <a16:creationId xmlns:a16="http://schemas.microsoft.com/office/drawing/2014/main" id="{F09A3A06-28FB-4FC7-8FB9-EA8A259EC5E8}"/>
              </a:ext>
            </a:extLst>
          </p:cNvPr>
          <p:cNvSpPr>
            <a:spLocks noGrp="1"/>
          </p:cNvSpPr>
          <p:nvPr>
            <p:ph idx="14"/>
          </p:nvPr>
        </p:nvSpPr>
        <p:spPr>
          <a:xfrm>
            <a:off x="465826" y="1949202"/>
            <a:ext cx="3962400" cy="3308598"/>
          </a:xfrm>
        </p:spPr>
        <p:txBody>
          <a:bodyPr>
            <a:noAutofit/>
          </a:bodyPr>
          <a:lstStyle/>
          <a:p>
            <a:pPr lvl="0">
              <a:spcBef>
                <a:spcPts val="600"/>
              </a:spcBef>
              <a:buSzPts val="2000"/>
            </a:pPr>
            <a:r>
              <a:rPr lang="en-IN" sz="2000" dirty="0"/>
              <a:t>Create a culture of integrity</a:t>
            </a:r>
          </a:p>
          <a:p>
            <a:pPr lvl="0">
              <a:spcBef>
                <a:spcPts val="600"/>
              </a:spcBef>
              <a:buSzPts val="2000"/>
            </a:pPr>
            <a:r>
              <a:rPr lang="en-IN" sz="2000" dirty="0"/>
              <a:t>Adopt structure that minimizes fraud, create governance (e.g., Board of Directors)</a:t>
            </a:r>
          </a:p>
          <a:p>
            <a:pPr lvl="0">
              <a:spcBef>
                <a:spcPts val="600"/>
              </a:spcBef>
              <a:buSzPts val="2000"/>
            </a:pPr>
            <a:r>
              <a:rPr lang="en-IN" sz="2000" dirty="0"/>
              <a:t>Assign authority for business objectives and hold them accountable for achieving those objectives, effective supervision and monitoring of employees</a:t>
            </a:r>
          </a:p>
          <a:p>
            <a:pPr lvl="0">
              <a:spcBef>
                <a:spcPts val="600"/>
              </a:spcBef>
              <a:buSzPts val="2000"/>
            </a:pPr>
            <a:r>
              <a:rPr lang="en-IN" sz="2000" dirty="0"/>
              <a:t>Communicate policies</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572000" y="1590732"/>
            <a:ext cx="4125951" cy="326713"/>
          </a:xfrm>
          <a:solidFill>
            <a:schemeClr val="bg2"/>
          </a:solidFill>
        </p:spPr>
        <p:txBody>
          <a:bodyPr>
            <a:noAutofit/>
          </a:bodyPr>
          <a:lstStyle/>
          <a:p>
            <a:pPr marL="0" lvl="1" indent="0" algn="ctr">
              <a:buNone/>
            </a:pPr>
            <a:r>
              <a:rPr lang="en-US" sz="2000" b="1" dirty="0">
                <a:solidFill>
                  <a:schemeClr val="bg1"/>
                </a:solidFill>
              </a:rPr>
              <a:t>Systems</a:t>
            </a:r>
            <a:endParaRPr lang="en-IN" sz="2000" b="1" dirty="0">
              <a:solidFill>
                <a:schemeClr val="bg1"/>
              </a:solidFill>
            </a:endParaRPr>
          </a:p>
        </p:txBody>
      </p:sp>
      <p:sp>
        <p:nvSpPr>
          <p:cNvPr id="6" name="Content Placeholder 5">
            <a:extLst>
              <a:ext uri="{FF2B5EF4-FFF2-40B4-BE49-F238E27FC236}">
                <a16:creationId xmlns:a16="http://schemas.microsoft.com/office/drawing/2014/main" id="{330DD3E2-9110-47B8-BFD6-A322CD721182}"/>
              </a:ext>
            </a:extLst>
          </p:cNvPr>
          <p:cNvSpPr>
            <a:spLocks noGrp="1"/>
          </p:cNvSpPr>
          <p:nvPr>
            <p:ph sz="quarter" idx="15"/>
          </p:nvPr>
        </p:nvSpPr>
        <p:spPr>
          <a:xfrm>
            <a:off x="4580626" y="1949202"/>
            <a:ext cx="4106174" cy="1923604"/>
          </a:xfrm>
        </p:spPr>
        <p:txBody>
          <a:bodyPr>
            <a:noAutofit/>
          </a:bodyPr>
          <a:lstStyle/>
          <a:p>
            <a:pPr lvl="0">
              <a:spcBef>
                <a:spcPts val="0"/>
              </a:spcBef>
              <a:buSzPts val="2000"/>
            </a:pPr>
            <a:r>
              <a:rPr lang="en-IN" sz="2000" dirty="0"/>
              <a:t>Develop security policies to guide and design specific control procedures</a:t>
            </a:r>
          </a:p>
          <a:p>
            <a:pPr lvl="0">
              <a:spcBef>
                <a:spcPts val="600"/>
              </a:spcBef>
              <a:buSzPts val="2000"/>
            </a:pPr>
            <a:r>
              <a:rPr lang="en-IN" sz="2000" dirty="0"/>
              <a:t>Implement change management controls and project development acquisition controls</a:t>
            </a:r>
          </a:p>
        </p:txBody>
      </p:sp>
    </p:spTree>
    <p:extLst>
      <p:ext uri="{BB962C8B-B14F-4D97-AF65-F5344CB8AC3E}">
        <p14:creationId xmlns:p14="http://schemas.microsoft.com/office/powerpoint/2010/main" val="16290584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351" y="157665"/>
            <a:ext cx="8229600" cy="1107996"/>
          </a:xfrm>
        </p:spPr>
        <p:txBody>
          <a:bodyPr anchor="ctr">
            <a:noAutofit/>
          </a:bodyPr>
          <a:lstStyle/>
          <a:p>
            <a:r>
              <a:rPr lang="en-US" dirty="0"/>
              <a:t>Preventing and Detecting Fraud        2. Make It Difficult to Commit</a:t>
            </a:r>
            <a:endParaRPr lang="en-IN" sz="3600" dirty="0">
              <a:latin typeface="+mj-lt"/>
            </a:endParaRPr>
          </a:p>
        </p:txBody>
      </p:sp>
      <p:sp>
        <p:nvSpPr>
          <p:cNvPr id="2" name="Content Placeholder 1"/>
          <p:cNvSpPr>
            <a:spLocks noGrp="1"/>
          </p:cNvSpPr>
          <p:nvPr>
            <p:ph idx="13"/>
          </p:nvPr>
        </p:nvSpPr>
        <p:spPr>
          <a:xfrm>
            <a:off x="468351" y="1600200"/>
            <a:ext cx="3962400" cy="347514"/>
          </a:xfrm>
          <a:solidFill>
            <a:schemeClr val="bg2"/>
          </a:solidFill>
        </p:spPr>
        <p:txBody>
          <a:bodyPr>
            <a:noAutofit/>
          </a:bodyPr>
          <a:lstStyle/>
          <a:p>
            <a:pPr marL="0" indent="0" algn="ctr">
              <a:spcBef>
                <a:spcPts val="0"/>
              </a:spcBef>
              <a:buNone/>
            </a:pPr>
            <a:r>
              <a:rPr lang="en-US" sz="2000" b="1" dirty="0">
                <a:solidFill>
                  <a:schemeClr val="bg1"/>
                </a:solidFill>
              </a:rPr>
              <a:t>Organizational</a:t>
            </a:r>
          </a:p>
        </p:txBody>
      </p:sp>
      <p:sp>
        <p:nvSpPr>
          <p:cNvPr id="5" name="Content Placeholder 4">
            <a:extLst>
              <a:ext uri="{FF2B5EF4-FFF2-40B4-BE49-F238E27FC236}">
                <a16:creationId xmlns:a16="http://schemas.microsoft.com/office/drawing/2014/main" id="{F09A3A06-28FB-4FC7-8FB9-EA8A259EC5E8}"/>
              </a:ext>
            </a:extLst>
          </p:cNvPr>
          <p:cNvSpPr>
            <a:spLocks noGrp="1"/>
          </p:cNvSpPr>
          <p:nvPr>
            <p:ph idx="14"/>
          </p:nvPr>
        </p:nvSpPr>
        <p:spPr>
          <a:xfrm>
            <a:off x="465826" y="1981200"/>
            <a:ext cx="3962400" cy="1769715"/>
          </a:xfrm>
        </p:spPr>
        <p:txBody>
          <a:bodyPr>
            <a:noAutofit/>
          </a:bodyPr>
          <a:lstStyle/>
          <a:p>
            <a:pPr lvl="0">
              <a:spcBef>
                <a:spcPts val="0"/>
              </a:spcBef>
              <a:buSzPts val="2000"/>
            </a:pPr>
            <a:r>
              <a:rPr lang="en-IN" sz="2000" dirty="0"/>
              <a:t>Develop strong internal controls</a:t>
            </a:r>
          </a:p>
          <a:p>
            <a:pPr lvl="0">
              <a:spcBef>
                <a:spcPts val="600"/>
              </a:spcBef>
              <a:buSzPts val="2000"/>
            </a:pPr>
            <a:r>
              <a:rPr lang="en-IN" sz="2000" dirty="0"/>
              <a:t>Segregate accounting functions</a:t>
            </a:r>
          </a:p>
          <a:p>
            <a:pPr lvl="0">
              <a:spcBef>
                <a:spcPts val="600"/>
              </a:spcBef>
              <a:buSzPts val="2000"/>
            </a:pPr>
            <a:r>
              <a:rPr lang="en-IN" sz="2000" dirty="0"/>
              <a:t>Use properly designed forms</a:t>
            </a:r>
          </a:p>
          <a:p>
            <a:pPr lvl="0">
              <a:spcBef>
                <a:spcPts val="600"/>
              </a:spcBef>
              <a:buSzPts val="2000"/>
            </a:pPr>
            <a:r>
              <a:rPr lang="en-IN" sz="2000" dirty="0"/>
              <a:t>Require independent checks and reconciliations of data</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572000" y="1600200"/>
            <a:ext cx="4125951" cy="347514"/>
          </a:xfrm>
          <a:solidFill>
            <a:schemeClr val="bg2"/>
          </a:solidFill>
        </p:spPr>
        <p:txBody>
          <a:bodyPr>
            <a:noAutofit/>
          </a:bodyPr>
          <a:lstStyle/>
          <a:p>
            <a:pPr marL="0" lvl="1" indent="0" algn="ctr">
              <a:buNone/>
            </a:pPr>
            <a:r>
              <a:rPr lang="en-US" sz="2000" b="1" dirty="0">
                <a:solidFill>
                  <a:schemeClr val="bg1"/>
                </a:solidFill>
              </a:rPr>
              <a:t>Systems</a:t>
            </a:r>
            <a:endParaRPr lang="en-IN" sz="2000" b="1" dirty="0">
              <a:solidFill>
                <a:schemeClr val="bg1"/>
              </a:solidFill>
            </a:endParaRPr>
          </a:p>
        </p:txBody>
      </p:sp>
      <p:sp>
        <p:nvSpPr>
          <p:cNvPr id="6" name="Content Placeholder 5">
            <a:extLst>
              <a:ext uri="{FF2B5EF4-FFF2-40B4-BE49-F238E27FC236}">
                <a16:creationId xmlns:a16="http://schemas.microsoft.com/office/drawing/2014/main" id="{330DD3E2-9110-47B8-BFD6-A322CD721182}"/>
              </a:ext>
            </a:extLst>
          </p:cNvPr>
          <p:cNvSpPr>
            <a:spLocks noGrp="1"/>
          </p:cNvSpPr>
          <p:nvPr>
            <p:ph sz="quarter" idx="15"/>
          </p:nvPr>
        </p:nvSpPr>
        <p:spPr>
          <a:xfrm>
            <a:off x="4580626" y="1981200"/>
            <a:ext cx="4106174" cy="3462486"/>
          </a:xfrm>
        </p:spPr>
        <p:txBody>
          <a:bodyPr>
            <a:noAutofit/>
          </a:bodyPr>
          <a:lstStyle/>
          <a:p>
            <a:pPr lvl="0">
              <a:spcBef>
                <a:spcPts val="0"/>
              </a:spcBef>
              <a:buSzPts val="2000"/>
            </a:pPr>
            <a:r>
              <a:rPr lang="en-IN" sz="2000" dirty="0"/>
              <a:t>Restrict access</a:t>
            </a:r>
          </a:p>
          <a:p>
            <a:pPr lvl="0">
              <a:spcBef>
                <a:spcPts val="600"/>
              </a:spcBef>
              <a:buSzPts val="2000"/>
            </a:pPr>
            <a:r>
              <a:rPr lang="en-IN" sz="2000" dirty="0"/>
              <a:t>System authentication</a:t>
            </a:r>
          </a:p>
          <a:p>
            <a:pPr lvl="0">
              <a:spcBef>
                <a:spcPts val="600"/>
              </a:spcBef>
              <a:buSzPts val="2000"/>
            </a:pPr>
            <a:r>
              <a:rPr lang="en-IN" sz="2000" dirty="0"/>
              <a:t>Implement computer controls over input, processing, storage, and output of data</a:t>
            </a:r>
          </a:p>
          <a:p>
            <a:pPr lvl="0">
              <a:spcBef>
                <a:spcPts val="600"/>
              </a:spcBef>
              <a:buSzPts val="2000"/>
            </a:pPr>
            <a:r>
              <a:rPr lang="en-IN" sz="2000" dirty="0"/>
              <a:t>Use encryption</a:t>
            </a:r>
          </a:p>
          <a:p>
            <a:pPr lvl="0">
              <a:spcBef>
                <a:spcPts val="600"/>
              </a:spcBef>
              <a:buSzPts val="2000"/>
            </a:pPr>
            <a:r>
              <a:rPr lang="en-IN" sz="2000" dirty="0"/>
              <a:t>Fix software bugs and update systems regularly</a:t>
            </a:r>
          </a:p>
          <a:p>
            <a:pPr lvl="0">
              <a:spcBef>
                <a:spcPts val="600"/>
              </a:spcBef>
              <a:buSzPts val="2000"/>
            </a:pPr>
            <a:r>
              <a:rPr lang="en-IN" sz="2000" dirty="0"/>
              <a:t>Destroy hard drives when disposing of computers</a:t>
            </a:r>
          </a:p>
        </p:txBody>
      </p:sp>
    </p:spTree>
    <p:extLst>
      <p:ext uri="{BB962C8B-B14F-4D97-AF65-F5344CB8AC3E}">
        <p14:creationId xmlns:p14="http://schemas.microsoft.com/office/powerpoint/2010/main" val="1593399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351" y="157665"/>
            <a:ext cx="8229600" cy="1107996"/>
          </a:xfrm>
        </p:spPr>
        <p:txBody>
          <a:bodyPr anchor="ctr">
            <a:noAutofit/>
          </a:bodyPr>
          <a:lstStyle/>
          <a:p>
            <a:r>
              <a:rPr lang="en-US" dirty="0"/>
              <a:t>Preventing and Detecting Fraud        3. Improve Detection</a:t>
            </a:r>
            <a:endParaRPr lang="en-IN" sz="3600" dirty="0">
              <a:latin typeface="+mj-lt"/>
            </a:endParaRPr>
          </a:p>
        </p:txBody>
      </p:sp>
      <p:sp>
        <p:nvSpPr>
          <p:cNvPr id="2" name="Content Placeholder 1"/>
          <p:cNvSpPr>
            <a:spLocks noGrp="1"/>
          </p:cNvSpPr>
          <p:nvPr>
            <p:ph idx="13"/>
          </p:nvPr>
        </p:nvSpPr>
        <p:spPr>
          <a:xfrm>
            <a:off x="468351" y="1585782"/>
            <a:ext cx="3962400" cy="336613"/>
          </a:xfrm>
          <a:solidFill>
            <a:schemeClr val="bg2"/>
          </a:solidFill>
        </p:spPr>
        <p:txBody>
          <a:bodyPr>
            <a:noAutofit/>
          </a:bodyPr>
          <a:lstStyle/>
          <a:p>
            <a:pPr marL="0" indent="0" algn="ctr">
              <a:spcBef>
                <a:spcPts val="0"/>
              </a:spcBef>
              <a:buNone/>
            </a:pPr>
            <a:r>
              <a:rPr lang="en-US" sz="2000" b="1" dirty="0">
                <a:solidFill>
                  <a:schemeClr val="bg1"/>
                </a:solidFill>
              </a:rPr>
              <a:t>Organizational</a:t>
            </a:r>
          </a:p>
        </p:txBody>
      </p:sp>
      <p:sp>
        <p:nvSpPr>
          <p:cNvPr id="5" name="Content Placeholder 4">
            <a:extLst>
              <a:ext uri="{FF2B5EF4-FFF2-40B4-BE49-F238E27FC236}">
                <a16:creationId xmlns:a16="http://schemas.microsoft.com/office/drawing/2014/main" id="{F09A3A06-28FB-4FC7-8FB9-EA8A259EC5E8}"/>
              </a:ext>
            </a:extLst>
          </p:cNvPr>
          <p:cNvSpPr>
            <a:spLocks noGrp="1"/>
          </p:cNvSpPr>
          <p:nvPr>
            <p:ph idx="14"/>
          </p:nvPr>
        </p:nvSpPr>
        <p:spPr>
          <a:xfrm>
            <a:off x="465826" y="1981200"/>
            <a:ext cx="3962400" cy="1077218"/>
          </a:xfrm>
        </p:spPr>
        <p:txBody>
          <a:bodyPr>
            <a:noAutofit/>
          </a:bodyPr>
          <a:lstStyle/>
          <a:p>
            <a:pPr lvl="0">
              <a:spcBef>
                <a:spcPts val="0"/>
              </a:spcBef>
              <a:buSzPts val="2000"/>
            </a:pPr>
            <a:r>
              <a:rPr lang="en-IN" sz="2000" dirty="0"/>
              <a:t>Assess fraud risk</a:t>
            </a:r>
          </a:p>
          <a:p>
            <a:pPr lvl="0">
              <a:spcBef>
                <a:spcPts val="600"/>
              </a:spcBef>
              <a:buSzPts val="2000"/>
            </a:pPr>
            <a:r>
              <a:rPr lang="en-IN" sz="2000" dirty="0"/>
              <a:t>External and internal audits</a:t>
            </a:r>
          </a:p>
          <a:p>
            <a:pPr lvl="0">
              <a:spcBef>
                <a:spcPts val="600"/>
              </a:spcBef>
              <a:buSzPts val="2000"/>
            </a:pPr>
            <a:r>
              <a:rPr lang="en-IN" sz="2000" dirty="0"/>
              <a:t>Fraud hotline</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572000" y="1585782"/>
            <a:ext cx="4125951" cy="336613"/>
          </a:xfrm>
          <a:solidFill>
            <a:schemeClr val="bg2"/>
          </a:solidFill>
        </p:spPr>
        <p:txBody>
          <a:bodyPr>
            <a:noAutofit/>
          </a:bodyPr>
          <a:lstStyle/>
          <a:p>
            <a:pPr marL="0" lvl="1" indent="0" algn="ctr">
              <a:buNone/>
            </a:pPr>
            <a:r>
              <a:rPr lang="en-US" sz="2000" b="1" dirty="0">
                <a:solidFill>
                  <a:schemeClr val="bg1"/>
                </a:solidFill>
              </a:rPr>
              <a:t>Systems</a:t>
            </a:r>
            <a:endParaRPr lang="en-IN" sz="2000" b="1" dirty="0">
              <a:solidFill>
                <a:schemeClr val="bg1"/>
              </a:solidFill>
            </a:endParaRPr>
          </a:p>
        </p:txBody>
      </p:sp>
      <p:sp>
        <p:nvSpPr>
          <p:cNvPr id="6" name="Content Placeholder 5">
            <a:extLst>
              <a:ext uri="{FF2B5EF4-FFF2-40B4-BE49-F238E27FC236}">
                <a16:creationId xmlns:a16="http://schemas.microsoft.com/office/drawing/2014/main" id="{330DD3E2-9110-47B8-BFD6-A322CD721182}"/>
              </a:ext>
            </a:extLst>
          </p:cNvPr>
          <p:cNvSpPr>
            <a:spLocks noGrp="1"/>
          </p:cNvSpPr>
          <p:nvPr>
            <p:ph sz="quarter" idx="15"/>
          </p:nvPr>
        </p:nvSpPr>
        <p:spPr>
          <a:xfrm>
            <a:off x="4580626" y="1981200"/>
            <a:ext cx="4106174" cy="2000548"/>
          </a:xfrm>
        </p:spPr>
        <p:txBody>
          <a:bodyPr>
            <a:noAutofit/>
          </a:bodyPr>
          <a:lstStyle/>
          <a:p>
            <a:pPr lvl="0">
              <a:spcBef>
                <a:spcPts val="0"/>
              </a:spcBef>
              <a:buSzPts val="2000"/>
            </a:pPr>
            <a:r>
              <a:rPr lang="en-IN" sz="2000" dirty="0"/>
              <a:t>Audit trail of transactions through the system</a:t>
            </a:r>
          </a:p>
          <a:p>
            <a:pPr lvl="0">
              <a:spcBef>
                <a:spcPts val="600"/>
              </a:spcBef>
              <a:buSzPts val="2000"/>
            </a:pPr>
            <a:r>
              <a:rPr lang="en-IN" sz="2000" dirty="0"/>
              <a:t>Install fraud detection software</a:t>
            </a:r>
          </a:p>
          <a:p>
            <a:pPr lvl="0">
              <a:spcBef>
                <a:spcPts val="600"/>
              </a:spcBef>
              <a:buSzPts val="2000"/>
            </a:pPr>
            <a:r>
              <a:rPr lang="en-IN" sz="2000" dirty="0"/>
              <a:t>Monitor system activities (user and error logs, intrusion detection)</a:t>
            </a:r>
          </a:p>
        </p:txBody>
      </p:sp>
    </p:spTree>
    <p:extLst>
      <p:ext uri="{BB962C8B-B14F-4D97-AF65-F5344CB8AC3E}">
        <p14:creationId xmlns:p14="http://schemas.microsoft.com/office/powerpoint/2010/main" val="2509330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351" y="157665"/>
            <a:ext cx="8229600" cy="1107996"/>
          </a:xfrm>
        </p:spPr>
        <p:txBody>
          <a:bodyPr anchor="ctr">
            <a:noAutofit/>
          </a:bodyPr>
          <a:lstStyle/>
          <a:p>
            <a:r>
              <a:rPr lang="en-US" dirty="0"/>
              <a:t>Preventing and Detecting Fraud        4. Reduce Fraud Losses</a:t>
            </a:r>
            <a:endParaRPr lang="en-IN" sz="3600" dirty="0">
              <a:latin typeface="+mj-lt"/>
            </a:endParaRPr>
          </a:p>
        </p:txBody>
      </p:sp>
      <p:sp>
        <p:nvSpPr>
          <p:cNvPr id="2" name="Content Placeholder 1"/>
          <p:cNvSpPr>
            <a:spLocks noGrp="1"/>
          </p:cNvSpPr>
          <p:nvPr>
            <p:ph idx="13"/>
          </p:nvPr>
        </p:nvSpPr>
        <p:spPr>
          <a:xfrm>
            <a:off x="468351" y="1567883"/>
            <a:ext cx="3962400" cy="372411"/>
          </a:xfrm>
          <a:solidFill>
            <a:schemeClr val="bg2"/>
          </a:solidFill>
        </p:spPr>
        <p:txBody>
          <a:bodyPr>
            <a:noAutofit/>
          </a:bodyPr>
          <a:lstStyle/>
          <a:p>
            <a:pPr marL="0" indent="0" algn="ctr">
              <a:spcBef>
                <a:spcPts val="0"/>
              </a:spcBef>
              <a:buNone/>
            </a:pPr>
            <a:r>
              <a:rPr lang="en-US" sz="2000" b="1" dirty="0">
                <a:solidFill>
                  <a:schemeClr val="bg1"/>
                </a:solidFill>
              </a:rPr>
              <a:t>Organizational</a:t>
            </a:r>
          </a:p>
        </p:txBody>
      </p:sp>
      <p:sp>
        <p:nvSpPr>
          <p:cNvPr id="5" name="Content Placeholder 4">
            <a:extLst>
              <a:ext uri="{FF2B5EF4-FFF2-40B4-BE49-F238E27FC236}">
                <a16:creationId xmlns:a16="http://schemas.microsoft.com/office/drawing/2014/main" id="{F09A3A06-28FB-4FC7-8FB9-EA8A259EC5E8}"/>
              </a:ext>
            </a:extLst>
          </p:cNvPr>
          <p:cNvSpPr>
            <a:spLocks noGrp="1"/>
          </p:cNvSpPr>
          <p:nvPr>
            <p:ph idx="14"/>
          </p:nvPr>
        </p:nvSpPr>
        <p:spPr>
          <a:xfrm>
            <a:off x="465826" y="1968550"/>
            <a:ext cx="3962400" cy="1000274"/>
          </a:xfrm>
        </p:spPr>
        <p:txBody>
          <a:bodyPr>
            <a:noAutofit/>
          </a:bodyPr>
          <a:lstStyle/>
          <a:p>
            <a:pPr lvl="0">
              <a:spcBef>
                <a:spcPts val="0"/>
              </a:spcBef>
              <a:buSzPts val="2000"/>
            </a:pPr>
            <a:r>
              <a:rPr lang="en-IN" sz="2000" dirty="0"/>
              <a:t>Insurance</a:t>
            </a:r>
          </a:p>
          <a:p>
            <a:pPr lvl="0">
              <a:spcBef>
                <a:spcPts val="600"/>
              </a:spcBef>
              <a:buSzPts val="2000"/>
            </a:pPr>
            <a:r>
              <a:rPr lang="en-IN" sz="2000" dirty="0"/>
              <a:t>Business continuity and disaster recovery plan</a:t>
            </a:r>
          </a:p>
        </p:txBody>
      </p:sp>
      <p:sp>
        <p:nvSpPr>
          <p:cNvPr id="3" name="Content Placeholder 2">
            <a:extLst>
              <a:ext uri="{FF2B5EF4-FFF2-40B4-BE49-F238E27FC236}">
                <a16:creationId xmlns:a16="http://schemas.microsoft.com/office/drawing/2014/main" id="{143A245E-DBD4-4404-B4E9-81DC92081F4F}"/>
              </a:ext>
            </a:extLst>
          </p:cNvPr>
          <p:cNvSpPr>
            <a:spLocks noGrp="1"/>
          </p:cNvSpPr>
          <p:nvPr>
            <p:ph idx="1"/>
          </p:nvPr>
        </p:nvSpPr>
        <p:spPr>
          <a:xfrm>
            <a:off x="4572000" y="1567883"/>
            <a:ext cx="4125951" cy="372411"/>
          </a:xfrm>
          <a:solidFill>
            <a:schemeClr val="bg2"/>
          </a:solidFill>
        </p:spPr>
        <p:txBody>
          <a:bodyPr>
            <a:noAutofit/>
          </a:bodyPr>
          <a:lstStyle/>
          <a:p>
            <a:pPr marL="0" lvl="1" indent="0" algn="ctr">
              <a:buNone/>
            </a:pPr>
            <a:r>
              <a:rPr lang="en-US" sz="2000" b="1" dirty="0">
                <a:solidFill>
                  <a:schemeClr val="bg1"/>
                </a:solidFill>
              </a:rPr>
              <a:t>Systems</a:t>
            </a:r>
            <a:endParaRPr lang="en-IN" sz="2000" b="1" dirty="0">
              <a:solidFill>
                <a:schemeClr val="bg1"/>
              </a:solidFill>
            </a:endParaRPr>
          </a:p>
        </p:txBody>
      </p:sp>
      <p:sp>
        <p:nvSpPr>
          <p:cNvPr id="6" name="Content Placeholder 5">
            <a:extLst>
              <a:ext uri="{FF2B5EF4-FFF2-40B4-BE49-F238E27FC236}">
                <a16:creationId xmlns:a16="http://schemas.microsoft.com/office/drawing/2014/main" id="{330DD3E2-9110-47B8-BFD6-A322CD721182}"/>
              </a:ext>
            </a:extLst>
          </p:cNvPr>
          <p:cNvSpPr>
            <a:spLocks noGrp="1"/>
          </p:cNvSpPr>
          <p:nvPr>
            <p:ph sz="quarter" idx="15"/>
          </p:nvPr>
        </p:nvSpPr>
        <p:spPr>
          <a:xfrm>
            <a:off x="4580626" y="1968550"/>
            <a:ext cx="4106174" cy="1308050"/>
          </a:xfrm>
        </p:spPr>
        <p:txBody>
          <a:bodyPr>
            <a:noAutofit/>
          </a:bodyPr>
          <a:lstStyle/>
          <a:p>
            <a:pPr lvl="0">
              <a:spcBef>
                <a:spcPts val="0"/>
              </a:spcBef>
              <a:buSzPts val="2000"/>
            </a:pPr>
            <a:r>
              <a:rPr lang="en-IN" sz="2000" dirty="0"/>
              <a:t>Store backup copies of program and data files in secure, off-site location</a:t>
            </a:r>
          </a:p>
          <a:p>
            <a:pPr lvl="0">
              <a:spcBef>
                <a:spcPts val="600"/>
              </a:spcBef>
              <a:buSzPts val="2000"/>
            </a:pPr>
            <a:r>
              <a:rPr lang="en-IN" sz="2000" dirty="0"/>
              <a:t>Monitor system activity</a:t>
            </a:r>
          </a:p>
        </p:txBody>
      </p:sp>
    </p:spTree>
    <p:extLst>
      <p:ext uri="{BB962C8B-B14F-4D97-AF65-F5344CB8AC3E}">
        <p14:creationId xmlns:p14="http://schemas.microsoft.com/office/powerpoint/2010/main" val="191199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6928" y="154334"/>
            <a:ext cx="8229600" cy="1107996"/>
          </a:xfrm>
        </p:spPr>
        <p:txBody>
          <a:bodyPr anchor="ctr">
            <a:noAutofit/>
          </a:bodyPr>
          <a:lstStyle/>
          <a:p>
            <a:r>
              <a:rPr lang="en-IN" dirty="0"/>
              <a:t>Using Data Analytics to Prevent and Detect Fraud </a:t>
            </a:r>
            <a:r>
              <a:rPr lang="en-IN" sz="2800" dirty="0"/>
              <a:t>(1 of 2)</a:t>
            </a:r>
            <a:endParaRPr lang="en-IN" sz="3600" dirty="0">
              <a:latin typeface="+mj-lt"/>
            </a:endParaRPr>
          </a:p>
        </p:txBody>
      </p:sp>
      <p:sp>
        <p:nvSpPr>
          <p:cNvPr id="2" name="Content Placeholder 1"/>
          <p:cNvSpPr>
            <a:spLocks noGrp="1"/>
          </p:cNvSpPr>
          <p:nvPr>
            <p:ph idx="13"/>
          </p:nvPr>
        </p:nvSpPr>
        <p:spPr>
          <a:xfrm>
            <a:off x="466928" y="1447800"/>
            <a:ext cx="8229600" cy="4662815"/>
          </a:xfrm>
        </p:spPr>
        <p:txBody>
          <a:bodyPr>
            <a:noAutofit/>
          </a:bodyPr>
          <a:lstStyle/>
          <a:p>
            <a:pPr marL="427037" indent="-342900">
              <a:spcBef>
                <a:spcPts val="600"/>
              </a:spcBef>
            </a:pPr>
            <a:r>
              <a:rPr lang="en-IN" sz="2400" dirty="0"/>
              <a:t>Fraud detection is much more effective when data analytics software tools are used to examine an entire data population.</a:t>
            </a:r>
          </a:p>
          <a:p>
            <a:pPr marL="884237" lvl="1" indent="-342900"/>
            <a:r>
              <a:rPr lang="en-IN" sz="2400" dirty="0"/>
              <a:t>Using data analytics software, every transaction or item in the data can be compared against selected criteria and any items identified as anomalies, unusual, or unexpected could be tagged for human examination.</a:t>
            </a:r>
          </a:p>
          <a:p>
            <a:pPr marL="427037" indent="-342900">
              <a:spcBef>
                <a:spcPts val="600"/>
              </a:spcBef>
            </a:pPr>
            <a:r>
              <a:rPr lang="en-IN" sz="2400" dirty="0"/>
              <a:t>Data analytics don’t directly detect fraud.</a:t>
            </a:r>
          </a:p>
          <a:p>
            <a:pPr marL="884237" lvl="1" indent="-342900"/>
            <a:r>
              <a:rPr lang="en-IN" sz="2400" dirty="0"/>
              <a:t>Experienced humans are needed to examine and understand any suspicious activities identified and to determine if fraud is involved.</a:t>
            </a:r>
          </a:p>
        </p:txBody>
      </p:sp>
    </p:spTree>
    <p:extLst>
      <p:ext uri="{BB962C8B-B14F-4D97-AF65-F5344CB8AC3E}">
        <p14:creationId xmlns:p14="http://schemas.microsoft.com/office/powerpoint/2010/main" val="125595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6928" y="154334"/>
            <a:ext cx="8229600" cy="1107996"/>
          </a:xfrm>
        </p:spPr>
        <p:txBody>
          <a:bodyPr anchor="ctr">
            <a:noAutofit/>
          </a:bodyPr>
          <a:lstStyle/>
          <a:p>
            <a:r>
              <a:rPr lang="en-IN" dirty="0"/>
              <a:t>Using Data Analytics to Prevent and Detect Fraud </a:t>
            </a:r>
            <a:r>
              <a:rPr lang="en-IN" sz="2800" dirty="0"/>
              <a:t>(2 of 2)</a:t>
            </a:r>
            <a:endParaRPr lang="en-IN" sz="3600" dirty="0">
              <a:latin typeface="+mj-lt"/>
            </a:endParaRPr>
          </a:p>
        </p:txBody>
      </p:sp>
      <p:sp>
        <p:nvSpPr>
          <p:cNvPr id="2" name="Content Placeholder 1"/>
          <p:cNvSpPr>
            <a:spLocks noGrp="1"/>
          </p:cNvSpPr>
          <p:nvPr>
            <p:ph idx="13"/>
          </p:nvPr>
        </p:nvSpPr>
        <p:spPr>
          <a:xfrm>
            <a:off x="466928" y="1447800"/>
            <a:ext cx="8229600" cy="2600712"/>
          </a:xfrm>
        </p:spPr>
        <p:txBody>
          <a:bodyPr>
            <a:noAutofit/>
          </a:bodyPr>
          <a:lstStyle/>
          <a:p>
            <a:pPr marL="339725" lvl="0" indent="-255588">
              <a:buSzPts val="2400"/>
            </a:pPr>
            <a:r>
              <a:rPr lang="en-IN" sz="2400" dirty="0"/>
              <a:t>There are benefits as well as challenges when using data analytics to prevent and detect fraud.</a:t>
            </a:r>
          </a:p>
          <a:p>
            <a:pPr marL="339725" lvl="0" indent="-255588"/>
            <a:r>
              <a:rPr lang="en-IN" sz="2400" dirty="0"/>
              <a:t>There are many data analytics techniques to detect fraud:</a:t>
            </a:r>
          </a:p>
          <a:p>
            <a:pPr marL="796925" lvl="1" indent="-255588">
              <a:spcBef>
                <a:spcPts val="1500"/>
              </a:spcBef>
            </a:pPr>
            <a:r>
              <a:rPr lang="en-IN" sz="2400" dirty="0"/>
              <a:t>Outliner detection, anomaly detection using trends and patterns, regression analysis, semantic </a:t>
            </a:r>
            <a:r>
              <a:rPr lang="en-IN" sz="2400" dirty="0" err="1"/>
              <a:t>modeling</a:t>
            </a:r>
            <a:r>
              <a:rPr lang="en-IN" sz="2400" dirty="0"/>
              <a:t>, and </a:t>
            </a:r>
            <a:r>
              <a:rPr lang="en-IN" sz="2400" dirty="0" err="1"/>
              <a:t>Benford’s</a:t>
            </a:r>
            <a:r>
              <a:rPr lang="en-IN" sz="2400" dirty="0"/>
              <a:t> Law.</a:t>
            </a:r>
          </a:p>
        </p:txBody>
      </p:sp>
    </p:spTree>
    <p:extLst>
      <p:ext uri="{BB962C8B-B14F-4D97-AF65-F5344CB8AC3E}">
        <p14:creationId xmlns:p14="http://schemas.microsoft.com/office/powerpoint/2010/main" val="37014273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30F1A-304F-D84F-B894-C2E0B59307B7}"/>
              </a:ext>
            </a:extLst>
          </p:cNvPr>
          <p:cNvSpPr>
            <a:spLocks noGrp="1"/>
          </p:cNvSpPr>
          <p:nvPr>
            <p:ph type="title" idx="4294967295"/>
          </p:nvPr>
        </p:nvSpPr>
        <p:spPr>
          <a:xfrm>
            <a:off x="381000" y="381000"/>
            <a:ext cx="8229600" cy="554038"/>
          </a:xfrm>
        </p:spPr>
        <p:txBody>
          <a:bodyPr/>
          <a:lstStyle/>
          <a:p>
            <a:r>
              <a:rPr lang="en-US" dirty="0"/>
              <a:t>Benford’s Law</a:t>
            </a:r>
          </a:p>
        </p:txBody>
      </p:sp>
      <p:sp>
        <p:nvSpPr>
          <p:cNvPr id="13" name="TextBox 12">
            <a:extLst>
              <a:ext uri="{FF2B5EF4-FFF2-40B4-BE49-F238E27FC236}">
                <a16:creationId xmlns:a16="http://schemas.microsoft.com/office/drawing/2014/main" id="{02555B36-CA0B-3441-8134-0086A68C4CAC}"/>
              </a:ext>
            </a:extLst>
          </p:cNvPr>
          <p:cNvSpPr txBox="1"/>
          <p:nvPr/>
        </p:nvSpPr>
        <p:spPr>
          <a:xfrm>
            <a:off x="2971800" y="6455664"/>
            <a:ext cx="6756814" cy="369332"/>
          </a:xfrm>
          <a:prstGeom prst="rect">
            <a:avLst/>
          </a:prstGeom>
          <a:noFill/>
        </p:spPr>
        <p:txBody>
          <a:bodyPr wrap="square">
            <a:spAutoFit/>
          </a:bodyPr>
          <a:lstStyle/>
          <a:p>
            <a:r>
              <a:rPr lang="en-US" dirty="0"/>
              <a:t>https://</a:t>
            </a:r>
            <a:r>
              <a:rPr lang="en-US" dirty="0" err="1"/>
              <a:t>mathworld.wolfram.com</a:t>
            </a:r>
            <a:r>
              <a:rPr lang="en-US" dirty="0"/>
              <a:t>/</a:t>
            </a:r>
            <a:r>
              <a:rPr lang="en-US" dirty="0" err="1"/>
              <a:t>BenfordsLaw.html</a:t>
            </a:r>
            <a:endParaRPr lang="en-US" dirty="0"/>
          </a:p>
        </p:txBody>
      </p:sp>
      <p:sp>
        <p:nvSpPr>
          <p:cNvPr id="17" name="TextBox 16">
            <a:extLst>
              <a:ext uri="{FF2B5EF4-FFF2-40B4-BE49-F238E27FC236}">
                <a16:creationId xmlns:a16="http://schemas.microsoft.com/office/drawing/2014/main" id="{01E56311-508D-5546-ACA7-5ABFFAF105BC}"/>
              </a:ext>
            </a:extLst>
          </p:cNvPr>
          <p:cNvSpPr txBox="1"/>
          <p:nvPr/>
        </p:nvSpPr>
        <p:spPr>
          <a:xfrm>
            <a:off x="152400" y="1371600"/>
            <a:ext cx="8915400" cy="2308324"/>
          </a:xfrm>
          <a:prstGeom prst="rect">
            <a:avLst/>
          </a:prstGeom>
          <a:noFill/>
        </p:spPr>
        <p:txBody>
          <a:bodyPr wrap="square">
            <a:spAutoFit/>
          </a:bodyPr>
          <a:lstStyle/>
          <a:p>
            <a:r>
              <a:rPr lang="en-US" dirty="0"/>
              <a:t>A phenomenological law also called the first digit law, first digit phenomenon, or leading digit phenomenon. Benford's law states that in listings, tables of statistics, etc., the digit 1 tends to occur with probability ∼30%, much greater than the expected 11.1% (i.e., one digit out of 9). Benford's law can be observed, for instance, by examining tables of logarithms and noting that the first pages are much more worn and smudged than later pages (Newcomb 1881). While Benford's law unquestionably applies to many situations in the real world, a satisfactory explanation has been given only recently through the work of Hill (1998). </a:t>
            </a:r>
          </a:p>
        </p:txBody>
      </p:sp>
      <p:pic>
        <p:nvPicPr>
          <p:cNvPr id="19" name="Picture 18" descr="Chart, bar chart&#10;&#10;Description automatically generated">
            <a:extLst>
              <a:ext uri="{FF2B5EF4-FFF2-40B4-BE49-F238E27FC236}">
                <a16:creationId xmlns:a16="http://schemas.microsoft.com/office/drawing/2014/main" id="{66704A39-289F-F64C-B4AE-6F58E1A12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4692" y="3719922"/>
            <a:ext cx="4750816" cy="2841610"/>
          </a:xfrm>
          <a:prstGeom prst="rect">
            <a:avLst/>
          </a:prstGeom>
        </p:spPr>
      </p:pic>
    </p:spTree>
    <p:extLst>
      <p:ext uri="{BB962C8B-B14F-4D97-AF65-F5344CB8AC3E}">
        <p14:creationId xmlns:p14="http://schemas.microsoft.com/office/powerpoint/2010/main" val="1881850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30F1A-304F-D84F-B894-C2E0B59307B7}"/>
              </a:ext>
            </a:extLst>
          </p:cNvPr>
          <p:cNvSpPr>
            <a:spLocks noGrp="1"/>
          </p:cNvSpPr>
          <p:nvPr>
            <p:ph type="title" idx="4294967295"/>
          </p:nvPr>
        </p:nvSpPr>
        <p:spPr>
          <a:xfrm>
            <a:off x="381000" y="381000"/>
            <a:ext cx="8229600" cy="554038"/>
          </a:xfrm>
        </p:spPr>
        <p:txBody>
          <a:bodyPr/>
          <a:lstStyle/>
          <a:p>
            <a:r>
              <a:rPr lang="en-US" dirty="0"/>
              <a:t>Benford’s Law</a:t>
            </a:r>
          </a:p>
        </p:txBody>
      </p:sp>
      <p:pic>
        <p:nvPicPr>
          <p:cNvPr id="11" name="Picture 10">
            <a:extLst>
              <a:ext uri="{FF2B5EF4-FFF2-40B4-BE49-F238E27FC236}">
                <a16:creationId xmlns:a16="http://schemas.microsoft.com/office/drawing/2014/main" id="{0E11FE27-31C9-2640-8049-9BA9739DAD06}"/>
              </a:ext>
            </a:extLst>
          </p:cNvPr>
          <p:cNvPicPr>
            <a:picLocks noChangeAspect="1"/>
          </p:cNvPicPr>
          <p:nvPr/>
        </p:nvPicPr>
        <p:blipFill>
          <a:blip r:embed="rId2"/>
          <a:stretch>
            <a:fillRect/>
          </a:stretch>
        </p:blipFill>
        <p:spPr>
          <a:xfrm>
            <a:off x="101186" y="1295400"/>
            <a:ext cx="8941628" cy="3898226"/>
          </a:xfrm>
          <a:prstGeom prst="rect">
            <a:avLst/>
          </a:prstGeom>
        </p:spPr>
      </p:pic>
      <p:sp>
        <p:nvSpPr>
          <p:cNvPr id="13" name="TextBox 12">
            <a:extLst>
              <a:ext uri="{FF2B5EF4-FFF2-40B4-BE49-F238E27FC236}">
                <a16:creationId xmlns:a16="http://schemas.microsoft.com/office/drawing/2014/main" id="{02555B36-CA0B-3441-8134-0086A68C4CAC}"/>
              </a:ext>
            </a:extLst>
          </p:cNvPr>
          <p:cNvSpPr txBox="1"/>
          <p:nvPr/>
        </p:nvSpPr>
        <p:spPr>
          <a:xfrm>
            <a:off x="2971800" y="6455664"/>
            <a:ext cx="6756814" cy="369332"/>
          </a:xfrm>
          <a:prstGeom prst="rect">
            <a:avLst/>
          </a:prstGeom>
          <a:noFill/>
        </p:spPr>
        <p:txBody>
          <a:bodyPr wrap="square">
            <a:spAutoFit/>
          </a:bodyPr>
          <a:lstStyle/>
          <a:p>
            <a:r>
              <a:rPr lang="en-US" dirty="0"/>
              <a:t>https://</a:t>
            </a:r>
            <a:r>
              <a:rPr lang="en-US" dirty="0" err="1"/>
              <a:t>mathworld.wolfram.com</a:t>
            </a:r>
            <a:r>
              <a:rPr lang="en-US" dirty="0"/>
              <a:t>/</a:t>
            </a:r>
            <a:r>
              <a:rPr lang="en-US" dirty="0" err="1"/>
              <a:t>BenfordsLaw.html</a:t>
            </a:r>
            <a:endParaRPr lang="en-US" dirty="0"/>
          </a:p>
        </p:txBody>
      </p:sp>
    </p:spTree>
    <p:extLst>
      <p:ext uri="{BB962C8B-B14F-4D97-AF65-F5344CB8AC3E}">
        <p14:creationId xmlns:p14="http://schemas.microsoft.com/office/powerpoint/2010/main" val="1555262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238648"/>
            <a:ext cx="8229600" cy="474452"/>
          </a:xfrm>
        </p:spPr>
        <p:txBody>
          <a:bodyPr>
            <a:noAutofit/>
          </a:bodyPr>
          <a:lstStyle/>
          <a:p>
            <a:r>
              <a:rPr lang="en-US" dirty="0">
                <a:latin typeface="+mj-lt"/>
              </a:rPr>
              <a:t>Key Terms</a:t>
            </a:r>
            <a:endParaRPr lang="en-IN" dirty="0">
              <a:latin typeface="+mj-lt"/>
            </a:endParaRPr>
          </a:p>
        </p:txBody>
      </p:sp>
      <p:sp>
        <p:nvSpPr>
          <p:cNvPr id="2" name="Content Placeholder 1"/>
          <p:cNvSpPr>
            <a:spLocks noGrp="1"/>
          </p:cNvSpPr>
          <p:nvPr>
            <p:ph idx="1"/>
          </p:nvPr>
        </p:nvSpPr>
        <p:spPr>
          <a:xfrm>
            <a:off x="468922" y="1000648"/>
            <a:ext cx="3569678" cy="4231928"/>
          </a:xfrm>
        </p:spPr>
        <p:txBody>
          <a:bodyPr>
            <a:noAutofit/>
          </a:bodyPr>
          <a:lstStyle/>
          <a:p>
            <a:pPr lvl="0">
              <a:spcBef>
                <a:spcPts val="0"/>
              </a:spcBef>
              <a:buSzPct val="100000"/>
            </a:pPr>
            <a:r>
              <a:rPr lang="en-IN" sz="2400" dirty="0"/>
              <a:t>Sabotage</a:t>
            </a:r>
          </a:p>
          <a:p>
            <a:pPr lvl="0">
              <a:spcBef>
                <a:spcPts val="600"/>
              </a:spcBef>
              <a:buSzPct val="100000"/>
            </a:pPr>
            <a:r>
              <a:rPr lang="en-IN" sz="2400" dirty="0"/>
              <a:t>Cookie</a:t>
            </a:r>
          </a:p>
          <a:p>
            <a:pPr lvl="0">
              <a:spcBef>
                <a:spcPts val="600"/>
              </a:spcBef>
              <a:buSzPct val="100000"/>
            </a:pPr>
            <a:r>
              <a:rPr lang="en-IN" sz="2400" dirty="0"/>
              <a:t>Fraud</a:t>
            </a:r>
          </a:p>
          <a:p>
            <a:pPr lvl="0">
              <a:spcBef>
                <a:spcPts val="600"/>
              </a:spcBef>
              <a:buSzPct val="100000"/>
            </a:pPr>
            <a:r>
              <a:rPr lang="en-IN" sz="2400" b="1" dirty="0"/>
              <a:t>White-collar criminals</a:t>
            </a:r>
          </a:p>
          <a:p>
            <a:pPr lvl="0">
              <a:spcBef>
                <a:spcPts val="600"/>
              </a:spcBef>
              <a:buSzPct val="100000"/>
            </a:pPr>
            <a:r>
              <a:rPr lang="en-IN" sz="2400" dirty="0"/>
              <a:t>Corruption</a:t>
            </a:r>
          </a:p>
          <a:p>
            <a:pPr lvl="0">
              <a:spcBef>
                <a:spcPts val="600"/>
              </a:spcBef>
              <a:buSzPct val="100000"/>
            </a:pPr>
            <a:r>
              <a:rPr lang="en-IN" sz="2400" dirty="0"/>
              <a:t>Investment fraud	</a:t>
            </a:r>
          </a:p>
          <a:p>
            <a:pPr lvl="0">
              <a:spcBef>
                <a:spcPts val="600"/>
              </a:spcBef>
              <a:buSzPct val="100000"/>
            </a:pPr>
            <a:r>
              <a:rPr lang="en-IN" sz="2400" b="1" dirty="0"/>
              <a:t>Misappropriation of assets</a:t>
            </a:r>
          </a:p>
          <a:p>
            <a:pPr lvl="0">
              <a:spcBef>
                <a:spcPts val="600"/>
              </a:spcBef>
              <a:buSzPct val="100000"/>
            </a:pPr>
            <a:r>
              <a:rPr lang="en-IN" sz="2400" b="1" dirty="0"/>
              <a:t>Fraudulent financial reporting</a:t>
            </a:r>
          </a:p>
        </p:txBody>
      </p:sp>
      <p:sp>
        <p:nvSpPr>
          <p:cNvPr id="3" name="Content Placeholder 2"/>
          <p:cNvSpPr>
            <a:spLocks noGrp="1"/>
          </p:cNvSpPr>
          <p:nvPr>
            <p:ph idx="13"/>
          </p:nvPr>
        </p:nvSpPr>
        <p:spPr>
          <a:xfrm>
            <a:off x="4582048" y="1003914"/>
            <a:ext cx="3962400" cy="2600712"/>
          </a:xfrm>
        </p:spPr>
        <p:txBody>
          <a:bodyPr>
            <a:noAutofit/>
          </a:bodyPr>
          <a:lstStyle/>
          <a:p>
            <a:pPr lvl="0">
              <a:spcBef>
                <a:spcPts val="600"/>
              </a:spcBef>
              <a:buSzPct val="100000"/>
            </a:pPr>
            <a:r>
              <a:rPr lang="en-IN" sz="2400" b="1" dirty="0"/>
              <a:t>Pressure</a:t>
            </a:r>
          </a:p>
          <a:p>
            <a:pPr lvl="0">
              <a:spcBef>
                <a:spcPts val="600"/>
              </a:spcBef>
              <a:buSzPct val="100000"/>
            </a:pPr>
            <a:r>
              <a:rPr lang="en-IN" sz="2400" b="1" dirty="0"/>
              <a:t>Opportunity</a:t>
            </a:r>
          </a:p>
          <a:p>
            <a:pPr lvl="0">
              <a:spcBef>
                <a:spcPts val="600"/>
              </a:spcBef>
              <a:buSzPct val="100000"/>
            </a:pPr>
            <a:r>
              <a:rPr lang="en-IN" sz="2400" b="1" dirty="0"/>
              <a:t>Lapping</a:t>
            </a:r>
          </a:p>
          <a:p>
            <a:pPr lvl="0">
              <a:spcBef>
                <a:spcPts val="600"/>
              </a:spcBef>
              <a:buSzPct val="100000"/>
            </a:pPr>
            <a:r>
              <a:rPr lang="en-IN" sz="2400" b="1" dirty="0"/>
              <a:t>Check kiting</a:t>
            </a:r>
          </a:p>
          <a:p>
            <a:pPr lvl="0">
              <a:spcBef>
                <a:spcPts val="600"/>
              </a:spcBef>
              <a:buSzPct val="100000"/>
            </a:pPr>
            <a:r>
              <a:rPr lang="en-IN" sz="2400" dirty="0"/>
              <a:t>Rationalization</a:t>
            </a:r>
          </a:p>
          <a:p>
            <a:pPr lvl="0">
              <a:spcBef>
                <a:spcPts val="600"/>
              </a:spcBef>
              <a:buSzPct val="100000"/>
            </a:pPr>
            <a:r>
              <a:rPr lang="en-IN" sz="2400" dirty="0"/>
              <a:t>Computer fraud</a:t>
            </a:r>
          </a:p>
        </p:txBody>
      </p:sp>
    </p:spTree>
    <p:extLst>
      <p:ext uri="{BB962C8B-B14F-4D97-AF65-F5344CB8AC3E}">
        <p14:creationId xmlns:p14="http://schemas.microsoft.com/office/powerpoint/2010/main" val="145409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a:extLst>
              <a:ext uri="{96DAC541-7B7A-43D3-8B79-37D633B846F1}">
                <asvg:svgBlip xmlns:asvg="http://schemas.microsoft.com/office/drawing/2016/SVG/main" r:embed="rId3"/>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06588399"/>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25952</TotalTime>
  <Words>8075</Words>
  <Application>Microsoft Macintosh PowerPoint</Application>
  <PresentationFormat>On-screen Show (4:3)</PresentationFormat>
  <Paragraphs>377</Paragraphs>
  <Slides>38</Slides>
  <Notes>23</Notes>
  <HiddenSlides>2</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Arial</vt:lpstr>
      <vt:lpstr>Arial(Body)</vt:lpstr>
      <vt:lpstr>Noto Sans Symbols</vt:lpstr>
      <vt:lpstr>Times New Roman</vt:lpstr>
      <vt:lpstr>Verdana</vt:lpstr>
      <vt:lpstr>Wingdings</vt:lpstr>
      <vt:lpstr>508 Lecture</vt:lpstr>
      <vt:lpstr>1_508 Lecture</vt:lpstr>
      <vt:lpstr>Accounting Information Systems</vt:lpstr>
      <vt:lpstr>PowerPoint Presentation</vt:lpstr>
      <vt:lpstr>PowerPoint Presentation</vt:lpstr>
      <vt:lpstr>Links</vt:lpstr>
      <vt:lpstr>Learning Objectives</vt:lpstr>
      <vt:lpstr>PowerPoint Presentation</vt:lpstr>
      <vt:lpstr>PowerPoint Presentation</vt:lpstr>
      <vt:lpstr>PowerPoint Presentation</vt:lpstr>
      <vt:lpstr>How bad is it?</vt:lpstr>
      <vt:lpstr>PowerPoint Presentation</vt:lpstr>
      <vt:lpstr>Threats to A I S</vt:lpstr>
      <vt:lpstr>Fraud</vt:lpstr>
      <vt:lpstr>Two Categories of Fraud</vt:lpstr>
      <vt:lpstr>PowerPoint Presentation</vt:lpstr>
      <vt:lpstr>Fraud statistics</vt:lpstr>
      <vt:lpstr>Auditor’s Responsibility</vt:lpstr>
      <vt:lpstr>PowerPoint Presentation</vt:lpstr>
      <vt:lpstr>PowerPoint Presentation</vt:lpstr>
      <vt:lpstr>Figure 8.1 Fraud Triangle</vt:lpstr>
      <vt:lpstr>Opportunity</vt:lpstr>
      <vt:lpstr>Pressures</vt:lpstr>
      <vt:lpstr>Rationalizations</vt:lpstr>
      <vt:lpstr>Stopped 4/7/26</vt:lpstr>
      <vt:lpstr>Missing Wirecard Money</vt:lpstr>
      <vt:lpstr>Check Kiting</vt:lpstr>
      <vt:lpstr>PowerPoint Presentation</vt:lpstr>
      <vt:lpstr>Computer Fraud</vt:lpstr>
      <vt:lpstr>How is fraud caught?</vt:lpstr>
      <vt:lpstr>Preventing and Detecting Fraud        1. Make Fraud Less Likely to Occur</vt:lpstr>
      <vt:lpstr>Preventing and Detecting Fraud        2. Make It Difficult to Commit</vt:lpstr>
      <vt:lpstr>Preventing and Detecting Fraud        3. Improve Detection</vt:lpstr>
      <vt:lpstr>Preventing and Detecting Fraud        4. Reduce Fraud Losses</vt:lpstr>
      <vt:lpstr>Using Data Analytics to Prevent and Detect Fraud (1 of 2)</vt:lpstr>
      <vt:lpstr>Using Data Analytics to Prevent and Detect Fraud (2 of 2)</vt:lpstr>
      <vt:lpstr>Benford’s Law</vt:lpstr>
      <vt:lpstr>Benford’s Law</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8, Fraud and Errors</dc:title>
  <dc:subject/>
  <dc:creator>Romney</dc:creator>
  <cp:keywords>Automotive</cp:keywords>
  <cp:lastModifiedBy>Nathan Garrett</cp:lastModifiedBy>
  <cp:revision>5030</cp:revision>
  <dcterms:created xsi:type="dcterms:W3CDTF">2014-07-14T20:04:21Z</dcterms:created>
  <dcterms:modified xsi:type="dcterms:W3CDTF">2026-04-07T14:06:29Z</dcterms:modified>
</cp:coreProperties>
</file>