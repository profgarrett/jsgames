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7" r:id="rId2"/>
  </p:sldMasterIdLst>
  <p:notesMasterIdLst>
    <p:notesMasterId r:id="rId34"/>
  </p:notesMasterIdLst>
  <p:handoutMasterIdLst>
    <p:handoutMasterId r:id="rId35"/>
  </p:handoutMasterIdLst>
  <p:sldIdLst>
    <p:sldId id="330" r:id="rId3"/>
    <p:sldId id="1797" r:id="rId4"/>
    <p:sldId id="1718" r:id="rId5"/>
    <p:sldId id="1770" r:id="rId6"/>
    <p:sldId id="1771" r:id="rId7"/>
    <p:sldId id="1782" r:id="rId8"/>
    <p:sldId id="1783" r:id="rId9"/>
    <p:sldId id="1784" r:id="rId10"/>
    <p:sldId id="1785" r:id="rId11"/>
    <p:sldId id="1088" r:id="rId12"/>
    <p:sldId id="1786" r:id="rId13"/>
    <p:sldId id="1755" r:id="rId14"/>
    <p:sldId id="1772" r:id="rId15"/>
    <p:sldId id="1773" r:id="rId16"/>
    <p:sldId id="1795" r:id="rId17"/>
    <p:sldId id="1796" r:id="rId18"/>
    <p:sldId id="1793" r:id="rId19"/>
    <p:sldId id="1774" r:id="rId20"/>
    <p:sldId id="1757" r:id="rId21"/>
    <p:sldId id="1787" r:id="rId22"/>
    <p:sldId id="1791" r:id="rId23"/>
    <p:sldId id="1792" r:id="rId24"/>
    <p:sldId id="1788" r:id="rId25"/>
    <p:sldId id="1789" r:id="rId26"/>
    <p:sldId id="1790" r:id="rId27"/>
    <p:sldId id="1802" r:id="rId28"/>
    <p:sldId id="1801" r:id="rId29"/>
    <p:sldId id="1799" r:id="rId30"/>
    <p:sldId id="1800" r:id="rId31"/>
    <p:sldId id="1769" r:id="rId32"/>
    <p:sldId id="1704"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orient="horz" pos="384">
          <p15:clr>
            <a:srgbClr val="A4A3A4"/>
          </p15:clr>
        </p15:guide>
        <p15:guide id="5" orient="horz" pos="144">
          <p15:clr>
            <a:srgbClr val="A4A3A4"/>
          </p15:clr>
        </p15:guide>
        <p15:guide id="7" orient="horz" pos="624">
          <p15:clr>
            <a:srgbClr val="A4A3A4"/>
          </p15:clr>
        </p15:guide>
        <p15:guide id="9" pos="288">
          <p15:clr>
            <a:srgbClr val="A4A3A4"/>
          </p15:clr>
        </p15:guide>
        <p15:guide id="10" pos="5472">
          <p15:clr>
            <a:srgbClr val="A4A3A4"/>
          </p15:clr>
        </p15:guide>
        <p15:guide id="11" orient="horz" pos="3984" userDrawn="1">
          <p15:clr>
            <a:srgbClr val="A4A3A4"/>
          </p15:clr>
        </p15:guide>
        <p15:guide id="1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Thamizharasan Dhanaseelan" initials="TD"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81" autoAdjust="0"/>
    <p:restoredTop sz="85007" autoAdjust="0"/>
  </p:normalViewPr>
  <p:slideViewPr>
    <p:cSldViewPr>
      <p:cViewPr varScale="1">
        <p:scale>
          <a:sx n="107" d="100"/>
          <a:sy n="107" d="100"/>
        </p:scale>
        <p:origin x="1416" y="160"/>
      </p:cViewPr>
      <p:guideLst>
        <p:guide pos="2880"/>
        <p:guide orient="horz" pos="384"/>
        <p:guide orient="horz" pos="144"/>
        <p:guide orient="horz" pos="624"/>
        <p:guide pos="288"/>
        <p:guide pos="5472"/>
        <p:guide orient="horz" pos="3984"/>
        <p:guide orient="horz" pos="2160"/>
      </p:guideLst>
    </p:cSldViewPr>
  </p:slideViewPr>
  <p:outlineViewPr>
    <p:cViewPr>
      <p:scale>
        <a:sx n="33" d="100"/>
        <a:sy n="33" d="100"/>
      </p:scale>
      <p:origin x="0" y="-1242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4/16/26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4/16/26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4</a:t>
            </a:fld>
            <a:endParaRPr lang="en-US" dirty="0"/>
          </a:p>
        </p:txBody>
      </p:sp>
    </p:spTree>
    <p:extLst>
      <p:ext uri="{BB962C8B-B14F-4D97-AF65-F5344CB8AC3E}">
        <p14:creationId xmlns:p14="http://schemas.microsoft.com/office/powerpoint/2010/main" val="1943810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Confidentiality relates to organizational intellectual property, which includes strategic plans, trade secrets, cost information, legal documents, and so on. </a:t>
            </a:r>
          </a:p>
          <a:p>
            <a:pPr marL="0" lvl="0" indent="0" algn="l" rtl="0">
              <a:spcBef>
                <a:spcPts val="0"/>
              </a:spcBef>
              <a:spcAft>
                <a:spcPts val="0"/>
              </a:spcAft>
              <a:buNone/>
            </a:pPr>
            <a:r>
              <a:rPr lang="en-US" dirty="0"/>
              <a:t>Privacy focuses on protecting personal information on customers, vendors, employees, and business partners (it does not apply to organizational data, i.e., confidentiality).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 is worthwhile to note that encryption is good to use for data storage and transmission; however, it cannot be useful for data processing as data must be decrypted to be processed. That is why a “defense in depth” approach is needed by supplementing encryption with access controls and training.</a:t>
            </a:r>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2212462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6</a:t>
            </a:fld>
            <a:endParaRPr lang="en-US" dirty="0"/>
          </a:p>
        </p:txBody>
      </p:sp>
    </p:spTree>
    <p:extLst>
      <p:ext uri="{BB962C8B-B14F-4D97-AF65-F5344CB8AC3E}">
        <p14:creationId xmlns:p14="http://schemas.microsoft.com/office/powerpoint/2010/main" val="1901918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3961037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Generally Accepted Privacy Principles (GAPP) are 10 best practices recommended for protecting privacy of customer’s personal information.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8</a:t>
            </a:fld>
            <a:endParaRPr lang="en-US" dirty="0"/>
          </a:p>
        </p:txBody>
      </p:sp>
    </p:spTree>
    <p:extLst>
      <p:ext uri="{BB962C8B-B14F-4D97-AF65-F5344CB8AC3E}">
        <p14:creationId xmlns:p14="http://schemas.microsoft.com/office/powerpoint/2010/main" val="3160426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9</a:t>
            </a:fld>
            <a:endParaRPr lang="en-US" dirty="0"/>
          </a:p>
        </p:txBody>
      </p:sp>
    </p:spTree>
    <p:extLst>
      <p:ext uri="{BB962C8B-B14F-4D97-AF65-F5344CB8AC3E}">
        <p14:creationId xmlns:p14="http://schemas.microsoft.com/office/powerpoint/2010/main" val="2540478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There are many reasons why organizations continue to change their information systems, whether it’s a full systems replacement or an upgrade to an existing system. This can be due to technology changes, to become more effective and efficient in the organization (productivity gains), improve business processes, or for competitive advantage reasons.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Because of an organization’s desire to change an information system, it’s best to proceed using the following five steps known as the systems development lifecycle (SDLC):</a:t>
            </a:r>
          </a:p>
          <a:p>
            <a:pPr marL="228600" lvl="0" indent="-228600" algn="l" rtl="0">
              <a:spcBef>
                <a:spcPts val="0"/>
              </a:spcBef>
              <a:spcAft>
                <a:spcPts val="0"/>
              </a:spcAft>
              <a:buClr>
                <a:schemeClr val="dk1"/>
              </a:buClr>
              <a:buSzPts val="1200"/>
              <a:buFont typeface="Arial"/>
              <a:buAutoNum type="arabicPeriod"/>
            </a:pPr>
            <a:r>
              <a:rPr lang="en-IN" dirty="0"/>
              <a:t>Systems analysis: feasibility of the proposed project occurs. What is actually needed and when will it be done (scope of the project)? If it is feasible, then identify system requirements with an analysis report provided to the steering committee.</a:t>
            </a:r>
          </a:p>
          <a:p>
            <a:pPr marL="228600" lvl="0" indent="-228600" algn="l" rtl="0">
              <a:spcBef>
                <a:spcPts val="0"/>
              </a:spcBef>
              <a:spcAft>
                <a:spcPts val="0"/>
              </a:spcAft>
              <a:buClr>
                <a:schemeClr val="dk1"/>
              </a:buClr>
              <a:buSzPts val="1200"/>
              <a:buFont typeface="Arial"/>
              <a:buAutoNum type="arabicPeriod"/>
            </a:pPr>
            <a:r>
              <a:rPr lang="en-IN" dirty="0"/>
              <a:t>Conceptual design: determine how to meet user needs. Does project involve purchasing software, developing program in-house, or outsourcing?</a:t>
            </a:r>
          </a:p>
          <a:p>
            <a:pPr marL="228600" lvl="0" indent="-228600" algn="l" rtl="0">
              <a:spcBef>
                <a:spcPts val="0"/>
              </a:spcBef>
              <a:spcAft>
                <a:spcPts val="0"/>
              </a:spcAft>
              <a:buClr>
                <a:schemeClr val="dk1"/>
              </a:buClr>
              <a:buSzPts val="1200"/>
              <a:buFont typeface="Arial"/>
              <a:buAutoNum type="arabicPeriod"/>
            </a:pPr>
            <a:r>
              <a:rPr lang="en-IN" dirty="0"/>
              <a:t>Physical design: translates broad conceptual design into the specific code, input and output source documents, and building the database.</a:t>
            </a:r>
          </a:p>
          <a:p>
            <a:pPr marL="228600" lvl="0" indent="-228600" algn="l" rtl="0">
              <a:spcBef>
                <a:spcPts val="0"/>
              </a:spcBef>
              <a:spcAft>
                <a:spcPts val="0"/>
              </a:spcAft>
              <a:buClr>
                <a:schemeClr val="dk1"/>
              </a:buClr>
              <a:buSzPts val="1200"/>
              <a:buFont typeface="Arial"/>
              <a:buAutoNum type="arabicPeriod"/>
            </a:pPr>
            <a:r>
              <a:rPr lang="en-IN" dirty="0"/>
              <a:t>Implementation and conversion: install and test new hardware and software, train employees after which conversion to the new system will be complete.</a:t>
            </a:r>
          </a:p>
          <a:p>
            <a:pPr marL="228600" lvl="0" indent="-228600" algn="l" rtl="0">
              <a:spcBef>
                <a:spcPts val="0"/>
              </a:spcBef>
              <a:spcAft>
                <a:spcPts val="0"/>
              </a:spcAft>
              <a:buClr>
                <a:schemeClr val="dk1"/>
              </a:buClr>
              <a:buSzPts val="1200"/>
              <a:buFont typeface="Arial"/>
              <a:buAutoNum type="arabicPeriod"/>
            </a:pPr>
            <a:r>
              <a:rPr lang="en-IN" dirty="0"/>
              <a:t>Operations and maintenance: ongoing reviews of the system with improvements and modifications made if necessary.</a:t>
            </a:r>
          </a:p>
          <a:p>
            <a:pPr marL="0" lvl="0" indent="0" algn="l" rtl="0">
              <a:spcBef>
                <a:spcPts val="0"/>
              </a:spcBef>
              <a:spcAft>
                <a:spcPts val="0"/>
              </a:spcAft>
              <a:buClr>
                <a:schemeClr val="dk1"/>
              </a:buClr>
              <a:buSzPts val="1200"/>
              <a:buFont typeface="Arial"/>
              <a:buNone/>
            </a:pPr>
            <a:endParaRPr lang="en-IN" dirty="0"/>
          </a:p>
          <a:p>
            <a:pPr marL="0" lvl="0" indent="0" algn="l" rtl="0">
              <a:spcBef>
                <a:spcPts val="0"/>
              </a:spcBef>
              <a:spcAft>
                <a:spcPts val="0"/>
              </a:spcAft>
              <a:buClr>
                <a:schemeClr val="dk1"/>
              </a:buClr>
              <a:buSzPts val="1200"/>
              <a:buFont typeface="Arial"/>
              <a:buNone/>
            </a:pPr>
            <a:r>
              <a:rPr lang="en-IN" dirty="0"/>
              <a:t>Long Description:</a:t>
            </a:r>
          </a:p>
          <a:p>
            <a:r>
              <a:rPr lang="en-US" sz="1200" kern="1200" dirty="0">
                <a:solidFill>
                  <a:schemeClr val="tx1"/>
                </a:solidFill>
                <a:effectLst/>
                <a:latin typeface="+mn-lt"/>
                <a:ea typeface="+mn-ea"/>
                <a:cs typeface="+mn-cs"/>
              </a:rPr>
              <a:t>The steps in the encryption and decryption process are as follows:</a:t>
            </a:r>
            <a:endParaRPr lang="en-IN" dirty="0">
              <a:effectLst/>
            </a:endParaRPr>
          </a:p>
          <a:p>
            <a:r>
              <a:rPr lang="en-US" sz="1200" kern="1200" dirty="0">
                <a:solidFill>
                  <a:schemeClr val="tx1"/>
                </a:solidFill>
                <a:effectLst/>
                <a:latin typeface="+mn-lt"/>
                <a:ea typeface="+mn-ea"/>
                <a:cs typeface="+mn-cs"/>
              </a:rPr>
              <a:t> </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Plaintext: This is a Contract for plus key</a:t>
            </a:r>
            <a:endParaRPr lang="en-IN" dirty="0">
              <a:effectLst/>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Encryption Algorithm</a:t>
            </a:r>
            <a:endParaRPr lang="en-IN" dirty="0">
              <a:effectLst/>
            </a:endParaRPr>
          </a:p>
          <a:p>
            <a:pPr marL="1085850" lvl="2" indent="-171450">
              <a:buFont typeface="Arial" panose="020B0604020202020204" pitchFamily="34" charset="0"/>
              <a:buChar char="•"/>
            </a:pPr>
            <a:r>
              <a:rPr lang="en-US" sz="1200" kern="1200" dirty="0">
                <a:solidFill>
                  <a:schemeClr val="tx1"/>
                </a:solidFill>
                <a:effectLst/>
                <a:latin typeface="+mn-lt"/>
                <a:ea typeface="+mn-ea"/>
                <a:cs typeface="+mn-cs"/>
              </a:rPr>
              <a:t>  Ciphertext: code (X b epsilon j epsilon m 2 e p 0 percent f g) plus key</a:t>
            </a:r>
            <a:endParaRPr lang="en-IN" dirty="0">
              <a:effectLst/>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Decryption Algorithm</a:t>
            </a:r>
            <a:endParaRPr lang="en-IN" dirty="0">
              <a:effectLst/>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Plaintext: This is a Contract for</a:t>
            </a:r>
            <a:endParaRPr lang="en-IN" dirty="0">
              <a:effectLs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54166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The text refers to examples of symmetric and asymmetric encryption algorithms: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Examples of symmetric encryption are DES (data encryption standard), which was superseded by AES (advanced encryption standard). </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Examples of asymmetric encryption are RSA (</a:t>
            </a:r>
            <a:r>
              <a:rPr lang="en-IN" dirty="0" err="1"/>
              <a:t>Rivest</a:t>
            </a:r>
            <a:r>
              <a:rPr lang="en-IN" dirty="0"/>
              <a:t>-Shamir-</a:t>
            </a:r>
            <a:r>
              <a:rPr lang="en-IN" dirty="0" err="1"/>
              <a:t>Adleman</a:t>
            </a:r>
            <a:r>
              <a:rPr lang="en-IN" dirty="0"/>
              <a:t>) and PGP (Pretty Good Privacy).</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A good example for understanding asymmetric encryption is this:</a:t>
            </a:r>
          </a:p>
          <a:p>
            <a:pPr marL="0" lvl="0" indent="0" algn="l" rtl="0">
              <a:spcBef>
                <a:spcPts val="0"/>
              </a:spcBef>
              <a:spcAft>
                <a:spcPts val="0"/>
              </a:spcAft>
              <a:buNone/>
            </a:pPr>
            <a:r>
              <a:rPr lang="en-IN" dirty="0"/>
              <a:t>I want to buy a book online; this purchase information with my credit card uses the online bookstore’s public key to encrypt the information. Only the online bookstore can decrypt this information using their private key which is known to them. That way, I can feel safe when purchasing online with the bookstore.</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Now that we understand encryption better and that information is encrypted in transit, why is it that hackers can get credit card data?</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It’s usually due to the fact that the private encryption key is stolen because it is not secured properly. Many times the private key is stored on the same server as the data itself, so when hackers gain access to the server, they are able to decrypt the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11</a:t>
            </a:fld>
            <a:endParaRPr lang="en-US" dirty="0"/>
          </a:p>
        </p:txBody>
      </p:sp>
    </p:spTree>
    <p:extLst>
      <p:ext uri="{BB962C8B-B14F-4D97-AF65-F5344CB8AC3E}">
        <p14:creationId xmlns:p14="http://schemas.microsoft.com/office/powerpoint/2010/main" val="10157388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12</a:t>
            </a:fld>
            <a:endParaRPr lang="en-US" dirty="0"/>
          </a:p>
        </p:txBody>
      </p:sp>
    </p:spTree>
    <p:extLst>
      <p:ext uri="{BB962C8B-B14F-4D97-AF65-F5344CB8AC3E}">
        <p14:creationId xmlns:p14="http://schemas.microsoft.com/office/powerpoint/2010/main" val="1274455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13</a:t>
            </a:fld>
            <a:endParaRPr lang="en-US" dirty="0"/>
          </a:p>
        </p:txBody>
      </p:sp>
    </p:spTree>
    <p:extLst>
      <p:ext uri="{BB962C8B-B14F-4D97-AF65-F5344CB8AC3E}">
        <p14:creationId xmlns:p14="http://schemas.microsoft.com/office/powerpoint/2010/main" val="10754177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14</a:t>
            </a:fld>
            <a:endParaRPr lang="en-US" dirty="0"/>
          </a:p>
        </p:txBody>
      </p:sp>
    </p:spTree>
    <p:extLst>
      <p:ext uri="{BB962C8B-B14F-4D97-AF65-F5344CB8AC3E}">
        <p14:creationId xmlns:p14="http://schemas.microsoft.com/office/powerpoint/2010/main" val="419822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Long Description: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Hashing: </a:t>
            </a:r>
          </a:p>
          <a:p>
            <a:pPr marL="228600" lvl="0" indent="-228600">
              <a:buFont typeface="+mj-lt"/>
              <a:buAutoNum type="arabicPeriod"/>
            </a:pPr>
            <a:r>
              <a:rPr lang="en-US" sz="1200" kern="1200" dirty="0">
                <a:solidFill>
                  <a:schemeClr val="tx1"/>
                </a:solidFill>
                <a:effectLst/>
                <a:latin typeface="+mn-lt"/>
                <a:ea typeface="+mn-ea"/>
                <a:cs typeface="+mn-cs"/>
              </a:rPr>
              <a:t>Any size input yields same fixed-size output. For example, SHA-256 hashing algorithm produces a 256-bit hash for each of the following:</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A one-sentence document</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A one-page document</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A 10-page document</a:t>
            </a:r>
          </a:p>
          <a:p>
            <a:pPr marL="228600" lvl="0" indent="-228600">
              <a:buFont typeface="+mj-lt"/>
              <a:buAutoNum type="arabicPeriod"/>
            </a:pPr>
            <a:r>
              <a:rPr lang="en-US" sz="1200" kern="1200" dirty="0">
                <a:solidFill>
                  <a:schemeClr val="tx1"/>
                </a:solidFill>
                <a:effectLst/>
                <a:latin typeface="+mn-lt"/>
                <a:ea typeface="+mn-ea"/>
                <a:cs typeface="+mn-cs"/>
              </a:rPr>
              <a:t>One-way function; cannot reverse, or “</a:t>
            </a:r>
            <a:r>
              <a:rPr lang="en-US" sz="1200" kern="1200" dirty="0" err="1">
                <a:solidFill>
                  <a:schemeClr val="tx1"/>
                </a:solidFill>
                <a:effectLst/>
                <a:latin typeface="+mn-lt"/>
                <a:ea typeface="+mn-ea"/>
                <a:cs typeface="+mn-cs"/>
              </a:rPr>
              <a:t>unhash</a:t>
            </a:r>
            <a:r>
              <a:rPr lang="en-US" sz="1200" kern="1200" dirty="0">
                <a:solidFill>
                  <a:schemeClr val="tx1"/>
                </a:solidFill>
                <a:effectLst/>
                <a:latin typeface="+mn-lt"/>
                <a:ea typeface="+mn-ea"/>
                <a:cs typeface="+mn-cs"/>
              </a:rPr>
              <a:t>” to recover original document. </a:t>
            </a:r>
          </a:p>
          <a:p>
            <a:r>
              <a:rPr lang="en-US" sz="1200" kern="1200" dirty="0">
                <a:solidFill>
                  <a:schemeClr val="tx1"/>
                </a:solidFill>
                <a:effectLst/>
                <a:latin typeface="+mn-lt"/>
                <a:ea typeface="+mn-ea"/>
                <a:cs typeface="+mn-cs"/>
              </a:rPr>
              <a:t>Encryption:</a:t>
            </a:r>
          </a:p>
          <a:p>
            <a:pPr marL="228600" lvl="0" indent="-228600">
              <a:buFont typeface="+mj-lt"/>
              <a:buAutoNum type="arabicPeriod"/>
            </a:pPr>
            <a:r>
              <a:rPr lang="en-US" sz="1200" kern="1200" dirty="0">
                <a:solidFill>
                  <a:schemeClr val="tx1"/>
                </a:solidFill>
                <a:effectLst/>
                <a:latin typeface="+mn-lt"/>
                <a:ea typeface="+mn-ea"/>
                <a:cs typeface="+mn-cs"/>
              </a:rPr>
              <a:t>Output size approximately the same as input size. For example:</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A one-sentence document becomes a one-sentence encrypted document.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A one-page document becomes a </a:t>
            </a:r>
            <a:r>
              <a:rPr lang="en-US" sz="1200" kern="1200" dirty="0" err="1">
                <a:solidFill>
                  <a:schemeClr val="tx1"/>
                </a:solidFill>
                <a:effectLst/>
                <a:latin typeface="+mn-lt"/>
                <a:ea typeface="+mn-ea"/>
                <a:cs typeface="+mn-cs"/>
              </a:rPr>
              <a:t>onepage</a:t>
            </a:r>
            <a:r>
              <a:rPr lang="en-US" sz="1200" kern="1200" dirty="0">
                <a:solidFill>
                  <a:schemeClr val="tx1"/>
                </a:solidFill>
                <a:effectLst/>
                <a:latin typeface="+mn-lt"/>
                <a:ea typeface="+mn-ea"/>
                <a:cs typeface="+mn-cs"/>
              </a:rPr>
              <a:t> encrypted document.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A 10-page document becomes a 10- page encrypted document. </a:t>
            </a:r>
          </a:p>
          <a:p>
            <a:pPr marL="228600" lvl="0" indent="-228600">
              <a:buFont typeface="+mj-lt"/>
              <a:buAutoNum type="arabicPeriod"/>
            </a:pPr>
            <a:r>
              <a:rPr lang="en-US" sz="1200" kern="1200" dirty="0">
                <a:solidFill>
                  <a:schemeClr val="tx1"/>
                </a:solidFill>
                <a:effectLst/>
                <a:latin typeface="+mn-lt"/>
                <a:ea typeface="+mn-ea"/>
                <a:cs typeface="+mn-cs"/>
              </a:rPr>
              <a:t>Reversible; can decrypt ciphertext back to plaintext.</a:t>
            </a:r>
          </a:p>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18</a:t>
            </a:fld>
            <a:endParaRPr lang="en-US" dirty="0"/>
          </a:p>
        </p:txBody>
      </p:sp>
    </p:spTree>
    <p:extLst>
      <p:ext uri="{BB962C8B-B14F-4D97-AF65-F5344CB8AC3E}">
        <p14:creationId xmlns:p14="http://schemas.microsoft.com/office/powerpoint/2010/main" val="3459766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The digital hash created in step 1 provides assurance that someone cannot enter into a digital transaction and then subsequently deny they had done so and refuse to </a:t>
            </a:r>
            <a:r>
              <a:rPr lang="en-IN" dirty="0" err="1"/>
              <a:t>fulfill</a:t>
            </a:r>
            <a:r>
              <a:rPr lang="en-IN" dirty="0"/>
              <a:t> their side of the contract.</a:t>
            </a:r>
          </a:p>
          <a:p>
            <a:pPr marL="0" lvl="0" indent="0" algn="l" rtl="0">
              <a:spcBef>
                <a:spcPts val="0"/>
              </a:spcBef>
              <a:spcAft>
                <a:spcPts val="0"/>
              </a:spcAft>
              <a:buNone/>
            </a:pPr>
            <a:r>
              <a:rPr lang="en-IN" dirty="0"/>
              <a:t>The comparison of the hash created to the hash generated from the receiver of the document after the document was opened by the creator’s public key and then saved using the same hashing algorithm. Figure 12-5 provides an excellent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19</a:t>
            </a:fld>
            <a:endParaRPr lang="en-US" dirty="0"/>
          </a:p>
        </p:txBody>
      </p:sp>
    </p:spTree>
    <p:extLst>
      <p:ext uri="{BB962C8B-B14F-4D97-AF65-F5344CB8AC3E}">
        <p14:creationId xmlns:p14="http://schemas.microsoft.com/office/powerpoint/2010/main" val="36266009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20</a:t>
            </a:fld>
            <a:endParaRPr lang="en-US" dirty="0"/>
          </a:p>
        </p:txBody>
      </p:sp>
    </p:spTree>
    <p:extLst>
      <p:ext uri="{BB962C8B-B14F-4D97-AF65-F5344CB8AC3E}">
        <p14:creationId xmlns:p14="http://schemas.microsoft.com/office/powerpoint/2010/main" val="20365475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Long Description:</a:t>
            </a:r>
          </a:p>
          <a:p>
            <a:r>
              <a:rPr lang="en-US" sz="1200" kern="1200" dirty="0">
                <a:solidFill>
                  <a:schemeClr val="tx1"/>
                </a:solidFill>
                <a:effectLst/>
                <a:latin typeface="+mn-lt"/>
                <a:ea typeface="+mn-ea"/>
                <a:cs typeface="+mn-cs"/>
              </a:rPr>
              <a:t>The flow diagram showing Step 1 of the process on how hashing updates a blockchain appears as follows:</a:t>
            </a:r>
            <a:endParaRPr lang="en-IN" dirty="0">
              <a:effectLst/>
            </a:endParaRPr>
          </a:p>
          <a:p>
            <a:r>
              <a:rPr lang="en-US" sz="1200" kern="1200" dirty="0">
                <a:solidFill>
                  <a:schemeClr val="tx1"/>
                </a:solidFill>
                <a:effectLst/>
                <a:latin typeface="+mn-lt"/>
                <a:ea typeface="+mn-ea"/>
                <a:cs typeface="+mn-cs"/>
              </a:rPr>
              <a:t> </a:t>
            </a:r>
            <a:endParaRPr lang="en-IN" dirty="0">
              <a:effectLst/>
            </a:endParaRPr>
          </a:p>
          <a:p>
            <a:r>
              <a:rPr lang="en-US" sz="1200" kern="1200" dirty="0">
                <a:solidFill>
                  <a:schemeClr val="tx1"/>
                </a:solidFill>
                <a:effectLst/>
                <a:latin typeface="+mn-lt"/>
                <a:ea typeface="+mn-ea"/>
                <a:cs typeface="+mn-cs"/>
              </a:rPr>
              <a:t>Step 1: Create a Root Hash for a Block of Documents</a:t>
            </a:r>
            <a:endParaRPr lang="en-IN" dirty="0">
              <a:effectLst/>
            </a:endParaRPr>
          </a:p>
          <a:p>
            <a:r>
              <a:rPr lang="en-US" sz="1200" kern="1200" dirty="0">
                <a:solidFill>
                  <a:schemeClr val="tx1"/>
                </a:solidFill>
                <a:effectLst/>
                <a:latin typeface="+mn-lt"/>
                <a:ea typeface="+mn-ea"/>
                <a:cs typeface="+mn-cs"/>
              </a:rPr>
              <a:t> </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Document 1, Document 2, Document N minus 1, Document N</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Hash Algorithm (example, S H A – 2 5 6</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Hash of Document 1, Hash of Document 2</a:t>
            </a:r>
            <a:endParaRPr lang="en-IN"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Concatenate the 2 hashes and Hash the result</a:t>
            </a:r>
            <a:endParaRPr lang="en-IN"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Hash 12</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Hash of Document N minus 1, Hash of Document N</a:t>
            </a:r>
            <a:endParaRPr lang="en-IN"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Concatenate the 2 hashes and Hash the result</a:t>
            </a:r>
            <a:endParaRPr lang="en-IN"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Hash N minus 1</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Concatenate the 2 hashes and Hash the result</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Root Hash for New Block</a:t>
            </a:r>
            <a:endParaRPr lang="en-IN" dirty="0">
              <a:effectLst/>
            </a:endParaRPr>
          </a:p>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23</a:t>
            </a:fld>
            <a:endParaRPr lang="en-US" dirty="0"/>
          </a:p>
        </p:txBody>
      </p:sp>
    </p:spTree>
    <p:extLst>
      <p:ext uri="{BB962C8B-B14F-4D97-AF65-F5344CB8AC3E}">
        <p14:creationId xmlns:p14="http://schemas.microsoft.com/office/powerpoint/2010/main" val="32927177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Long Description:</a:t>
            </a:r>
          </a:p>
          <a:p>
            <a:r>
              <a:rPr lang="en-US" sz="1200" kern="1200" dirty="0">
                <a:solidFill>
                  <a:schemeClr val="tx1"/>
                </a:solidFill>
                <a:effectLst/>
                <a:latin typeface="+mn-lt"/>
                <a:ea typeface="+mn-ea"/>
                <a:cs typeface="+mn-cs"/>
              </a:rPr>
              <a:t>The flow diagram showing Step 2 of the process on how hashing updates a blockchain appears as follows:</a:t>
            </a:r>
            <a:endParaRPr lang="en-IN" dirty="0">
              <a:effectLst/>
            </a:endParaRPr>
          </a:p>
          <a:p>
            <a:r>
              <a:rPr lang="en-US" sz="1200" kern="1200" dirty="0">
                <a:solidFill>
                  <a:schemeClr val="tx1"/>
                </a:solidFill>
                <a:effectLst/>
                <a:latin typeface="+mn-lt"/>
                <a:ea typeface="+mn-ea"/>
                <a:cs typeface="+mn-cs"/>
              </a:rPr>
              <a:t> </a:t>
            </a:r>
            <a:endParaRPr lang="en-IN" dirty="0">
              <a:effectLst/>
            </a:endParaRPr>
          </a:p>
          <a:p>
            <a:r>
              <a:rPr lang="en-US" sz="1200" kern="1200" dirty="0">
                <a:solidFill>
                  <a:schemeClr val="tx1"/>
                </a:solidFill>
                <a:effectLst/>
                <a:latin typeface="+mn-lt"/>
                <a:ea typeface="+mn-ea"/>
                <a:cs typeface="+mn-cs"/>
              </a:rPr>
              <a:t>Step 2: Validate the new block and store the validation number in block header</a:t>
            </a:r>
            <a:endParaRPr lang="en-IN" dirty="0">
              <a:effectLst/>
            </a:endParaRPr>
          </a:p>
          <a:p>
            <a:r>
              <a:rPr lang="en-US" sz="1200" kern="1200" dirty="0">
                <a:solidFill>
                  <a:schemeClr val="tx1"/>
                </a:solidFill>
                <a:effectLst/>
                <a:latin typeface="+mn-lt"/>
                <a:ea typeface="+mn-ea"/>
                <a:cs typeface="+mn-cs"/>
              </a:rPr>
              <a:t> </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Root Hash of New Block (from Step 1)</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Root Hash of Last Validated Block in Chain</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Nonce (a randomly generated number)</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Repeatedly use hashing algorithm, trying different </a:t>
            </a:r>
            <a:r>
              <a:rPr lang="en-US" sz="1200" kern="1200" dirty="0" err="1">
                <a:solidFill>
                  <a:schemeClr val="tx1"/>
                </a:solidFill>
                <a:effectLst/>
                <a:latin typeface="+mn-lt"/>
                <a:ea typeface="+mn-ea"/>
                <a:cs typeface="+mn-cs"/>
              </a:rPr>
              <a:t>Nonces</a:t>
            </a:r>
            <a:r>
              <a:rPr lang="en-US" sz="1200" kern="1200" dirty="0">
                <a:solidFill>
                  <a:schemeClr val="tx1"/>
                </a:solidFill>
                <a:effectLst/>
                <a:latin typeface="+mn-lt"/>
                <a:ea typeface="+mn-ea"/>
                <a:cs typeface="+mn-cs"/>
              </a:rPr>
              <a:t> in combination with the two hashes, to generate a block validating hash value that begins with the network’s agreed-upon requisite number of leading zeroes (this repetitive process is called mining)</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New Block</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Block Header (Block-validating hash with requisite number of leading zeroes)</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Root Hash of New Block (from Step 1)</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Nonce used to generate the hash values with leading zeroes</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Root hash of Last Validated Block in Chain</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Document 1, Document 2, Document N minus 1, Document N</a:t>
            </a:r>
            <a:endParaRPr lang="en-IN" dirty="0">
              <a:effectLst/>
            </a:endParaRPr>
          </a:p>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24</a:t>
            </a:fld>
            <a:endParaRPr lang="en-US" dirty="0"/>
          </a:p>
        </p:txBody>
      </p:sp>
    </p:spTree>
    <p:extLst>
      <p:ext uri="{BB962C8B-B14F-4D97-AF65-F5344CB8AC3E}">
        <p14:creationId xmlns:p14="http://schemas.microsoft.com/office/powerpoint/2010/main" val="3946423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Long Description:</a:t>
            </a:r>
          </a:p>
          <a:p>
            <a:r>
              <a:rPr lang="en-US" sz="1200" kern="1200" dirty="0">
                <a:solidFill>
                  <a:schemeClr val="tx1"/>
                </a:solidFill>
                <a:effectLst/>
                <a:latin typeface="+mn-lt"/>
                <a:ea typeface="+mn-ea"/>
                <a:cs typeface="+mn-cs"/>
              </a:rPr>
              <a:t>The flow diagram of Step 3 a of the process on how hashing updates a blockchain appears as follows:</a:t>
            </a:r>
            <a:endParaRPr lang="en-IN" dirty="0">
              <a:effectLst/>
            </a:endParaRPr>
          </a:p>
          <a:p>
            <a:r>
              <a:rPr lang="en-US" sz="1200" kern="1200" dirty="0">
                <a:solidFill>
                  <a:schemeClr val="tx1"/>
                </a:solidFill>
                <a:effectLst/>
                <a:latin typeface="+mn-lt"/>
                <a:ea typeface="+mn-ea"/>
                <a:cs typeface="+mn-cs"/>
              </a:rPr>
              <a:t> </a:t>
            </a:r>
            <a:endParaRPr lang="en-IN" dirty="0">
              <a:effectLst/>
            </a:endParaRPr>
          </a:p>
          <a:p>
            <a:r>
              <a:rPr lang="en-US" sz="1200" kern="1200" dirty="0">
                <a:solidFill>
                  <a:schemeClr val="tx1"/>
                </a:solidFill>
                <a:effectLst/>
                <a:latin typeface="+mn-lt"/>
                <a:ea typeface="+mn-ea"/>
                <a:cs typeface="+mn-cs"/>
              </a:rPr>
              <a:t>Step 3 a: Append the New Block to Existing Chain</a:t>
            </a:r>
            <a:endParaRPr lang="en-IN" dirty="0">
              <a:effectLst/>
            </a:endParaRPr>
          </a:p>
          <a:p>
            <a:r>
              <a:rPr lang="en-US" sz="1200" kern="1200" dirty="0">
                <a:solidFill>
                  <a:schemeClr val="tx1"/>
                </a:solidFill>
                <a:effectLst/>
                <a:latin typeface="+mn-lt"/>
                <a:ea typeface="+mn-ea"/>
                <a:cs typeface="+mn-cs"/>
              </a:rPr>
              <a:t> </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Machine 1</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Block 1</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Block 2</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Block 3</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Newest Block</a:t>
            </a:r>
            <a:endParaRPr lang="en-IN" dirty="0">
              <a:effectLst/>
            </a:endParaRPr>
          </a:p>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25</a:t>
            </a:fld>
            <a:endParaRPr lang="en-US" dirty="0"/>
          </a:p>
        </p:txBody>
      </p:sp>
    </p:spTree>
    <p:extLst>
      <p:ext uri="{BB962C8B-B14F-4D97-AF65-F5344CB8AC3E}">
        <p14:creationId xmlns:p14="http://schemas.microsoft.com/office/powerpoint/2010/main" val="32817614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30</a:t>
            </a:fld>
            <a:endParaRPr lang="en-US" dirty="0"/>
          </a:p>
        </p:txBody>
      </p:sp>
    </p:spTree>
    <p:extLst>
      <p:ext uri="{BB962C8B-B14F-4D97-AF65-F5344CB8AC3E}">
        <p14:creationId xmlns:p14="http://schemas.microsoft.com/office/powerpoint/2010/main" val="13968856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A73D6722-9B4D-4E29-B226-C325925A8118}" type="slidenum">
              <a:rPr lang="en-US" smtClean="0"/>
              <a:t>31</a:t>
            </a:fld>
            <a:endParaRPr lang="en-US" dirty="0"/>
          </a:p>
        </p:txBody>
      </p:sp>
    </p:spTree>
    <p:extLst>
      <p:ext uri="{BB962C8B-B14F-4D97-AF65-F5344CB8AC3E}">
        <p14:creationId xmlns:p14="http://schemas.microsoft.com/office/powerpoint/2010/main" val="1890788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3046453"/>
            <a:ext cx="7772400" cy="553998"/>
          </a:xfrm>
        </p:spPr>
        <p:txBody>
          <a:bodyPr anchor="b">
            <a:sp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276999"/>
          </a:xfrm>
        </p:spPr>
        <p:txBody>
          <a:bodyPr>
            <a:sp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9DF6EFB-3F44-496C-A842-1E0B3D3B975A}" type="datetimeFigureOut">
              <a:rPr lang="en-US" smtClean="0"/>
              <a:t>4/16/26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TextBox 8"/>
          <p:cNvSpPr txBox="1"/>
          <p:nvPr userDrawn="1"/>
        </p:nvSpPr>
        <p:spPr>
          <a:xfrm>
            <a:off x="1533525" y="6374626"/>
            <a:ext cx="7162800" cy="276999"/>
          </a:xfrm>
          <a:prstGeom prst="rect">
            <a:avLst/>
          </a:prstGeom>
          <a:noFill/>
        </p:spPr>
        <p:txBody>
          <a:bodyPr wrap="square" rtlCol="0">
            <a:spAutoFit/>
          </a:bodyPr>
          <a:lstStyle/>
          <a:p>
            <a:pPr marL="0" indent="0" algn="r">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spAutoFit/>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4/16/26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p:txBody>
          <a:bodyPr>
            <a:spAutoFit/>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4/16/26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4/16/26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4/16/26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4/16/26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30213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4/16/26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077231"/>
            <a:ext cx="7772400" cy="523220"/>
          </a:xfrm>
        </p:spPr>
        <p:txBody>
          <a:bodyPr anchor="b">
            <a:sp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4/16/26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4/16/26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4/16/26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Footer Placeholder 4"/>
          <p:cNvSpPr>
            <a:spLocks noGrp="1"/>
          </p:cNvSpPr>
          <p:nvPr>
            <p:ph type="ftr" sz="quarter" idx="3"/>
          </p:nvPr>
        </p:nvSpPr>
        <p:spPr>
          <a:xfrm>
            <a:off x="2819401" y="6424902"/>
            <a:ext cx="5857188" cy="231802"/>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a:xfrm>
            <a:off x="489408" y="0"/>
            <a:ext cx="8229600" cy="5334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4/16/26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4" name="Text Placeholder 3"/>
          <p:cNvSpPr>
            <a:spLocks noGrp="1"/>
          </p:cNvSpPr>
          <p:nvPr>
            <p:ph type="body" sz="quarter" idx="13"/>
          </p:nvPr>
        </p:nvSpPr>
        <p:spPr>
          <a:xfrm>
            <a:off x="533400" y="685800"/>
            <a:ext cx="80772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ext Placeholder 12"/>
          <p:cNvSpPr>
            <a:spLocks noGrp="1"/>
          </p:cNvSpPr>
          <p:nvPr>
            <p:ph type="body" sz="quarter" idx="14"/>
          </p:nvPr>
        </p:nvSpPr>
        <p:spPr>
          <a:xfrm>
            <a:off x="609600" y="1295400"/>
            <a:ext cx="79248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4"/>
          <p:cNvSpPr>
            <a:spLocks noGrp="1"/>
          </p:cNvSpPr>
          <p:nvPr>
            <p:ph type="body" sz="quarter" idx="15"/>
          </p:nvPr>
        </p:nvSpPr>
        <p:spPr>
          <a:xfrm>
            <a:off x="685800" y="1828800"/>
            <a:ext cx="7848600" cy="45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7" name="Text Placeholder 16"/>
          <p:cNvSpPr>
            <a:spLocks noGrp="1"/>
          </p:cNvSpPr>
          <p:nvPr>
            <p:ph type="body" sz="quarter" idx="16"/>
          </p:nvPr>
        </p:nvSpPr>
        <p:spPr>
          <a:xfrm>
            <a:off x="762000" y="2514600"/>
            <a:ext cx="7924800" cy="30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Picture Placeholder 18"/>
          <p:cNvSpPr>
            <a:spLocks noGrp="1"/>
          </p:cNvSpPr>
          <p:nvPr>
            <p:ph type="pic" sz="quarter" idx="17"/>
          </p:nvPr>
        </p:nvSpPr>
        <p:spPr>
          <a:xfrm>
            <a:off x="838200" y="3352800"/>
            <a:ext cx="7848600" cy="685800"/>
          </a:xfrm>
        </p:spPr>
        <p:txBody>
          <a:bodyPr/>
          <a:lstStyle/>
          <a:p>
            <a:endParaRPr lang="en-IN" dirty="0"/>
          </a:p>
        </p:txBody>
      </p:sp>
    </p:spTree>
    <p:extLst>
      <p:ext uri="{BB962C8B-B14F-4D97-AF65-F5344CB8AC3E}">
        <p14:creationId xmlns:p14="http://schemas.microsoft.com/office/powerpoint/2010/main" val="1128581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1055229081"/>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4" name="Date Placeholder 3"/>
          <p:cNvSpPr>
            <a:spLocks noGrp="1"/>
          </p:cNvSpPr>
          <p:nvPr>
            <p:ph type="dt" sz="half" idx="11"/>
          </p:nvPr>
        </p:nvSpPr>
        <p:spPr/>
        <p:txBody>
          <a:bodyPr/>
          <a:lstStyle/>
          <a:p>
            <a:fld id="{A9DF6EFB-3F44-496C-A842-1E0B3D3B975A}" type="datetimeFigureOut">
              <a:rPr lang="en-US" smtClean="0"/>
              <a:pPr/>
              <a:t>4/16/26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65584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1"/>
          </p:nvPr>
        </p:nvSpPr>
        <p:spPr/>
        <p:txBody>
          <a:bodyPr/>
          <a:lstStyle/>
          <a:p>
            <a:fld id="{A9DF6EFB-3F44-496C-A842-1E0B3D3B975A}" type="datetimeFigureOut">
              <a:rPr lang="en-US" smtClean="0"/>
              <a:pPr/>
              <a:t>4/16/26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18774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4/16/26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48189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4/16/26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10175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4/16/26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7879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4/16/26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999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4/16/26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025896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457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743200"/>
            <a:ext cx="8229600" cy="13716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4/16/26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60248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3810000" y="6425684"/>
            <a:ext cx="4866589" cy="184666"/>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latin typeface="Verdana" panose="020B0604030504040204" pitchFamily="34" charset="0"/>
              <a:ea typeface="Verdana" panose="020B0604030504040204" pitchFamily="34" charset="0"/>
              <a:cs typeface="Verdana" panose="020B0604030504040204" pitchFamily="34" charset="0"/>
            </a:endParaRPr>
          </a:p>
        </p:txBody>
      </p:sp>
      <p:sp>
        <p:nvSpPr>
          <p:cNvPr id="5" name="Content Placeholder 4">
            <a:extLst>
              <a:ext uri="{FF2B5EF4-FFF2-40B4-BE49-F238E27FC236}">
                <a16:creationId xmlns:a16="http://schemas.microsoft.com/office/drawing/2014/main" id="{EA13232C-DF31-4CED-AB61-62F26E3165BA}"/>
              </a:ext>
            </a:extLst>
          </p:cNvPr>
          <p:cNvSpPr>
            <a:spLocks noGrp="1"/>
          </p:cNvSpPr>
          <p:nvPr>
            <p:ph sz="quarter" idx="15"/>
          </p:nvPr>
        </p:nvSpPr>
        <p:spPr>
          <a:xfrm>
            <a:off x="533400" y="3733800"/>
            <a:ext cx="80772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Content Placeholder 10">
            <a:extLst>
              <a:ext uri="{FF2B5EF4-FFF2-40B4-BE49-F238E27FC236}">
                <a16:creationId xmlns:a16="http://schemas.microsoft.com/office/drawing/2014/main" id="{25DD6962-3095-446C-A57F-4E808E224A95}"/>
              </a:ext>
            </a:extLst>
          </p:cNvPr>
          <p:cNvSpPr>
            <a:spLocks noGrp="1"/>
          </p:cNvSpPr>
          <p:nvPr>
            <p:ph sz="quarter" idx="16"/>
          </p:nvPr>
        </p:nvSpPr>
        <p:spPr>
          <a:xfrm>
            <a:off x="762000" y="5619750"/>
            <a:ext cx="7848600" cy="3238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Content Placeholder 13">
            <a:extLst>
              <a:ext uri="{FF2B5EF4-FFF2-40B4-BE49-F238E27FC236}">
                <a16:creationId xmlns:a16="http://schemas.microsoft.com/office/drawing/2014/main" id="{FD058FF3-6114-471E-A9AA-A3D250496F47}"/>
              </a:ext>
            </a:extLst>
          </p:cNvPr>
          <p:cNvSpPr>
            <a:spLocks noGrp="1"/>
          </p:cNvSpPr>
          <p:nvPr>
            <p:ph sz="quarter" idx="17"/>
          </p:nvPr>
        </p:nvSpPr>
        <p:spPr>
          <a:xfrm>
            <a:off x="381000" y="2255838"/>
            <a:ext cx="8458200" cy="334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05157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4/16/26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515719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4/16/26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12" name="Picture Placeholder 11"/>
          <p:cNvSpPr>
            <a:spLocks noGrp="1"/>
          </p:cNvSpPr>
          <p:nvPr>
            <p:ph type="pic" sz="quarter" idx="13"/>
          </p:nvPr>
        </p:nvSpPr>
        <p:spPr>
          <a:xfrm>
            <a:off x="533400" y="2514600"/>
            <a:ext cx="8153400" cy="1066800"/>
          </a:xfrm>
        </p:spPr>
        <p:txBody>
          <a:bodyPr/>
          <a:lstStyle/>
          <a:p>
            <a:endParaRPr lang="en-IN"/>
          </a:p>
        </p:txBody>
      </p:sp>
      <p:sp>
        <p:nvSpPr>
          <p:cNvPr id="14" name="Text Placeholder 13"/>
          <p:cNvSpPr>
            <a:spLocks noGrp="1"/>
          </p:cNvSpPr>
          <p:nvPr>
            <p:ph type="body" sz="quarter" idx="14"/>
          </p:nvPr>
        </p:nvSpPr>
        <p:spPr>
          <a:xfrm>
            <a:off x="1066800" y="3810000"/>
            <a:ext cx="6858000" cy="137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5"/>
          <p:cNvSpPr>
            <a:spLocks noGrp="1"/>
          </p:cNvSpPr>
          <p:nvPr>
            <p:ph sz="quarter" idx="15"/>
          </p:nvPr>
        </p:nvSpPr>
        <p:spPr>
          <a:xfrm>
            <a:off x="1143000" y="5257800"/>
            <a:ext cx="4648200" cy="6096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8578532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4/16/26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93874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98_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Body)"/>
                <a:ea typeface="Arial(Body)"/>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1" name="Shape 5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Body)"/>
                <a:ea typeface="Arial(Body)"/>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IN" dirty="0"/>
          </a:p>
        </p:txBody>
      </p:sp>
      <p:sp>
        <p:nvSpPr>
          <p:cNvPr id="52" name="Shape 5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atin typeface="Arial(Body)"/>
              </a:defRPr>
            </a:lvl1pPr>
          </a:lstStyle>
          <a:p>
            <a:pPr algn="r">
              <a:buSzPct val="25000"/>
            </a:pPr>
            <a:fld id="{00000000-1234-1234-1234-123412341234}" type="slidenum">
              <a:rPr lang="en-US" sz="900" smtClean="0">
                <a:solidFill>
                  <a:schemeClr val="lt1"/>
                </a:solidFill>
              </a:rPr>
              <a:pPr algn="r">
                <a:buSzPct val="25000"/>
              </a:pPr>
              <a:t>‹#›</a:t>
            </a:fld>
            <a:endParaRPr lang="en-US" sz="900" dirty="0">
              <a:solidFill>
                <a:schemeClr val="lt1"/>
              </a:solidFill>
            </a:endParaRPr>
          </a:p>
        </p:txBody>
      </p:sp>
      <p:sp>
        <p:nvSpPr>
          <p:cNvPr id="7" name="Footer Placeholder 4"/>
          <p:cNvSpPr>
            <a:spLocks noGrp="1"/>
          </p:cNvSpPr>
          <p:nvPr>
            <p:ph type="ftr" sz="quarter" idx="3"/>
          </p:nvPr>
        </p:nvSpPr>
        <p:spPr>
          <a:xfrm>
            <a:off x="2819401" y="6424902"/>
            <a:ext cx="5857188" cy="204498"/>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170516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py">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4/16/26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4" name="Picture Placeholder 3">
            <a:extLst>
              <a:ext uri="{FF2B5EF4-FFF2-40B4-BE49-F238E27FC236}">
                <a16:creationId xmlns:a16="http://schemas.microsoft.com/office/drawing/2014/main" id="{49B1A741-EFA1-4984-B2F6-EC6B322134D1}"/>
              </a:ext>
            </a:extLst>
          </p:cNvPr>
          <p:cNvSpPr>
            <a:spLocks noGrp="1"/>
          </p:cNvSpPr>
          <p:nvPr>
            <p:ph type="pic" sz="quarter" idx="13"/>
          </p:nvPr>
        </p:nvSpPr>
        <p:spPr>
          <a:xfrm>
            <a:off x="457200" y="3276600"/>
            <a:ext cx="8229600" cy="1447800"/>
          </a:xfrm>
        </p:spPr>
        <p:txBody>
          <a:bodyPr/>
          <a:lstStyle/>
          <a:p>
            <a:endParaRPr lang="en-IN"/>
          </a:p>
        </p:txBody>
      </p:sp>
    </p:spTree>
    <p:extLst>
      <p:ext uri="{BB962C8B-B14F-4D97-AF65-F5344CB8AC3E}">
        <p14:creationId xmlns:p14="http://schemas.microsoft.com/office/powerpoint/2010/main" val="33557553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4/16/26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147131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1.emf"/><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58654"/>
            <a:ext cx="8229600" cy="553998"/>
          </a:xfrm>
          <a:prstGeom prst="rect">
            <a:avLst/>
          </a:prstGeom>
        </p:spPr>
        <p:txBody>
          <a:bodyPr vert="horz" lIns="0" tIns="0" rIns="0" bIns="0" rtlCol="0" anchor="b">
            <a:spAutoFit/>
          </a:bodyPr>
          <a:lstStyle/>
          <a:p>
            <a:r>
              <a:rPr lang="en-US" dirty="0"/>
              <a:t>Click to edit Master title style</a:t>
            </a:r>
          </a:p>
        </p:txBody>
      </p:sp>
      <p:sp>
        <p:nvSpPr>
          <p:cNvPr id="3" name="Text Placeholder 2"/>
          <p:cNvSpPr>
            <a:spLocks noGrp="1"/>
          </p:cNvSpPr>
          <p:nvPr>
            <p:ph type="body" idx="1"/>
          </p:nvPr>
        </p:nvSpPr>
        <p:spPr>
          <a:xfrm>
            <a:off x="457200" y="1600200"/>
            <a:ext cx="8229600" cy="2677656"/>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4/16/26</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60" r:id="rId4"/>
    <p:sldLayoutId id="2147483662" r:id="rId5"/>
    <p:sldLayoutId id="2147483661" r:id="rId6"/>
    <p:sldLayoutId id="2147483663" r:id="rId7"/>
    <p:sldLayoutId id="2147483651" r:id="rId8"/>
    <p:sldLayoutId id="2147483654" r:id="rId9"/>
    <p:sldLayoutId id="2147483655" r:id="rId10"/>
    <p:sldLayoutId id="2147483696" r:id="rId11"/>
    <p:sldLayoutId id="2147483699" r:id="rId12"/>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4/16/26</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a:latin typeface="Verdana" panose="020B0604030504040204" pitchFamily="34" charset="0"/>
                <a:ea typeface="Verdana" panose="020B0604030504040204" pitchFamily="34" charset="0"/>
                <a:cs typeface="Verdana" panose="020B0604030504040204" pitchFamily="34" charset="0"/>
              </a:rPr>
              <a:t>Copyright © </a:t>
            </a:r>
            <a:r>
              <a:rPr lang="en-US" sz="1200">
                <a:latin typeface="Verdana" panose="020B0604030504040204" pitchFamily="34" charset="0"/>
                <a:ea typeface="Verdana" panose="020B0604030504040204" pitchFamily="34" charset="0"/>
                <a:cs typeface="Verdana" panose="020B0604030504040204" pitchFamily="34" charset="0"/>
              </a:rPr>
              <a:t>2021, 2018, 2015 </a:t>
            </a:r>
            <a:r>
              <a:rPr lang="en-IN" sz="1200">
                <a:latin typeface="Verdana" panose="020B0604030504040204" pitchFamily="34" charset="0"/>
                <a:ea typeface="Verdana" panose="020B0604030504040204" pitchFamily="34" charset="0"/>
                <a:cs typeface="Verdana" panose="020B0604030504040204" pitchFamily="34" charset="0"/>
              </a:rPr>
              <a:t>Pearson Education, Inc. All Rights Reserved</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54764469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97" r:id="rId13"/>
    <p:sldLayoutId id="2147483698" r:id="rId14"/>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onlinewebtoolkit.com/hash-generator" TargetMode="Externa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20.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SSo_EIwHSd4" TargetMode="External"/><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investopedia.com/tech/how-does-bitcoin-mining-work/#toc-what-is-bitcoin-mining" TargetMode="Externa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61934" y="117302"/>
            <a:ext cx="8272730" cy="590349"/>
          </a:xfrm>
        </p:spPr>
        <p:txBody>
          <a:bodyPr wrap="square" lIns="0" tIns="18000" rIns="0" bIns="18000" anchor="ctr" anchorCtr="0">
            <a:spAutoFit/>
          </a:bodyPr>
          <a:lstStyle/>
          <a:p>
            <a:r>
              <a:rPr lang="en-US" dirty="0"/>
              <a:t>Accounting Information Systems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64643" y="932927"/>
            <a:ext cx="1958194" cy="344128"/>
          </a:xfrm>
        </p:spPr>
        <p:txBody>
          <a:bodyPr wrap="square" lIns="0" tIns="18000" rIns="0" bIns="18000" anchor="ctr" anchorCtr="0">
            <a:spAutoFit/>
          </a:bodyPr>
          <a:lstStyle/>
          <a:p>
            <a:r>
              <a:rPr lang="en-US" sz="2000" dirty="0">
                <a:solidFill>
                  <a:srgbClr val="007FA3"/>
                </a:solidFill>
                <a:latin typeface="Arial" panose="020B0604020202020204" pitchFamily="34" charset="0"/>
                <a:cs typeface="Arial" panose="020B0604020202020204" pitchFamily="34" charset="0"/>
              </a:rPr>
              <a:t>Sixteenth Edition</a:t>
            </a:r>
            <a:endParaRPr lang="en-US" dirty="0">
              <a:latin typeface="Arial" panose="020B0604020202020204" pitchFamily="34" charset="0"/>
              <a:cs typeface="Arial" panose="020B0604020202020204" pitchFamily="34" charset="0"/>
            </a:endParaRPr>
          </a:p>
        </p:txBody>
      </p:sp>
      <p:pic>
        <p:nvPicPr>
          <p:cNvPr id="9" name="Picture 8" descr="Front Cover: Accounting Information Systems, Sixteenth Edition by Romney, Steinbart, Summers and Wood.">
            <a:extLst>
              <a:ext uri="{FF2B5EF4-FFF2-40B4-BE49-F238E27FC236}">
                <a16:creationId xmlns:a16="http://schemas.microsoft.com/office/drawing/2014/main" id="{474D169D-DDD8-4DAB-92C6-0DAC8CD369D1}"/>
              </a:ext>
            </a:extLst>
          </p:cNvPr>
          <p:cNvPicPr>
            <a:picLocks noChangeAspect="1"/>
          </p:cNvPicPr>
          <p:nvPr/>
        </p:nvPicPr>
        <p:blipFill>
          <a:blip r:embed="rId3"/>
          <a:stretch>
            <a:fillRect/>
          </a:stretch>
        </p:blipFill>
        <p:spPr>
          <a:xfrm>
            <a:off x="384200" y="1386673"/>
            <a:ext cx="3892191" cy="4978953"/>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1999" y="2430301"/>
            <a:ext cx="2104845" cy="498016"/>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Chapter 12</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82048" y="3083896"/>
            <a:ext cx="4140200" cy="713460"/>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Confidentiality and Privacy Controls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69825" y="6425373"/>
            <a:ext cx="6589712" cy="221018"/>
          </a:xfrm>
        </p:spPr>
        <p:txBody>
          <a:bodyPr lIns="0" tIns="18000" rIns="0" bIns="18000" anchor="ctr" anchorCtr="0">
            <a:spAutoFit/>
          </a:bodyPr>
          <a:lstStyle/>
          <a:p>
            <a:r>
              <a:rPr lang="en-US" altLang="en-US" sz="1200" b="0" dirty="0">
                <a:latin typeface="Verdana"/>
                <a:ea typeface="Verdana" panose="020B0604030504040204" pitchFamily="34" charset="0"/>
                <a:cs typeface="Verdana" panose="020B0604030504040204" pitchFamily="34" charset="0"/>
              </a:rPr>
              <a:t>Copyright © 2024, 2021, 2018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1291B0-67C7-C4E2-E137-8947E2F8705D}"/>
              </a:ext>
            </a:extLst>
          </p:cNvPr>
          <p:cNvSpPr txBox="1"/>
          <p:nvPr/>
        </p:nvSpPr>
        <p:spPr>
          <a:xfrm>
            <a:off x="-17318" y="76200"/>
            <a:ext cx="4572000" cy="369332"/>
          </a:xfrm>
          <a:prstGeom prst="rect">
            <a:avLst/>
          </a:prstGeom>
          <a:noFill/>
        </p:spPr>
        <p:txBody>
          <a:bodyPr wrap="square">
            <a:spAutoFit/>
          </a:bodyPr>
          <a:lstStyle/>
          <a:p>
            <a:r>
              <a:rPr lang="en-US" dirty="0"/>
              <a:t>https://idea-instructions.com/public-key/</a:t>
            </a:r>
          </a:p>
        </p:txBody>
      </p:sp>
      <p:pic>
        <p:nvPicPr>
          <p:cNvPr id="5" name="Picture 4" descr="A picture containing graphical user interface&#10;&#10;Description automatically generated">
            <a:extLst>
              <a:ext uri="{FF2B5EF4-FFF2-40B4-BE49-F238E27FC236}">
                <a16:creationId xmlns:a16="http://schemas.microsoft.com/office/drawing/2014/main" id="{1BF954EC-63AA-C784-C025-7A31AB749B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412090"/>
            <a:ext cx="8839200" cy="6249314"/>
          </a:xfrm>
          <a:prstGeom prst="rect">
            <a:avLst/>
          </a:prstGeom>
        </p:spPr>
      </p:pic>
    </p:spTree>
    <p:extLst>
      <p:ext uri="{BB962C8B-B14F-4D97-AF65-F5344CB8AC3E}">
        <p14:creationId xmlns:p14="http://schemas.microsoft.com/office/powerpoint/2010/main" val="1859140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23633"/>
            <a:ext cx="8229600" cy="618079"/>
          </a:xfrm>
        </p:spPr>
        <p:txBody>
          <a:bodyPr anchor="ctr">
            <a:noAutofit/>
          </a:bodyPr>
          <a:lstStyle/>
          <a:p>
            <a:r>
              <a:rPr lang="en-IN" sz="3600" dirty="0">
                <a:latin typeface="+mj-lt"/>
              </a:rPr>
              <a:t>Learning Objectives </a:t>
            </a:r>
            <a:r>
              <a:rPr lang="en-IN" sz="2800" dirty="0">
                <a:latin typeface="+mj-lt"/>
              </a:rPr>
              <a:t>(1 of 2)</a:t>
            </a:r>
            <a:endParaRPr lang="en-IN" sz="3600" dirty="0">
              <a:latin typeface="+mj-lt"/>
            </a:endParaRPr>
          </a:p>
        </p:txBody>
      </p:sp>
      <p:sp>
        <p:nvSpPr>
          <p:cNvPr id="2" name="Content Placeholder 1"/>
          <p:cNvSpPr>
            <a:spLocks noGrp="1"/>
          </p:cNvSpPr>
          <p:nvPr>
            <p:ph idx="13"/>
          </p:nvPr>
        </p:nvSpPr>
        <p:spPr>
          <a:xfrm>
            <a:off x="465826" y="999226"/>
            <a:ext cx="8229600" cy="3595856"/>
          </a:xfrm>
        </p:spPr>
        <p:txBody>
          <a:bodyPr>
            <a:noAutofit/>
          </a:bodyPr>
          <a:lstStyle/>
          <a:p>
            <a:pPr lvl="0">
              <a:spcBef>
                <a:spcPts val="0"/>
              </a:spcBef>
              <a:buSzPts val="2400"/>
            </a:pPr>
            <a:r>
              <a:rPr lang="en-IN" sz="2400" dirty="0"/>
              <a:t>Describe the controls that can be used to protect the confidentiality of an organization’s information and the privacy of personal information collected from customers, suppliers, and employees.</a:t>
            </a:r>
          </a:p>
          <a:p>
            <a:pPr lvl="0">
              <a:buSzPts val="2400"/>
            </a:pPr>
            <a:r>
              <a:rPr lang="en-IN" sz="2400" dirty="0"/>
              <a:t>Discuss how the Generally Accepted Privacy Principles   (</a:t>
            </a:r>
            <a:r>
              <a:rPr lang="en-IN" sz="2400" spc="-350" dirty="0"/>
              <a:t>G A P </a:t>
            </a:r>
            <a:r>
              <a:rPr lang="en-IN" sz="2400" dirty="0"/>
              <a:t>P) framework provides guidance in developing a comprehensive approach to protecting privacy that satisfies the requirements of privacy regulations such as the </a:t>
            </a:r>
            <a:r>
              <a:rPr lang="en-IN" sz="2400" spc="-350" dirty="0"/>
              <a:t>E </a:t>
            </a:r>
            <a:r>
              <a:rPr lang="en-IN" sz="2400" dirty="0"/>
              <a:t>U’s General Data Privacy Regulation.</a:t>
            </a:r>
          </a:p>
        </p:txBody>
      </p:sp>
    </p:spTree>
    <p:extLst>
      <p:ext uri="{BB962C8B-B14F-4D97-AF65-F5344CB8AC3E}">
        <p14:creationId xmlns:p14="http://schemas.microsoft.com/office/powerpoint/2010/main" val="2560582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23633"/>
            <a:ext cx="8229600" cy="618079"/>
          </a:xfrm>
        </p:spPr>
        <p:txBody>
          <a:bodyPr anchor="ctr">
            <a:noAutofit/>
          </a:bodyPr>
          <a:lstStyle/>
          <a:p>
            <a:r>
              <a:rPr lang="en-IN" sz="3600" dirty="0">
                <a:latin typeface="+mj-lt"/>
              </a:rPr>
              <a:t>Learning Objectives </a:t>
            </a:r>
            <a:r>
              <a:rPr lang="en-IN" sz="2800" dirty="0">
                <a:latin typeface="+mj-lt"/>
              </a:rPr>
              <a:t>(2 of 2)</a:t>
            </a:r>
            <a:endParaRPr lang="en-IN" sz="3600" dirty="0">
              <a:latin typeface="+mj-lt"/>
            </a:endParaRPr>
          </a:p>
        </p:txBody>
      </p:sp>
      <p:sp>
        <p:nvSpPr>
          <p:cNvPr id="2" name="Content Placeholder 1"/>
          <p:cNvSpPr>
            <a:spLocks noGrp="1"/>
          </p:cNvSpPr>
          <p:nvPr>
            <p:ph idx="13"/>
          </p:nvPr>
        </p:nvSpPr>
        <p:spPr>
          <a:xfrm>
            <a:off x="465826" y="999226"/>
            <a:ext cx="8229600" cy="2600712"/>
          </a:xfrm>
        </p:spPr>
        <p:txBody>
          <a:bodyPr>
            <a:noAutofit/>
          </a:bodyPr>
          <a:lstStyle/>
          <a:p>
            <a:pPr lvl="0">
              <a:spcBef>
                <a:spcPts val="0"/>
              </a:spcBef>
              <a:buSzPts val="2400"/>
            </a:pPr>
            <a:r>
              <a:rPr lang="en-IN" sz="2400" dirty="0"/>
              <a:t>Discuss how different types of encryption systems work, and explain the difference between encryption and hashing.</a:t>
            </a:r>
          </a:p>
          <a:p>
            <a:pPr lvl="0">
              <a:buSzPts val="2400"/>
            </a:pPr>
            <a:r>
              <a:rPr lang="en-IN" sz="2400" dirty="0"/>
              <a:t>Explain how to create a digital signature and how it provides a means to create legally enforceable contracts.</a:t>
            </a:r>
          </a:p>
          <a:p>
            <a:pPr lvl="0">
              <a:buSzPts val="2400"/>
            </a:pPr>
            <a:r>
              <a:rPr lang="en-IN" sz="2400" dirty="0"/>
              <a:t>Discuss how blockchain works.</a:t>
            </a:r>
          </a:p>
        </p:txBody>
      </p:sp>
    </p:spTree>
    <p:extLst>
      <p:ext uri="{BB962C8B-B14F-4D97-AF65-F5344CB8AC3E}">
        <p14:creationId xmlns:p14="http://schemas.microsoft.com/office/powerpoint/2010/main" val="1872837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56882"/>
            <a:ext cx="8229600" cy="1107996"/>
          </a:xfrm>
        </p:spPr>
        <p:txBody>
          <a:bodyPr anchor="ctr">
            <a:noAutofit/>
          </a:bodyPr>
          <a:lstStyle/>
          <a:p>
            <a:r>
              <a:rPr lang="en-IN" sz="3600" dirty="0">
                <a:latin typeface="+mj-lt"/>
              </a:rPr>
              <a:t>Protecting Confidentiality and Privacy </a:t>
            </a:r>
            <a:r>
              <a:rPr lang="en-IN" sz="2800" dirty="0">
                <a:latin typeface="+mj-lt"/>
              </a:rPr>
              <a:t>(1 of 2)</a:t>
            </a:r>
            <a:endParaRPr lang="en-IN" sz="3600" dirty="0">
              <a:latin typeface="+mj-lt"/>
            </a:endParaRPr>
          </a:p>
        </p:txBody>
      </p:sp>
      <p:sp>
        <p:nvSpPr>
          <p:cNvPr id="2" name="Content Placeholder 1"/>
          <p:cNvSpPr>
            <a:spLocks noGrp="1"/>
          </p:cNvSpPr>
          <p:nvPr>
            <p:ph idx="13"/>
          </p:nvPr>
        </p:nvSpPr>
        <p:spPr>
          <a:xfrm>
            <a:off x="465826" y="1398495"/>
            <a:ext cx="8229600" cy="2154436"/>
          </a:xfrm>
        </p:spPr>
        <p:txBody>
          <a:bodyPr>
            <a:noAutofit/>
          </a:bodyPr>
          <a:lstStyle/>
          <a:p>
            <a:pPr lvl="0">
              <a:spcBef>
                <a:spcPts val="600"/>
              </a:spcBef>
              <a:buSzPts val="2400"/>
            </a:pPr>
            <a:r>
              <a:rPr lang="en-IN" sz="2400" dirty="0"/>
              <a:t>Identify and classify information to be protected</a:t>
            </a:r>
          </a:p>
          <a:p>
            <a:pPr lvl="1">
              <a:buSzPts val="2400"/>
            </a:pPr>
            <a:r>
              <a:rPr lang="en-IN" sz="2400" dirty="0"/>
              <a:t>Where is it located and who has access?</a:t>
            </a:r>
          </a:p>
          <a:p>
            <a:pPr lvl="1">
              <a:buSzPts val="2400"/>
            </a:pPr>
            <a:r>
              <a:rPr lang="en-IN" sz="2400" dirty="0"/>
              <a:t>Classify value of information to organization</a:t>
            </a:r>
            <a:br>
              <a:rPr lang="en-IN" sz="2400" dirty="0"/>
            </a:br>
            <a:endParaRPr lang="en-IN" sz="2400" dirty="0"/>
          </a:p>
          <a:p>
            <a:pPr lvl="0">
              <a:spcBef>
                <a:spcPts val="600"/>
              </a:spcBef>
              <a:buSzPts val="2400"/>
            </a:pPr>
            <a:r>
              <a:rPr lang="en-IN" sz="2400" dirty="0"/>
              <a:t>Protecting sensitive information with encryption</a:t>
            </a:r>
          </a:p>
          <a:p>
            <a:pPr lvl="1">
              <a:buSzPts val="2400"/>
            </a:pPr>
            <a:r>
              <a:rPr lang="en-IN" sz="2400" dirty="0"/>
              <a:t>Protect information in </a:t>
            </a:r>
            <a:r>
              <a:rPr lang="en-IN" sz="2400" b="1" dirty="0"/>
              <a:t>transit</a:t>
            </a:r>
            <a:r>
              <a:rPr lang="en-IN" sz="2400" dirty="0"/>
              <a:t> and in </a:t>
            </a:r>
            <a:r>
              <a:rPr lang="en-IN" sz="2400" b="1" dirty="0"/>
              <a:t>storage</a:t>
            </a:r>
          </a:p>
          <a:p>
            <a:pPr lvl="1">
              <a:buSzPts val="2400"/>
            </a:pPr>
            <a:r>
              <a:rPr lang="en-IN" sz="2400" dirty="0"/>
              <a:t>You can not protect information in </a:t>
            </a:r>
            <a:r>
              <a:rPr lang="en-IN" sz="2400" b="1" dirty="0"/>
              <a:t>use </a:t>
            </a:r>
            <a:r>
              <a:rPr lang="en-IN" sz="2400" dirty="0"/>
              <a:t>with encryption</a:t>
            </a:r>
          </a:p>
        </p:txBody>
      </p:sp>
    </p:spTree>
    <p:extLst>
      <p:ext uri="{BB962C8B-B14F-4D97-AF65-F5344CB8AC3E}">
        <p14:creationId xmlns:p14="http://schemas.microsoft.com/office/powerpoint/2010/main" val="788392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56882"/>
            <a:ext cx="8229600" cy="1107996"/>
          </a:xfrm>
        </p:spPr>
        <p:txBody>
          <a:bodyPr anchor="ctr">
            <a:noAutofit/>
          </a:bodyPr>
          <a:lstStyle/>
          <a:p>
            <a:r>
              <a:rPr lang="en-IN" sz="3600" dirty="0">
                <a:latin typeface="+mj-lt"/>
              </a:rPr>
              <a:t>Protecting Confidentiality and Privacy </a:t>
            </a:r>
            <a:r>
              <a:rPr lang="en-IN" sz="2800" dirty="0">
                <a:latin typeface="+mj-lt"/>
              </a:rPr>
              <a:t>(2 of 2)</a:t>
            </a:r>
            <a:endParaRPr lang="en-IN" sz="3600" dirty="0">
              <a:latin typeface="+mj-lt"/>
            </a:endParaRPr>
          </a:p>
        </p:txBody>
      </p:sp>
      <p:sp>
        <p:nvSpPr>
          <p:cNvPr id="2" name="Content Placeholder 1"/>
          <p:cNvSpPr>
            <a:spLocks noGrp="1"/>
          </p:cNvSpPr>
          <p:nvPr>
            <p:ph idx="13"/>
          </p:nvPr>
        </p:nvSpPr>
        <p:spPr>
          <a:xfrm>
            <a:off x="465826" y="1398495"/>
            <a:ext cx="8229600" cy="3354765"/>
          </a:xfrm>
        </p:spPr>
        <p:txBody>
          <a:bodyPr>
            <a:noAutofit/>
          </a:bodyPr>
          <a:lstStyle/>
          <a:p>
            <a:pPr>
              <a:spcBef>
                <a:spcPts val="1000"/>
              </a:spcBef>
              <a:buSzPts val="2400"/>
            </a:pPr>
            <a:r>
              <a:rPr lang="en-IN" sz="2400" dirty="0"/>
              <a:t>Controlling access to sensitive information</a:t>
            </a:r>
          </a:p>
          <a:p>
            <a:pPr lvl="1">
              <a:spcBef>
                <a:spcPts val="1000"/>
              </a:spcBef>
              <a:buSzPts val="2000"/>
            </a:pPr>
            <a:r>
              <a:rPr lang="en-IN" sz="2400" dirty="0"/>
              <a:t>Information Rights Management (</a:t>
            </a:r>
            <a:r>
              <a:rPr lang="en-IN" sz="2400" spc="-350" dirty="0"/>
              <a:t>I R </a:t>
            </a:r>
            <a:r>
              <a:rPr lang="en-IN" sz="2400" dirty="0"/>
              <a:t>M)</a:t>
            </a:r>
          </a:p>
          <a:p>
            <a:pPr lvl="1">
              <a:spcBef>
                <a:spcPts val="1000"/>
              </a:spcBef>
              <a:buSzPts val="2000"/>
            </a:pPr>
            <a:r>
              <a:rPr lang="en-IN" sz="2400" dirty="0"/>
              <a:t>Data loss prevention (</a:t>
            </a:r>
            <a:r>
              <a:rPr lang="en-IN" sz="2400" spc="-350" dirty="0"/>
              <a:t>D L </a:t>
            </a:r>
            <a:r>
              <a:rPr lang="en-IN" sz="2400" dirty="0"/>
              <a:t>P) </a:t>
            </a:r>
          </a:p>
          <a:p>
            <a:pPr lvl="1">
              <a:spcBef>
                <a:spcPts val="1000"/>
              </a:spcBef>
              <a:buSzPts val="2000"/>
            </a:pPr>
            <a:r>
              <a:rPr lang="en-IN" sz="2400" dirty="0"/>
              <a:t>Digital watermarks </a:t>
            </a:r>
          </a:p>
          <a:p>
            <a:pPr lvl="1">
              <a:spcBef>
                <a:spcPts val="1000"/>
              </a:spcBef>
              <a:buSzPts val="2000"/>
            </a:pPr>
            <a:r>
              <a:rPr lang="en-IN" sz="2400" dirty="0"/>
              <a:t>Data masking</a:t>
            </a:r>
          </a:p>
          <a:p>
            <a:pPr lvl="1">
              <a:spcBef>
                <a:spcPts val="1000"/>
              </a:spcBef>
              <a:buSzPts val="2000"/>
            </a:pPr>
            <a:r>
              <a:rPr lang="en-IN" sz="2400" dirty="0"/>
              <a:t>Tokenization</a:t>
            </a:r>
          </a:p>
          <a:p>
            <a:pPr>
              <a:spcBef>
                <a:spcPts val="1000"/>
              </a:spcBef>
              <a:buSzPts val="2400"/>
            </a:pPr>
            <a:r>
              <a:rPr lang="en-IN" sz="2400" dirty="0"/>
              <a:t>Training</a:t>
            </a:r>
          </a:p>
        </p:txBody>
      </p:sp>
    </p:spTree>
    <p:extLst>
      <p:ext uri="{BB962C8B-B14F-4D97-AF65-F5344CB8AC3E}">
        <p14:creationId xmlns:p14="http://schemas.microsoft.com/office/powerpoint/2010/main" val="583967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61364"/>
            <a:ext cx="8229600" cy="553998"/>
          </a:xfrm>
        </p:spPr>
        <p:txBody>
          <a:bodyPr anchor="ctr">
            <a:noAutofit/>
          </a:bodyPr>
          <a:lstStyle/>
          <a:p>
            <a:r>
              <a:rPr lang="en-IN" sz="3600" dirty="0">
                <a:latin typeface="+mj-lt"/>
              </a:rPr>
              <a:t>Privacy Regulations</a:t>
            </a:r>
          </a:p>
        </p:txBody>
      </p:sp>
      <p:sp>
        <p:nvSpPr>
          <p:cNvPr id="2" name="Content Placeholder 1"/>
          <p:cNvSpPr>
            <a:spLocks noGrp="1"/>
          </p:cNvSpPr>
          <p:nvPr>
            <p:ph idx="13"/>
          </p:nvPr>
        </p:nvSpPr>
        <p:spPr>
          <a:xfrm>
            <a:off x="465826" y="1002081"/>
            <a:ext cx="8229600" cy="5109091"/>
          </a:xfrm>
        </p:spPr>
        <p:txBody>
          <a:bodyPr>
            <a:noAutofit/>
          </a:bodyPr>
          <a:lstStyle/>
          <a:p>
            <a:pPr lvl="0">
              <a:spcBef>
                <a:spcPts val="400"/>
              </a:spcBef>
            </a:pPr>
            <a:r>
              <a:rPr lang="en-IN" sz="2400" dirty="0"/>
              <a:t>The European Union’s General Data Privacy Regulation</a:t>
            </a:r>
          </a:p>
          <a:p>
            <a:pPr lvl="1">
              <a:spcBef>
                <a:spcPts val="400"/>
              </a:spcBef>
            </a:pPr>
            <a:r>
              <a:rPr lang="en-IN" sz="2400" dirty="0"/>
              <a:t>The </a:t>
            </a:r>
            <a:r>
              <a:rPr lang="en-IN" sz="2400" spc="-350" dirty="0">
                <a:highlight>
                  <a:srgbClr val="FFFF00"/>
                </a:highlight>
              </a:rPr>
              <a:t>G D P </a:t>
            </a:r>
            <a:r>
              <a:rPr lang="en-IN" sz="2400" dirty="0">
                <a:highlight>
                  <a:srgbClr val="FFFF00"/>
                </a:highlight>
              </a:rPr>
              <a:t>R </a:t>
            </a:r>
            <a:r>
              <a:rPr lang="en-IN" sz="2400" dirty="0"/>
              <a:t>imposes huge fines (up to 4% of global revenues) for issues such as not properly obtaining consent to collect and use personal information or not being able to document that the organization has taken a proactive approach to protecting privacy.</a:t>
            </a:r>
          </a:p>
          <a:p>
            <a:pPr lvl="0">
              <a:spcBef>
                <a:spcPts val="400"/>
              </a:spcBef>
              <a:buSzPts val="2400"/>
            </a:pPr>
            <a:r>
              <a:rPr lang="en-IN" sz="2400" dirty="0"/>
              <a:t>Other regulations include:</a:t>
            </a:r>
          </a:p>
          <a:p>
            <a:pPr lvl="1">
              <a:spcBef>
                <a:spcPts val="400"/>
              </a:spcBef>
            </a:pPr>
            <a:r>
              <a:rPr lang="en-IN" sz="2400" dirty="0"/>
              <a:t>California Consumer Privacy Act (</a:t>
            </a:r>
            <a:r>
              <a:rPr lang="en-IN" sz="2400" spc="-350" dirty="0"/>
              <a:t>C </a:t>
            </a:r>
            <a:r>
              <a:rPr lang="en-IN" sz="2400" spc="-350" dirty="0" err="1"/>
              <a:t>C</a:t>
            </a:r>
            <a:r>
              <a:rPr lang="en-IN" sz="2400" spc="-350" dirty="0"/>
              <a:t> P </a:t>
            </a:r>
            <a:r>
              <a:rPr lang="en-IN" sz="2400" dirty="0"/>
              <a:t>A) of 2018</a:t>
            </a:r>
          </a:p>
          <a:p>
            <a:pPr lvl="1">
              <a:spcBef>
                <a:spcPts val="400"/>
              </a:spcBef>
            </a:pPr>
            <a:r>
              <a:rPr lang="en-IN" sz="2400" dirty="0">
                <a:highlight>
                  <a:srgbClr val="FFFF00"/>
                </a:highlight>
              </a:rPr>
              <a:t>Health Insurance Portability and Accountability Act      (</a:t>
            </a:r>
            <a:r>
              <a:rPr lang="en-IN" sz="2400" spc="-200" dirty="0">
                <a:highlight>
                  <a:srgbClr val="FFFF00"/>
                </a:highlight>
              </a:rPr>
              <a:t>H I P A </a:t>
            </a:r>
            <a:r>
              <a:rPr lang="en-IN" sz="2400" dirty="0">
                <a:highlight>
                  <a:srgbClr val="FFFF00"/>
                </a:highlight>
              </a:rPr>
              <a:t>A)</a:t>
            </a:r>
          </a:p>
          <a:p>
            <a:pPr lvl="1">
              <a:spcBef>
                <a:spcPts val="400"/>
              </a:spcBef>
            </a:pPr>
            <a:r>
              <a:rPr lang="en-IN" sz="2400" dirty="0"/>
              <a:t>Health Information Technology for Economic and Clinical Health Act (</a:t>
            </a:r>
            <a:r>
              <a:rPr lang="en-IN" sz="2400" spc="-350" dirty="0"/>
              <a:t>H I T E C </a:t>
            </a:r>
            <a:r>
              <a:rPr lang="en-IN" sz="2400" dirty="0"/>
              <a:t>H)</a:t>
            </a:r>
          </a:p>
          <a:p>
            <a:pPr lvl="1">
              <a:spcBef>
                <a:spcPts val="400"/>
              </a:spcBef>
            </a:pPr>
            <a:r>
              <a:rPr lang="en-IN" sz="2400" dirty="0"/>
              <a:t>Financial Services Modernization Act</a:t>
            </a:r>
          </a:p>
        </p:txBody>
      </p:sp>
    </p:spTree>
    <p:extLst>
      <p:ext uri="{BB962C8B-B14F-4D97-AF65-F5344CB8AC3E}">
        <p14:creationId xmlns:p14="http://schemas.microsoft.com/office/powerpoint/2010/main" val="281221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219075"/>
            <a:ext cx="8229600" cy="484095"/>
          </a:xfrm>
        </p:spPr>
        <p:txBody>
          <a:bodyPr>
            <a:noAutofit/>
          </a:bodyPr>
          <a:lstStyle/>
          <a:p>
            <a:r>
              <a:rPr lang="en-IN" dirty="0">
                <a:latin typeface="+mj-lt"/>
              </a:rPr>
              <a:t>Generally</a:t>
            </a:r>
            <a:r>
              <a:rPr lang="en-IN" sz="3600" dirty="0">
                <a:latin typeface="+mj-lt"/>
              </a:rPr>
              <a:t> Accepted Privacy Principles</a:t>
            </a:r>
          </a:p>
        </p:txBody>
      </p:sp>
      <p:sp>
        <p:nvSpPr>
          <p:cNvPr id="2" name="Content Placeholder 1"/>
          <p:cNvSpPr>
            <a:spLocks noGrp="1"/>
          </p:cNvSpPr>
          <p:nvPr>
            <p:ph idx="1"/>
          </p:nvPr>
        </p:nvSpPr>
        <p:spPr>
          <a:xfrm>
            <a:off x="468922" y="990600"/>
            <a:ext cx="4179278" cy="5334000"/>
          </a:xfrm>
        </p:spPr>
        <p:txBody>
          <a:bodyPr wrap="square">
            <a:noAutofit/>
          </a:bodyPr>
          <a:lstStyle/>
          <a:p>
            <a:pPr lvl="0">
              <a:spcBef>
                <a:spcPts val="0"/>
              </a:spcBef>
              <a:buSzPts val="2000"/>
            </a:pPr>
            <a:r>
              <a:rPr lang="en-IN" sz="1800" dirty="0"/>
              <a:t>Management</a:t>
            </a:r>
          </a:p>
          <a:p>
            <a:pPr lvl="1">
              <a:buSzPts val="1600"/>
            </a:pPr>
            <a:r>
              <a:rPr lang="en-IN" sz="1800" dirty="0"/>
              <a:t>Procedures and policies with assigned responsibility and accountability</a:t>
            </a:r>
          </a:p>
          <a:p>
            <a:pPr lvl="0">
              <a:spcBef>
                <a:spcPts val="600"/>
              </a:spcBef>
              <a:buSzPts val="2000"/>
            </a:pPr>
            <a:r>
              <a:rPr lang="en-IN" sz="1800" dirty="0"/>
              <a:t>Notice</a:t>
            </a:r>
          </a:p>
          <a:p>
            <a:pPr lvl="1">
              <a:buSzPts val="1600"/>
            </a:pPr>
            <a:r>
              <a:rPr lang="en-IN" sz="1800" dirty="0"/>
              <a:t>Provide notice of privacy policies and practices prior to collecting data</a:t>
            </a:r>
          </a:p>
          <a:p>
            <a:pPr lvl="0">
              <a:spcBef>
                <a:spcPts val="600"/>
              </a:spcBef>
              <a:buSzPts val="2000"/>
            </a:pPr>
            <a:r>
              <a:rPr lang="en-IN" sz="1800" dirty="0"/>
              <a:t>Choice and consent</a:t>
            </a:r>
          </a:p>
          <a:p>
            <a:pPr lvl="1">
              <a:buSzPts val="1600"/>
            </a:pPr>
            <a:r>
              <a:rPr lang="en-IN" sz="1800" dirty="0"/>
              <a:t>Opt-in versus opt-out approaches</a:t>
            </a:r>
          </a:p>
          <a:p>
            <a:pPr lvl="0">
              <a:spcBef>
                <a:spcPts val="600"/>
              </a:spcBef>
              <a:buSzPts val="2000"/>
            </a:pPr>
            <a:r>
              <a:rPr lang="en-IN" sz="1800" dirty="0"/>
              <a:t>Collection</a:t>
            </a:r>
          </a:p>
          <a:p>
            <a:pPr lvl="1">
              <a:buSzPts val="1600"/>
            </a:pPr>
            <a:r>
              <a:rPr lang="en-IN" sz="1800" dirty="0"/>
              <a:t>Only collect needed information</a:t>
            </a:r>
          </a:p>
          <a:p>
            <a:pPr lvl="0">
              <a:spcBef>
                <a:spcPts val="600"/>
              </a:spcBef>
              <a:buSzPts val="2000"/>
            </a:pPr>
            <a:r>
              <a:rPr lang="en-IN" sz="1800" dirty="0"/>
              <a:t>Use, retention, and disposal</a:t>
            </a:r>
          </a:p>
          <a:p>
            <a:pPr lvl="1">
              <a:buSzPts val="1600"/>
            </a:pPr>
            <a:r>
              <a:rPr lang="en-IN" sz="1800" dirty="0"/>
              <a:t>Use information only for stated business purpose. When no longer useful, dispose in a secure manner.</a:t>
            </a:r>
          </a:p>
        </p:txBody>
      </p:sp>
      <p:sp>
        <p:nvSpPr>
          <p:cNvPr id="3" name="Content Placeholder 2"/>
          <p:cNvSpPr>
            <a:spLocks noGrp="1"/>
          </p:cNvSpPr>
          <p:nvPr>
            <p:ph idx="13"/>
          </p:nvPr>
        </p:nvSpPr>
        <p:spPr>
          <a:xfrm>
            <a:off x="4800600" y="997221"/>
            <a:ext cx="3886200" cy="4260579"/>
          </a:xfrm>
        </p:spPr>
        <p:txBody>
          <a:bodyPr>
            <a:noAutofit/>
          </a:bodyPr>
          <a:lstStyle/>
          <a:p>
            <a:pPr>
              <a:spcBef>
                <a:spcPts val="0"/>
              </a:spcBef>
              <a:buSzPts val="2000"/>
            </a:pPr>
            <a:r>
              <a:rPr lang="en-IN" sz="1800" dirty="0"/>
              <a:t>Access</a:t>
            </a:r>
          </a:p>
          <a:p>
            <a:pPr lvl="1">
              <a:buSzPts val="1600"/>
            </a:pPr>
            <a:r>
              <a:rPr lang="en-IN" sz="1800" dirty="0"/>
              <a:t>Customer should be able to review, correct, or delete information collected on them</a:t>
            </a:r>
          </a:p>
          <a:p>
            <a:pPr>
              <a:spcBef>
                <a:spcPts val="600"/>
              </a:spcBef>
              <a:buSzPts val="2000"/>
            </a:pPr>
            <a:r>
              <a:rPr lang="en-IN" sz="1800" dirty="0"/>
              <a:t>Disclosure to third parties</a:t>
            </a:r>
          </a:p>
          <a:p>
            <a:pPr>
              <a:spcBef>
                <a:spcPts val="600"/>
              </a:spcBef>
              <a:buSzPts val="2000"/>
            </a:pPr>
            <a:r>
              <a:rPr lang="en-IN" sz="1800" dirty="0"/>
              <a:t>Security</a:t>
            </a:r>
          </a:p>
          <a:p>
            <a:pPr lvl="1">
              <a:buSzPts val="1600"/>
            </a:pPr>
            <a:r>
              <a:rPr lang="en-IN" sz="1800" dirty="0"/>
              <a:t>Protect from loss or unauthorized access</a:t>
            </a:r>
          </a:p>
          <a:p>
            <a:pPr>
              <a:spcBef>
                <a:spcPts val="600"/>
              </a:spcBef>
              <a:buSzPts val="2000"/>
            </a:pPr>
            <a:r>
              <a:rPr lang="en-IN" sz="1800" dirty="0"/>
              <a:t>Quality</a:t>
            </a:r>
          </a:p>
          <a:p>
            <a:pPr>
              <a:spcBef>
                <a:spcPts val="600"/>
              </a:spcBef>
              <a:buSzPts val="2000"/>
            </a:pPr>
            <a:r>
              <a:rPr lang="en-IN" sz="1800" dirty="0"/>
              <a:t>Monitoring and enforcement</a:t>
            </a:r>
          </a:p>
          <a:p>
            <a:pPr lvl="1">
              <a:buSzPts val="1600"/>
            </a:pPr>
            <a:r>
              <a:rPr lang="en-IN" sz="1800" dirty="0"/>
              <a:t>Procedures in responding to complaints</a:t>
            </a:r>
          </a:p>
          <a:p>
            <a:pPr lvl="1">
              <a:buSzPts val="1600"/>
            </a:pPr>
            <a:r>
              <a:rPr lang="en-IN" sz="1800" dirty="0"/>
              <a:t>Compliance</a:t>
            </a:r>
          </a:p>
        </p:txBody>
      </p:sp>
    </p:spTree>
    <p:extLst>
      <p:ext uri="{BB962C8B-B14F-4D97-AF65-F5344CB8AC3E}">
        <p14:creationId xmlns:p14="http://schemas.microsoft.com/office/powerpoint/2010/main" val="336929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61364"/>
            <a:ext cx="8229600" cy="553998"/>
          </a:xfrm>
        </p:spPr>
        <p:txBody>
          <a:bodyPr anchor="ctr">
            <a:noAutofit/>
          </a:bodyPr>
          <a:lstStyle/>
          <a:p>
            <a:r>
              <a:rPr lang="en-IN" sz="3600" dirty="0">
                <a:latin typeface="+mj-lt"/>
              </a:rPr>
              <a:t>Encryption</a:t>
            </a:r>
          </a:p>
        </p:txBody>
      </p:sp>
      <p:sp>
        <p:nvSpPr>
          <p:cNvPr id="2" name="Content Placeholder 1"/>
          <p:cNvSpPr>
            <a:spLocks noGrp="1"/>
          </p:cNvSpPr>
          <p:nvPr>
            <p:ph idx="13"/>
          </p:nvPr>
        </p:nvSpPr>
        <p:spPr>
          <a:xfrm>
            <a:off x="465826" y="1002081"/>
            <a:ext cx="8229600" cy="2600712"/>
          </a:xfrm>
        </p:spPr>
        <p:txBody>
          <a:bodyPr>
            <a:noAutofit/>
          </a:bodyPr>
          <a:lstStyle/>
          <a:p>
            <a:pPr lvl="0">
              <a:spcBef>
                <a:spcPts val="600"/>
              </a:spcBef>
              <a:buSzPts val="2400"/>
            </a:pPr>
            <a:r>
              <a:rPr lang="en-IN" sz="2400" dirty="0"/>
              <a:t>Preventative control</a:t>
            </a:r>
          </a:p>
          <a:p>
            <a:pPr lvl="0">
              <a:spcBef>
                <a:spcPts val="600"/>
              </a:spcBef>
              <a:buSzPts val="2400"/>
            </a:pPr>
            <a:r>
              <a:rPr lang="en-IN" sz="2400" dirty="0"/>
              <a:t>Factors that influence encryption strength:</a:t>
            </a:r>
          </a:p>
          <a:p>
            <a:pPr lvl="1">
              <a:buSzPts val="2400"/>
            </a:pPr>
            <a:r>
              <a:rPr lang="en-IN" sz="2400" dirty="0"/>
              <a:t>Key length (longer = stronger)</a:t>
            </a:r>
          </a:p>
          <a:p>
            <a:pPr lvl="1">
              <a:buSzPts val="2400"/>
            </a:pPr>
            <a:r>
              <a:rPr lang="en-IN" sz="2400" dirty="0"/>
              <a:t>Algorithm</a:t>
            </a:r>
          </a:p>
          <a:p>
            <a:pPr lvl="1">
              <a:buSzPts val="2400"/>
            </a:pPr>
            <a:r>
              <a:rPr lang="en-IN" sz="2400" dirty="0"/>
              <a:t>Management policies</a:t>
            </a:r>
          </a:p>
          <a:p>
            <a:pPr lvl="2">
              <a:buSzPts val="2400"/>
            </a:pPr>
            <a:r>
              <a:rPr lang="en-IN" sz="2400" dirty="0"/>
              <a:t>Stored securely</a:t>
            </a:r>
          </a:p>
        </p:txBody>
      </p:sp>
    </p:spTree>
    <p:extLst>
      <p:ext uri="{BB962C8B-B14F-4D97-AF65-F5344CB8AC3E}">
        <p14:creationId xmlns:p14="http://schemas.microsoft.com/office/powerpoint/2010/main" val="3022036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6165" y="161585"/>
            <a:ext cx="8229600" cy="1097280"/>
          </a:xfrm>
        </p:spPr>
        <p:txBody>
          <a:bodyPr>
            <a:noAutofit/>
          </a:bodyPr>
          <a:lstStyle/>
          <a:p>
            <a:r>
              <a:rPr lang="en-IN" sz="3600" dirty="0">
                <a:latin typeface="+mj-lt"/>
              </a:rPr>
              <a:t>Figure 12.2 Steps in the Encryption and Decryption Process</a:t>
            </a:r>
          </a:p>
        </p:txBody>
      </p:sp>
      <p:sp>
        <p:nvSpPr>
          <p:cNvPr id="2" name="Content Placeholder 1">
            <a:extLst>
              <a:ext uri="{FF2B5EF4-FFF2-40B4-BE49-F238E27FC236}">
                <a16:creationId xmlns:a16="http://schemas.microsoft.com/office/drawing/2014/main" id="{1CC562CE-1417-47B9-9F26-2705C3FE24A8}"/>
              </a:ext>
            </a:extLst>
          </p:cNvPr>
          <p:cNvSpPr>
            <a:spLocks noGrp="1"/>
          </p:cNvSpPr>
          <p:nvPr>
            <p:ph idx="1"/>
          </p:nvPr>
        </p:nvSpPr>
        <p:spPr>
          <a:xfrm>
            <a:off x="470646" y="1425387"/>
            <a:ext cx="4101354" cy="3885679"/>
          </a:xfrm>
        </p:spPr>
        <p:txBody>
          <a:bodyPr>
            <a:noAutofit/>
          </a:bodyPr>
          <a:lstStyle/>
          <a:p>
            <a:pPr marL="352044" lvl="0" indent="-342900">
              <a:buSzPts val="2000"/>
              <a:buFont typeface="Arial"/>
              <a:buChar char="•"/>
            </a:pPr>
            <a:r>
              <a:rPr lang="en-US" sz="2400" dirty="0"/>
              <a:t>Takes plain text and with an encryption key and algorithm, converts to unreadable ciphertext (sender of message)</a:t>
            </a:r>
          </a:p>
          <a:p>
            <a:pPr marL="352044" lvl="0" indent="-342900">
              <a:buSzPts val="2000"/>
              <a:buFont typeface="Arial"/>
              <a:buChar char="•"/>
            </a:pPr>
            <a:r>
              <a:rPr lang="en-US" sz="2400" dirty="0"/>
              <a:t>To read ciphertext, encryption key reverses process to make information readable (receiver of message)</a:t>
            </a:r>
          </a:p>
        </p:txBody>
      </p:sp>
      <p:pic>
        <p:nvPicPr>
          <p:cNvPr id="8" name="Picture Placeholder 7" descr="A diagram shows the steps involved in the encryption and decryption process.&#10;Long description is available in notes, press F6">
            <a:extLst>
              <a:ext uri="{FF2B5EF4-FFF2-40B4-BE49-F238E27FC236}">
                <a16:creationId xmlns:a16="http://schemas.microsoft.com/office/drawing/2014/main" id="{F141F3A4-EDB6-4FCF-9080-DCF3861D8DF7}"/>
              </a:ext>
            </a:extLst>
          </p:cNvPr>
          <p:cNvPicPr>
            <a:picLocks noGrp="1" noChangeAspect="1"/>
          </p:cNvPicPr>
          <p:nvPr>
            <p:ph type="pic" sz="quarter" idx="14"/>
          </p:nvPr>
        </p:nvPicPr>
        <p:blipFill>
          <a:blip r:embed="rId3" cstate="print">
            <a:extLst>
              <a:ext uri="{28A0092B-C50C-407E-A947-70E740481C1C}">
                <a14:useLocalDpi xmlns:a14="http://schemas.microsoft.com/office/drawing/2010/main" val="0"/>
              </a:ext>
            </a:extLst>
          </a:blip>
          <a:stretch>
            <a:fillRect/>
          </a:stretch>
        </p:blipFill>
        <p:spPr>
          <a:xfrm>
            <a:off x="5388160" y="1445199"/>
            <a:ext cx="2567825" cy="4871607"/>
          </a:xfrm>
        </p:spPr>
      </p:pic>
    </p:spTree>
    <p:extLst>
      <p:ext uri="{BB962C8B-B14F-4D97-AF65-F5344CB8AC3E}">
        <p14:creationId xmlns:p14="http://schemas.microsoft.com/office/powerpoint/2010/main" val="1044660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365"/>
            <a:ext cx="8229600" cy="553998"/>
          </a:xfrm>
        </p:spPr>
        <p:txBody>
          <a:bodyPr anchor="ctr">
            <a:noAutofit/>
          </a:bodyPr>
          <a:lstStyle/>
          <a:p>
            <a:r>
              <a:rPr lang="en-IN" sz="3600" dirty="0">
                <a:latin typeface="+mj-lt"/>
              </a:rPr>
              <a:t>Types of Encryption</a:t>
            </a: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1013460"/>
            <a:ext cx="3962400" cy="369332"/>
          </a:xfrm>
          <a:solidFill>
            <a:schemeClr val="bg2"/>
          </a:solidFill>
        </p:spPr>
        <p:txBody>
          <a:bodyPr>
            <a:noAutofit/>
          </a:bodyPr>
          <a:lstStyle/>
          <a:p>
            <a:pPr marL="0" indent="92075" algn="ctr">
              <a:buNone/>
            </a:pPr>
            <a:r>
              <a:rPr lang="en-US" sz="2400" b="1" dirty="0">
                <a:solidFill>
                  <a:schemeClr val="bg1"/>
                </a:solidFill>
              </a:rPr>
              <a:t>Symmetric</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469886"/>
            <a:ext cx="3962400" cy="4662815"/>
          </a:xfrm>
        </p:spPr>
        <p:txBody>
          <a:bodyPr>
            <a:noAutofit/>
          </a:bodyPr>
          <a:lstStyle/>
          <a:p>
            <a:pPr lvl="0">
              <a:spcBef>
                <a:spcPts val="0"/>
              </a:spcBef>
              <a:buSzPts val="2000"/>
            </a:pPr>
            <a:r>
              <a:rPr lang="en-IN" sz="2400" dirty="0"/>
              <a:t>Uses one key to encrypt and decrypt</a:t>
            </a:r>
          </a:p>
          <a:p>
            <a:pPr lvl="0">
              <a:spcBef>
                <a:spcPts val="600"/>
              </a:spcBef>
              <a:buSzPts val="2000"/>
            </a:pPr>
            <a:r>
              <a:rPr lang="en-IN" sz="2400" dirty="0"/>
              <a:t>Both parties need to know the key</a:t>
            </a:r>
          </a:p>
          <a:p>
            <a:pPr lvl="1">
              <a:buSzPts val="1600"/>
            </a:pPr>
            <a:r>
              <a:rPr lang="en-IN" sz="2400" dirty="0"/>
              <a:t>Need to securely communicate the shared key</a:t>
            </a:r>
          </a:p>
          <a:p>
            <a:pPr lvl="1">
              <a:buSzPts val="1600"/>
            </a:pPr>
            <a:r>
              <a:rPr lang="en-IN" sz="2400" dirty="0"/>
              <a:t>Cannot share key with multiple parties, they get their own (different) key from the organization</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1013698"/>
            <a:ext cx="3939540" cy="369332"/>
          </a:xfrm>
          <a:solidFill>
            <a:schemeClr val="bg2"/>
          </a:solidFill>
        </p:spPr>
        <p:txBody>
          <a:bodyPr>
            <a:noAutofit/>
          </a:bodyPr>
          <a:lstStyle/>
          <a:p>
            <a:pPr marL="0" indent="92075" algn="ctr">
              <a:spcBef>
                <a:spcPts val="0"/>
              </a:spcBef>
              <a:buSzPts val="2400"/>
              <a:buNone/>
            </a:pPr>
            <a:r>
              <a:rPr lang="en-US" sz="2400" b="1" dirty="0">
                <a:solidFill>
                  <a:schemeClr val="bg1"/>
                </a:solidFill>
              </a:rPr>
              <a:t>Asymmetric</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473428"/>
            <a:ext cx="3939540" cy="4370427"/>
          </a:xfrm>
        </p:spPr>
        <p:txBody>
          <a:bodyPr>
            <a:noAutofit/>
          </a:bodyPr>
          <a:lstStyle/>
          <a:p>
            <a:pPr lvl="0">
              <a:spcBef>
                <a:spcPts val="0"/>
              </a:spcBef>
              <a:buSzPts val="2000"/>
            </a:pPr>
            <a:r>
              <a:rPr lang="en-IN" sz="2400" dirty="0"/>
              <a:t>Uses two keys</a:t>
            </a:r>
          </a:p>
          <a:p>
            <a:pPr lvl="1">
              <a:buSzPts val="1600"/>
            </a:pPr>
            <a:r>
              <a:rPr lang="en-IN" sz="2400" dirty="0"/>
              <a:t>Public—everyone has access</a:t>
            </a:r>
          </a:p>
          <a:p>
            <a:pPr lvl="1">
              <a:buSzPts val="1600"/>
            </a:pPr>
            <a:r>
              <a:rPr lang="en-IN" sz="2400" dirty="0"/>
              <a:t>Private—used to decrypt (only known by you)</a:t>
            </a:r>
          </a:p>
          <a:p>
            <a:pPr lvl="1">
              <a:buSzPts val="1600"/>
            </a:pPr>
            <a:r>
              <a:rPr lang="en-IN" sz="2400" dirty="0"/>
              <a:t>Public key can be used by all your trading partners</a:t>
            </a:r>
          </a:p>
          <a:p>
            <a:pPr lvl="0">
              <a:spcBef>
                <a:spcPts val="600"/>
              </a:spcBef>
              <a:buSzPts val="2000"/>
            </a:pPr>
            <a:r>
              <a:rPr lang="en-IN" sz="2400" dirty="0"/>
              <a:t>Can create digital signatures</a:t>
            </a:r>
          </a:p>
        </p:txBody>
      </p:sp>
    </p:spTree>
    <p:extLst>
      <p:ext uri="{BB962C8B-B14F-4D97-AF65-F5344CB8AC3E}">
        <p14:creationId xmlns:p14="http://schemas.microsoft.com/office/powerpoint/2010/main" val="1456230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61366"/>
            <a:ext cx="8229600" cy="553998"/>
          </a:xfrm>
        </p:spPr>
        <p:txBody>
          <a:bodyPr anchor="ctr">
            <a:noAutofit/>
          </a:bodyPr>
          <a:lstStyle/>
          <a:p>
            <a:r>
              <a:rPr lang="en-IN" sz="3600" dirty="0">
                <a:latin typeface="+mj-lt"/>
              </a:rPr>
              <a:t>Virtual Private Network (</a:t>
            </a:r>
            <a:r>
              <a:rPr lang="en-IN" sz="3600" spc="-450" dirty="0">
                <a:latin typeface="+mj-lt"/>
              </a:rPr>
              <a:t>V P </a:t>
            </a:r>
            <a:r>
              <a:rPr lang="en-IN" sz="3600" dirty="0">
                <a:latin typeface="+mj-lt"/>
              </a:rPr>
              <a:t>N)</a:t>
            </a:r>
          </a:p>
        </p:txBody>
      </p:sp>
      <p:sp>
        <p:nvSpPr>
          <p:cNvPr id="2" name="Content Placeholder 1"/>
          <p:cNvSpPr>
            <a:spLocks noGrp="1"/>
          </p:cNvSpPr>
          <p:nvPr>
            <p:ph idx="13"/>
          </p:nvPr>
        </p:nvSpPr>
        <p:spPr>
          <a:xfrm>
            <a:off x="465826" y="999565"/>
            <a:ext cx="8229600" cy="1502976"/>
          </a:xfrm>
        </p:spPr>
        <p:txBody>
          <a:bodyPr>
            <a:noAutofit/>
          </a:bodyPr>
          <a:lstStyle/>
          <a:p>
            <a:pPr lvl="0">
              <a:spcBef>
                <a:spcPts val="0"/>
              </a:spcBef>
              <a:buSzPts val="2400"/>
            </a:pPr>
            <a:r>
              <a:rPr lang="en-IN" sz="2400" dirty="0"/>
              <a:t>Securely transmits encrypted data between sender and receiver</a:t>
            </a:r>
          </a:p>
          <a:p>
            <a:pPr lvl="1">
              <a:spcBef>
                <a:spcPts val="200"/>
              </a:spcBef>
              <a:buSzPts val="2000"/>
            </a:pPr>
            <a:r>
              <a:rPr lang="en-IN" sz="2400" dirty="0"/>
              <a:t>Sender and receiver have the appropriate encryption and decryption keys.</a:t>
            </a:r>
          </a:p>
        </p:txBody>
      </p:sp>
    </p:spTree>
    <p:extLst>
      <p:ext uri="{BB962C8B-B14F-4D97-AF65-F5344CB8AC3E}">
        <p14:creationId xmlns:p14="http://schemas.microsoft.com/office/powerpoint/2010/main" val="686403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217" y="151544"/>
            <a:ext cx="8229600" cy="1107996"/>
          </a:xfrm>
        </p:spPr>
        <p:txBody>
          <a:bodyPr>
            <a:noAutofit/>
          </a:bodyPr>
          <a:lstStyle/>
          <a:p>
            <a:r>
              <a:rPr lang="en-IN" sz="3600" dirty="0">
                <a:latin typeface="+mj-lt"/>
              </a:rPr>
              <a:t>Figure 12.3 Virtual Private Networks [</a:t>
            </a:r>
            <a:r>
              <a:rPr lang="en-IN" sz="3600" spc="-450" dirty="0">
                <a:latin typeface="+mj-lt"/>
              </a:rPr>
              <a:t>V P </a:t>
            </a:r>
            <a:r>
              <a:rPr lang="en-IN" sz="3600" dirty="0">
                <a:latin typeface="+mj-lt"/>
              </a:rPr>
              <a:t>Ns]</a:t>
            </a:r>
          </a:p>
        </p:txBody>
      </p:sp>
      <p:pic>
        <p:nvPicPr>
          <p:cNvPr id="5" name="Picture Placeholder 4" descr="A diagram shows two systems connected to each other via “Internet” through a V P N (Encrypted Tunnel).">
            <a:extLst>
              <a:ext uri="{FF2B5EF4-FFF2-40B4-BE49-F238E27FC236}">
                <a16:creationId xmlns:a16="http://schemas.microsoft.com/office/drawing/2014/main" id="{2905D9A4-10DA-420F-8843-90CA1BC3045F}"/>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607931" y="1658469"/>
            <a:ext cx="7931186" cy="1871576"/>
          </a:xfrm>
        </p:spPr>
      </p:pic>
    </p:spTree>
    <p:extLst>
      <p:ext uri="{BB962C8B-B14F-4D97-AF65-F5344CB8AC3E}">
        <p14:creationId xmlns:p14="http://schemas.microsoft.com/office/powerpoint/2010/main" val="3373993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61365"/>
            <a:ext cx="8229600" cy="553998"/>
          </a:xfrm>
        </p:spPr>
        <p:txBody>
          <a:bodyPr anchor="ctr">
            <a:noAutofit/>
          </a:bodyPr>
          <a:lstStyle/>
          <a:p>
            <a:r>
              <a:rPr lang="en-IN" sz="3600" dirty="0">
                <a:latin typeface="+mj-lt"/>
              </a:rPr>
              <a:t>Hashing</a:t>
            </a:r>
          </a:p>
        </p:txBody>
      </p:sp>
      <p:sp>
        <p:nvSpPr>
          <p:cNvPr id="2" name="Content Placeholder 1"/>
          <p:cNvSpPr>
            <a:spLocks noGrp="1"/>
          </p:cNvSpPr>
          <p:nvPr>
            <p:ph idx="13"/>
          </p:nvPr>
        </p:nvSpPr>
        <p:spPr>
          <a:xfrm>
            <a:off x="465826" y="999565"/>
            <a:ext cx="8229600" cy="3836948"/>
          </a:xfrm>
        </p:spPr>
        <p:txBody>
          <a:bodyPr>
            <a:noAutofit/>
          </a:bodyPr>
          <a:lstStyle/>
          <a:p>
            <a:pPr lvl="0">
              <a:spcBef>
                <a:spcPts val="0"/>
              </a:spcBef>
            </a:pPr>
            <a:r>
              <a:rPr lang="en-IN" sz="2400" b="1" dirty="0"/>
              <a:t>Hashing</a:t>
            </a:r>
            <a:r>
              <a:rPr lang="en-IN" sz="2400" dirty="0"/>
              <a:t> is a process that takes plaintext of any length and creates a short code called a message digest, popularly referred to as a hash.</a:t>
            </a:r>
          </a:p>
          <a:p>
            <a:pPr lvl="0">
              <a:spcBef>
                <a:spcPts val="2000"/>
              </a:spcBef>
            </a:pPr>
            <a:r>
              <a:rPr lang="en-IN" sz="2400" dirty="0"/>
              <a:t>Hashing algorithms provide a means to test the integrity of a document, to verify whether two copies of a document, each stored on a different device, are identical.</a:t>
            </a:r>
          </a:p>
          <a:p>
            <a:pPr marL="713232" lvl="1" indent="-256032">
              <a:spcBef>
                <a:spcPts val="2000"/>
              </a:spcBef>
            </a:pPr>
            <a:r>
              <a:rPr lang="en-IN" sz="2400" dirty="0"/>
              <a:t>It plays an important role in creating legally binding digital signatures and is an essential component underlying blockchains.</a:t>
            </a:r>
          </a:p>
        </p:txBody>
      </p:sp>
    </p:spTree>
    <p:extLst>
      <p:ext uri="{BB962C8B-B14F-4D97-AF65-F5344CB8AC3E}">
        <p14:creationId xmlns:p14="http://schemas.microsoft.com/office/powerpoint/2010/main" val="4203139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Table&#10;&#10;Description automatically generated">
            <a:extLst>
              <a:ext uri="{FF2B5EF4-FFF2-40B4-BE49-F238E27FC236}">
                <a16:creationId xmlns:a16="http://schemas.microsoft.com/office/drawing/2014/main" id="{A16ADEF4-5D4B-1542-8007-E2935B77D6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21" y="2971800"/>
            <a:ext cx="8686800" cy="2857500"/>
          </a:xfrm>
          <a:prstGeom prst="rect">
            <a:avLst/>
          </a:prstGeom>
        </p:spPr>
      </p:pic>
      <p:sp>
        <p:nvSpPr>
          <p:cNvPr id="12" name="TextBox 11">
            <a:extLst>
              <a:ext uri="{FF2B5EF4-FFF2-40B4-BE49-F238E27FC236}">
                <a16:creationId xmlns:a16="http://schemas.microsoft.com/office/drawing/2014/main" id="{CAC57689-7B7D-074B-B047-2E4A97E2C16A}"/>
              </a:ext>
            </a:extLst>
          </p:cNvPr>
          <p:cNvSpPr txBox="1"/>
          <p:nvPr/>
        </p:nvSpPr>
        <p:spPr>
          <a:xfrm>
            <a:off x="12864" y="2969"/>
            <a:ext cx="9131135" cy="646331"/>
          </a:xfrm>
          <a:prstGeom prst="rect">
            <a:avLst/>
          </a:prstGeom>
          <a:noFill/>
        </p:spPr>
        <p:txBody>
          <a:bodyPr wrap="square">
            <a:spAutoFit/>
          </a:bodyPr>
          <a:lstStyle/>
          <a:p>
            <a:r>
              <a:rPr lang="en-US" dirty="0"/>
              <a:t>https://</a:t>
            </a:r>
            <a:r>
              <a:rPr lang="en-US" dirty="0" err="1"/>
              <a:t>www.howtogeek.com</a:t>
            </a:r>
            <a:r>
              <a:rPr lang="en-US" dirty="0"/>
              <a:t>/171236/why-you-should-worry-whenever-a-services-password-database-is-leaked/</a:t>
            </a:r>
          </a:p>
        </p:txBody>
      </p:sp>
      <p:pic>
        <p:nvPicPr>
          <p:cNvPr id="14" name="Picture 13" descr="A picture containing text&#10;&#10;Description automatically generated">
            <a:extLst>
              <a:ext uri="{FF2B5EF4-FFF2-40B4-BE49-F238E27FC236}">
                <a16:creationId xmlns:a16="http://schemas.microsoft.com/office/drawing/2014/main" id="{107AC9E8-C6E9-554C-91F1-289414FA66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64" y="1295400"/>
            <a:ext cx="9144000" cy="1496131"/>
          </a:xfrm>
          <a:prstGeom prst="rect">
            <a:avLst/>
          </a:prstGeom>
        </p:spPr>
      </p:pic>
    </p:spTree>
    <p:extLst>
      <p:ext uri="{BB962C8B-B14F-4D97-AF65-F5344CB8AC3E}">
        <p14:creationId xmlns:p14="http://schemas.microsoft.com/office/powerpoint/2010/main" val="3904845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e the source image">
            <a:extLst>
              <a:ext uri="{FF2B5EF4-FFF2-40B4-BE49-F238E27FC236}">
                <a16:creationId xmlns:a16="http://schemas.microsoft.com/office/drawing/2014/main" id="{739233BB-1685-DA44-9319-1535DCD914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192481"/>
            <a:ext cx="7315200" cy="529463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CA0E527F-CF94-F944-81C6-7F00D3C52AAD}"/>
              </a:ext>
            </a:extLst>
          </p:cNvPr>
          <p:cNvSpPr/>
          <p:nvPr/>
        </p:nvSpPr>
        <p:spPr>
          <a:xfrm>
            <a:off x="838200" y="1621971"/>
            <a:ext cx="13716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Password 1</a:t>
            </a:r>
          </a:p>
        </p:txBody>
      </p:sp>
      <p:sp>
        <p:nvSpPr>
          <p:cNvPr id="4" name="Rectangle 3">
            <a:extLst>
              <a:ext uri="{FF2B5EF4-FFF2-40B4-BE49-F238E27FC236}">
                <a16:creationId xmlns:a16="http://schemas.microsoft.com/office/drawing/2014/main" id="{0236793D-45D2-9E43-B08C-BD18D44442DC}"/>
              </a:ext>
            </a:extLst>
          </p:cNvPr>
          <p:cNvSpPr/>
          <p:nvPr/>
        </p:nvSpPr>
        <p:spPr>
          <a:xfrm>
            <a:off x="838200" y="2626372"/>
            <a:ext cx="13716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Password 2</a:t>
            </a:r>
          </a:p>
        </p:txBody>
      </p:sp>
      <p:sp>
        <p:nvSpPr>
          <p:cNvPr id="5" name="Rectangle 4">
            <a:extLst>
              <a:ext uri="{FF2B5EF4-FFF2-40B4-BE49-F238E27FC236}">
                <a16:creationId xmlns:a16="http://schemas.microsoft.com/office/drawing/2014/main" id="{820EF65C-3610-A84D-B2D8-6D0539E9BA52}"/>
              </a:ext>
            </a:extLst>
          </p:cNvPr>
          <p:cNvSpPr/>
          <p:nvPr/>
        </p:nvSpPr>
        <p:spPr>
          <a:xfrm>
            <a:off x="838200" y="3630774"/>
            <a:ext cx="13716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Password 3</a:t>
            </a:r>
          </a:p>
        </p:txBody>
      </p:sp>
      <p:sp>
        <p:nvSpPr>
          <p:cNvPr id="6" name="Rectangle 5">
            <a:extLst>
              <a:ext uri="{FF2B5EF4-FFF2-40B4-BE49-F238E27FC236}">
                <a16:creationId xmlns:a16="http://schemas.microsoft.com/office/drawing/2014/main" id="{7432A64A-178C-1347-8952-C5FCAA443B4A}"/>
              </a:ext>
            </a:extLst>
          </p:cNvPr>
          <p:cNvSpPr/>
          <p:nvPr/>
        </p:nvSpPr>
        <p:spPr>
          <a:xfrm>
            <a:off x="838200" y="4572000"/>
            <a:ext cx="13716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Password 4</a:t>
            </a:r>
          </a:p>
        </p:txBody>
      </p:sp>
      <p:sp>
        <p:nvSpPr>
          <p:cNvPr id="7" name="Rectangle 6">
            <a:extLst>
              <a:ext uri="{FF2B5EF4-FFF2-40B4-BE49-F238E27FC236}">
                <a16:creationId xmlns:a16="http://schemas.microsoft.com/office/drawing/2014/main" id="{A47AFCD7-BDAF-0F43-BC4E-1A0D900F35D4}"/>
              </a:ext>
            </a:extLst>
          </p:cNvPr>
          <p:cNvSpPr/>
          <p:nvPr/>
        </p:nvSpPr>
        <p:spPr>
          <a:xfrm>
            <a:off x="838200" y="5562600"/>
            <a:ext cx="13716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Password 5</a:t>
            </a:r>
          </a:p>
        </p:txBody>
      </p:sp>
      <p:sp>
        <p:nvSpPr>
          <p:cNvPr id="3" name="Rectangle 2">
            <a:extLst>
              <a:ext uri="{FF2B5EF4-FFF2-40B4-BE49-F238E27FC236}">
                <a16:creationId xmlns:a16="http://schemas.microsoft.com/office/drawing/2014/main" id="{B35A720F-CD2E-0942-AD17-FA54CCB0123C}"/>
              </a:ext>
            </a:extLst>
          </p:cNvPr>
          <p:cNvSpPr/>
          <p:nvPr/>
        </p:nvSpPr>
        <p:spPr>
          <a:xfrm>
            <a:off x="381000" y="140151"/>
            <a:ext cx="2019300" cy="9876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Password submitted by user</a:t>
            </a:r>
          </a:p>
        </p:txBody>
      </p:sp>
      <p:sp>
        <p:nvSpPr>
          <p:cNvPr id="9" name="Rectangle 8">
            <a:extLst>
              <a:ext uri="{FF2B5EF4-FFF2-40B4-BE49-F238E27FC236}">
                <a16:creationId xmlns:a16="http://schemas.microsoft.com/office/drawing/2014/main" id="{CEE85F1F-B1D1-1248-BC6B-EDD8A4C8091B}"/>
              </a:ext>
            </a:extLst>
          </p:cNvPr>
          <p:cNvSpPr/>
          <p:nvPr/>
        </p:nvSpPr>
        <p:spPr>
          <a:xfrm>
            <a:off x="2819400" y="172474"/>
            <a:ext cx="5181600" cy="9876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Server runs password through the function, and only stores the hash (digest) and not the original password</a:t>
            </a:r>
          </a:p>
        </p:txBody>
      </p:sp>
    </p:spTree>
    <p:extLst>
      <p:ext uri="{BB962C8B-B14F-4D97-AF65-F5344CB8AC3E}">
        <p14:creationId xmlns:p14="http://schemas.microsoft.com/office/powerpoint/2010/main" val="2292288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51BC7F0-0120-5F43-B60C-59C270629A88}"/>
              </a:ext>
            </a:extLst>
          </p:cNvPr>
          <p:cNvSpPr txBox="1"/>
          <p:nvPr/>
        </p:nvSpPr>
        <p:spPr>
          <a:xfrm>
            <a:off x="0" y="38100"/>
            <a:ext cx="7086600" cy="369332"/>
          </a:xfrm>
          <a:prstGeom prst="rect">
            <a:avLst/>
          </a:prstGeom>
          <a:noFill/>
        </p:spPr>
        <p:txBody>
          <a:bodyPr wrap="square">
            <a:spAutoFit/>
          </a:bodyPr>
          <a:lstStyle/>
          <a:p>
            <a:r>
              <a:rPr lang="en-US" dirty="0">
                <a:hlinkClick r:id="rId2"/>
              </a:rPr>
              <a:t>https://www.onlinewebtoolkit.com/hash-generator</a:t>
            </a:r>
            <a:r>
              <a:rPr lang="en-US" dirty="0"/>
              <a:t> </a:t>
            </a:r>
          </a:p>
        </p:txBody>
      </p:sp>
      <p:pic>
        <p:nvPicPr>
          <p:cNvPr id="12" name="Picture 11" descr="Graphical user interface, application&#10;&#10;Description automatically generated">
            <a:extLst>
              <a:ext uri="{FF2B5EF4-FFF2-40B4-BE49-F238E27FC236}">
                <a16:creationId xmlns:a16="http://schemas.microsoft.com/office/drawing/2014/main" id="{3279CB7A-879B-1C47-971B-D47928A2FD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9050" y="838200"/>
            <a:ext cx="7545900" cy="5181600"/>
          </a:xfrm>
          <a:prstGeom prst="rect">
            <a:avLst/>
          </a:prstGeom>
        </p:spPr>
      </p:pic>
    </p:spTree>
    <p:extLst>
      <p:ext uri="{BB962C8B-B14F-4D97-AF65-F5344CB8AC3E}">
        <p14:creationId xmlns:p14="http://schemas.microsoft.com/office/powerpoint/2010/main" val="448211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217" y="149304"/>
            <a:ext cx="8229600" cy="1107996"/>
          </a:xfrm>
        </p:spPr>
        <p:txBody>
          <a:bodyPr>
            <a:noAutofit/>
          </a:bodyPr>
          <a:lstStyle/>
          <a:p>
            <a:r>
              <a:rPr lang="en-IN" sz="3600" dirty="0">
                <a:latin typeface="+mj-lt"/>
              </a:rPr>
              <a:t>Table 12.2 Comparison of Hashing and Encryption</a:t>
            </a:r>
          </a:p>
        </p:txBody>
      </p:sp>
      <p:pic>
        <p:nvPicPr>
          <p:cNvPr id="4" name="Picture Placeholder 3" descr="A table differenciates between hashing and encryption. &#10;Long description is available in notes, press F6">
            <a:extLst>
              <a:ext uri="{FF2B5EF4-FFF2-40B4-BE49-F238E27FC236}">
                <a16:creationId xmlns:a16="http://schemas.microsoft.com/office/drawing/2014/main" id="{E5D0F223-DB40-4D7C-9669-60BC7DD4BAF1}"/>
              </a:ext>
            </a:extLst>
          </p:cNvPr>
          <p:cNvPicPr>
            <a:picLocks noGrp="1" noChangeAspect="1"/>
          </p:cNvPicPr>
          <p:nvPr>
            <p:ph type="pic" sz="quarter" idx="14"/>
          </p:nvPr>
        </p:nvPicPr>
        <p:blipFill>
          <a:blip r:embed="rId3"/>
          <a:stretch>
            <a:fillRect/>
          </a:stretch>
        </p:blipFill>
        <p:spPr>
          <a:xfrm>
            <a:off x="627519" y="1452282"/>
            <a:ext cx="7899836" cy="2669708"/>
          </a:xfrm>
          <a:prstGeom prst="rect">
            <a:avLst/>
          </a:prstGeom>
        </p:spPr>
      </p:pic>
    </p:spTree>
    <p:extLst>
      <p:ext uri="{BB962C8B-B14F-4D97-AF65-F5344CB8AC3E}">
        <p14:creationId xmlns:p14="http://schemas.microsoft.com/office/powerpoint/2010/main" val="4081035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56882"/>
            <a:ext cx="8229600" cy="553998"/>
          </a:xfrm>
        </p:spPr>
        <p:txBody>
          <a:bodyPr anchor="ctr">
            <a:noAutofit/>
          </a:bodyPr>
          <a:lstStyle/>
          <a:p>
            <a:r>
              <a:rPr lang="en-IN" sz="3600" dirty="0">
                <a:latin typeface="+mj-lt"/>
              </a:rPr>
              <a:t>Digital Signatures</a:t>
            </a:r>
          </a:p>
        </p:txBody>
      </p:sp>
      <p:sp>
        <p:nvSpPr>
          <p:cNvPr id="2" name="Content Placeholder 1"/>
          <p:cNvSpPr>
            <a:spLocks noGrp="1"/>
          </p:cNvSpPr>
          <p:nvPr>
            <p:ph idx="13"/>
          </p:nvPr>
        </p:nvSpPr>
        <p:spPr>
          <a:xfrm>
            <a:off x="465826" y="999565"/>
            <a:ext cx="8229600" cy="2523768"/>
          </a:xfrm>
        </p:spPr>
        <p:txBody>
          <a:bodyPr>
            <a:noAutofit/>
          </a:bodyPr>
          <a:lstStyle/>
          <a:p>
            <a:pPr marL="109728" lvl="0" indent="0">
              <a:spcBef>
                <a:spcPts val="0"/>
              </a:spcBef>
              <a:buSzPts val="2400"/>
              <a:buNone/>
            </a:pPr>
            <a:r>
              <a:rPr lang="en-IN" sz="2400" dirty="0"/>
              <a:t>Used to create legally binding agreements (two steps to create)</a:t>
            </a:r>
          </a:p>
          <a:p>
            <a:pPr marL="457200" lvl="0" indent="-347663">
              <a:spcBef>
                <a:spcPts val="1200"/>
              </a:spcBef>
              <a:buSzPts val="2400"/>
              <a:buFont typeface="Arial"/>
              <a:buAutoNum type="arabicPeriod"/>
            </a:pPr>
            <a:r>
              <a:rPr lang="en-IN" sz="2400" dirty="0"/>
              <a:t>Document creator uses a hashing algorithm to generate a hash of the original document</a:t>
            </a:r>
          </a:p>
          <a:p>
            <a:pPr marL="457200" lvl="0" indent="-347663">
              <a:spcBef>
                <a:spcPts val="1200"/>
              </a:spcBef>
              <a:buSzPts val="2400"/>
              <a:buFont typeface="Arial"/>
              <a:buAutoNum type="arabicPeriod"/>
            </a:pPr>
            <a:r>
              <a:rPr lang="en-IN" sz="2400" dirty="0"/>
              <a:t>Document creator uses private key to encrypt step 1 above</a:t>
            </a:r>
          </a:p>
        </p:txBody>
      </p:sp>
      <p:pic>
        <p:nvPicPr>
          <p:cNvPr id="1026" name="Picture 2" descr="Business, Signature, Contract, Document, Deal">
            <a:extLst>
              <a:ext uri="{FF2B5EF4-FFF2-40B4-BE49-F238E27FC236}">
                <a16:creationId xmlns:a16="http://schemas.microsoft.com/office/drawing/2014/main" id="{CCAC21B5-6404-EE4A-A506-FDB52B3576F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182" t="12186" b="27273"/>
          <a:stretch/>
        </p:blipFill>
        <p:spPr bwMode="auto">
          <a:xfrm>
            <a:off x="4724400" y="4031310"/>
            <a:ext cx="3429000" cy="1902982"/>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See the source image">
            <a:extLst>
              <a:ext uri="{FF2B5EF4-FFF2-40B4-BE49-F238E27FC236}">
                <a16:creationId xmlns:a16="http://schemas.microsoft.com/office/drawing/2014/main" id="{4457D600-9C0C-BF40-9713-42CCCC3313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1" y="3707642"/>
            <a:ext cx="3429000" cy="2550319"/>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7DA2F699-62ED-154D-9186-9A76913E78AB}"/>
              </a:ext>
            </a:extLst>
          </p:cNvPr>
          <p:cNvCxnSpPr>
            <a:cxnSpLocks/>
          </p:cNvCxnSpPr>
          <p:nvPr/>
        </p:nvCxnSpPr>
        <p:spPr>
          <a:xfrm>
            <a:off x="4876800" y="3812018"/>
            <a:ext cx="3124200" cy="2283982"/>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0ED567C-4281-9743-BD92-8A635FD37E2A}"/>
              </a:ext>
            </a:extLst>
          </p:cNvPr>
          <p:cNvCxnSpPr>
            <a:cxnSpLocks/>
          </p:cNvCxnSpPr>
          <p:nvPr/>
        </p:nvCxnSpPr>
        <p:spPr>
          <a:xfrm flipH="1">
            <a:off x="4953000" y="3707642"/>
            <a:ext cx="3048000" cy="2388358"/>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255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56882"/>
            <a:ext cx="8229600" cy="553998"/>
          </a:xfrm>
        </p:spPr>
        <p:txBody>
          <a:bodyPr anchor="ctr">
            <a:noAutofit/>
          </a:bodyPr>
          <a:lstStyle/>
          <a:p>
            <a:r>
              <a:rPr lang="en-IN" sz="3600" dirty="0">
                <a:latin typeface="+mj-lt"/>
              </a:rPr>
              <a:t>Blockchain</a:t>
            </a:r>
          </a:p>
        </p:txBody>
      </p:sp>
      <p:sp>
        <p:nvSpPr>
          <p:cNvPr id="2" name="Content Placeholder 1"/>
          <p:cNvSpPr>
            <a:spLocks noGrp="1"/>
          </p:cNvSpPr>
          <p:nvPr>
            <p:ph idx="13"/>
          </p:nvPr>
        </p:nvSpPr>
        <p:spPr>
          <a:xfrm>
            <a:off x="465826" y="999565"/>
            <a:ext cx="8229600" cy="2841804"/>
          </a:xfrm>
        </p:spPr>
        <p:txBody>
          <a:bodyPr>
            <a:noAutofit/>
          </a:bodyPr>
          <a:lstStyle/>
          <a:p>
            <a:pPr lvl="0">
              <a:spcBef>
                <a:spcPts val="0"/>
              </a:spcBef>
            </a:pPr>
            <a:r>
              <a:rPr lang="en-US" sz="2400" b="1" dirty="0"/>
              <a:t>Blockchain</a:t>
            </a:r>
            <a:r>
              <a:rPr lang="en-US" sz="2400" dirty="0"/>
              <a:t> technology was originally developed to support the crypto-currency Bitcoin to prevent “double-spending” the same coin, but it has since been adopted for use in a variety of industries to create reliable audit trails for any business process.</a:t>
            </a:r>
          </a:p>
          <a:p>
            <a:pPr lvl="0">
              <a:spcBef>
                <a:spcPts val="2000"/>
              </a:spcBef>
            </a:pPr>
            <a:r>
              <a:rPr lang="en-US" sz="2400" dirty="0"/>
              <a:t>A blockchain is a distributed ledger of hashed documents with copies stored on multiple computers.</a:t>
            </a:r>
          </a:p>
          <a:p>
            <a:pPr lvl="0">
              <a:spcBef>
                <a:spcPts val="2000"/>
              </a:spcBef>
            </a:pPr>
            <a:endParaRPr lang="en-US" sz="2400" dirty="0"/>
          </a:p>
          <a:p>
            <a:pPr lvl="0">
              <a:spcBef>
                <a:spcPts val="2000"/>
              </a:spcBef>
            </a:pPr>
            <a:r>
              <a:rPr lang="en-US" sz="2400" dirty="0">
                <a:hlinkClick r:id="rId3"/>
              </a:rPr>
              <a:t>https://www.youtube.com/watch?v=SSo_EIwHSd4</a:t>
            </a:r>
            <a:r>
              <a:rPr lang="en-US" sz="2400" dirty="0"/>
              <a:t> </a:t>
            </a:r>
          </a:p>
        </p:txBody>
      </p:sp>
    </p:spTree>
    <p:extLst>
      <p:ext uri="{BB962C8B-B14F-4D97-AF65-F5344CB8AC3E}">
        <p14:creationId xmlns:p14="http://schemas.microsoft.com/office/powerpoint/2010/main" val="1289696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43443EC5-2F79-4943-94FF-7E8B55D7F647}"/>
              </a:ext>
            </a:extLst>
          </p:cNvPr>
          <p:cNvSpPr txBox="1"/>
          <p:nvPr/>
        </p:nvSpPr>
        <p:spPr>
          <a:xfrm>
            <a:off x="0" y="24740"/>
            <a:ext cx="8382000" cy="369332"/>
          </a:xfrm>
          <a:prstGeom prst="rect">
            <a:avLst/>
          </a:prstGeom>
          <a:noFill/>
        </p:spPr>
        <p:txBody>
          <a:bodyPr wrap="square">
            <a:spAutoFit/>
          </a:bodyPr>
          <a:lstStyle/>
          <a:p>
            <a:r>
              <a:rPr lang="en-US" dirty="0"/>
              <a:t>https://</a:t>
            </a:r>
            <a:r>
              <a:rPr lang="en-US" dirty="0" err="1"/>
              <a:t>innovationincubator.com</a:t>
            </a:r>
            <a:r>
              <a:rPr lang="en-US" dirty="0"/>
              <a:t>/infographic-how-cryptocurrency-works/</a:t>
            </a:r>
          </a:p>
        </p:txBody>
      </p:sp>
      <p:pic>
        <p:nvPicPr>
          <p:cNvPr id="13" name="Picture 12" descr="Diagram&#10;&#10;Description automatically generated">
            <a:extLst>
              <a:ext uri="{FF2B5EF4-FFF2-40B4-BE49-F238E27FC236}">
                <a16:creationId xmlns:a16="http://schemas.microsoft.com/office/drawing/2014/main" id="{D6822A9D-E427-9845-809F-A650ED7989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31432" y="591678"/>
            <a:ext cx="5281136" cy="6203977"/>
          </a:xfrm>
          <a:prstGeom prst="rect">
            <a:avLst/>
          </a:prstGeom>
        </p:spPr>
      </p:pic>
    </p:spTree>
    <p:extLst>
      <p:ext uri="{BB962C8B-B14F-4D97-AF65-F5344CB8AC3E}">
        <p14:creationId xmlns:p14="http://schemas.microsoft.com/office/powerpoint/2010/main" val="630508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C60311-8A7D-EE4E-B9E3-B3CCECF4F7EB}"/>
              </a:ext>
            </a:extLst>
          </p:cNvPr>
          <p:cNvSpPr txBox="1"/>
          <p:nvPr/>
        </p:nvSpPr>
        <p:spPr>
          <a:xfrm>
            <a:off x="-76200" y="76200"/>
            <a:ext cx="9144000" cy="646331"/>
          </a:xfrm>
          <a:prstGeom prst="rect">
            <a:avLst/>
          </a:prstGeom>
          <a:noFill/>
        </p:spPr>
        <p:txBody>
          <a:bodyPr wrap="square">
            <a:spAutoFit/>
          </a:bodyPr>
          <a:lstStyle/>
          <a:p>
            <a:r>
              <a:rPr lang="en-US" dirty="0">
                <a:hlinkClick r:id="rId2"/>
              </a:rPr>
              <a:t>https://www.investopedia.com/tech/how-does-bitcoin-mining-work/#toc-what-is-bitcoin-mining</a:t>
            </a:r>
            <a:r>
              <a:rPr lang="en-US" dirty="0"/>
              <a:t> </a:t>
            </a:r>
          </a:p>
        </p:txBody>
      </p:sp>
      <p:pic>
        <p:nvPicPr>
          <p:cNvPr id="5" name="Picture 4" descr="Graphical user interface, text, application, email&#10;&#10;Description automatically generated">
            <a:extLst>
              <a:ext uri="{FF2B5EF4-FFF2-40B4-BE49-F238E27FC236}">
                <a16:creationId xmlns:a16="http://schemas.microsoft.com/office/drawing/2014/main" id="{BB0816E0-846E-5949-B710-6ABF30B07B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5100" y="701749"/>
            <a:ext cx="6273800" cy="5334000"/>
          </a:xfrm>
          <a:prstGeom prst="rect">
            <a:avLst/>
          </a:prstGeom>
        </p:spPr>
      </p:pic>
    </p:spTree>
    <p:extLst>
      <p:ext uri="{BB962C8B-B14F-4D97-AF65-F5344CB8AC3E}">
        <p14:creationId xmlns:p14="http://schemas.microsoft.com/office/powerpoint/2010/main" val="28826119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217" y="149304"/>
            <a:ext cx="8229600" cy="1107996"/>
          </a:xfrm>
        </p:spPr>
        <p:txBody>
          <a:bodyPr>
            <a:noAutofit/>
          </a:bodyPr>
          <a:lstStyle/>
          <a:p>
            <a:r>
              <a:rPr lang="en-IN" sz="3600" dirty="0">
                <a:latin typeface="+mj-lt"/>
              </a:rPr>
              <a:t>Figure 12.6 How Hashing Updates a Blockchain </a:t>
            </a:r>
            <a:r>
              <a:rPr lang="en-IN" sz="2800" dirty="0">
                <a:latin typeface="+mj-lt"/>
              </a:rPr>
              <a:t>(1 of 3)</a:t>
            </a:r>
            <a:endParaRPr lang="en-IN" sz="3600" dirty="0">
              <a:latin typeface="+mj-lt"/>
            </a:endParaRPr>
          </a:p>
        </p:txBody>
      </p:sp>
      <p:pic>
        <p:nvPicPr>
          <p:cNvPr id="6" name="Picture Placeholder 5" descr="A flow diagram shows “Step 1” of the process on how hashing updates a blockchain.&#10;Long description is available in notes, press F6">
            <a:extLst>
              <a:ext uri="{FF2B5EF4-FFF2-40B4-BE49-F238E27FC236}">
                <a16:creationId xmlns:a16="http://schemas.microsoft.com/office/drawing/2014/main" id="{1C101A82-71DD-4D90-BB8D-FF7E5828CC7D}"/>
              </a:ext>
            </a:extLst>
          </p:cNvPr>
          <p:cNvPicPr>
            <a:picLocks noGrp="1" noChangeAspect="1"/>
          </p:cNvPicPr>
          <p:nvPr>
            <p:ph type="pic" sz="quarter" idx="14"/>
          </p:nvPr>
        </p:nvPicPr>
        <p:blipFill>
          <a:blip r:embed="rId3" cstate="print">
            <a:extLst>
              <a:ext uri="{28A0092B-C50C-407E-A947-70E740481C1C}">
                <a14:useLocalDpi xmlns:a14="http://schemas.microsoft.com/office/drawing/2010/main" val="0"/>
              </a:ext>
            </a:extLst>
          </a:blip>
          <a:stretch>
            <a:fillRect/>
          </a:stretch>
        </p:blipFill>
        <p:spPr>
          <a:xfrm>
            <a:off x="2320679" y="1379948"/>
            <a:ext cx="4502643" cy="4918912"/>
          </a:xfrm>
        </p:spPr>
      </p:pic>
    </p:spTree>
    <p:extLst>
      <p:ext uri="{BB962C8B-B14F-4D97-AF65-F5344CB8AC3E}">
        <p14:creationId xmlns:p14="http://schemas.microsoft.com/office/powerpoint/2010/main" val="29168522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217" y="149304"/>
            <a:ext cx="8229600" cy="1107996"/>
          </a:xfrm>
        </p:spPr>
        <p:txBody>
          <a:bodyPr>
            <a:noAutofit/>
          </a:bodyPr>
          <a:lstStyle/>
          <a:p>
            <a:r>
              <a:rPr lang="en-IN" sz="3600" dirty="0">
                <a:latin typeface="+mj-lt"/>
              </a:rPr>
              <a:t>Figure 12.6 How Hashing Updates a Blockchain </a:t>
            </a:r>
            <a:r>
              <a:rPr lang="en-IN" sz="2800" dirty="0">
                <a:latin typeface="+mj-lt"/>
              </a:rPr>
              <a:t>(2 of 3)</a:t>
            </a:r>
            <a:endParaRPr lang="en-IN" sz="3600" dirty="0">
              <a:latin typeface="+mj-lt"/>
            </a:endParaRPr>
          </a:p>
        </p:txBody>
      </p:sp>
      <p:pic>
        <p:nvPicPr>
          <p:cNvPr id="5" name="Picture Placeholder 4" descr="A flow diagram shows “Step 2” of the process on how hashing updates a blockchain.&#10;Long description is available in notes, press F6">
            <a:extLst>
              <a:ext uri="{FF2B5EF4-FFF2-40B4-BE49-F238E27FC236}">
                <a16:creationId xmlns:a16="http://schemas.microsoft.com/office/drawing/2014/main" id="{2E7BBB41-26EA-4692-A6C4-423588FFA68E}"/>
              </a:ext>
            </a:extLst>
          </p:cNvPr>
          <p:cNvPicPr>
            <a:picLocks noGrp="1" noChangeAspect="1"/>
          </p:cNvPicPr>
          <p:nvPr>
            <p:ph type="pic" sz="quarter" idx="14"/>
          </p:nvPr>
        </p:nvPicPr>
        <p:blipFill>
          <a:blip r:embed="rId3" cstate="print">
            <a:extLst>
              <a:ext uri="{28A0092B-C50C-407E-A947-70E740481C1C}">
                <a14:useLocalDpi xmlns:a14="http://schemas.microsoft.com/office/drawing/2010/main" val="0"/>
              </a:ext>
            </a:extLst>
          </a:blip>
          <a:stretch>
            <a:fillRect/>
          </a:stretch>
        </p:blipFill>
        <p:spPr>
          <a:xfrm>
            <a:off x="2105752" y="1410806"/>
            <a:ext cx="4932855" cy="4865620"/>
          </a:xfrm>
        </p:spPr>
      </p:pic>
    </p:spTree>
    <p:extLst>
      <p:ext uri="{BB962C8B-B14F-4D97-AF65-F5344CB8AC3E}">
        <p14:creationId xmlns:p14="http://schemas.microsoft.com/office/powerpoint/2010/main" val="1358522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217" y="149304"/>
            <a:ext cx="8229600" cy="1107996"/>
          </a:xfrm>
        </p:spPr>
        <p:txBody>
          <a:bodyPr>
            <a:noAutofit/>
          </a:bodyPr>
          <a:lstStyle/>
          <a:p>
            <a:r>
              <a:rPr lang="en-IN" sz="3600" dirty="0">
                <a:latin typeface="+mj-lt"/>
              </a:rPr>
              <a:t>Figure 12.6 How Hashing Updates a Blockchain </a:t>
            </a:r>
            <a:r>
              <a:rPr lang="en-IN" sz="2800" dirty="0">
                <a:latin typeface="+mj-lt"/>
              </a:rPr>
              <a:t>(3 of 3)</a:t>
            </a:r>
            <a:endParaRPr lang="en-IN" sz="3600" dirty="0">
              <a:latin typeface="+mj-lt"/>
            </a:endParaRPr>
          </a:p>
        </p:txBody>
      </p:sp>
      <p:pic>
        <p:nvPicPr>
          <p:cNvPr id="6" name="Picture Placeholder 5" descr="A flow diagram shows “Step 3 a” of the process on how hashing updates a blockchain.&#10;Long description is available in notes, press F6">
            <a:extLst>
              <a:ext uri="{FF2B5EF4-FFF2-40B4-BE49-F238E27FC236}">
                <a16:creationId xmlns:a16="http://schemas.microsoft.com/office/drawing/2014/main" id="{D0A8841C-BF46-4C36-855D-F9194489459C}"/>
              </a:ext>
            </a:extLst>
          </p:cNvPr>
          <p:cNvPicPr>
            <a:picLocks noGrp="1" noChangeAspect="1"/>
          </p:cNvPicPr>
          <p:nvPr>
            <p:ph type="pic" sz="quarter" idx="14"/>
          </p:nvPr>
        </p:nvPicPr>
        <p:blipFill>
          <a:blip r:embed="rId3" cstate="print">
            <a:extLst>
              <a:ext uri="{28A0092B-C50C-407E-A947-70E740481C1C}">
                <a14:useLocalDpi xmlns:a14="http://schemas.microsoft.com/office/drawing/2010/main" val="0"/>
              </a:ext>
            </a:extLst>
          </a:blip>
          <a:stretch>
            <a:fillRect/>
          </a:stretch>
        </p:blipFill>
        <p:spPr>
          <a:xfrm>
            <a:off x="2513768" y="1386183"/>
            <a:ext cx="4133321" cy="4926702"/>
          </a:xfrm>
        </p:spPr>
      </p:pic>
    </p:spTree>
    <p:extLst>
      <p:ext uri="{BB962C8B-B14F-4D97-AF65-F5344CB8AC3E}">
        <p14:creationId xmlns:p14="http://schemas.microsoft.com/office/powerpoint/2010/main" val="32279595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FAC11B-D79A-F000-AAB3-2AE3F8D22318}"/>
              </a:ext>
            </a:extLst>
          </p:cNvPr>
          <p:cNvSpPr txBox="1"/>
          <p:nvPr/>
        </p:nvSpPr>
        <p:spPr>
          <a:xfrm>
            <a:off x="17318" y="13855"/>
            <a:ext cx="9126682" cy="461665"/>
          </a:xfrm>
          <a:prstGeom prst="rect">
            <a:avLst/>
          </a:prstGeom>
          <a:noFill/>
        </p:spPr>
        <p:txBody>
          <a:bodyPr wrap="square">
            <a:spAutoFit/>
          </a:bodyPr>
          <a:lstStyle/>
          <a:p>
            <a:r>
              <a:rPr lang="en-US" sz="1200" dirty="0"/>
              <a:t>https://www.forbes.com/sites/jessedamiani/2020/03/25/your-social-security-number-costs-4-on-the-dark-web-new-report-finds/?sh=3c4dc65413f1</a:t>
            </a:r>
          </a:p>
        </p:txBody>
      </p:sp>
      <p:pic>
        <p:nvPicPr>
          <p:cNvPr id="5" name="Picture 4">
            <a:extLst>
              <a:ext uri="{FF2B5EF4-FFF2-40B4-BE49-F238E27FC236}">
                <a16:creationId xmlns:a16="http://schemas.microsoft.com/office/drawing/2014/main" id="{91E02C84-D084-2ACB-BC04-80B8967A4F95}"/>
              </a:ext>
            </a:extLst>
          </p:cNvPr>
          <p:cNvPicPr>
            <a:picLocks noChangeAspect="1"/>
          </p:cNvPicPr>
          <p:nvPr/>
        </p:nvPicPr>
        <p:blipFill>
          <a:blip r:embed="rId2"/>
          <a:stretch>
            <a:fillRect/>
          </a:stretch>
        </p:blipFill>
        <p:spPr>
          <a:xfrm>
            <a:off x="152400" y="685800"/>
            <a:ext cx="5620534" cy="2114845"/>
          </a:xfrm>
          <a:prstGeom prst="rect">
            <a:avLst/>
          </a:prstGeom>
        </p:spPr>
      </p:pic>
      <p:pic>
        <p:nvPicPr>
          <p:cNvPr id="7" name="Picture 6">
            <a:extLst>
              <a:ext uri="{FF2B5EF4-FFF2-40B4-BE49-F238E27FC236}">
                <a16:creationId xmlns:a16="http://schemas.microsoft.com/office/drawing/2014/main" id="{93CB5FE9-4568-D811-0C2B-C6101385176A}"/>
              </a:ext>
            </a:extLst>
          </p:cNvPr>
          <p:cNvPicPr>
            <a:picLocks noChangeAspect="1"/>
          </p:cNvPicPr>
          <p:nvPr/>
        </p:nvPicPr>
        <p:blipFill>
          <a:blip r:embed="rId3"/>
          <a:stretch>
            <a:fillRect/>
          </a:stretch>
        </p:blipFill>
        <p:spPr>
          <a:xfrm>
            <a:off x="884102" y="2800645"/>
            <a:ext cx="4868050" cy="3306600"/>
          </a:xfrm>
          <a:prstGeom prst="rect">
            <a:avLst/>
          </a:prstGeom>
        </p:spPr>
      </p:pic>
    </p:spTree>
    <p:extLst>
      <p:ext uri="{BB962C8B-B14F-4D97-AF65-F5344CB8AC3E}">
        <p14:creationId xmlns:p14="http://schemas.microsoft.com/office/powerpoint/2010/main" val="24027283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BF16E4E-4F05-09CE-2E98-B5A5AB072C6B}"/>
              </a:ext>
            </a:extLst>
          </p:cNvPr>
          <p:cNvSpPr txBox="1"/>
          <p:nvPr/>
        </p:nvSpPr>
        <p:spPr>
          <a:xfrm>
            <a:off x="31172" y="152400"/>
            <a:ext cx="10713027" cy="307777"/>
          </a:xfrm>
          <a:prstGeom prst="rect">
            <a:avLst/>
          </a:prstGeom>
          <a:noFill/>
        </p:spPr>
        <p:txBody>
          <a:bodyPr wrap="square">
            <a:spAutoFit/>
          </a:bodyPr>
          <a:lstStyle/>
          <a:p>
            <a:r>
              <a:rPr lang="en-US" sz="1400" dirty="0"/>
              <a:t>https://www.bankrate.com/personal-finance/credit/what-your-identity-is-worth-on-black-market/</a:t>
            </a:r>
          </a:p>
        </p:txBody>
      </p:sp>
      <p:pic>
        <p:nvPicPr>
          <p:cNvPr id="9" name="Picture 8">
            <a:extLst>
              <a:ext uri="{FF2B5EF4-FFF2-40B4-BE49-F238E27FC236}">
                <a16:creationId xmlns:a16="http://schemas.microsoft.com/office/drawing/2014/main" id="{1A17DBD3-639E-DCBF-3844-C2CE1FEBFEF8}"/>
              </a:ext>
            </a:extLst>
          </p:cNvPr>
          <p:cNvPicPr>
            <a:picLocks noChangeAspect="1"/>
          </p:cNvPicPr>
          <p:nvPr/>
        </p:nvPicPr>
        <p:blipFill>
          <a:blip r:embed="rId2"/>
          <a:stretch>
            <a:fillRect/>
          </a:stretch>
        </p:blipFill>
        <p:spPr>
          <a:xfrm>
            <a:off x="399467" y="485364"/>
            <a:ext cx="8345065" cy="5887272"/>
          </a:xfrm>
          <a:prstGeom prst="rect">
            <a:avLst/>
          </a:prstGeom>
        </p:spPr>
      </p:pic>
    </p:spTree>
    <p:extLst>
      <p:ext uri="{BB962C8B-B14F-4D97-AF65-F5344CB8AC3E}">
        <p14:creationId xmlns:p14="http://schemas.microsoft.com/office/powerpoint/2010/main" val="2057886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37ED638-D2A6-9E50-265A-3BA62E2E5629}"/>
              </a:ext>
            </a:extLst>
          </p:cNvPr>
          <p:cNvSpPr txBox="1"/>
          <p:nvPr/>
        </p:nvSpPr>
        <p:spPr>
          <a:xfrm>
            <a:off x="228600" y="152400"/>
            <a:ext cx="8839200" cy="5632311"/>
          </a:xfrm>
          <a:prstGeom prst="rect">
            <a:avLst/>
          </a:prstGeom>
          <a:noFill/>
        </p:spPr>
        <p:txBody>
          <a:bodyPr wrap="square">
            <a:spAutoFit/>
          </a:bodyPr>
          <a:lstStyle/>
          <a:p>
            <a:pPr marL="91440" marR="0" algn="l" hangingPunct="0">
              <a:spcBef>
                <a:spcPts val="0"/>
              </a:spcBef>
              <a:spcAft>
                <a:spcPts val="0"/>
              </a:spcAft>
            </a:pPr>
            <a:r>
              <a:rPr lang="en-US" sz="1500" dirty="0">
                <a:effectLst/>
                <a:ea typeface="Times New Roman" panose="02020603050405020304" pitchFamily="18" charset="0"/>
                <a:cs typeface="Times New Roman" panose="02020603050405020304" pitchFamily="18" charset="0"/>
              </a:rPr>
              <a:t>The department of taxation in your state is developing a new computer system for processing </a:t>
            </a:r>
            <a:r>
              <a:rPr lang="en-US" sz="1500" b="1" dirty="0">
                <a:effectLst/>
                <a:ea typeface="Times New Roman" panose="02020603050405020304" pitchFamily="18" charset="0"/>
                <a:cs typeface="Times New Roman" panose="02020603050405020304" pitchFamily="18" charset="0"/>
              </a:rPr>
              <a:t>individual </a:t>
            </a:r>
            <a:r>
              <a:rPr lang="en-US" sz="1500" dirty="0">
                <a:effectLst/>
                <a:ea typeface="Times New Roman" panose="02020603050405020304" pitchFamily="18" charset="0"/>
                <a:cs typeface="Times New Roman" panose="02020603050405020304" pitchFamily="18" charset="0"/>
              </a:rPr>
              <a:t>and </a:t>
            </a:r>
            <a:r>
              <a:rPr lang="en-US" sz="1500" b="1" dirty="0">
                <a:effectLst/>
                <a:ea typeface="Times New Roman" panose="02020603050405020304" pitchFamily="18" charset="0"/>
                <a:cs typeface="Times New Roman" panose="02020603050405020304" pitchFamily="18" charset="0"/>
              </a:rPr>
              <a:t>corporate </a:t>
            </a:r>
            <a:r>
              <a:rPr lang="en-US" sz="1500" dirty="0">
                <a:effectLst/>
                <a:ea typeface="Times New Roman" panose="02020603050405020304" pitchFamily="18" charset="0"/>
                <a:cs typeface="Times New Roman" panose="02020603050405020304" pitchFamily="18" charset="0"/>
              </a:rPr>
              <a:t>income-tax returns. </a:t>
            </a:r>
          </a:p>
          <a:p>
            <a:pPr marL="91440" marR="0" algn="l" hangingPunct="0">
              <a:spcBef>
                <a:spcPts val="0"/>
              </a:spcBef>
              <a:spcAft>
                <a:spcPts val="0"/>
              </a:spcAft>
            </a:pPr>
            <a:endParaRPr lang="en-US" sz="1500" dirty="0">
              <a:ea typeface="Times New Roman" panose="02020603050405020304" pitchFamily="18" charset="0"/>
              <a:cs typeface="Times New Roman" panose="02020603050405020304" pitchFamily="18" charset="0"/>
            </a:endParaRPr>
          </a:p>
          <a:p>
            <a:pPr marL="91440" marR="0" algn="l" hangingPunct="0">
              <a:spcBef>
                <a:spcPts val="0"/>
              </a:spcBef>
              <a:spcAft>
                <a:spcPts val="0"/>
              </a:spcAft>
            </a:pPr>
            <a:r>
              <a:rPr lang="en-US" sz="1500" dirty="0">
                <a:effectLst/>
                <a:ea typeface="Times New Roman" panose="02020603050405020304" pitchFamily="18" charset="0"/>
                <a:cs typeface="Times New Roman" panose="02020603050405020304" pitchFamily="18" charset="0"/>
              </a:rPr>
              <a:t>Identification of taxpayers is provided by using the </a:t>
            </a:r>
            <a:r>
              <a:rPr lang="en-US" sz="1500" b="1" dirty="0">
                <a:effectLst/>
                <a:ea typeface="Times New Roman" panose="02020603050405020304" pitchFamily="18" charset="0"/>
                <a:cs typeface="Times New Roman" panose="02020603050405020304" pitchFamily="18" charset="0"/>
              </a:rPr>
              <a:t>Social Security </a:t>
            </a:r>
            <a:r>
              <a:rPr lang="en-US" sz="1500" dirty="0">
                <a:effectLst/>
                <a:ea typeface="Times New Roman" panose="02020603050405020304" pitchFamily="18" charset="0"/>
                <a:cs typeface="Times New Roman" panose="02020603050405020304" pitchFamily="18" charset="0"/>
              </a:rPr>
              <a:t>number for individuals and </a:t>
            </a:r>
            <a:r>
              <a:rPr lang="en-US" sz="1500" b="1" dirty="0">
                <a:effectLst/>
                <a:ea typeface="Times New Roman" panose="02020603050405020304" pitchFamily="18" charset="0"/>
                <a:cs typeface="Times New Roman" panose="02020603050405020304" pitchFamily="18" charset="0"/>
              </a:rPr>
              <a:t>federal tax identification </a:t>
            </a:r>
            <a:r>
              <a:rPr lang="en-US" sz="1500" dirty="0">
                <a:effectLst/>
                <a:ea typeface="Times New Roman" panose="02020603050405020304" pitchFamily="18" charset="0"/>
                <a:cs typeface="Times New Roman" panose="02020603050405020304" pitchFamily="18" charset="0"/>
              </a:rPr>
              <a:t>number for corporations. The new system will serve three primary purposes:</a:t>
            </a:r>
          </a:p>
          <a:p>
            <a:pPr marL="91440" marR="0" algn="l" hangingPunct="0">
              <a:spcBef>
                <a:spcPts val="0"/>
              </a:spcBef>
              <a:spcAft>
                <a:spcPts val="0"/>
              </a:spcAft>
              <a:tabLst>
                <a:tab pos="266700" algn="r"/>
                <a:tab pos="381000" algn="l"/>
                <a:tab pos="685800" algn="l"/>
              </a:tabLst>
            </a:pPr>
            <a:endParaRPr lang="en-US" sz="1500" dirty="0">
              <a:effectLst/>
              <a:ea typeface="Times New Roman" panose="02020603050405020304" pitchFamily="18" charset="0"/>
              <a:cs typeface="Times New Roman" panose="02020603050405020304" pitchFamily="18" charset="0"/>
            </a:endParaRPr>
          </a:p>
          <a:p>
            <a:pPr marL="91440" marR="0" algn="l" hangingPunct="0">
              <a:spcBef>
                <a:spcPts val="0"/>
              </a:spcBef>
              <a:spcAft>
                <a:spcPts val="0"/>
              </a:spcAft>
              <a:tabLst>
                <a:tab pos="266700" algn="r"/>
                <a:tab pos="381000" algn="l"/>
                <a:tab pos="685800" algn="l"/>
              </a:tabLst>
            </a:pPr>
            <a:r>
              <a:rPr lang="en-US" sz="1500" dirty="0">
                <a:effectLst/>
                <a:ea typeface="Times New Roman" panose="02020603050405020304" pitchFamily="18" charset="0"/>
                <a:cs typeface="Times New Roman" panose="02020603050405020304" pitchFamily="18" charset="0"/>
              </a:rPr>
              <a:t>1	. Tax return data will either be automatically </a:t>
            </a:r>
            <a:r>
              <a:rPr lang="en-US" sz="1500" b="1" dirty="0">
                <a:effectLst/>
                <a:ea typeface="Times New Roman" panose="02020603050405020304" pitchFamily="18" charset="0"/>
                <a:cs typeface="Times New Roman" panose="02020603050405020304" pitchFamily="18" charset="0"/>
              </a:rPr>
              <a:t>input </a:t>
            </a:r>
            <a:r>
              <a:rPr lang="en-US" sz="1500" dirty="0">
                <a:effectLst/>
                <a:ea typeface="Times New Roman" panose="02020603050405020304" pitchFamily="18" charset="0"/>
                <a:cs typeface="Times New Roman" panose="02020603050405020304" pitchFamily="18" charset="0"/>
              </a:rPr>
              <a:t>directly into the system if the taxpayer files </a:t>
            </a:r>
            <a:r>
              <a:rPr lang="en-US" sz="1500" i="1" dirty="0">
                <a:effectLst/>
                <a:ea typeface="Times New Roman" panose="02020603050405020304" pitchFamily="18" charset="0"/>
                <a:cs typeface="Times New Roman" panose="02020603050405020304" pitchFamily="18" charset="0"/>
              </a:rPr>
              <a:t>electronically </a:t>
            </a:r>
            <a:r>
              <a:rPr lang="en-US" sz="1500" dirty="0">
                <a:effectLst/>
                <a:ea typeface="Times New Roman" panose="02020603050405020304" pitchFamily="18" charset="0"/>
                <a:cs typeface="Times New Roman" panose="02020603050405020304" pitchFamily="18" charset="0"/>
              </a:rPr>
              <a:t>or by a clerk at central headquarters </a:t>
            </a:r>
            <a:r>
              <a:rPr lang="en-US" sz="1500" i="1" dirty="0">
                <a:effectLst/>
                <a:ea typeface="Times New Roman" panose="02020603050405020304" pitchFamily="18" charset="0"/>
                <a:cs typeface="Times New Roman" panose="02020603050405020304" pitchFamily="18" charset="0"/>
              </a:rPr>
              <a:t>scanning </a:t>
            </a:r>
            <a:r>
              <a:rPr lang="en-US" sz="1500" dirty="0">
                <a:effectLst/>
                <a:ea typeface="Times New Roman" panose="02020603050405020304" pitchFamily="18" charset="0"/>
                <a:cs typeface="Times New Roman" panose="02020603050405020304" pitchFamily="18" charset="0"/>
              </a:rPr>
              <a:t>a paper return received in the mail.</a:t>
            </a:r>
          </a:p>
          <a:p>
            <a:pPr marL="91440" marR="0" algn="l" hangingPunct="0">
              <a:spcBef>
                <a:spcPts val="0"/>
              </a:spcBef>
              <a:spcAft>
                <a:spcPts val="0"/>
              </a:spcAft>
              <a:tabLst>
                <a:tab pos="266700" algn="r"/>
                <a:tab pos="381000" algn="l"/>
                <a:tab pos="685800" algn="l"/>
              </a:tabLst>
            </a:pPr>
            <a:endParaRPr lang="en-US" sz="1500" dirty="0">
              <a:effectLst/>
              <a:ea typeface="Times New Roman" panose="02020603050405020304" pitchFamily="18" charset="0"/>
              <a:cs typeface="Times New Roman" panose="02020603050405020304" pitchFamily="18" charset="0"/>
            </a:endParaRPr>
          </a:p>
          <a:p>
            <a:pPr marL="91440" marR="0" algn="l" hangingPunct="0">
              <a:spcBef>
                <a:spcPts val="0"/>
              </a:spcBef>
              <a:spcAft>
                <a:spcPts val="0"/>
              </a:spcAft>
              <a:tabLst>
                <a:tab pos="266700" algn="r"/>
                <a:tab pos="381000" algn="l"/>
                <a:tab pos="685800" algn="l"/>
              </a:tabLst>
            </a:pPr>
            <a:r>
              <a:rPr lang="en-US" sz="1500" dirty="0">
                <a:effectLst/>
                <a:ea typeface="Times New Roman" panose="02020603050405020304" pitchFamily="18" charset="0"/>
                <a:cs typeface="Times New Roman" panose="02020603050405020304" pitchFamily="18" charset="0"/>
              </a:rPr>
              <a:t>2.	 The returns will be </a:t>
            </a:r>
            <a:r>
              <a:rPr lang="en-US" sz="1500" b="1" dirty="0">
                <a:effectLst/>
                <a:ea typeface="Times New Roman" panose="02020603050405020304" pitchFamily="18" charset="0"/>
                <a:cs typeface="Times New Roman" panose="02020603050405020304" pitchFamily="18" charset="0"/>
              </a:rPr>
              <a:t>processed </a:t>
            </a:r>
            <a:r>
              <a:rPr lang="en-US" sz="1500" dirty="0">
                <a:effectLst/>
                <a:ea typeface="Times New Roman" panose="02020603050405020304" pitchFamily="18" charset="0"/>
                <a:cs typeface="Times New Roman" panose="02020603050405020304" pitchFamily="18" charset="0"/>
              </a:rPr>
              <a:t>using the main computer facilities at central headquarters. Processing will include four steps: (a) </a:t>
            </a:r>
            <a:r>
              <a:rPr lang="en-US" sz="1500" i="1" dirty="0">
                <a:effectLst/>
                <a:ea typeface="Times New Roman" panose="02020603050405020304" pitchFamily="18" charset="0"/>
                <a:cs typeface="Times New Roman" panose="02020603050405020304" pitchFamily="18" charset="0"/>
              </a:rPr>
              <a:t>verifying </a:t>
            </a:r>
            <a:r>
              <a:rPr lang="en-US" sz="1500" dirty="0">
                <a:effectLst/>
                <a:ea typeface="Times New Roman" panose="02020603050405020304" pitchFamily="18" charset="0"/>
                <a:cs typeface="Times New Roman" panose="02020603050405020304" pitchFamily="18" charset="0"/>
              </a:rPr>
              <a:t>mathematical accuracy, (b) </a:t>
            </a:r>
            <a:r>
              <a:rPr lang="en-US" sz="1500" i="1" dirty="0">
                <a:effectLst/>
                <a:ea typeface="Times New Roman" panose="02020603050405020304" pitchFamily="18" charset="0"/>
                <a:cs typeface="Times New Roman" panose="02020603050405020304" pitchFamily="18" charset="0"/>
              </a:rPr>
              <a:t>auditing </a:t>
            </a:r>
            <a:r>
              <a:rPr lang="en-US" sz="1500" dirty="0">
                <a:effectLst/>
                <a:ea typeface="Times New Roman" panose="02020603050405020304" pitchFamily="18" charset="0"/>
                <a:cs typeface="Times New Roman" panose="02020603050405020304" pitchFamily="18" charset="0"/>
              </a:rPr>
              <a:t>the reasonableness of deductions, tax due, and so on, through the use of edit routines, which also include a comparison of current and prior years’ data, (c) </a:t>
            </a:r>
            <a:r>
              <a:rPr lang="en-US" sz="1500" i="1" dirty="0">
                <a:effectLst/>
                <a:ea typeface="Times New Roman" panose="02020603050405020304" pitchFamily="18" charset="0"/>
                <a:cs typeface="Times New Roman" panose="02020603050405020304" pitchFamily="18" charset="0"/>
              </a:rPr>
              <a:t>identifying </a:t>
            </a:r>
            <a:r>
              <a:rPr lang="en-US" sz="1500" dirty="0">
                <a:effectLst/>
                <a:ea typeface="Times New Roman" panose="02020603050405020304" pitchFamily="18" charset="0"/>
                <a:cs typeface="Times New Roman" panose="02020603050405020304" pitchFamily="18" charset="0"/>
              </a:rPr>
              <a:t>returns that should be considered for audit by department revenue agents, and (d) </a:t>
            </a:r>
            <a:r>
              <a:rPr lang="en-US" sz="1500" i="1" dirty="0">
                <a:effectLst/>
                <a:ea typeface="Times New Roman" panose="02020603050405020304" pitchFamily="18" charset="0"/>
                <a:cs typeface="Times New Roman" panose="02020603050405020304" pitchFamily="18" charset="0"/>
              </a:rPr>
              <a:t>issuing </a:t>
            </a:r>
            <a:r>
              <a:rPr lang="en-US" sz="1500" dirty="0">
                <a:effectLst/>
                <a:ea typeface="Times New Roman" panose="02020603050405020304" pitchFamily="18" charset="0"/>
                <a:cs typeface="Times New Roman" panose="02020603050405020304" pitchFamily="18" charset="0"/>
              </a:rPr>
              <a:t>refund checks to taxpayers.</a:t>
            </a:r>
          </a:p>
          <a:p>
            <a:pPr marL="91440" marR="0" algn="l" hangingPunct="0">
              <a:spcBef>
                <a:spcPts val="0"/>
              </a:spcBef>
              <a:spcAft>
                <a:spcPts val="0"/>
              </a:spcAft>
              <a:tabLst>
                <a:tab pos="266700" algn="r"/>
                <a:tab pos="381000" algn="l"/>
                <a:tab pos="685800" algn="l"/>
                <a:tab pos="1085850" algn="l"/>
              </a:tabLst>
            </a:pPr>
            <a:endParaRPr lang="en-US" sz="1500" dirty="0">
              <a:effectLst/>
              <a:ea typeface="Times New Roman" panose="02020603050405020304" pitchFamily="18" charset="0"/>
              <a:cs typeface="Times New Roman" panose="02020603050405020304" pitchFamily="18" charset="0"/>
            </a:endParaRPr>
          </a:p>
          <a:p>
            <a:pPr marL="91440" marR="0" algn="l" hangingPunct="0">
              <a:spcBef>
                <a:spcPts val="0"/>
              </a:spcBef>
              <a:spcAft>
                <a:spcPts val="0"/>
              </a:spcAft>
              <a:tabLst>
                <a:tab pos="266700" algn="r"/>
                <a:tab pos="381000" algn="l"/>
                <a:tab pos="685800" algn="l"/>
                <a:tab pos="1085850" algn="l"/>
              </a:tabLst>
            </a:pPr>
            <a:r>
              <a:rPr lang="en-US" sz="1500" dirty="0">
                <a:effectLst/>
                <a:ea typeface="Times New Roman" panose="02020603050405020304" pitchFamily="18" charset="0"/>
                <a:cs typeface="Times New Roman" panose="02020603050405020304" pitchFamily="18" charset="0"/>
              </a:rPr>
              <a:t>3. </a:t>
            </a:r>
            <a:r>
              <a:rPr lang="en-US" sz="1500" b="1" dirty="0">
                <a:effectLst/>
                <a:ea typeface="Times New Roman" panose="02020603050405020304" pitchFamily="18" charset="0"/>
                <a:cs typeface="Times New Roman" panose="02020603050405020304" pitchFamily="18" charset="0"/>
              </a:rPr>
              <a:t>Inquiry services</a:t>
            </a:r>
            <a:r>
              <a:rPr lang="en-US" sz="1500" dirty="0">
                <a:effectLst/>
                <a:ea typeface="Times New Roman" panose="02020603050405020304" pitchFamily="18" charset="0"/>
                <a:cs typeface="Times New Roman" panose="02020603050405020304" pitchFamily="18" charset="0"/>
              </a:rPr>
              <a:t>. A taxpayer will be allowed to determine the status of his or her return or get information from the last three years’ returns by </a:t>
            </a:r>
            <a:r>
              <a:rPr lang="en-US" sz="1500" i="1" dirty="0">
                <a:effectLst/>
                <a:ea typeface="Times New Roman" panose="02020603050405020304" pitchFamily="18" charset="0"/>
                <a:cs typeface="Times New Roman" panose="02020603050405020304" pitchFamily="18" charset="0"/>
              </a:rPr>
              <a:t>calling </a:t>
            </a:r>
            <a:r>
              <a:rPr lang="en-US" sz="1500" dirty="0">
                <a:effectLst/>
                <a:ea typeface="Times New Roman" panose="02020603050405020304" pitchFamily="18" charset="0"/>
                <a:cs typeface="Times New Roman" panose="02020603050405020304" pitchFamily="18" charset="0"/>
              </a:rPr>
              <a:t>or </a:t>
            </a:r>
            <a:r>
              <a:rPr lang="en-US" sz="1500" i="1" dirty="0">
                <a:effectLst/>
                <a:ea typeface="Times New Roman" panose="02020603050405020304" pitchFamily="18" charset="0"/>
                <a:cs typeface="Times New Roman" panose="02020603050405020304" pitchFamily="18" charset="0"/>
              </a:rPr>
              <a:t>visiting </a:t>
            </a:r>
            <a:r>
              <a:rPr lang="en-US" sz="1500" dirty="0">
                <a:effectLst/>
                <a:ea typeface="Times New Roman" panose="02020603050405020304" pitchFamily="18" charset="0"/>
                <a:cs typeface="Times New Roman" panose="02020603050405020304" pitchFamily="18" charset="0"/>
              </a:rPr>
              <a:t>one of the department’s regional offices, or by accessing the department’s </a:t>
            </a:r>
            <a:r>
              <a:rPr lang="en-US" sz="1500" i="1" dirty="0">
                <a:effectLst/>
                <a:ea typeface="Times New Roman" panose="02020603050405020304" pitchFamily="18" charset="0"/>
                <a:cs typeface="Times New Roman" panose="02020603050405020304" pitchFamily="18" charset="0"/>
              </a:rPr>
              <a:t>web site </a:t>
            </a:r>
            <a:r>
              <a:rPr lang="en-US" sz="1500" dirty="0">
                <a:effectLst/>
                <a:ea typeface="Times New Roman" panose="02020603050405020304" pitchFamily="18" charset="0"/>
                <a:cs typeface="Times New Roman" panose="02020603050405020304" pitchFamily="18" charset="0"/>
              </a:rPr>
              <a:t>and entering their </a:t>
            </a:r>
            <a:r>
              <a:rPr lang="en-US" sz="1500" i="1" dirty="0">
                <a:effectLst/>
                <a:ea typeface="Times New Roman" panose="02020603050405020304" pitchFamily="18" charset="0"/>
                <a:cs typeface="Times New Roman" panose="02020603050405020304" pitchFamily="18" charset="0"/>
              </a:rPr>
              <a:t>social security number</a:t>
            </a:r>
            <a:r>
              <a:rPr lang="en-US" sz="1500" dirty="0">
                <a:effectLst/>
                <a:ea typeface="Times New Roman" panose="02020603050405020304" pitchFamily="18" charset="0"/>
                <a:cs typeface="Times New Roman" panose="02020603050405020304" pitchFamily="18" charset="0"/>
              </a:rPr>
              <a:t>.</a:t>
            </a:r>
          </a:p>
          <a:p>
            <a:pPr marL="91440" marR="0" algn="l" hangingPunct="0">
              <a:spcBef>
                <a:spcPts val="0"/>
              </a:spcBef>
              <a:spcAft>
                <a:spcPts val="0"/>
              </a:spcAft>
              <a:tabLst>
                <a:tab pos="266700" algn="r"/>
                <a:tab pos="381000" algn="l"/>
              </a:tabLst>
            </a:pPr>
            <a:r>
              <a:rPr lang="en-US" sz="1500" dirty="0">
                <a:effectLst/>
                <a:ea typeface="Times New Roman" panose="02020603050405020304" pitchFamily="18" charset="0"/>
                <a:cs typeface="Times New Roman" panose="02020603050405020304" pitchFamily="18" charset="0"/>
              </a:rPr>
              <a:t> </a:t>
            </a:r>
          </a:p>
          <a:p>
            <a:pPr marL="91440" marR="0" algn="l" hangingPunct="0">
              <a:spcBef>
                <a:spcPts val="0"/>
              </a:spcBef>
              <a:spcAft>
                <a:spcPts val="0"/>
              </a:spcAft>
              <a:tabLst>
                <a:tab pos="266700" algn="r"/>
                <a:tab pos="381000" algn="l"/>
                <a:tab pos="0" algn="l"/>
              </a:tabLst>
            </a:pPr>
            <a:r>
              <a:rPr lang="en-US" sz="1500" dirty="0">
                <a:effectLst/>
                <a:ea typeface="Times New Roman" panose="02020603050405020304" pitchFamily="18" charset="0"/>
                <a:cs typeface="Times New Roman" panose="02020603050405020304" pitchFamily="18" charset="0"/>
              </a:rPr>
              <a:t>The state commissioner of taxation and the state attorney general are concerned about protecting the privacy of personal information submitted by taxpayers. </a:t>
            </a:r>
          </a:p>
          <a:p>
            <a:pPr marL="91440" marR="0" algn="l" hangingPunct="0">
              <a:spcBef>
                <a:spcPts val="0"/>
              </a:spcBef>
              <a:spcAft>
                <a:spcPts val="0"/>
              </a:spcAft>
              <a:tabLst>
                <a:tab pos="266700" algn="r"/>
                <a:tab pos="381000" algn="l"/>
              </a:tabLst>
            </a:pPr>
            <a:r>
              <a:rPr lang="en-US" sz="1500" dirty="0">
                <a:effectLst/>
                <a:ea typeface="Times New Roman" panose="02020603050405020304" pitchFamily="18" charset="0"/>
                <a:cs typeface="Times New Roman" panose="02020603050405020304" pitchFamily="18" charset="0"/>
              </a:rPr>
              <a:t> </a:t>
            </a:r>
          </a:p>
          <a:p>
            <a:pPr marL="91440" marR="0" hangingPunct="0">
              <a:spcBef>
                <a:spcPts val="0"/>
              </a:spcBef>
              <a:spcAft>
                <a:spcPts val="0"/>
              </a:spcAft>
            </a:pPr>
            <a:r>
              <a:rPr lang="en-US" sz="1500" dirty="0">
                <a:effectLst/>
                <a:ea typeface="Times New Roman" panose="02020603050405020304" pitchFamily="18" charset="0"/>
                <a:cs typeface="Times New Roman" panose="02020603050405020304" pitchFamily="18" charset="0"/>
              </a:rPr>
              <a:t>Describe the potential privacy problems that and recommend corrective action(s)</a:t>
            </a:r>
          </a:p>
        </p:txBody>
      </p:sp>
    </p:spTree>
    <p:extLst>
      <p:ext uri="{BB962C8B-B14F-4D97-AF65-F5344CB8AC3E}">
        <p14:creationId xmlns:p14="http://schemas.microsoft.com/office/powerpoint/2010/main" val="20182263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BBDEA51-79FF-2AB8-92EC-089A1973C557}"/>
              </a:ext>
            </a:extLst>
          </p:cNvPr>
          <p:cNvGraphicFramePr>
            <a:graphicFrameLocks noGrp="1"/>
          </p:cNvGraphicFramePr>
          <p:nvPr>
            <p:extLst>
              <p:ext uri="{D42A27DB-BD31-4B8C-83A1-F6EECF244321}">
                <p14:modId xmlns:p14="http://schemas.microsoft.com/office/powerpoint/2010/main" val="984452491"/>
              </p:ext>
            </p:extLst>
          </p:nvPr>
        </p:nvGraphicFramePr>
        <p:xfrm>
          <a:off x="318654" y="152400"/>
          <a:ext cx="8458200" cy="1905000"/>
        </p:xfrm>
        <a:graphic>
          <a:graphicData uri="http://schemas.openxmlformats.org/drawingml/2006/table">
            <a:tbl>
              <a:tblPr>
                <a:tableStyleId>{3B4B98B0-60AC-42C2-AFA5-B58CD77FA1E5}</a:tableStyleId>
              </a:tblPr>
              <a:tblGrid>
                <a:gridCol w="3383280">
                  <a:extLst>
                    <a:ext uri="{9D8B030D-6E8A-4147-A177-3AD203B41FA5}">
                      <a16:colId xmlns:a16="http://schemas.microsoft.com/office/drawing/2014/main" val="3244048563"/>
                    </a:ext>
                  </a:extLst>
                </a:gridCol>
                <a:gridCol w="5074920">
                  <a:extLst>
                    <a:ext uri="{9D8B030D-6E8A-4147-A177-3AD203B41FA5}">
                      <a16:colId xmlns:a16="http://schemas.microsoft.com/office/drawing/2014/main" val="2004752253"/>
                    </a:ext>
                  </a:extLst>
                </a:gridCol>
              </a:tblGrid>
              <a:tr h="339090">
                <a:tc>
                  <a:txBody>
                    <a:bodyPr/>
                    <a:lstStyle/>
                    <a:p>
                      <a:pPr marL="0" marR="0">
                        <a:spcBef>
                          <a:spcPts val="0"/>
                        </a:spcBef>
                        <a:spcAft>
                          <a:spcPts val="600"/>
                        </a:spcAft>
                      </a:pPr>
                      <a:r>
                        <a:rPr lang="en-US" sz="1100">
                          <a:effectLst/>
                        </a:rPr>
                        <a:t> </a:t>
                      </a:r>
                      <a:endParaRPr lang="en-US" sz="1200">
                        <a:effectLst/>
                      </a:endParaRPr>
                    </a:p>
                    <a:p>
                      <a:pPr marL="0" marR="0" algn="ctr">
                        <a:spcBef>
                          <a:spcPts val="0"/>
                        </a:spcBef>
                        <a:spcAft>
                          <a:spcPts val="600"/>
                        </a:spcAft>
                        <a:tabLst>
                          <a:tab pos="-457200" algn="l"/>
                          <a:tab pos="0" algn="l"/>
                          <a:tab pos="45720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a:effectLst/>
                        </a:rPr>
                        <a:t>Problem</a:t>
                      </a:r>
                      <a:endParaRPr lang="en-US" sz="1200">
                        <a:effectLst/>
                        <a:latin typeface="Times New Roman" panose="02020603050405020304" pitchFamily="18" charset="0"/>
                        <a:ea typeface="Times New Roman" panose="02020603050405020304" pitchFamily="18" charset="0"/>
                      </a:endParaRPr>
                    </a:p>
                  </a:txBody>
                  <a:tcPr marL="85090" marR="85090" marT="0" marB="0"/>
                </a:tc>
                <a:tc>
                  <a:txBody>
                    <a:bodyPr/>
                    <a:lstStyle/>
                    <a:p>
                      <a:pPr marL="0" marR="0">
                        <a:spcBef>
                          <a:spcPts val="0"/>
                        </a:spcBef>
                        <a:spcAft>
                          <a:spcPts val="600"/>
                        </a:spcAft>
                      </a:pPr>
                      <a:r>
                        <a:rPr lang="en-US" sz="1100">
                          <a:effectLst/>
                        </a:rPr>
                        <a:t> </a:t>
                      </a:r>
                      <a:endParaRPr lang="en-US" sz="1200">
                        <a:effectLst/>
                      </a:endParaRPr>
                    </a:p>
                    <a:p>
                      <a:pPr marL="0" marR="0" algn="ctr">
                        <a:spcBef>
                          <a:spcPts val="0"/>
                        </a:spcBef>
                        <a:spcAft>
                          <a:spcPts val="600"/>
                        </a:spcAft>
                        <a:tabLst>
                          <a:tab pos="-457200" algn="l"/>
                          <a:tab pos="0" algn="l"/>
                          <a:tab pos="45720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a:effectLst/>
                        </a:rPr>
                        <a:t>Controls</a:t>
                      </a:r>
                      <a:endParaRPr lang="en-US" sz="1200">
                        <a:effectLst/>
                        <a:latin typeface="Times New Roman" panose="02020603050405020304" pitchFamily="18" charset="0"/>
                        <a:ea typeface="Times New Roman" panose="02020603050405020304" pitchFamily="18" charset="0"/>
                      </a:endParaRPr>
                    </a:p>
                  </a:txBody>
                  <a:tcPr marL="85090" marR="85090" marT="0" marB="0"/>
                </a:tc>
                <a:extLst>
                  <a:ext uri="{0D108BD9-81ED-4DB2-BD59-A6C34878D82A}">
                    <a16:rowId xmlns:a16="http://schemas.microsoft.com/office/drawing/2014/main" val="2239351326"/>
                  </a:ext>
                </a:extLst>
              </a:tr>
              <a:tr h="750570">
                <a:tc>
                  <a:txBody>
                    <a:bodyPr/>
                    <a:lstStyle/>
                    <a:p>
                      <a:pPr marL="0" marR="0">
                        <a:spcBef>
                          <a:spcPts val="0"/>
                        </a:spcBef>
                        <a:spcAft>
                          <a:spcPts val="600"/>
                        </a:spcAft>
                        <a:tabLst>
                          <a:tab pos="-457200" algn="l"/>
                          <a:tab pos="0" algn="l"/>
                          <a:tab pos="45720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a:effectLst/>
                        </a:rPr>
                        <a:t>Unauthorized employee accessing paper returns submitted by mail.</a:t>
                      </a:r>
                      <a:endParaRPr lang="en-US" sz="1200">
                        <a:effectLst/>
                        <a:latin typeface="Times New Roman" panose="02020603050405020304" pitchFamily="18" charset="0"/>
                        <a:ea typeface="Times New Roman" panose="02020603050405020304" pitchFamily="18" charset="0"/>
                      </a:endParaRPr>
                    </a:p>
                  </a:txBody>
                  <a:tcPr marL="85090" marR="85090" marT="0" marB="0"/>
                </a:tc>
                <a:tc>
                  <a:txBody>
                    <a:bodyPr/>
                    <a:lstStyle/>
                    <a:p>
                      <a:pPr marL="0" marR="0">
                        <a:spcBef>
                          <a:spcPts val="0"/>
                        </a:spcBef>
                        <a:spcAft>
                          <a:spcPts val="600"/>
                        </a:spcAft>
                        <a:tabLst>
                          <a:tab pos="0" algn="l"/>
                        </a:tabLst>
                      </a:pPr>
                      <a:r>
                        <a:rPr lang="en-US" sz="1100">
                          <a:effectLst/>
                        </a:rPr>
                        <a:t>Restrict physical access to room used to house paper returns and scanning equipment by </a:t>
                      </a:r>
                      <a:endParaRPr lang="en-US" sz="1200">
                        <a:effectLst/>
                      </a:endParaRPr>
                    </a:p>
                    <a:p>
                      <a:pPr marL="342900" marR="0" lvl="0" indent="-342900">
                        <a:spcBef>
                          <a:spcPts val="0"/>
                        </a:spcBef>
                        <a:spcAft>
                          <a:spcPts val="600"/>
                        </a:spcAft>
                        <a:buFont typeface="Symbol" panose="05050102010706020507" pitchFamily="18" charset="2"/>
                        <a:buChar char=""/>
                        <a:tabLst>
                          <a:tab pos="257810" algn="l"/>
                        </a:tabLst>
                      </a:pPr>
                      <a:r>
                        <a:rPr lang="en-US" sz="1100">
                          <a:effectLst/>
                        </a:rPr>
                        <a:t>Using ID badges or biometric controls</a:t>
                      </a:r>
                      <a:endParaRPr lang="en-US" sz="1200">
                        <a:effectLst/>
                      </a:endParaRPr>
                    </a:p>
                    <a:p>
                      <a:pPr marL="342900" marR="0" lvl="0" indent="-342900">
                        <a:spcBef>
                          <a:spcPts val="0"/>
                        </a:spcBef>
                        <a:spcAft>
                          <a:spcPts val="600"/>
                        </a:spcAft>
                        <a:buFont typeface="Symbol" panose="05050102010706020507" pitchFamily="18" charset="2"/>
                        <a:buChar char=""/>
                        <a:tabLst>
                          <a:tab pos="257810" algn="l"/>
                        </a:tabLst>
                      </a:pPr>
                      <a:r>
                        <a:rPr lang="en-US" sz="1100">
                          <a:effectLst/>
                        </a:rPr>
                        <a:t>Logging all people who enter.</a:t>
                      </a:r>
                      <a:endParaRPr lang="en-US" sz="1200">
                        <a:effectLst/>
                        <a:latin typeface="Times New Roman" panose="02020603050405020304" pitchFamily="18" charset="0"/>
                        <a:ea typeface="Times New Roman" panose="02020603050405020304" pitchFamily="18" charset="0"/>
                      </a:endParaRPr>
                    </a:p>
                  </a:txBody>
                  <a:tcPr marL="85090" marR="85090" marT="0" marB="0"/>
                </a:tc>
                <a:extLst>
                  <a:ext uri="{0D108BD9-81ED-4DB2-BD59-A6C34878D82A}">
                    <a16:rowId xmlns:a16="http://schemas.microsoft.com/office/drawing/2014/main" val="623591605"/>
                  </a:ext>
                </a:extLst>
              </a:tr>
              <a:tr h="0">
                <a:tc>
                  <a:txBody>
                    <a:bodyPr/>
                    <a:lstStyle/>
                    <a:p>
                      <a:pPr marL="0" marR="0">
                        <a:spcBef>
                          <a:spcPts val="0"/>
                        </a:spcBef>
                        <a:spcAft>
                          <a:spcPts val="600"/>
                        </a:spcAft>
                        <a:tabLst>
                          <a:tab pos="-457200" algn="l"/>
                          <a:tab pos="0" algn="l"/>
                          <a:tab pos="274320" algn="l"/>
                          <a:tab pos="43053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a:effectLst/>
                        </a:rPr>
                        <a:t>Unauthorized employee accessing the electronic files.</a:t>
                      </a:r>
                      <a:endParaRPr lang="en-US" sz="1200">
                        <a:effectLst/>
                        <a:latin typeface="Times New Roman" panose="02020603050405020304" pitchFamily="18" charset="0"/>
                        <a:ea typeface="Times New Roman" panose="02020603050405020304" pitchFamily="18" charset="0"/>
                      </a:endParaRPr>
                    </a:p>
                  </a:txBody>
                  <a:tcPr marL="85090" marR="85090" marT="0" marB="0"/>
                </a:tc>
                <a:tc>
                  <a:txBody>
                    <a:bodyPr/>
                    <a:lstStyle/>
                    <a:p>
                      <a:pPr marL="0" marR="0">
                        <a:spcBef>
                          <a:spcPts val="0"/>
                        </a:spcBef>
                        <a:spcAft>
                          <a:spcPts val="600"/>
                        </a:spcAft>
                        <a:tabLst>
                          <a:tab pos="-457200" algn="l"/>
                          <a:tab pos="0" algn="l"/>
                          <a:tab pos="274320" algn="l"/>
                          <a:tab pos="43053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a:effectLst/>
                        </a:rPr>
                        <a:t>Multi-factor authentication of all employees attempting to access tax files.</a:t>
                      </a:r>
                      <a:endParaRPr lang="en-US" sz="1200">
                        <a:effectLst/>
                        <a:latin typeface="Times New Roman" panose="02020603050405020304" pitchFamily="18" charset="0"/>
                        <a:ea typeface="Times New Roman" panose="02020603050405020304" pitchFamily="18" charset="0"/>
                      </a:endParaRPr>
                    </a:p>
                  </a:txBody>
                  <a:tcPr marL="85090" marR="85090" marT="0" marB="0"/>
                </a:tc>
                <a:extLst>
                  <a:ext uri="{0D108BD9-81ED-4DB2-BD59-A6C34878D82A}">
                    <a16:rowId xmlns:a16="http://schemas.microsoft.com/office/drawing/2014/main" val="1035965507"/>
                  </a:ext>
                </a:extLst>
              </a:tr>
              <a:tr h="0">
                <a:tc>
                  <a:txBody>
                    <a:bodyPr/>
                    <a:lstStyle/>
                    <a:p>
                      <a:pPr marL="0" marR="0">
                        <a:spcBef>
                          <a:spcPts val="0"/>
                        </a:spcBef>
                        <a:spcAft>
                          <a:spcPts val="600"/>
                        </a:spcAft>
                        <a:tabLst>
                          <a:tab pos="-457200" algn="l"/>
                          <a:tab pos="0" algn="l"/>
                          <a:tab pos="274320" algn="l"/>
                          <a:tab pos="43053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a:effectLst/>
                        </a:rPr>
                        <a:t>Interception of tax information submitted electronically.</a:t>
                      </a:r>
                      <a:endParaRPr lang="en-US" sz="1200">
                        <a:effectLst/>
                        <a:latin typeface="Times New Roman" panose="02020603050405020304" pitchFamily="18" charset="0"/>
                        <a:ea typeface="Times New Roman" panose="02020603050405020304" pitchFamily="18" charset="0"/>
                      </a:endParaRPr>
                    </a:p>
                  </a:txBody>
                  <a:tcPr marL="85090" marR="85090" marT="0" marB="0"/>
                </a:tc>
                <a:tc>
                  <a:txBody>
                    <a:bodyPr/>
                    <a:lstStyle/>
                    <a:p>
                      <a:pPr marL="0" marR="0">
                        <a:spcBef>
                          <a:spcPts val="0"/>
                        </a:spcBef>
                        <a:spcAft>
                          <a:spcPts val="600"/>
                        </a:spcAft>
                        <a:tabLst>
                          <a:tab pos="-457200" algn="l"/>
                          <a:tab pos="0" algn="l"/>
                          <a:tab pos="274320" algn="l"/>
                          <a:tab pos="43053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dirty="0">
                          <a:effectLst/>
                        </a:rPr>
                        <a:t>Encrypt all information submitted to the tax website.</a:t>
                      </a:r>
                      <a:endParaRPr lang="en-US" sz="1200" dirty="0">
                        <a:effectLst/>
                        <a:latin typeface="Times New Roman" panose="02020603050405020304" pitchFamily="18" charset="0"/>
                        <a:ea typeface="Times New Roman" panose="02020603050405020304" pitchFamily="18" charset="0"/>
                      </a:endParaRPr>
                    </a:p>
                  </a:txBody>
                  <a:tcPr marL="85090" marR="85090" marT="0" marB="0"/>
                </a:tc>
                <a:extLst>
                  <a:ext uri="{0D108BD9-81ED-4DB2-BD59-A6C34878D82A}">
                    <a16:rowId xmlns:a16="http://schemas.microsoft.com/office/drawing/2014/main" val="3336052669"/>
                  </a:ext>
                </a:extLst>
              </a:tr>
            </a:tbl>
          </a:graphicData>
        </a:graphic>
      </p:graphicFrame>
      <p:graphicFrame>
        <p:nvGraphicFramePr>
          <p:cNvPr id="3" name="Table 2">
            <a:extLst>
              <a:ext uri="{FF2B5EF4-FFF2-40B4-BE49-F238E27FC236}">
                <a16:creationId xmlns:a16="http://schemas.microsoft.com/office/drawing/2014/main" id="{5D581CC9-2683-99AB-4064-F82089A82B64}"/>
              </a:ext>
            </a:extLst>
          </p:cNvPr>
          <p:cNvGraphicFramePr>
            <a:graphicFrameLocks noGrp="1"/>
          </p:cNvGraphicFramePr>
          <p:nvPr>
            <p:extLst>
              <p:ext uri="{D42A27DB-BD31-4B8C-83A1-F6EECF244321}">
                <p14:modId xmlns:p14="http://schemas.microsoft.com/office/powerpoint/2010/main" val="2518112697"/>
              </p:ext>
            </p:extLst>
          </p:nvPr>
        </p:nvGraphicFramePr>
        <p:xfrm>
          <a:off x="318654" y="2194560"/>
          <a:ext cx="8458200" cy="1554480"/>
        </p:xfrm>
        <a:graphic>
          <a:graphicData uri="http://schemas.openxmlformats.org/drawingml/2006/table">
            <a:tbl>
              <a:tblPr>
                <a:tableStyleId>{3B4B98B0-60AC-42C2-AFA5-B58CD77FA1E5}</a:tableStyleId>
              </a:tblPr>
              <a:tblGrid>
                <a:gridCol w="2537460">
                  <a:extLst>
                    <a:ext uri="{9D8B030D-6E8A-4147-A177-3AD203B41FA5}">
                      <a16:colId xmlns:a16="http://schemas.microsoft.com/office/drawing/2014/main" val="3998224866"/>
                    </a:ext>
                  </a:extLst>
                </a:gridCol>
                <a:gridCol w="5920740">
                  <a:extLst>
                    <a:ext uri="{9D8B030D-6E8A-4147-A177-3AD203B41FA5}">
                      <a16:colId xmlns:a16="http://schemas.microsoft.com/office/drawing/2014/main" val="2263690407"/>
                    </a:ext>
                  </a:extLst>
                </a:gridCol>
              </a:tblGrid>
              <a:tr h="779145">
                <a:tc>
                  <a:txBody>
                    <a:bodyPr/>
                    <a:lstStyle/>
                    <a:p>
                      <a:pPr marL="0" marR="0">
                        <a:spcBef>
                          <a:spcPts val="0"/>
                        </a:spcBef>
                        <a:spcAft>
                          <a:spcPts val="600"/>
                        </a:spcAft>
                        <a:tabLst>
                          <a:tab pos="-457200" algn="l"/>
                          <a:tab pos="457200" algn="l"/>
                          <a:tab pos="685800" algn="l"/>
                          <a:tab pos="914400" algn="l"/>
                          <a:tab pos="1143000" algn="l"/>
                          <a:tab pos="1371600" algn="l"/>
                          <a:tab pos="1600200" algn="l"/>
                        </a:tabLst>
                      </a:pPr>
                      <a:r>
                        <a:rPr lang="en-US" sz="1100" dirty="0">
                          <a:effectLst/>
                        </a:rPr>
                        <a:t>Operator intervention to input data or to gain output from files.</a:t>
                      </a:r>
                      <a:endParaRPr lang="en-US" sz="1200" dirty="0">
                        <a:effectLst/>
                        <a:latin typeface="Times New Roman" panose="02020603050405020304" pitchFamily="18" charset="0"/>
                        <a:ea typeface="Times New Roman" panose="02020603050405020304" pitchFamily="18" charset="0"/>
                      </a:endParaRPr>
                    </a:p>
                  </a:txBody>
                  <a:tcPr marL="85090" marR="85090" marT="0" marB="0"/>
                </a:tc>
                <a:tc>
                  <a:txBody>
                    <a:bodyPr/>
                    <a:lstStyle/>
                    <a:p>
                      <a:pPr marL="0" marR="0">
                        <a:spcBef>
                          <a:spcPts val="0"/>
                        </a:spcBef>
                        <a:spcAft>
                          <a:spcPts val="600"/>
                        </a:spcAft>
                        <a:tabLst>
                          <a:tab pos="0" algn="l"/>
                        </a:tabLst>
                      </a:pPr>
                      <a:r>
                        <a:rPr lang="en-US" sz="1100" dirty="0">
                          <a:effectLst/>
                        </a:rPr>
                        <a:t>Limit operator access to only that part of the documentation needed for equipment operation.</a:t>
                      </a:r>
                      <a:endParaRPr lang="en-US" sz="1200" dirty="0">
                        <a:effectLst/>
                      </a:endParaRPr>
                    </a:p>
                    <a:p>
                      <a:pPr marL="0" marR="0">
                        <a:spcBef>
                          <a:spcPts val="0"/>
                        </a:spcBef>
                        <a:spcAft>
                          <a:spcPts val="600"/>
                        </a:spcAft>
                        <a:tabLst>
                          <a:tab pos="0" algn="l"/>
                        </a:tabLst>
                      </a:pPr>
                      <a:r>
                        <a:rPr lang="en-US" sz="1100" dirty="0">
                          <a:effectLst/>
                        </a:rPr>
                        <a:t>Prohibit operators from writing programs and designing the system.</a:t>
                      </a:r>
                      <a:endParaRPr lang="en-US" sz="1200" dirty="0">
                        <a:effectLst/>
                      </a:endParaRPr>
                    </a:p>
                    <a:p>
                      <a:pPr marL="0" marR="0">
                        <a:spcBef>
                          <a:spcPts val="0"/>
                        </a:spcBef>
                        <a:spcAft>
                          <a:spcPts val="600"/>
                        </a:spcAft>
                        <a:tabLst>
                          <a:tab pos="-457200" algn="l"/>
                          <a:tab pos="0" algn="l"/>
                          <a:tab pos="274320" algn="l"/>
                          <a:tab pos="43053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dirty="0">
                          <a:effectLst/>
                        </a:rPr>
                        <a:t>Daily review of console log messages and/or run times.</a:t>
                      </a:r>
                      <a:endParaRPr lang="en-US" sz="1200" dirty="0">
                        <a:effectLst/>
                      </a:endParaRPr>
                    </a:p>
                    <a:p>
                      <a:pPr marL="0" marR="0">
                        <a:spcBef>
                          <a:spcPts val="0"/>
                        </a:spcBef>
                        <a:spcAft>
                          <a:spcPts val="600"/>
                        </a:spcAft>
                        <a:tabLst>
                          <a:tab pos="-457200" algn="l"/>
                          <a:tab pos="0" algn="l"/>
                          <a:tab pos="274320" algn="l"/>
                          <a:tab pos="43053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dirty="0">
                          <a:effectLst/>
                        </a:rPr>
                        <a:t>Encryption of data by the application program.</a:t>
                      </a:r>
                      <a:endParaRPr lang="en-US" sz="1200" dirty="0">
                        <a:effectLst/>
                        <a:latin typeface="Times New Roman" panose="02020603050405020304" pitchFamily="18" charset="0"/>
                        <a:ea typeface="Times New Roman" panose="02020603050405020304" pitchFamily="18" charset="0"/>
                      </a:endParaRPr>
                    </a:p>
                  </a:txBody>
                  <a:tcPr marL="85090" marR="85090" marT="0" marB="0"/>
                </a:tc>
                <a:extLst>
                  <a:ext uri="{0D108BD9-81ED-4DB2-BD59-A6C34878D82A}">
                    <a16:rowId xmlns:a16="http://schemas.microsoft.com/office/drawing/2014/main" val="839162910"/>
                  </a:ext>
                </a:extLst>
              </a:tr>
              <a:tr h="0">
                <a:tc>
                  <a:txBody>
                    <a:bodyPr/>
                    <a:lstStyle/>
                    <a:p>
                      <a:pPr marL="0" marR="0">
                        <a:spcBef>
                          <a:spcPts val="0"/>
                        </a:spcBef>
                        <a:spcAft>
                          <a:spcPts val="600"/>
                        </a:spcAft>
                        <a:tabLst>
                          <a:tab pos="-457200" algn="l"/>
                          <a:tab pos="0" algn="l"/>
                          <a:tab pos="274320" algn="l"/>
                          <a:tab pos="43053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a:effectLst/>
                        </a:rPr>
                        <a:t>Attempts to screen individual returns on the basis of surname, sex, race, etc., rather than tax liability.</a:t>
                      </a:r>
                      <a:endParaRPr lang="en-US" sz="1200">
                        <a:effectLst/>
                        <a:latin typeface="Times New Roman" panose="02020603050405020304" pitchFamily="18" charset="0"/>
                        <a:ea typeface="Times New Roman" panose="02020603050405020304" pitchFamily="18" charset="0"/>
                      </a:endParaRPr>
                    </a:p>
                  </a:txBody>
                  <a:tcPr marL="85090" marR="85090" marT="0" marB="0"/>
                </a:tc>
                <a:tc>
                  <a:txBody>
                    <a:bodyPr/>
                    <a:lstStyle/>
                    <a:p>
                      <a:pPr marL="0" marR="0">
                        <a:spcBef>
                          <a:spcPts val="0"/>
                        </a:spcBef>
                        <a:spcAft>
                          <a:spcPts val="600"/>
                        </a:spcAft>
                        <a:tabLst>
                          <a:tab pos="-457200" algn="l"/>
                          <a:tab pos="0" algn="l"/>
                          <a:tab pos="314960" algn="l"/>
                          <a:tab pos="486410" algn="l"/>
                          <a:tab pos="64897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dirty="0">
                          <a:effectLst/>
                        </a:rPr>
                        <a:t>Training about proper procedures</a:t>
                      </a:r>
                      <a:endParaRPr lang="en-US" sz="1200" dirty="0">
                        <a:effectLst/>
                      </a:endParaRPr>
                    </a:p>
                    <a:p>
                      <a:pPr marL="0" marR="0">
                        <a:spcBef>
                          <a:spcPts val="0"/>
                        </a:spcBef>
                        <a:spcAft>
                          <a:spcPts val="600"/>
                        </a:spcAft>
                        <a:tabLst>
                          <a:tab pos="-457200" algn="l"/>
                          <a:tab pos="0" algn="l"/>
                          <a:tab pos="314960" algn="l"/>
                          <a:tab pos="486410" algn="l"/>
                          <a:tab pos="64897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dirty="0">
                          <a:effectLst/>
                        </a:rPr>
                        <a:t>Multi-factor authentication to limit access to system.</a:t>
                      </a:r>
                      <a:endParaRPr lang="en-US" sz="1200" dirty="0">
                        <a:effectLst/>
                      </a:endParaRPr>
                    </a:p>
                    <a:p>
                      <a:pPr marL="0" marR="0">
                        <a:spcBef>
                          <a:spcPts val="0"/>
                        </a:spcBef>
                        <a:spcAft>
                          <a:spcPts val="600"/>
                        </a:spcAft>
                        <a:tabLst>
                          <a:tab pos="-457200" algn="l"/>
                          <a:tab pos="0" algn="l"/>
                          <a:tab pos="314960" algn="l"/>
                          <a:tab pos="486410" algn="l"/>
                          <a:tab pos="64897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dirty="0">
                          <a:effectLst/>
                        </a:rPr>
                        <a:t>Encrypt of tax return data stored in system</a:t>
                      </a:r>
                      <a:endParaRPr lang="en-US" sz="1200" dirty="0">
                        <a:effectLst/>
                        <a:latin typeface="Times New Roman" panose="02020603050405020304" pitchFamily="18" charset="0"/>
                        <a:ea typeface="Times New Roman" panose="02020603050405020304" pitchFamily="18" charset="0"/>
                      </a:endParaRPr>
                    </a:p>
                  </a:txBody>
                  <a:tcPr marL="85090" marR="85090" marT="0" marB="0"/>
                </a:tc>
                <a:extLst>
                  <a:ext uri="{0D108BD9-81ED-4DB2-BD59-A6C34878D82A}">
                    <a16:rowId xmlns:a16="http://schemas.microsoft.com/office/drawing/2014/main" val="4131702478"/>
                  </a:ext>
                </a:extLst>
              </a:tr>
            </a:tbl>
          </a:graphicData>
        </a:graphic>
      </p:graphicFrame>
      <p:graphicFrame>
        <p:nvGraphicFramePr>
          <p:cNvPr id="4" name="Table 3">
            <a:extLst>
              <a:ext uri="{FF2B5EF4-FFF2-40B4-BE49-F238E27FC236}">
                <a16:creationId xmlns:a16="http://schemas.microsoft.com/office/drawing/2014/main" id="{9917A3A5-8E05-0702-50A5-A4B385C39A75}"/>
              </a:ext>
            </a:extLst>
          </p:cNvPr>
          <p:cNvGraphicFramePr>
            <a:graphicFrameLocks noGrp="1"/>
          </p:cNvGraphicFramePr>
          <p:nvPr>
            <p:extLst>
              <p:ext uri="{D42A27DB-BD31-4B8C-83A1-F6EECF244321}">
                <p14:modId xmlns:p14="http://schemas.microsoft.com/office/powerpoint/2010/main" val="3365990612"/>
              </p:ext>
            </p:extLst>
          </p:nvPr>
        </p:nvGraphicFramePr>
        <p:xfrm>
          <a:off x="304800" y="3886200"/>
          <a:ext cx="8458200" cy="2304790"/>
        </p:xfrm>
        <a:graphic>
          <a:graphicData uri="http://schemas.openxmlformats.org/drawingml/2006/table">
            <a:tbl>
              <a:tblPr>
                <a:tableStyleId>{3B4B98B0-60AC-42C2-AFA5-B58CD77FA1E5}</a:tableStyleId>
              </a:tblPr>
              <a:tblGrid>
                <a:gridCol w="2402898">
                  <a:extLst>
                    <a:ext uri="{9D8B030D-6E8A-4147-A177-3AD203B41FA5}">
                      <a16:colId xmlns:a16="http://schemas.microsoft.com/office/drawing/2014/main" val="2543755249"/>
                    </a:ext>
                  </a:extLst>
                </a:gridCol>
                <a:gridCol w="6055302">
                  <a:extLst>
                    <a:ext uri="{9D8B030D-6E8A-4147-A177-3AD203B41FA5}">
                      <a16:colId xmlns:a16="http://schemas.microsoft.com/office/drawing/2014/main" val="3136345880"/>
                    </a:ext>
                  </a:extLst>
                </a:gridCol>
              </a:tblGrid>
              <a:tr h="1019125">
                <a:tc>
                  <a:txBody>
                    <a:bodyPr/>
                    <a:lstStyle/>
                    <a:p>
                      <a:pPr marL="0" marR="0">
                        <a:spcBef>
                          <a:spcPts val="0"/>
                        </a:spcBef>
                        <a:spcAft>
                          <a:spcPts val="600"/>
                        </a:spcAft>
                        <a:tabLst>
                          <a:tab pos="-457200" algn="l"/>
                          <a:tab pos="457200" algn="l"/>
                          <a:tab pos="685800" algn="l"/>
                          <a:tab pos="914400" algn="l"/>
                          <a:tab pos="1143000" algn="l"/>
                          <a:tab pos="1371600" algn="l"/>
                          <a:tab pos="1600200" algn="l"/>
                        </a:tabLst>
                      </a:pPr>
                      <a:r>
                        <a:rPr lang="en-US" sz="1100" dirty="0">
                          <a:effectLst/>
                        </a:rPr>
                        <a:t>Unauthorized access to taxpayer information on web site</a:t>
                      </a:r>
                      <a:endParaRPr lang="en-US" sz="1200" dirty="0">
                        <a:effectLst/>
                        <a:latin typeface="Times New Roman" panose="02020603050405020304" pitchFamily="18" charset="0"/>
                        <a:ea typeface="Times New Roman" panose="02020603050405020304" pitchFamily="18" charset="0"/>
                      </a:endParaRPr>
                    </a:p>
                  </a:txBody>
                  <a:tcPr marL="85090" marR="85090" marT="0" marB="0"/>
                </a:tc>
                <a:tc>
                  <a:txBody>
                    <a:bodyPr/>
                    <a:lstStyle/>
                    <a:p>
                      <a:pPr marL="0" marR="0">
                        <a:spcBef>
                          <a:spcPts val="0"/>
                        </a:spcBef>
                        <a:spcAft>
                          <a:spcPts val="600"/>
                        </a:spcAft>
                        <a:tabLst>
                          <a:tab pos="-457200" algn="l"/>
                          <a:tab pos="0" algn="l"/>
                          <a:tab pos="274320" algn="l"/>
                          <a:tab pos="43053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dirty="0">
                          <a:effectLst/>
                        </a:rPr>
                        <a:t>Strong authentication of all people making inquiries via the web site using something other than social security numbers – preferably multi-factor, not just passwords. </a:t>
                      </a:r>
                      <a:endParaRPr lang="en-US" sz="1200" dirty="0">
                        <a:effectLst/>
                      </a:endParaRPr>
                    </a:p>
                    <a:p>
                      <a:pPr marL="0" marR="0">
                        <a:spcBef>
                          <a:spcPts val="0"/>
                        </a:spcBef>
                        <a:spcAft>
                          <a:spcPts val="600"/>
                        </a:spcAft>
                        <a:tabLst>
                          <a:tab pos="-457200" algn="l"/>
                          <a:tab pos="0" algn="l"/>
                          <a:tab pos="274320" algn="l"/>
                          <a:tab pos="43053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dirty="0">
                          <a:effectLst/>
                        </a:rPr>
                        <a:t>Encryption of all tax return data while in storage</a:t>
                      </a:r>
                      <a:endParaRPr lang="en-US" sz="1200" dirty="0">
                        <a:effectLst/>
                      </a:endParaRPr>
                    </a:p>
                    <a:p>
                      <a:pPr marL="0" marR="0">
                        <a:spcBef>
                          <a:spcPts val="0"/>
                        </a:spcBef>
                        <a:spcAft>
                          <a:spcPts val="600"/>
                        </a:spcAft>
                        <a:tabLst>
                          <a:tab pos="-457200" algn="l"/>
                          <a:tab pos="0" algn="l"/>
                          <a:tab pos="274320" algn="l"/>
                          <a:tab pos="43053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dirty="0">
                          <a:effectLst/>
                        </a:rPr>
                        <a:t>Encryption of all traffic to/from the web site</a:t>
                      </a:r>
                      <a:endParaRPr lang="en-US" sz="1200" dirty="0">
                        <a:effectLst/>
                        <a:latin typeface="Times New Roman" panose="02020603050405020304" pitchFamily="18" charset="0"/>
                        <a:ea typeface="Times New Roman" panose="02020603050405020304" pitchFamily="18" charset="0"/>
                      </a:endParaRPr>
                    </a:p>
                  </a:txBody>
                  <a:tcPr marL="85090" marR="85090" marT="0" marB="0"/>
                </a:tc>
                <a:extLst>
                  <a:ext uri="{0D108BD9-81ED-4DB2-BD59-A6C34878D82A}">
                    <a16:rowId xmlns:a16="http://schemas.microsoft.com/office/drawing/2014/main" val="2147843366"/>
                  </a:ext>
                </a:extLst>
              </a:tr>
              <a:tr h="595796">
                <a:tc>
                  <a:txBody>
                    <a:bodyPr/>
                    <a:lstStyle/>
                    <a:p>
                      <a:pPr marL="0" marR="0">
                        <a:spcBef>
                          <a:spcPts val="0"/>
                        </a:spcBef>
                        <a:spcAft>
                          <a:spcPts val="600"/>
                        </a:spcAft>
                        <a:tabLst>
                          <a:tab pos="-457200" algn="l"/>
                          <a:tab pos="0" algn="l"/>
                          <a:tab pos="274320" algn="l"/>
                          <a:tab pos="43053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a:effectLst/>
                        </a:rPr>
                        <a:t>Unauthorized release of information in response to telephone inquiry</a:t>
                      </a:r>
                      <a:endParaRPr lang="en-US" sz="1200">
                        <a:effectLst/>
                        <a:latin typeface="Times New Roman" panose="02020603050405020304" pitchFamily="18" charset="0"/>
                        <a:ea typeface="Times New Roman" panose="02020603050405020304" pitchFamily="18" charset="0"/>
                      </a:endParaRPr>
                    </a:p>
                  </a:txBody>
                  <a:tcPr marL="85090" marR="85090" marT="0" marB="0"/>
                </a:tc>
                <a:tc>
                  <a:txBody>
                    <a:bodyPr/>
                    <a:lstStyle/>
                    <a:p>
                      <a:pPr marL="0" marR="0">
                        <a:spcBef>
                          <a:spcPts val="0"/>
                        </a:spcBef>
                        <a:spcAft>
                          <a:spcPts val="600"/>
                        </a:spcAft>
                        <a:tabLst>
                          <a:tab pos="-457200" algn="l"/>
                          <a:tab pos="0" algn="l"/>
                          <a:tab pos="274320" algn="l"/>
                          <a:tab pos="43053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a:effectLst/>
                        </a:rPr>
                        <a:t>Training on how to properly authenticate taxpayers who make telephone inquiries</a:t>
                      </a:r>
                      <a:endParaRPr lang="en-US" sz="1200">
                        <a:effectLst/>
                      </a:endParaRPr>
                    </a:p>
                    <a:p>
                      <a:pPr marL="0" marR="0">
                        <a:spcBef>
                          <a:spcPts val="0"/>
                        </a:spcBef>
                        <a:spcAft>
                          <a:spcPts val="600"/>
                        </a:spcAft>
                        <a:tabLst>
                          <a:tab pos="-457200" algn="l"/>
                          <a:tab pos="0" algn="l"/>
                          <a:tab pos="274320" algn="l"/>
                          <a:tab pos="43053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a:effectLst/>
                        </a:rPr>
                        <a:t>Strong authentication of taxpayers making telephone inquiries </a:t>
                      </a:r>
                      <a:endParaRPr lang="en-US" sz="1200">
                        <a:effectLst/>
                        <a:latin typeface="Times New Roman" panose="02020603050405020304" pitchFamily="18" charset="0"/>
                        <a:ea typeface="Times New Roman" panose="02020603050405020304" pitchFamily="18" charset="0"/>
                      </a:endParaRPr>
                    </a:p>
                  </a:txBody>
                  <a:tcPr marL="85090" marR="85090" marT="0" marB="0"/>
                </a:tc>
                <a:extLst>
                  <a:ext uri="{0D108BD9-81ED-4DB2-BD59-A6C34878D82A}">
                    <a16:rowId xmlns:a16="http://schemas.microsoft.com/office/drawing/2014/main" val="3979887333"/>
                  </a:ext>
                </a:extLst>
              </a:tr>
              <a:tr h="689869">
                <a:tc>
                  <a:txBody>
                    <a:bodyPr/>
                    <a:lstStyle/>
                    <a:p>
                      <a:pPr marL="0" marR="0">
                        <a:spcBef>
                          <a:spcPts val="0"/>
                        </a:spcBef>
                        <a:spcAft>
                          <a:spcPts val="600"/>
                        </a:spcAft>
                      </a:pPr>
                      <a:r>
                        <a:rPr lang="en-US" sz="1100">
                          <a:effectLst/>
                        </a:rPr>
                        <a:t>Disclosure of taxpayer information through improper disposal of old files</a:t>
                      </a:r>
                      <a:endParaRPr lang="en-US" sz="1200">
                        <a:effectLst/>
                        <a:latin typeface="Times New Roman" panose="02020603050405020304" pitchFamily="18" charset="0"/>
                        <a:ea typeface="Times New Roman" panose="02020603050405020304" pitchFamily="18" charset="0"/>
                      </a:endParaRPr>
                    </a:p>
                  </a:txBody>
                  <a:tcPr marL="85090" marR="85090" marT="0" marB="0"/>
                </a:tc>
                <a:tc>
                  <a:txBody>
                    <a:bodyPr/>
                    <a:lstStyle/>
                    <a:p>
                      <a:pPr marL="0" marR="0">
                        <a:spcBef>
                          <a:spcPts val="0"/>
                        </a:spcBef>
                        <a:spcAft>
                          <a:spcPts val="600"/>
                        </a:spcAft>
                        <a:tabLst>
                          <a:tab pos="-457200" algn="l"/>
                          <a:tab pos="0" algn="l"/>
                          <a:tab pos="274320" algn="l"/>
                          <a:tab pos="43053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dirty="0">
                          <a:effectLst/>
                        </a:rPr>
                        <a:t>Training on how to shred paper documents prior to disposal</a:t>
                      </a:r>
                      <a:endParaRPr lang="en-US" sz="1200" dirty="0">
                        <a:effectLst/>
                      </a:endParaRPr>
                    </a:p>
                    <a:p>
                      <a:pPr marL="0" marR="0">
                        <a:spcBef>
                          <a:spcPts val="0"/>
                        </a:spcBef>
                        <a:spcAft>
                          <a:spcPts val="600"/>
                        </a:spcAft>
                        <a:tabLst>
                          <a:tab pos="-457200" algn="l"/>
                          <a:tab pos="0" algn="l"/>
                          <a:tab pos="274320" algn="l"/>
                          <a:tab pos="430530" algn="l"/>
                          <a:tab pos="648970" algn="l"/>
                          <a:tab pos="822960" algn="l"/>
                          <a:tab pos="914400" algn="l"/>
                          <a:tab pos="1005840" algn="l"/>
                          <a:tab pos="1143000" algn="l"/>
                          <a:tab pos="1417320" algn="l"/>
                          <a:tab pos="1828800" algn="l"/>
                          <a:tab pos="2286000" algn="l"/>
                          <a:tab pos="2743200" algn="l"/>
                          <a:tab pos="3200400" algn="l"/>
                          <a:tab pos="3657600" algn="l"/>
                          <a:tab pos="4114800" algn="l"/>
                          <a:tab pos="4572000" algn="l"/>
                          <a:tab pos="5029200" algn="l"/>
                          <a:tab pos="5486400" algn="l"/>
                          <a:tab pos="5943600" algn="l"/>
                          <a:tab pos="6400800" algn="l"/>
                        </a:tabLst>
                      </a:pPr>
                      <a:r>
                        <a:rPr lang="en-US" sz="1100" dirty="0">
                          <a:effectLst/>
                        </a:rPr>
                        <a:t>Training on how to wipe or erase media that contained tax return information prior to disposal</a:t>
                      </a:r>
                      <a:endParaRPr lang="en-US" sz="1200" dirty="0">
                        <a:effectLst/>
                        <a:latin typeface="Times New Roman" panose="02020603050405020304" pitchFamily="18" charset="0"/>
                        <a:ea typeface="Times New Roman" panose="02020603050405020304" pitchFamily="18" charset="0"/>
                      </a:endParaRPr>
                    </a:p>
                  </a:txBody>
                  <a:tcPr marL="85090" marR="85090" marT="0" marB="0"/>
                </a:tc>
                <a:extLst>
                  <a:ext uri="{0D108BD9-81ED-4DB2-BD59-A6C34878D82A}">
                    <a16:rowId xmlns:a16="http://schemas.microsoft.com/office/drawing/2014/main" val="4148755369"/>
                  </a:ext>
                </a:extLst>
              </a:tr>
            </a:tbl>
          </a:graphicData>
        </a:graphic>
      </p:graphicFrame>
      <p:sp>
        <p:nvSpPr>
          <p:cNvPr id="5" name="Rectangle 4">
            <a:extLst>
              <a:ext uri="{FF2B5EF4-FFF2-40B4-BE49-F238E27FC236}">
                <a16:creationId xmlns:a16="http://schemas.microsoft.com/office/drawing/2014/main" id="{AA283B33-97A9-28A8-9EA4-CEC50BE6A1DA}"/>
              </a:ext>
            </a:extLst>
          </p:cNvPr>
          <p:cNvSpPr/>
          <p:nvPr/>
        </p:nvSpPr>
        <p:spPr>
          <a:xfrm>
            <a:off x="3733800" y="381000"/>
            <a:ext cx="4876800" cy="152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6" name="Rectangle 5">
            <a:extLst>
              <a:ext uri="{FF2B5EF4-FFF2-40B4-BE49-F238E27FC236}">
                <a16:creationId xmlns:a16="http://schemas.microsoft.com/office/drawing/2014/main" id="{C25382C3-2391-BA4C-A8F2-FF531D193DCD}"/>
              </a:ext>
            </a:extLst>
          </p:cNvPr>
          <p:cNvSpPr/>
          <p:nvPr/>
        </p:nvSpPr>
        <p:spPr>
          <a:xfrm>
            <a:off x="2895600" y="2194560"/>
            <a:ext cx="5791200" cy="152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7" name="Rectangle 6">
            <a:extLst>
              <a:ext uri="{FF2B5EF4-FFF2-40B4-BE49-F238E27FC236}">
                <a16:creationId xmlns:a16="http://schemas.microsoft.com/office/drawing/2014/main" id="{9DE26D08-443C-AE2A-E5E6-924A3AA4631F}"/>
              </a:ext>
            </a:extLst>
          </p:cNvPr>
          <p:cNvSpPr/>
          <p:nvPr/>
        </p:nvSpPr>
        <p:spPr>
          <a:xfrm>
            <a:off x="2743200" y="3886200"/>
            <a:ext cx="6019800" cy="23047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1428851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59102"/>
            <a:ext cx="8229600" cy="553998"/>
          </a:xfrm>
        </p:spPr>
        <p:txBody>
          <a:bodyPr>
            <a:noAutofit/>
          </a:bodyPr>
          <a:lstStyle/>
          <a:p>
            <a:r>
              <a:rPr lang="en-IN" sz="3600" dirty="0">
                <a:latin typeface="+mj-lt"/>
              </a:rPr>
              <a:t>Key Terms</a:t>
            </a:r>
          </a:p>
        </p:txBody>
      </p:sp>
      <p:sp>
        <p:nvSpPr>
          <p:cNvPr id="2" name="Content Placeholder 1"/>
          <p:cNvSpPr>
            <a:spLocks noGrp="1"/>
          </p:cNvSpPr>
          <p:nvPr>
            <p:ph idx="1"/>
          </p:nvPr>
        </p:nvSpPr>
        <p:spPr>
          <a:xfrm>
            <a:off x="468922" y="1000648"/>
            <a:ext cx="3520372" cy="5155257"/>
          </a:xfrm>
        </p:spPr>
        <p:txBody>
          <a:bodyPr wrap="square">
            <a:spAutoFit/>
          </a:bodyPr>
          <a:lstStyle/>
          <a:p>
            <a:pPr lvl="0">
              <a:spcBef>
                <a:spcPts val="0"/>
              </a:spcBef>
              <a:buSzPct val="100000"/>
            </a:pPr>
            <a:r>
              <a:rPr lang="en-US" sz="1800" dirty="0"/>
              <a:t>Information rights management (</a:t>
            </a:r>
            <a:r>
              <a:rPr lang="en-US" sz="1800" spc="-250" dirty="0"/>
              <a:t>I R </a:t>
            </a:r>
            <a:r>
              <a:rPr lang="en-US" sz="1800" dirty="0"/>
              <a:t>M)</a:t>
            </a:r>
          </a:p>
          <a:p>
            <a:pPr lvl="0">
              <a:spcBef>
                <a:spcPts val="600"/>
              </a:spcBef>
              <a:buSzPct val="100000"/>
            </a:pPr>
            <a:r>
              <a:rPr lang="en-US" sz="1800" dirty="0"/>
              <a:t>Data loss prevention (</a:t>
            </a:r>
            <a:r>
              <a:rPr lang="en-US" sz="1800" spc="-250" dirty="0"/>
              <a:t>D L </a:t>
            </a:r>
            <a:r>
              <a:rPr lang="en-US" sz="1800" dirty="0"/>
              <a:t>P)</a:t>
            </a:r>
          </a:p>
          <a:p>
            <a:pPr lvl="0">
              <a:spcBef>
                <a:spcPts val="600"/>
              </a:spcBef>
              <a:buSzPct val="100000"/>
            </a:pPr>
            <a:r>
              <a:rPr lang="en-US" sz="1800" b="1" dirty="0"/>
              <a:t>Digital watermark</a:t>
            </a:r>
          </a:p>
          <a:p>
            <a:pPr lvl="0">
              <a:spcBef>
                <a:spcPts val="600"/>
              </a:spcBef>
              <a:buSzPct val="100000"/>
            </a:pPr>
            <a:r>
              <a:rPr lang="en-US" sz="1800" dirty="0"/>
              <a:t>Data masking</a:t>
            </a:r>
          </a:p>
          <a:p>
            <a:pPr lvl="0">
              <a:spcBef>
                <a:spcPts val="600"/>
              </a:spcBef>
              <a:buSzPct val="100000"/>
            </a:pPr>
            <a:r>
              <a:rPr lang="en-US" sz="1800" dirty="0"/>
              <a:t>Tokenization</a:t>
            </a:r>
          </a:p>
          <a:p>
            <a:pPr lvl="0">
              <a:spcBef>
                <a:spcPts val="600"/>
              </a:spcBef>
              <a:buSzPct val="100000"/>
            </a:pPr>
            <a:r>
              <a:rPr lang="en-US" sz="1800" dirty="0"/>
              <a:t>Opt-out</a:t>
            </a:r>
          </a:p>
          <a:p>
            <a:pPr lvl="0">
              <a:spcBef>
                <a:spcPts val="600"/>
              </a:spcBef>
              <a:buSzPct val="100000"/>
            </a:pPr>
            <a:r>
              <a:rPr lang="en-US" sz="1800" dirty="0"/>
              <a:t>Opt-in</a:t>
            </a:r>
          </a:p>
          <a:p>
            <a:pPr lvl="0">
              <a:spcBef>
                <a:spcPts val="600"/>
              </a:spcBef>
              <a:buSzPct val="100000"/>
            </a:pPr>
            <a:r>
              <a:rPr lang="en-US" sz="1800" b="1" dirty="0"/>
              <a:t>Cookie</a:t>
            </a:r>
          </a:p>
          <a:p>
            <a:pPr lvl="0">
              <a:spcBef>
                <a:spcPts val="600"/>
              </a:spcBef>
              <a:buSzPct val="100000"/>
            </a:pPr>
            <a:r>
              <a:rPr lang="en-US" sz="1800" dirty="0"/>
              <a:t>Identity theft</a:t>
            </a:r>
          </a:p>
          <a:p>
            <a:pPr lvl="0">
              <a:spcBef>
                <a:spcPts val="600"/>
              </a:spcBef>
              <a:buSzPct val="100000"/>
            </a:pPr>
            <a:r>
              <a:rPr lang="en-US" sz="1800" b="1" dirty="0"/>
              <a:t>Encryption</a:t>
            </a:r>
          </a:p>
          <a:p>
            <a:pPr lvl="0">
              <a:spcBef>
                <a:spcPts val="600"/>
              </a:spcBef>
              <a:buSzPct val="100000"/>
            </a:pPr>
            <a:r>
              <a:rPr lang="en-US" sz="1800" b="1" dirty="0"/>
              <a:t>Plaintext</a:t>
            </a:r>
          </a:p>
          <a:p>
            <a:pPr lvl="0">
              <a:spcBef>
                <a:spcPts val="600"/>
              </a:spcBef>
              <a:buSzPct val="100000"/>
            </a:pPr>
            <a:r>
              <a:rPr lang="en-US" sz="1800" b="1" dirty="0"/>
              <a:t>Ciphertext</a:t>
            </a:r>
          </a:p>
          <a:p>
            <a:pPr lvl="0">
              <a:spcBef>
                <a:spcPts val="600"/>
              </a:spcBef>
              <a:buSzPct val="100000"/>
            </a:pPr>
            <a:r>
              <a:rPr lang="en-US" sz="1800" b="1" dirty="0"/>
              <a:t>Decryption</a:t>
            </a:r>
          </a:p>
          <a:p>
            <a:pPr lvl="0">
              <a:spcBef>
                <a:spcPts val="600"/>
              </a:spcBef>
              <a:buSzPct val="100000"/>
            </a:pPr>
            <a:r>
              <a:rPr lang="en-US" sz="1800" dirty="0"/>
              <a:t>Symmetric encryption systems</a:t>
            </a:r>
          </a:p>
        </p:txBody>
      </p:sp>
      <p:sp>
        <p:nvSpPr>
          <p:cNvPr id="3" name="Content Placeholder 2"/>
          <p:cNvSpPr>
            <a:spLocks noGrp="1"/>
          </p:cNvSpPr>
          <p:nvPr>
            <p:ph idx="13"/>
          </p:nvPr>
        </p:nvSpPr>
        <p:spPr>
          <a:xfrm>
            <a:off x="4572000" y="1006186"/>
            <a:ext cx="4114800" cy="4878259"/>
          </a:xfrm>
        </p:spPr>
        <p:txBody>
          <a:bodyPr>
            <a:noAutofit/>
          </a:bodyPr>
          <a:lstStyle/>
          <a:p>
            <a:pPr lvl="0">
              <a:spcBef>
                <a:spcPts val="0"/>
              </a:spcBef>
              <a:buSzPct val="100000"/>
            </a:pPr>
            <a:r>
              <a:rPr lang="en-US" sz="1800" b="1" dirty="0"/>
              <a:t>Asymmetric encryption systems</a:t>
            </a:r>
          </a:p>
          <a:p>
            <a:pPr lvl="0">
              <a:spcBef>
                <a:spcPts val="600"/>
              </a:spcBef>
              <a:buSzPct val="100000"/>
            </a:pPr>
            <a:r>
              <a:rPr lang="en-US" sz="1800" b="1" dirty="0"/>
              <a:t>Public key</a:t>
            </a:r>
          </a:p>
          <a:p>
            <a:pPr lvl="0">
              <a:spcBef>
                <a:spcPts val="600"/>
              </a:spcBef>
              <a:buSzPct val="100000"/>
            </a:pPr>
            <a:r>
              <a:rPr lang="en-US" sz="1800" b="1" dirty="0"/>
              <a:t>Private key</a:t>
            </a:r>
          </a:p>
          <a:p>
            <a:pPr lvl="0">
              <a:spcBef>
                <a:spcPts val="600"/>
              </a:spcBef>
              <a:buSzPct val="100000"/>
            </a:pPr>
            <a:r>
              <a:rPr lang="en-US" sz="1800" b="1" dirty="0"/>
              <a:t>Key escrow</a:t>
            </a:r>
          </a:p>
          <a:p>
            <a:pPr lvl="0">
              <a:spcBef>
                <a:spcPts val="600"/>
              </a:spcBef>
              <a:buSzPct val="100000"/>
            </a:pPr>
            <a:r>
              <a:rPr lang="en-US" sz="1800" b="1" dirty="0"/>
              <a:t>Virtual private network (</a:t>
            </a:r>
            <a:r>
              <a:rPr lang="en-US" sz="1800" b="1" spc="-250" dirty="0"/>
              <a:t>V P </a:t>
            </a:r>
            <a:r>
              <a:rPr lang="en-US" sz="1800" b="1" dirty="0"/>
              <a:t>N)</a:t>
            </a:r>
          </a:p>
          <a:p>
            <a:pPr lvl="0">
              <a:spcBef>
                <a:spcPts val="600"/>
              </a:spcBef>
              <a:buSzPct val="100000"/>
            </a:pPr>
            <a:r>
              <a:rPr lang="en-US" sz="1800" b="1" dirty="0"/>
              <a:t>Hashing</a:t>
            </a:r>
          </a:p>
          <a:p>
            <a:pPr lvl="0">
              <a:spcBef>
                <a:spcPts val="600"/>
              </a:spcBef>
              <a:buSzPct val="100000"/>
            </a:pPr>
            <a:r>
              <a:rPr lang="en-US" sz="1800" b="1" dirty="0"/>
              <a:t>Hash</a:t>
            </a:r>
          </a:p>
          <a:p>
            <a:pPr lvl="0">
              <a:spcBef>
                <a:spcPts val="600"/>
              </a:spcBef>
              <a:buSzPct val="100000"/>
            </a:pPr>
            <a:r>
              <a:rPr lang="en-US" sz="1800" b="1" dirty="0"/>
              <a:t>Nonrepudiation</a:t>
            </a:r>
          </a:p>
          <a:p>
            <a:pPr lvl="0">
              <a:spcBef>
                <a:spcPts val="600"/>
              </a:spcBef>
              <a:buSzPct val="100000"/>
            </a:pPr>
            <a:r>
              <a:rPr lang="en-US" sz="1800" b="1" dirty="0"/>
              <a:t>Digital signature</a:t>
            </a:r>
          </a:p>
          <a:p>
            <a:pPr lvl="0">
              <a:spcBef>
                <a:spcPts val="600"/>
              </a:spcBef>
              <a:buSzPct val="100000"/>
            </a:pPr>
            <a:r>
              <a:rPr lang="en-US" sz="1800" b="1" dirty="0"/>
              <a:t>Digital certificate</a:t>
            </a:r>
          </a:p>
          <a:p>
            <a:pPr lvl="0">
              <a:spcBef>
                <a:spcPts val="600"/>
              </a:spcBef>
              <a:buSzPct val="100000"/>
            </a:pPr>
            <a:r>
              <a:rPr lang="en-US" sz="1800" b="1" dirty="0"/>
              <a:t>Certificate authority</a:t>
            </a:r>
          </a:p>
          <a:p>
            <a:pPr lvl="0">
              <a:spcBef>
                <a:spcPts val="600"/>
              </a:spcBef>
              <a:buSzPct val="100000"/>
            </a:pPr>
            <a:r>
              <a:rPr lang="en-US" sz="1800" b="1" dirty="0"/>
              <a:t>Public key infrastructure (</a:t>
            </a:r>
            <a:r>
              <a:rPr lang="en-US" sz="1800" b="1" spc="-250" dirty="0"/>
              <a:t>P K </a:t>
            </a:r>
            <a:r>
              <a:rPr lang="en-US" sz="1800" b="1" dirty="0"/>
              <a:t>I)</a:t>
            </a:r>
          </a:p>
          <a:p>
            <a:pPr lvl="0">
              <a:spcBef>
                <a:spcPts val="600"/>
              </a:spcBef>
              <a:buSzPct val="100000"/>
            </a:pPr>
            <a:r>
              <a:rPr lang="en-US" sz="1800" b="1" dirty="0"/>
              <a:t>Blockchain</a:t>
            </a:r>
          </a:p>
          <a:p>
            <a:pPr lvl="0">
              <a:spcBef>
                <a:spcPts val="600"/>
              </a:spcBef>
              <a:buSzPct val="100000"/>
            </a:pPr>
            <a:r>
              <a:rPr lang="en-US" sz="1800" dirty="0"/>
              <a:t>Nonce</a:t>
            </a:r>
          </a:p>
        </p:txBody>
      </p:sp>
    </p:spTree>
    <p:extLst>
      <p:ext uri="{BB962C8B-B14F-4D97-AF65-F5344CB8AC3E}">
        <p14:creationId xmlns:p14="http://schemas.microsoft.com/office/powerpoint/2010/main" val="35582851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732"/>
            <a:ext cx="8229600" cy="553998"/>
          </a:xfrm>
        </p:spPr>
        <p:txBody>
          <a:bodyPr wrap="square">
            <a:spAutoFit/>
          </a:bodyPr>
          <a:lstStyle/>
          <a:p>
            <a:r>
              <a:rPr lang="en-US" sz="3600" dirty="0">
                <a:latin typeface="+mj-lt"/>
              </a:rPr>
              <a:t>Copyright</a:t>
            </a:r>
            <a:endParaRPr lang="en-US" sz="3600" b="0" dirty="0">
              <a:latin typeface="+mj-lt"/>
            </a:endParaRPr>
          </a:p>
        </p:txBody>
      </p:sp>
      <p:pic>
        <p:nvPicPr>
          <p:cNvPr id="10" name="Picture Placeholder 9" descr="Warning">
            <a:extLst>
              <a:ext uri="{FF2B5EF4-FFF2-40B4-BE49-F238E27FC236}">
                <a16:creationId xmlns:a16="http://schemas.microsoft.com/office/drawing/2014/main" id="{916ED080-4A7D-4795-B4C6-665358BE6EAE}"/>
              </a:ext>
            </a:extLst>
          </p:cNvPr>
          <p:cNvPicPr>
            <a:picLocks noGrp="1" noChangeAspect="1"/>
          </p:cNvPicPr>
          <p:nvPr>
            <p:ph type="pic" sz="quarter" idx="14"/>
          </p:nvPr>
        </p:nvPicPr>
        <p:blipFill>
          <a:blip>
            <a:extLst>
              <a:ext uri="{96DAC541-7B7A-43D3-8B79-37D633B846F1}">
                <asvg:svgBlip xmlns:asvg="http://schemas.microsoft.com/office/drawing/2016/SVG/main" r:embed="rId3"/>
              </a:ext>
            </a:extLst>
          </a:blip>
          <a:stretch>
            <a:fillRect/>
          </a:stretch>
        </p:blipFill>
        <p:spPr>
          <a:xfrm>
            <a:off x="557060" y="2286000"/>
            <a:ext cx="1347940" cy="1347940"/>
          </a:xfrm>
          <a:prstGeom prst="rect">
            <a:avLst/>
          </a:prstGeom>
        </p:spPr>
      </p:pic>
      <p:sp>
        <p:nvSpPr>
          <p:cNvPr id="3" name="Content Placeholder 2">
            <a:extLst>
              <a:ext uri="{FF2B5EF4-FFF2-40B4-BE49-F238E27FC236}">
                <a16:creationId xmlns:a16="http://schemas.microsoft.com/office/drawing/2014/main" id="{DF9C7A11-9888-4F7B-B711-91904077BD8C}"/>
              </a:ext>
            </a:extLst>
          </p:cNvPr>
          <p:cNvSpPr>
            <a:spLocks noGrp="1"/>
          </p:cNvSpPr>
          <p:nvPr>
            <p:ph idx="1"/>
          </p:nvPr>
        </p:nvSpPr>
        <p:spPr>
          <a:xfrm>
            <a:off x="2277035" y="1609165"/>
            <a:ext cx="6400800" cy="3262432"/>
          </a:xfrm>
          <a:ln w="28575">
            <a:solidFill>
              <a:schemeClr val="tx1"/>
            </a:solidFill>
          </a:ln>
        </p:spPr>
        <p:txBody>
          <a:bodyPr lIns="274320" tIns="274320" rIns="274320" bIns="274320"/>
          <a:lstStyle/>
          <a:p>
            <a:pPr marL="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651771386"/>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25808</TotalTime>
  <Words>2895</Words>
  <Application>Microsoft Macintosh PowerPoint</Application>
  <PresentationFormat>On-screen Show (4:3)</PresentationFormat>
  <Paragraphs>302</Paragraphs>
  <Slides>31</Slides>
  <Notes>21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31</vt:i4>
      </vt:variant>
    </vt:vector>
  </HeadingPairs>
  <TitlesOfParts>
    <vt:vector size="40" baseType="lpstr">
      <vt:lpstr>Arial</vt:lpstr>
      <vt:lpstr>Arial(Body)</vt:lpstr>
      <vt:lpstr>Noto Sans Symbols</vt:lpstr>
      <vt:lpstr>Symbol</vt:lpstr>
      <vt:lpstr>Times New Roman</vt:lpstr>
      <vt:lpstr>Verdana</vt:lpstr>
      <vt:lpstr>Wingdings</vt:lpstr>
      <vt:lpstr>508 Lecture</vt:lpstr>
      <vt:lpstr>1_508 Lecture</vt:lpstr>
      <vt:lpstr>Accounting Information Systems</vt:lpstr>
      <vt:lpstr>PowerPoint Presentation</vt:lpstr>
      <vt:lpstr>Learning Objectives (1 of 2)</vt:lpstr>
      <vt:lpstr>Learning Objectives (2 of 2)</vt:lpstr>
      <vt:lpstr>Protecting Confidentiality and Privacy (1 of 2)</vt:lpstr>
      <vt:lpstr>Protecting Confidentiality and Privacy (2 of 2)</vt:lpstr>
      <vt:lpstr>Privacy Regulations</vt:lpstr>
      <vt:lpstr>Generally Accepted Privacy Principles</vt:lpstr>
      <vt:lpstr>Encryption</vt:lpstr>
      <vt:lpstr>Figure 12.2 Steps in the Encryption and Decryption Process</vt:lpstr>
      <vt:lpstr>Types of Encryption</vt:lpstr>
      <vt:lpstr>Virtual Private Network (V P N)</vt:lpstr>
      <vt:lpstr>Figure 12.3 Virtual Private Networks [V P Ns]</vt:lpstr>
      <vt:lpstr>Hashing</vt:lpstr>
      <vt:lpstr>PowerPoint Presentation</vt:lpstr>
      <vt:lpstr>PowerPoint Presentation</vt:lpstr>
      <vt:lpstr>PowerPoint Presentation</vt:lpstr>
      <vt:lpstr>Table 12.2 Comparison of Hashing and Encryption</vt:lpstr>
      <vt:lpstr>Digital Signatures</vt:lpstr>
      <vt:lpstr>Blockchain</vt:lpstr>
      <vt:lpstr>PowerPoint Presentation</vt:lpstr>
      <vt:lpstr>PowerPoint Presentation</vt:lpstr>
      <vt:lpstr>Figure 12.6 How Hashing Updates a Blockchain (1 of 3)</vt:lpstr>
      <vt:lpstr>Figure 12.6 How Hashing Updates a Blockchain (2 of 3)</vt:lpstr>
      <vt:lpstr>Figure 12.6 How Hashing Updates a Blockchain (3 of 3)</vt:lpstr>
      <vt:lpstr>PowerPoint Presentation</vt:lpstr>
      <vt:lpstr>PowerPoint Presentation</vt:lpstr>
      <vt:lpstr>PowerPoint Presentation</vt:lpstr>
      <vt:lpstr>PowerPoint Presentation</vt:lpstr>
      <vt:lpstr>Key Terms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Information Systems, Fifteenth Edition, Chapter 12, Confidentiality and Privacy Controls</dc:title>
  <dc:subject/>
  <dc:creator>Romney</dc:creator>
  <cp:keywords>Automotive</cp:keywords>
  <cp:lastModifiedBy>Nathan Garrett</cp:lastModifiedBy>
  <cp:revision>5071</cp:revision>
  <dcterms:created xsi:type="dcterms:W3CDTF">2014-07-14T20:04:21Z</dcterms:created>
  <dcterms:modified xsi:type="dcterms:W3CDTF">2026-04-16T11:51:18Z</dcterms:modified>
</cp:coreProperties>
</file>