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7" r:id="rId2"/>
  </p:sldMasterIdLst>
  <p:notesMasterIdLst>
    <p:notesMasterId r:id="rId22"/>
  </p:notesMasterIdLst>
  <p:handoutMasterIdLst>
    <p:handoutMasterId r:id="rId23"/>
  </p:handoutMasterIdLst>
  <p:sldIdLst>
    <p:sldId id="330" r:id="rId3"/>
    <p:sldId id="1718" r:id="rId4"/>
    <p:sldId id="1088" r:id="rId5"/>
    <p:sldId id="1826" r:id="rId6"/>
    <p:sldId id="1772" r:id="rId7"/>
    <p:sldId id="1825" r:id="rId8"/>
    <p:sldId id="1848" r:id="rId9"/>
    <p:sldId id="1849" r:id="rId10"/>
    <p:sldId id="1850" r:id="rId11"/>
    <p:sldId id="1851" r:id="rId12"/>
    <p:sldId id="1854" r:id="rId13"/>
    <p:sldId id="1846" r:id="rId14"/>
    <p:sldId id="1853" r:id="rId15"/>
    <p:sldId id="1847" r:id="rId16"/>
    <p:sldId id="1838" r:id="rId17"/>
    <p:sldId id="1852" r:id="rId18"/>
    <p:sldId id="1839" r:id="rId19"/>
    <p:sldId id="1844" r:id="rId20"/>
    <p:sldId id="1704"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2880" userDrawn="1">
          <p15:clr>
            <a:srgbClr val="A4A3A4"/>
          </p15:clr>
        </p15:guide>
        <p15:guide id="4" orient="horz" pos="384">
          <p15:clr>
            <a:srgbClr val="A4A3A4"/>
          </p15:clr>
        </p15:guide>
        <p15:guide id="5" orient="horz" pos="144">
          <p15:clr>
            <a:srgbClr val="A4A3A4"/>
          </p15:clr>
        </p15:guide>
        <p15:guide id="7" orient="horz" pos="624">
          <p15:clr>
            <a:srgbClr val="A4A3A4"/>
          </p15:clr>
        </p15:guide>
        <p15:guide id="9" pos="288">
          <p15:clr>
            <a:srgbClr val="A4A3A4"/>
          </p15:clr>
        </p15:guide>
        <p15:guide id="10" pos="5472">
          <p15:clr>
            <a:srgbClr val="A4A3A4"/>
          </p15:clr>
        </p15:guide>
        <p15:guide id="11" orient="horz" pos="3984" userDrawn="1">
          <p15:clr>
            <a:srgbClr val="A4A3A4"/>
          </p15:clr>
        </p15:guide>
        <p15:guide id="12" orient="horz" pos="2160" userDrawn="1">
          <p15:clr>
            <a:srgbClr val="A4A3A4"/>
          </p15:clr>
        </p15:guide>
        <p15:guide id="13" orient="horz" pos="528"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 Mohanapriya" initials="DM" lastIdx="1" clrIdx="0"/>
  <p:cmAuthor id="2" name="Thamizharasan Dhanaseelan" initials="TD"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a:srgbClr val="99008C"/>
    <a:srgbClr val="001581"/>
    <a:srgbClr val="82007C"/>
    <a:srgbClr val="96008F"/>
    <a:srgbClr val="595375"/>
    <a:srgbClr val="6B638B"/>
    <a:srgbClr val="000000"/>
    <a:srgbClr val="FDB9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4851" autoAdjust="0"/>
    <p:restoredTop sz="91111" autoAdjust="0"/>
  </p:normalViewPr>
  <p:slideViewPr>
    <p:cSldViewPr>
      <p:cViewPr varScale="1">
        <p:scale>
          <a:sx n="93" d="100"/>
          <a:sy n="93" d="100"/>
        </p:scale>
        <p:origin x="200" y="536"/>
      </p:cViewPr>
      <p:guideLst>
        <p:guide pos="2880"/>
        <p:guide orient="horz" pos="384"/>
        <p:guide orient="horz" pos="144"/>
        <p:guide orient="horz" pos="624"/>
        <p:guide pos="288"/>
        <p:guide pos="5472"/>
        <p:guide orient="horz" pos="3984"/>
        <p:guide orient="horz" pos="2160"/>
        <p:guide orient="horz" pos="528"/>
      </p:guideLst>
    </p:cSldViewPr>
  </p:slideViewPr>
  <p:outlineViewPr>
    <p:cViewPr>
      <p:scale>
        <a:sx n="50" d="100"/>
        <a:sy n="50" d="100"/>
      </p:scale>
      <p:origin x="0" y="-8958"/>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54" d="100"/>
          <a:sy n="54" d="100"/>
        </p:scale>
        <p:origin x="1794"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commentAuthors" Target="commentAuthor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than Garrett" userId="2e433c4c-36ae-4b16-acdd-ef7227993467" providerId="ADAL" clId="{811E838E-24AA-4CA9-9BC3-BE27EE73CDAC}"/>
    <pc:docChg chg="modShowInfo">
      <pc:chgData name="Nathan Garrett" userId="2e433c4c-36ae-4b16-acdd-ef7227993467" providerId="ADAL" clId="{811E838E-24AA-4CA9-9BC3-BE27EE73CDAC}" dt="2022-11-03T12:43:30.443" v="1" actId="2744"/>
      <pc:docMkLst>
        <pc:docMk/>
      </pc:docMkLst>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t>3/12/26</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t>3/12/26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If this PowerPoint presentation contains mathematical equations, you may need to check that your computer has the following installed:</a:t>
            </a:r>
            <a:endParaRPr lang="en-US" dirty="0"/>
          </a:p>
          <a:p>
            <a:pPr marL="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1) </a:t>
            </a:r>
            <a:r>
              <a:rPr lang="en-US" sz="1200" b="0" i="0" u="none" strike="noStrike" cap="none" dirty="0" err="1">
                <a:solidFill>
                  <a:schemeClr val="dk1"/>
                </a:solidFill>
                <a:latin typeface="Arial"/>
                <a:ea typeface="Arial"/>
                <a:cs typeface="Arial"/>
                <a:sym typeface="Arial"/>
              </a:rPr>
              <a:t>MathType</a:t>
            </a:r>
            <a:r>
              <a:rPr lang="en-US" sz="1200" b="0" i="0" u="none" strike="noStrike" cap="none" dirty="0">
                <a:solidFill>
                  <a:schemeClr val="dk1"/>
                </a:solidFill>
                <a:latin typeface="Arial"/>
                <a:ea typeface="Arial"/>
                <a:cs typeface="Arial"/>
                <a:sym typeface="Arial"/>
              </a:rPr>
              <a:t> Plugin</a:t>
            </a:r>
            <a:endParaRPr lang="en-US" dirty="0"/>
          </a:p>
          <a:p>
            <a:pPr marL="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2) Math Player (free versions available)</a:t>
            </a:r>
            <a:endParaRPr lang="en-US" dirty="0"/>
          </a:p>
          <a:p>
            <a:pPr marL="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251233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2</a:t>
            </a:fld>
            <a:endParaRPr lang="en-US" dirty="0"/>
          </a:p>
        </p:txBody>
      </p:sp>
    </p:spTree>
    <p:extLst>
      <p:ext uri="{BB962C8B-B14F-4D97-AF65-F5344CB8AC3E}">
        <p14:creationId xmlns:p14="http://schemas.microsoft.com/office/powerpoint/2010/main" val="14684218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IN" dirty="0"/>
              <a:t>There are many reasons why organizations continue to change their information systems whether it’s a full systems replacement or an upgrade to an existing system. This can be due to technology changes, to become more effective and efficient in the organization (productivity gains), improve business processes, or for competitive advantage reasons.</a:t>
            </a:r>
          </a:p>
          <a:p>
            <a:pPr marL="0" lvl="0" indent="0" algn="l" rtl="0">
              <a:spcBef>
                <a:spcPts val="0"/>
              </a:spcBef>
              <a:spcAft>
                <a:spcPts val="0"/>
              </a:spcAft>
              <a:buNone/>
            </a:pPr>
            <a:endParaRPr lang="en-IN" dirty="0"/>
          </a:p>
          <a:p>
            <a:pPr marL="0" lvl="0" indent="0" algn="l" rtl="0">
              <a:spcBef>
                <a:spcPts val="0"/>
              </a:spcBef>
              <a:spcAft>
                <a:spcPts val="0"/>
              </a:spcAft>
              <a:buNone/>
            </a:pPr>
            <a:r>
              <a:rPr lang="en-IN" dirty="0"/>
              <a:t>Because of an organization’s desire to change an information system, it’s best to proceed using the following five steps known as the systems development lifecycle (SDLC):</a:t>
            </a:r>
          </a:p>
          <a:p>
            <a:pPr marL="228600" lvl="0" indent="-228600" algn="l" rtl="0">
              <a:spcBef>
                <a:spcPts val="0"/>
              </a:spcBef>
              <a:spcAft>
                <a:spcPts val="0"/>
              </a:spcAft>
              <a:buClr>
                <a:schemeClr val="dk1"/>
              </a:buClr>
              <a:buSzPts val="1200"/>
              <a:buFont typeface="Arial"/>
              <a:buAutoNum type="arabicPeriod"/>
            </a:pPr>
            <a:r>
              <a:rPr lang="en-IN" dirty="0"/>
              <a:t>Systems analysis: feasibility of the proposed project occurs. What is actually needed and when will it be done (scope of the project)? If it is feasible, then identify system requirements with an analysis report provided to the steering committee.</a:t>
            </a:r>
          </a:p>
          <a:p>
            <a:pPr marL="228600" lvl="0" indent="-228600" algn="l" rtl="0">
              <a:spcBef>
                <a:spcPts val="0"/>
              </a:spcBef>
              <a:spcAft>
                <a:spcPts val="0"/>
              </a:spcAft>
              <a:buClr>
                <a:schemeClr val="dk1"/>
              </a:buClr>
              <a:buSzPts val="1200"/>
              <a:buFont typeface="Arial"/>
              <a:buAutoNum type="arabicPeriod"/>
            </a:pPr>
            <a:r>
              <a:rPr lang="en-IN" dirty="0"/>
              <a:t>Conceptual design: determine how to meet user needs. Does project involve purchasing software, developing program in house, or outsourcing?</a:t>
            </a:r>
          </a:p>
          <a:p>
            <a:pPr marL="228600" lvl="0" indent="-228600" algn="l" rtl="0">
              <a:spcBef>
                <a:spcPts val="0"/>
              </a:spcBef>
              <a:spcAft>
                <a:spcPts val="0"/>
              </a:spcAft>
              <a:buClr>
                <a:schemeClr val="dk1"/>
              </a:buClr>
              <a:buSzPts val="1200"/>
              <a:buFont typeface="Arial"/>
              <a:buAutoNum type="arabicPeriod"/>
            </a:pPr>
            <a:r>
              <a:rPr lang="en-IN" dirty="0"/>
              <a:t>Physical design: translates broad conceptual design into the specific code, input and output source documents, and building the database.</a:t>
            </a:r>
          </a:p>
          <a:p>
            <a:pPr marL="228600" lvl="0" indent="-228600" algn="l" rtl="0">
              <a:spcBef>
                <a:spcPts val="0"/>
              </a:spcBef>
              <a:spcAft>
                <a:spcPts val="0"/>
              </a:spcAft>
              <a:buClr>
                <a:schemeClr val="dk1"/>
              </a:buClr>
              <a:buSzPts val="1200"/>
              <a:buFont typeface="Arial"/>
              <a:buAutoNum type="arabicPeriod"/>
            </a:pPr>
            <a:r>
              <a:rPr lang="en-IN" dirty="0"/>
              <a:t>Implementation and conversion: install and test new hardware and software, train employees after which conversion to the new system will be complete.</a:t>
            </a:r>
          </a:p>
          <a:p>
            <a:pPr marL="228600" lvl="0" indent="-228600" algn="l" rtl="0">
              <a:spcBef>
                <a:spcPts val="0"/>
              </a:spcBef>
              <a:spcAft>
                <a:spcPts val="0"/>
              </a:spcAft>
              <a:buClr>
                <a:schemeClr val="dk1"/>
              </a:buClr>
              <a:buSzPts val="1200"/>
              <a:buFont typeface="Arial"/>
              <a:buAutoNum type="arabicPeriod"/>
            </a:pPr>
            <a:r>
              <a:rPr lang="en-IN" dirty="0"/>
              <a:t>Operations and maintenance: ongoing reviews of the system with improvements and modifications made if necessary.</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Long Description:</a:t>
            </a:r>
          </a:p>
          <a:p>
            <a:r>
              <a:rPr lang="en-US" sz="1200" kern="1200" dirty="0">
                <a:solidFill>
                  <a:schemeClr val="tx1"/>
                </a:solidFill>
                <a:effectLst/>
                <a:latin typeface="+mn-lt"/>
                <a:ea typeface="+mn-ea"/>
                <a:cs typeface="+mn-cs"/>
              </a:rPr>
              <a:t>The steps in the systems development life cycle are as follows:</a:t>
            </a:r>
            <a:endParaRPr lang="en-IN" dirty="0">
              <a:effectLst/>
            </a:endParaRPr>
          </a:p>
          <a:p>
            <a:r>
              <a:rPr lang="en-US" sz="1200" kern="1200" dirty="0">
                <a:solidFill>
                  <a:schemeClr val="tx1"/>
                </a:solidFill>
                <a:effectLst/>
                <a:latin typeface="+mn-lt"/>
                <a:ea typeface="+mn-ea"/>
                <a:cs typeface="+mn-cs"/>
              </a:rPr>
              <a:t> </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Systems Analysis</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Do initial investigation</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Do systems survey</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Do feasibility study</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Determine information needs and systems requirements</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Deliver systems requirements</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Conceptual Design</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Identify and evaluate design alternatives</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Develop design specifications</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Deliver conceptual design requirements</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Physical Design</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Design output</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Design database</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Design input</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Develop programs</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Develop procedures</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Design controls</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Deliver developed system</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Implementation and Conversion</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Develop an implementation and conversion plan</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Install hardware and software</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Train personnel</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Test the system</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Complete documentation</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Convert from old to new system</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Deliver operational system</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Feasibility analysis and decision points</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Economic feasibility</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Technical feasibility</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Legal feasibility</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Scheduling feasibility</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Operational feasibility</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Operations and Maintenance</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Fine-tune and do post implementation review</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Operate system</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Modify system</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Do ongoing maintenance</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Deliver improved system</a:t>
            </a:r>
            <a:endParaRPr lang="en-IN" dirty="0">
              <a:effectLst/>
            </a:endParaRPr>
          </a:p>
          <a:p>
            <a:endParaRPr lang="en-IN" dirty="0">
              <a:effectLs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t>3</a:t>
            </a:fld>
            <a:endParaRPr lang="en-US" dirty="0"/>
          </a:p>
        </p:txBody>
      </p:sp>
    </p:spTree>
    <p:extLst>
      <p:ext uri="{BB962C8B-B14F-4D97-AF65-F5344CB8AC3E}">
        <p14:creationId xmlns:p14="http://schemas.microsoft.com/office/powerpoint/2010/main" val="5119831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IN" dirty="0"/>
              <a:t>For the first phase of the SDLC, systems analysis, there are five steps:</a:t>
            </a:r>
          </a:p>
          <a:p>
            <a:pPr marL="228600" lvl="0" indent="-228600" algn="l" rtl="0">
              <a:spcBef>
                <a:spcPts val="0"/>
              </a:spcBef>
              <a:spcAft>
                <a:spcPts val="0"/>
              </a:spcAft>
              <a:buClr>
                <a:schemeClr val="dk1"/>
              </a:buClr>
              <a:buSzPts val="1200"/>
              <a:buFont typeface="Arial"/>
              <a:buAutoNum type="arabicPeriod"/>
            </a:pPr>
            <a:r>
              <a:rPr lang="en-IN" dirty="0"/>
              <a:t>Initial investigation—examines the IS problem to be solved, determine the project scope (what the project should and should not accomplish)</a:t>
            </a:r>
          </a:p>
          <a:p>
            <a:pPr marL="228600" lvl="0" indent="-228600" algn="l" rtl="0">
              <a:spcBef>
                <a:spcPts val="0"/>
              </a:spcBef>
              <a:spcAft>
                <a:spcPts val="0"/>
              </a:spcAft>
              <a:buClr>
                <a:schemeClr val="dk1"/>
              </a:buClr>
              <a:buSzPts val="1200"/>
              <a:buFont typeface="Arial"/>
              <a:buAutoNum type="arabicPeriod"/>
            </a:pPr>
            <a:r>
              <a:rPr lang="en-IN" dirty="0"/>
              <a:t>Systems survey—studies the current system to understand how it works, its strengths, and weaknesses. Collect data to identify user needs. Data can be gathered by interviews, questionnaires, observations, and systems documentation.</a:t>
            </a:r>
          </a:p>
          <a:p>
            <a:pPr marL="228600" lvl="0" indent="-228600" algn="l" rtl="0">
              <a:spcBef>
                <a:spcPts val="0"/>
              </a:spcBef>
              <a:spcAft>
                <a:spcPts val="0"/>
              </a:spcAft>
              <a:buClr>
                <a:schemeClr val="dk1"/>
              </a:buClr>
              <a:buSzPts val="1200"/>
              <a:buFont typeface="Arial"/>
              <a:buAutoNum type="arabicPeriod"/>
            </a:pPr>
            <a:r>
              <a:rPr lang="en-IN" dirty="0"/>
              <a:t>Feasibility study is formally conducted (usually with one of the three methods discussed on Slide 20-8).</a:t>
            </a:r>
          </a:p>
          <a:p>
            <a:pPr marL="228600" lvl="0" indent="-228600" algn="l" rtl="0">
              <a:spcBef>
                <a:spcPts val="0"/>
              </a:spcBef>
              <a:spcAft>
                <a:spcPts val="0"/>
              </a:spcAft>
              <a:buClr>
                <a:schemeClr val="dk1"/>
              </a:buClr>
              <a:buSzPts val="1200"/>
              <a:buFont typeface="Arial"/>
              <a:buAutoNum type="arabicPeriod"/>
            </a:pPr>
            <a:r>
              <a:rPr lang="en-IN" dirty="0"/>
              <a:t>Information needs and assessments requirements—this is usually determined by:</a:t>
            </a:r>
          </a:p>
          <a:p>
            <a:pPr marL="685800" lvl="1" indent="-228600" algn="l" rtl="0">
              <a:spcBef>
                <a:spcPts val="0"/>
              </a:spcBef>
              <a:spcAft>
                <a:spcPts val="0"/>
              </a:spcAft>
              <a:buClr>
                <a:schemeClr val="dk1"/>
              </a:buClr>
              <a:buSzPts val="1200"/>
              <a:buFont typeface="Arial"/>
              <a:buAutoNum type="arabicPeriod"/>
            </a:pPr>
            <a:r>
              <a:rPr lang="en-IN" dirty="0"/>
              <a:t>Asking users what they need</a:t>
            </a:r>
          </a:p>
          <a:p>
            <a:pPr marL="685800" lvl="1" indent="-228600" algn="l" rtl="0">
              <a:spcBef>
                <a:spcPts val="0"/>
              </a:spcBef>
              <a:spcAft>
                <a:spcPts val="0"/>
              </a:spcAft>
              <a:buClr>
                <a:schemeClr val="dk1"/>
              </a:buClr>
              <a:buSzPts val="1200"/>
              <a:buFont typeface="Arial"/>
              <a:buAutoNum type="arabicPeriod"/>
            </a:pPr>
            <a:r>
              <a:rPr lang="en-IN" dirty="0" err="1"/>
              <a:t>Analyzing</a:t>
            </a:r>
            <a:r>
              <a:rPr lang="en-IN" dirty="0"/>
              <a:t> external systems (if solution exists, no need to recreate it)</a:t>
            </a:r>
          </a:p>
          <a:p>
            <a:pPr marL="685800" lvl="1" indent="-228600" algn="l" rtl="0">
              <a:spcBef>
                <a:spcPts val="0"/>
              </a:spcBef>
              <a:spcAft>
                <a:spcPts val="0"/>
              </a:spcAft>
              <a:buClr>
                <a:schemeClr val="dk1"/>
              </a:buClr>
              <a:buSzPts val="1200"/>
              <a:buFont typeface="Arial"/>
              <a:buAutoNum type="arabicPeriod"/>
            </a:pPr>
            <a:r>
              <a:rPr lang="en-IN" dirty="0"/>
              <a:t>Examining existing systems (determines if modification or replacement is needed)</a:t>
            </a:r>
          </a:p>
          <a:p>
            <a:pPr marL="685800" lvl="1" indent="-228600" algn="l" rtl="0">
              <a:spcBef>
                <a:spcPts val="0"/>
              </a:spcBef>
              <a:spcAft>
                <a:spcPts val="0"/>
              </a:spcAft>
              <a:buClr>
                <a:schemeClr val="dk1"/>
              </a:buClr>
              <a:buSzPts val="1200"/>
              <a:buFont typeface="Arial"/>
              <a:buAutoNum type="arabicPeriod"/>
            </a:pPr>
            <a:r>
              <a:rPr lang="en-IN" dirty="0"/>
              <a:t>Creating a prototype</a:t>
            </a:r>
          </a:p>
          <a:p>
            <a:pPr marL="228600" lvl="0" indent="-228600" algn="l" rtl="0">
              <a:spcBef>
                <a:spcPts val="0"/>
              </a:spcBef>
              <a:spcAft>
                <a:spcPts val="0"/>
              </a:spcAft>
              <a:buClr>
                <a:schemeClr val="dk1"/>
              </a:buClr>
              <a:buSzPts val="1200"/>
              <a:buFont typeface="Arial"/>
              <a:buAutoNum type="arabicPeriod"/>
            </a:pPr>
            <a:r>
              <a:rPr lang="en-IN" dirty="0"/>
              <a:t>Systems analysis report—summarizes and documents analysis activities</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Long Description:</a:t>
            </a:r>
          </a:p>
          <a:p>
            <a:r>
              <a:rPr lang="en-US" sz="1200" b="0" kern="1200" dirty="0">
                <a:solidFill>
                  <a:schemeClr val="tx1"/>
                </a:solidFill>
                <a:effectLst/>
                <a:latin typeface="+mn-lt"/>
                <a:ea typeface="+mn-ea"/>
                <a:cs typeface="+mn-cs"/>
              </a:rPr>
              <a:t>The steps involved in the process of systems analysis are as follows:</a:t>
            </a:r>
            <a:endParaRPr lang="en-IN" b="0" dirty="0">
              <a:effectLst/>
            </a:endParaRPr>
          </a:p>
          <a:p>
            <a:r>
              <a:rPr lang="en-US" sz="1200" b="1" kern="1200" dirty="0">
                <a:solidFill>
                  <a:schemeClr val="tx1"/>
                </a:solidFill>
                <a:effectLst/>
                <a:latin typeface="+mn-lt"/>
                <a:ea typeface="+mn-ea"/>
                <a:cs typeface="+mn-cs"/>
              </a:rPr>
              <a:t> </a:t>
            </a:r>
            <a:endParaRPr lang="en-IN" dirty="0">
              <a:effectLst/>
            </a:endParaRPr>
          </a:p>
          <a:p>
            <a:pPr fontAlgn="auto"/>
            <a:r>
              <a:rPr lang="en-US" sz="1200" kern="1200" dirty="0">
                <a:solidFill>
                  <a:schemeClr val="tx1"/>
                </a:solidFill>
                <a:effectLst/>
                <a:latin typeface="+mn-lt"/>
                <a:ea typeface="+mn-ea"/>
                <a:cs typeface="+mn-cs"/>
              </a:rPr>
              <a:t>Step</a:t>
            </a:r>
            <a:endParaRPr lang="en-IN" dirty="0">
              <a:effectLst/>
            </a:endParaRPr>
          </a:p>
          <a:p>
            <a:pPr fontAlgn="auto"/>
            <a:r>
              <a:rPr lang="en-US" sz="1200" kern="1200" dirty="0">
                <a:solidFill>
                  <a:schemeClr val="tx1"/>
                </a:solidFill>
                <a:effectLst/>
                <a:latin typeface="+mn-lt"/>
                <a:ea typeface="+mn-ea"/>
                <a:cs typeface="+mn-cs"/>
              </a:rPr>
              <a:t>Objective</a:t>
            </a:r>
            <a:endParaRPr lang="en-IN" dirty="0">
              <a:effectLst/>
            </a:endParaRPr>
          </a:p>
          <a:p>
            <a:pPr fontAlgn="auto"/>
            <a:r>
              <a:rPr lang="en-US" sz="1200" kern="1200" dirty="0">
                <a:solidFill>
                  <a:schemeClr val="tx1"/>
                </a:solidFill>
                <a:effectLst/>
                <a:latin typeface="+mn-lt"/>
                <a:ea typeface="+mn-ea"/>
                <a:cs typeface="+mn-cs"/>
              </a:rPr>
              <a:t>Initial Investigation</a:t>
            </a:r>
            <a:endParaRPr lang="en-IN" dirty="0">
              <a:effectLst/>
            </a:endParaRPr>
          </a:p>
          <a:p>
            <a:pPr fontAlgn="auto"/>
            <a:r>
              <a:rPr lang="en-US" sz="1200" kern="1200" dirty="0">
                <a:solidFill>
                  <a:schemeClr val="tx1"/>
                </a:solidFill>
                <a:effectLst/>
                <a:latin typeface="+mn-lt"/>
                <a:ea typeface="+mn-ea"/>
                <a:cs typeface="+mn-cs"/>
              </a:rPr>
              <a:t>Investigate each development activity to define the problem to be solved.</a:t>
            </a:r>
            <a:endParaRPr lang="en-IN" dirty="0">
              <a:effectLst/>
            </a:endParaRPr>
          </a:p>
          <a:p>
            <a:pPr fontAlgn="auto"/>
            <a:r>
              <a:rPr lang="en-US" sz="1200" kern="1200" dirty="0">
                <a:solidFill>
                  <a:schemeClr val="tx1"/>
                </a:solidFill>
                <a:effectLst/>
                <a:latin typeface="+mn-lt"/>
                <a:ea typeface="+mn-ea"/>
                <a:cs typeface="+mn-cs"/>
              </a:rPr>
              <a:t>Make a preliminary assessment of feasibility.</a:t>
            </a:r>
            <a:endParaRPr lang="en-IN" dirty="0">
              <a:effectLst/>
            </a:endParaRPr>
          </a:p>
          <a:p>
            <a:pPr fontAlgn="auto"/>
            <a:r>
              <a:rPr lang="en-US" sz="1200" kern="1200" dirty="0">
                <a:solidFill>
                  <a:schemeClr val="tx1"/>
                </a:solidFill>
                <a:effectLst/>
                <a:latin typeface="+mn-lt"/>
                <a:ea typeface="+mn-ea"/>
                <a:cs typeface="+mn-cs"/>
              </a:rPr>
              <a:t>Prepare a proposal to conduct systems analysis.</a:t>
            </a:r>
            <a:endParaRPr lang="en-IN" dirty="0">
              <a:effectLst/>
            </a:endParaRPr>
          </a:p>
          <a:p>
            <a:pPr fontAlgn="auto"/>
            <a:r>
              <a:rPr lang="en-US" sz="1200" kern="1200" dirty="0">
                <a:solidFill>
                  <a:schemeClr val="tx1"/>
                </a:solidFill>
                <a:effectLst/>
                <a:latin typeface="+mn-lt"/>
                <a:ea typeface="+mn-ea"/>
                <a:cs typeface="+mn-cs"/>
              </a:rPr>
              <a:t>Systems Survey</a:t>
            </a:r>
            <a:endParaRPr lang="en-IN" dirty="0">
              <a:effectLst/>
            </a:endParaRPr>
          </a:p>
          <a:p>
            <a:pPr fontAlgn="auto"/>
            <a:r>
              <a:rPr lang="en-US" sz="1200" kern="1200" dirty="0">
                <a:solidFill>
                  <a:schemeClr val="tx1"/>
                </a:solidFill>
                <a:effectLst/>
                <a:latin typeface="+mn-lt"/>
                <a:ea typeface="+mn-ea"/>
                <a:cs typeface="+mn-cs"/>
              </a:rPr>
              <a:t>Study the present system to gain a thorough understanding of how it works.</a:t>
            </a:r>
            <a:endParaRPr lang="en-IN" dirty="0">
              <a:effectLst/>
            </a:endParaRPr>
          </a:p>
          <a:p>
            <a:pPr fontAlgn="auto"/>
            <a:r>
              <a:rPr lang="en-US" sz="1200" kern="1200" dirty="0">
                <a:solidFill>
                  <a:schemeClr val="tx1"/>
                </a:solidFill>
                <a:effectLst/>
                <a:latin typeface="+mn-lt"/>
                <a:ea typeface="+mn-ea"/>
                <a:cs typeface="+mn-cs"/>
              </a:rPr>
              <a:t>Feasibility Study</a:t>
            </a:r>
            <a:endParaRPr lang="en-IN" dirty="0">
              <a:effectLst/>
            </a:endParaRPr>
          </a:p>
          <a:p>
            <a:pPr fontAlgn="auto"/>
            <a:r>
              <a:rPr lang="en-US" sz="1200" kern="1200" dirty="0">
                <a:solidFill>
                  <a:schemeClr val="tx1"/>
                </a:solidFill>
                <a:effectLst/>
                <a:latin typeface="+mn-lt"/>
                <a:ea typeface="+mn-ea"/>
                <a:cs typeface="+mn-cs"/>
              </a:rPr>
              <a:t>Develop a more thorough feasibility analysis, especially with respect to economic costs and benefits.</a:t>
            </a:r>
            <a:endParaRPr lang="en-IN" dirty="0">
              <a:effectLst/>
            </a:endParaRPr>
          </a:p>
          <a:p>
            <a:pPr fontAlgn="auto"/>
            <a:r>
              <a:rPr lang="en-US" sz="1200" kern="1200" dirty="0">
                <a:solidFill>
                  <a:schemeClr val="tx1"/>
                </a:solidFill>
                <a:effectLst/>
                <a:latin typeface="+mn-lt"/>
                <a:ea typeface="+mn-ea"/>
                <a:cs typeface="+mn-cs"/>
              </a:rPr>
              <a:t>Information Needs and Systems Requirements</a:t>
            </a:r>
            <a:endParaRPr lang="en-IN" dirty="0">
              <a:effectLst/>
            </a:endParaRPr>
          </a:p>
          <a:p>
            <a:pPr fontAlgn="auto"/>
            <a:r>
              <a:rPr lang="en-US" sz="1200" kern="1200" dirty="0">
                <a:solidFill>
                  <a:schemeClr val="tx1"/>
                </a:solidFill>
                <a:effectLst/>
                <a:latin typeface="+mn-lt"/>
                <a:ea typeface="+mn-ea"/>
                <a:cs typeface="+mn-cs"/>
              </a:rPr>
              <a:t>Identify information needs of users.</a:t>
            </a:r>
            <a:endParaRPr lang="en-IN" dirty="0">
              <a:effectLst/>
            </a:endParaRPr>
          </a:p>
          <a:p>
            <a:pPr fontAlgn="auto"/>
            <a:r>
              <a:rPr lang="en-US" sz="1200" kern="1200" dirty="0">
                <a:solidFill>
                  <a:schemeClr val="tx1"/>
                </a:solidFill>
                <a:effectLst/>
                <a:latin typeface="+mn-lt"/>
                <a:ea typeface="+mn-ea"/>
                <a:cs typeface="+mn-cs"/>
              </a:rPr>
              <a:t>Determine objectives and requirements of the new system.</a:t>
            </a:r>
            <a:endParaRPr lang="en-IN" dirty="0">
              <a:effectLst/>
            </a:endParaRPr>
          </a:p>
          <a:p>
            <a:pPr fontAlgn="auto"/>
            <a:r>
              <a:rPr lang="en-US" sz="1200" kern="1200" dirty="0">
                <a:solidFill>
                  <a:schemeClr val="tx1"/>
                </a:solidFill>
                <a:effectLst/>
                <a:latin typeface="+mn-lt"/>
                <a:ea typeface="+mn-ea"/>
                <a:cs typeface="+mn-cs"/>
              </a:rPr>
              <a:t>Systems Analysis Report</a:t>
            </a:r>
            <a:endParaRPr lang="en-IN" dirty="0">
              <a:effectLst/>
            </a:endParaRPr>
          </a:p>
          <a:p>
            <a:pPr fontAlgn="auto"/>
            <a:r>
              <a:rPr lang="en-US" sz="1200" kern="1200" dirty="0">
                <a:solidFill>
                  <a:schemeClr val="tx1"/>
                </a:solidFill>
                <a:effectLst/>
                <a:latin typeface="+mn-lt"/>
                <a:ea typeface="+mn-ea"/>
                <a:cs typeface="+mn-cs"/>
              </a:rPr>
              <a:t>Provide management with the findings of the analysis phase.</a:t>
            </a:r>
            <a:endParaRPr lang="en-IN" dirty="0">
              <a:effectLs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t>4</a:t>
            </a:fld>
            <a:endParaRPr lang="en-US" dirty="0"/>
          </a:p>
        </p:txBody>
      </p:sp>
    </p:spTree>
    <p:extLst>
      <p:ext uri="{BB962C8B-B14F-4D97-AF65-F5344CB8AC3E}">
        <p14:creationId xmlns:p14="http://schemas.microsoft.com/office/powerpoint/2010/main" val="35761214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IN" dirty="0"/>
              <a:t>Developer creates a general framework for implementing user requirements and solving the problems identified in the analysis phase.</a:t>
            </a:r>
          </a:p>
          <a:p>
            <a:pPr marL="0" lvl="0" indent="0" algn="l" rtl="0">
              <a:spcBef>
                <a:spcPts val="0"/>
              </a:spcBef>
              <a:spcAft>
                <a:spcPts val="0"/>
              </a:spcAft>
              <a:buNone/>
            </a:pPr>
            <a:r>
              <a:rPr lang="en-IN" dirty="0"/>
              <a:t>1. Evaluating design alternatives—how well does it meet the objectives and user needs, is it feasible, what are the advantages and disadvantages?</a:t>
            </a:r>
          </a:p>
          <a:p>
            <a:pPr marL="0" lvl="0" indent="0" algn="l" rtl="0">
              <a:spcBef>
                <a:spcPts val="0"/>
              </a:spcBef>
              <a:spcAft>
                <a:spcPts val="0"/>
              </a:spcAft>
              <a:buNone/>
            </a:pPr>
            <a:r>
              <a:rPr lang="en-IN" dirty="0"/>
              <a:t>2. Preparing design specifications—created for output, data storage, input, and processing procedures.</a:t>
            </a:r>
          </a:p>
          <a:p>
            <a:pPr marL="0" lvl="0" indent="0" algn="l" rtl="0">
              <a:spcBef>
                <a:spcPts val="0"/>
              </a:spcBef>
              <a:spcAft>
                <a:spcPts val="0"/>
              </a:spcAft>
              <a:buNone/>
            </a:pPr>
            <a:r>
              <a:rPr lang="en-IN" dirty="0"/>
              <a:t>3. Preparing the conceptual systems design report to the steering committee.</a:t>
            </a:r>
          </a:p>
          <a:p>
            <a:pPr marL="0" lvl="0" indent="0" algn="l" rtl="0">
              <a:spcBef>
                <a:spcPts val="0"/>
              </a:spcBef>
              <a:spcAft>
                <a:spcPts val="0"/>
              </a:spcAft>
              <a:buNone/>
            </a:pPr>
            <a:endParaRPr lang="en-IN" dirty="0"/>
          </a:p>
          <a:p>
            <a:pPr marL="0" lvl="0" indent="0" algn="l" rtl="0">
              <a:spcBef>
                <a:spcPts val="0"/>
              </a:spcBef>
              <a:spcAft>
                <a:spcPts val="0"/>
              </a:spcAft>
              <a:buNone/>
            </a:pPr>
            <a:r>
              <a:rPr lang="en-IN" dirty="0"/>
              <a:t>Long Description:</a:t>
            </a:r>
          </a:p>
          <a:p>
            <a:r>
              <a:rPr lang="en-US" sz="1200" kern="1200" dirty="0">
                <a:solidFill>
                  <a:schemeClr val="tx1"/>
                </a:solidFill>
                <a:effectLst/>
                <a:latin typeface="+mn-lt"/>
                <a:ea typeface="+mn-ea"/>
                <a:cs typeface="+mn-cs"/>
              </a:rPr>
              <a:t>The conceptual design steps (in sequence) depicted in the diagram are as follows:</a:t>
            </a:r>
            <a:endParaRPr lang="en-IN" dirty="0">
              <a:effectLst/>
            </a:endParaRPr>
          </a:p>
          <a:p>
            <a:r>
              <a:rPr lang="en-US" sz="1200" kern="1200" dirty="0">
                <a:solidFill>
                  <a:schemeClr val="tx1"/>
                </a:solidFill>
                <a:effectLst/>
                <a:latin typeface="+mn-lt"/>
                <a:ea typeface="+mn-ea"/>
                <a:cs typeface="+mn-cs"/>
              </a:rPr>
              <a:t> </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Systems Analysis</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Conceptual Systems Design</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Evaluate Design Alternatives</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Prepare Design Specifications</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Prepare Conceptual Systems Design Report</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Physical Design</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Implementation and Conversion</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Operation and Maintenance</a:t>
            </a:r>
            <a:endParaRPr lang="en-IN" dirty="0">
              <a:effectLst/>
            </a:endParaRPr>
          </a:p>
          <a:p>
            <a:pPr marL="0" lvl="0" indent="0" algn="l" rtl="0">
              <a:spcBef>
                <a:spcPts val="0"/>
              </a:spcBef>
              <a:spcAft>
                <a:spcPts val="0"/>
              </a:spcAft>
              <a:buNone/>
            </a:pPr>
            <a:endParaRPr lang="en-IN" dirty="0"/>
          </a:p>
          <a:p>
            <a:pPr marL="0" lvl="0" indent="0" algn="l" rtl="0">
              <a:spcBef>
                <a:spcPts val="0"/>
              </a:spcBef>
              <a:spcAft>
                <a:spcPts val="0"/>
              </a:spcAft>
              <a:buNone/>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5</a:t>
            </a:fld>
            <a:endParaRPr lang="en-US" dirty="0"/>
          </a:p>
        </p:txBody>
      </p:sp>
    </p:spTree>
    <p:extLst>
      <p:ext uri="{BB962C8B-B14F-4D97-AF65-F5344CB8AC3E}">
        <p14:creationId xmlns:p14="http://schemas.microsoft.com/office/powerpoint/2010/main" val="10754177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IN" dirty="0"/>
              <a:t>Output design is to determine the nature and timing of reports which can be one of:</a:t>
            </a:r>
          </a:p>
          <a:p>
            <a:pPr marL="0" lvl="0" indent="0" algn="l" rtl="0">
              <a:spcBef>
                <a:spcPts val="0"/>
              </a:spcBef>
              <a:spcAft>
                <a:spcPts val="0"/>
              </a:spcAft>
              <a:buNone/>
            </a:pPr>
            <a:r>
              <a:rPr lang="en-IN" sz="1200" dirty="0">
                <a:solidFill>
                  <a:schemeClr val="dk1"/>
                </a:solidFill>
                <a:latin typeface="+mn-lt"/>
                <a:ea typeface="Arial"/>
                <a:cs typeface="Arial"/>
                <a:sym typeface="Arial"/>
              </a:rPr>
              <a:t>—</a:t>
            </a:r>
            <a:r>
              <a:rPr lang="en-IN" dirty="0"/>
              <a:t>scheduled reports</a:t>
            </a:r>
          </a:p>
          <a:p>
            <a:pPr marL="0" lvl="0" indent="0" algn="l" rtl="0">
              <a:spcBef>
                <a:spcPts val="0"/>
              </a:spcBef>
              <a:spcAft>
                <a:spcPts val="0"/>
              </a:spcAft>
              <a:buNone/>
            </a:pPr>
            <a:r>
              <a:rPr lang="en-IN" sz="1200" dirty="0">
                <a:solidFill>
                  <a:schemeClr val="dk1"/>
                </a:solidFill>
                <a:latin typeface="+mn-lt"/>
                <a:ea typeface="Arial"/>
                <a:cs typeface="Arial"/>
                <a:sym typeface="Arial"/>
              </a:rPr>
              <a:t>—</a:t>
            </a:r>
            <a:r>
              <a:rPr lang="en-IN" dirty="0"/>
              <a:t>special-purpose analysis reports</a:t>
            </a:r>
          </a:p>
          <a:p>
            <a:pPr marL="0" lvl="0" indent="0" algn="l" rtl="0">
              <a:spcBef>
                <a:spcPts val="0"/>
              </a:spcBef>
              <a:spcAft>
                <a:spcPts val="0"/>
              </a:spcAft>
              <a:buNone/>
            </a:pPr>
            <a:r>
              <a:rPr lang="en-IN" sz="1200" dirty="0">
                <a:solidFill>
                  <a:schemeClr val="dk1"/>
                </a:solidFill>
                <a:latin typeface="+mn-lt"/>
                <a:ea typeface="Arial"/>
                <a:cs typeface="Arial"/>
                <a:sym typeface="Arial"/>
              </a:rPr>
              <a:t>—</a:t>
            </a:r>
            <a:r>
              <a:rPr lang="en-IN" dirty="0"/>
              <a:t>triggered exception reports</a:t>
            </a:r>
          </a:p>
          <a:p>
            <a:pPr marL="0" lvl="0" indent="0" algn="l" rtl="0">
              <a:spcBef>
                <a:spcPts val="0"/>
              </a:spcBef>
              <a:spcAft>
                <a:spcPts val="0"/>
              </a:spcAft>
              <a:buNone/>
            </a:pPr>
            <a:r>
              <a:rPr lang="en-IN" sz="1200" dirty="0">
                <a:solidFill>
                  <a:schemeClr val="dk1"/>
                </a:solidFill>
                <a:latin typeface="+mn-lt"/>
                <a:ea typeface="Arial"/>
                <a:cs typeface="Arial"/>
                <a:sym typeface="Arial"/>
              </a:rPr>
              <a:t>—</a:t>
            </a:r>
            <a:r>
              <a:rPr lang="en-IN" dirty="0"/>
              <a:t>demand reports</a:t>
            </a:r>
          </a:p>
          <a:p>
            <a:pPr marL="0" lvl="0" indent="0" algn="l" rtl="0">
              <a:spcBef>
                <a:spcPts val="0"/>
              </a:spcBef>
              <a:spcAft>
                <a:spcPts val="0"/>
              </a:spcAft>
              <a:buNone/>
            </a:pPr>
            <a:endParaRPr lang="en-IN" dirty="0"/>
          </a:p>
          <a:p>
            <a:pPr marL="0" lvl="0" indent="0" algn="l" rtl="0">
              <a:spcBef>
                <a:spcPts val="0"/>
              </a:spcBef>
              <a:spcAft>
                <a:spcPts val="0"/>
              </a:spcAft>
              <a:buNone/>
            </a:pPr>
            <a:r>
              <a:rPr lang="en-IN" dirty="0"/>
              <a:t>File and Database design</a:t>
            </a:r>
            <a:r>
              <a:rPr lang="en-IN" sz="1200" dirty="0">
                <a:solidFill>
                  <a:schemeClr val="dk1"/>
                </a:solidFill>
                <a:latin typeface="+mn-lt"/>
                <a:ea typeface="Arial"/>
                <a:cs typeface="Arial"/>
                <a:sym typeface="Arial"/>
              </a:rPr>
              <a:t>—</a:t>
            </a:r>
            <a:r>
              <a:rPr lang="en-IN" dirty="0"/>
              <a:t>this was covered in Chapter 4.</a:t>
            </a:r>
          </a:p>
          <a:p>
            <a:pPr marL="0" lvl="0" indent="0" algn="l" rtl="0">
              <a:spcBef>
                <a:spcPts val="0"/>
              </a:spcBef>
              <a:spcAft>
                <a:spcPts val="0"/>
              </a:spcAft>
              <a:buNone/>
            </a:pPr>
            <a:r>
              <a:rPr lang="en-IN" dirty="0"/>
              <a:t>Input design includes forms and computer screen design.</a:t>
            </a:r>
          </a:p>
        </p:txBody>
      </p:sp>
      <p:sp>
        <p:nvSpPr>
          <p:cNvPr id="4" name="Slide Number Placeholder 3"/>
          <p:cNvSpPr>
            <a:spLocks noGrp="1"/>
          </p:cNvSpPr>
          <p:nvPr>
            <p:ph type="sldNum" sz="quarter" idx="10"/>
          </p:nvPr>
        </p:nvSpPr>
        <p:spPr/>
        <p:txBody>
          <a:bodyPr/>
          <a:lstStyle/>
          <a:p>
            <a:fld id="{A73D6722-9B4D-4E29-B226-C325925A8118}" type="slidenum">
              <a:rPr lang="en-US" smtClean="0"/>
              <a:t>6</a:t>
            </a:fld>
            <a:endParaRPr lang="en-US" dirty="0"/>
          </a:p>
        </p:txBody>
      </p:sp>
    </p:spTree>
    <p:extLst>
      <p:ext uri="{BB962C8B-B14F-4D97-AF65-F5344CB8AC3E}">
        <p14:creationId xmlns:p14="http://schemas.microsoft.com/office/powerpoint/2010/main" val="8209892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rtl="0">
              <a:lnSpc>
                <a:spcPct val="100000"/>
              </a:lnSpc>
              <a:spcBef>
                <a:spcPts val="0"/>
              </a:spcBef>
              <a:spcAft>
                <a:spcPts val="0"/>
              </a:spcAft>
              <a:buClr>
                <a:schemeClr val="dk1"/>
              </a:buClr>
              <a:buSzPts val="1200"/>
              <a:buFont typeface="Arial"/>
              <a:buNone/>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12</a:t>
            </a:fld>
            <a:endParaRPr lang="en-US" dirty="0"/>
          </a:p>
        </p:txBody>
      </p:sp>
    </p:spTree>
    <p:extLst>
      <p:ext uri="{BB962C8B-B14F-4D97-AF65-F5344CB8AC3E}">
        <p14:creationId xmlns:p14="http://schemas.microsoft.com/office/powerpoint/2010/main" val="10427721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rtl="0">
              <a:lnSpc>
                <a:spcPct val="100000"/>
              </a:lnSpc>
              <a:spcBef>
                <a:spcPts val="0"/>
              </a:spcBef>
              <a:spcAft>
                <a:spcPts val="0"/>
              </a:spcAft>
              <a:buClr>
                <a:schemeClr val="dk1"/>
              </a:buClr>
              <a:buSzPts val="1200"/>
              <a:buFont typeface="Arial"/>
              <a:buNone/>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14</a:t>
            </a:fld>
            <a:endParaRPr lang="en-US" dirty="0"/>
          </a:p>
        </p:txBody>
      </p:sp>
    </p:spTree>
    <p:extLst>
      <p:ext uri="{BB962C8B-B14F-4D97-AF65-F5344CB8AC3E}">
        <p14:creationId xmlns:p14="http://schemas.microsoft.com/office/powerpoint/2010/main" val="1711917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15</a:t>
            </a:fld>
            <a:endParaRPr lang="en-US" dirty="0"/>
          </a:p>
        </p:txBody>
      </p:sp>
    </p:spTree>
    <p:extLst>
      <p:ext uri="{BB962C8B-B14F-4D97-AF65-F5344CB8AC3E}">
        <p14:creationId xmlns:p14="http://schemas.microsoft.com/office/powerpoint/2010/main" val="32940959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rtl="0">
              <a:lnSpc>
                <a:spcPct val="100000"/>
              </a:lnSpc>
              <a:spcBef>
                <a:spcPts val="0"/>
              </a:spcBef>
              <a:spcAft>
                <a:spcPts val="0"/>
              </a:spcAft>
              <a:buClr>
                <a:schemeClr val="dk1"/>
              </a:buClr>
              <a:buSzPts val="1200"/>
              <a:buFont typeface="Arial"/>
              <a:buNone/>
            </a:pPr>
            <a:r>
              <a:rPr lang="en-IN" dirty="0"/>
              <a:t>Problems are often uncovered during the post-implementation review and may require adjustments to the system.</a:t>
            </a:r>
          </a:p>
        </p:txBody>
      </p:sp>
      <p:sp>
        <p:nvSpPr>
          <p:cNvPr id="4" name="Slide Number Placeholder 3"/>
          <p:cNvSpPr>
            <a:spLocks noGrp="1"/>
          </p:cNvSpPr>
          <p:nvPr>
            <p:ph type="sldNum" sz="quarter" idx="10"/>
          </p:nvPr>
        </p:nvSpPr>
        <p:spPr/>
        <p:txBody>
          <a:bodyPr/>
          <a:lstStyle/>
          <a:p>
            <a:fld id="{A73D6722-9B4D-4E29-B226-C325925A8118}" type="slidenum">
              <a:rPr lang="en-US" smtClean="0"/>
              <a:t>17</a:t>
            </a:fld>
            <a:endParaRPr lang="en-US" dirty="0"/>
          </a:p>
        </p:txBody>
      </p:sp>
    </p:spTree>
    <p:extLst>
      <p:ext uri="{BB962C8B-B14F-4D97-AF65-F5344CB8AC3E}">
        <p14:creationId xmlns:p14="http://schemas.microsoft.com/office/powerpoint/2010/main" val="1603180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18</a:t>
            </a:fld>
            <a:endParaRPr lang="en-US" dirty="0"/>
          </a:p>
        </p:txBody>
      </p:sp>
    </p:spTree>
    <p:extLst>
      <p:ext uri="{BB962C8B-B14F-4D97-AF65-F5344CB8AC3E}">
        <p14:creationId xmlns:p14="http://schemas.microsoft.com/office/powerpoint/2010/main" val="25397878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10"/>
          </p:nvPr>
        </p:nvSpPr>
        <p:spPr/>
        <p:txBody>
          <a:bodyPr/>
          <a:lstStyle/>
          <a:p>
            <a:fld id="{A73D6722-9B4D-4E29-B226-C325925A8118}" type="slidenum">
              <a:rPr lang="en-US" smtClean="0"/>
              <a:t>19</a:t>
            </a:fld>
            <a:endParaRPr lang="en-US" dirty="0"/>
          </a:p>
        </p:txBody>
      </p:sp>
    </p:spTree>
    <p:extLst>
      <p:ext uri="{BB962C8B-B14F-4D97-AF65-F5344CB8AC3E}">
        <p14:creationId xmlns:p14="http://schemas.microsoft.com/office/powerpoint/2010/main" val="189078876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3046453"/>
            <a:ext cx="7772400" cy="553998"/>
          </a:xfrm>
        </p:spPr>
        <p:txBody>
          <a:bodyPr anchor="b">
            <a:sp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3962400"/>
            <a:ext cx="7794626" cy="276999"/>
          </a:xfrm>
        </p:spPr>
        <p:txBody>
          <a:bodyPr>
            <a:sp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A9DF6EFB-3F44-496C-A842-1E0B3D3B975A}" type="datetimeFigureOut">
              <a:rPr lang="en-US" smtClean="0"/>
              <a:t>3/12/26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TextBox 8"/>
          <p:cNvSpPr txBox="1"/>
          <p:nvPr userDrawn="1"/>
        </p:nvSpPr>
        <p:spPr>
          <a:xfrm>
            <a:off x="1533525" y="6374626"/>
            <a:ext cx="7162800" cy="276999"/>
          </a:xfrm>
          <a:prstGeom prst="rect">
            <a:avLst/>
          </a:prstGeom>
          <a:noFill/>
        </p:spPr>
        <p:txBody>
          <a:bodyPr wrap="square" rtlCol="0">
            <a:spAutoFit/>
          </a:bodyPr>
          <a:lstStyle/>
          <a:p>
            <a:pPr marL="0" indent="0" algn="r">
              <a:buNone/>
            </a:pPr>
            <a:r>
              <a:rPr lang="en-IN" sz="120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2021, 2018, 2015 </a:t>
            </a:r>
            <a:r>
              <a:rPr lang="en-IN" sz="1200" dirty="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pic>
        <p:nvPicPr>
          <p:cNvPr id="11" name="Picture 10"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88798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spAutoFit/>
          </a:bodyPr>
          <a:lstStyle>
            <a:lvl1pPr>
              <a:defRPr sz="3600">
                <a:latin typeface="+mj-lt"/>
              </a:defRPr>
            </a:lvl1pPr>
          </a:lstStyle>
          <a:p>
            <a:r>
              <a:rPr lang="en-US" dirty="0"/>
              <a:t>Click to edit Master title style</a:t>
            </a:r>
          </a:p>
        </p:txBody>
      </p:sp>
      <p:sp>
        <p:nvSpPr>
          <p:cNvPr id="3" name="Content Placeholder 2"/>
          <p:cNvSpPr>
            <a:spLocks noGrp="1"/>
          </p:cNvSpPr>
          <p:nvPr>
            <p:ph idx="1"/>
          </p:nvPr>
        </p:nvSpPr>
        <p:spPr/>
        <p:txBody>
          <a:bodyPr>
            <a:spAutoFit/>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3/12/26</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spAutoFit/>
          </a:bodyPr>
          <a:lstStyle/>
          <a:p>
            <a:r>
              <a:rPr lang="en-US" dirty="0"/>
              <a:t>Click to edit Master title style</a:t>
            </a:r>
          </a:p>
        </p:txBody>
      </p:sp>
      <p:sp>
        <p:nvSpPr>
          <p:cNvPr id="3" name="Content Placeholder 2"/>
          <p:cNvSpPr>
            <a:spLocks noGrp="1"/>
          </p:cNvSpPr>
          <p:nvPr>
            <p:ph idx="1"/>
          </p:nvPr>
        </p:nvSpPr>
        <p:spPr/>
        <p:txBody>
          <a:bodyPr>
            <a:spAutoFit/>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10"/>
          </p:nvPr>
        </p:nvSpPr>
        <p:spPr/>
        <p:txBody>
          <a:bodyPr/>
          <a:lstStyle/>
          <a:p>
            <a:fld id="{A9DF6EFB-3F44-496C-A842-1E0B3D3B975A}" type="datetimeFigureOut">
              <a:rPr lang="en-US" smtClean="0"/>
              <a:t>3/12/26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spAutoFit/>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3/12/26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547999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3/12/26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p:cNvSpPr>
            <a:spLocks noGrp="1"/>
          </p:cNvSpPr>
          <p:nvPr>
            <p:ph idx="18"/>
          </p:nvPr>
        </p:nvSpPr>
        <p:spPr>
          <a:xfrm>
            <a:off x="762000" y="4953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idx="19"/>
          </p:nvPr>
        </p:nvSpPr>
        <p:spPr>
          <a:xfrm>
            <a:off x="914400" y="51054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p:cNvSpPr>
            <a:spLocks noGrp="1"/>
          </p:cNvSpPr>
          <p:nvPr>
            <p:ph idx="20"/>
          </p:nvPr>
        </p:nvSpPr>
        <p:spPr>
          <a:xfrm>
            <a:off x="1066800" y="52578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idx="21"/>
          </p:nvPr>
        </p:nvSpPr>
        <p:spPr>
          <a:xfrm>
            <a:off x="1219200" y="5410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idx="22"/>
          </p:nvPr>
        </p:nvSpPr>
        <p:spPr>
          <a:xfrm>
            <a:off x="1371600" y="5562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2"/>
          <p:cNvSpPr>
            <a:spLocks noGrp="1"/>
          </p:cNvSpPr>
          <p:nvPr>
            <p:ph idx="23"/>
          </p:nvPr>
        </p:nvSpPr>
        <p:spPr>
          <a:xfrm>
            <a:off x="1524000" y="5715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259676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3/12/26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Picture Placeholder 4"/>
          <p:cNvSpPr>
            <a:spLocks noGrp="1"/>
          </p:cNvSpPr>
          <p:nvPr>
            <p:ph type="pic" sz="quarter" idx="14"/>
          </p:nvPr>
        </p:nvSpPr>
        <p:spPr>
          <a:xfrm>
            <a:off x="457200" y="5181600"/>
            <a:ext cx="8229600" cy="1066800"/>
          </a:xfrm>
        </p:spPr>
        <p:txBody>
          <a:bodyPr/>
          <a:lstStyle/>
          <a:p>
            <a:endParaRPr lang="en-IN"/>
          </a:p>
        </p:txBody>
      </p:sp>
    </p:spTree>
    <p:extLst>
      <p:ext uri="{BB962C8B-B14F-4D97-AF65-F5344CB8AC3E}">
        <p14:creationId xmlns:p14="http://schemas.microsoft.com/office/powerpoint/2010/main" val="23021397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3/12/26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609600" y="41148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837902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3077231"/>
            <a:ext cx="7772400" cy="523220"/>
          </a:xfrm>
        </p:spPr>
        <p:txBody>
          <a:bodyPr anchor="b">
            <a:sp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A9DF6EFB-3F44-496C-A842-1E0B3D3B975A}" type="datetimeFigureOut">
              <a:rPr lang="en-US" smtClean="0"/>
              <a:t>3/12/26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3754704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A9DF6EFB-3F44-496C-A842-1E0B3D3B975A}" type="datetimeFigureOut">
              <a:rPr lang="en-US" smtClean="0"/>
              <a:t>3/12/26</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3/12/26</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1" name="Picture 10"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9" name="Footer Placeholder 4"/>
          <p:cNvSpPr>
            <a:spLocks noGrp="1"/>
          </p:cNvSpPr>
          <p:nvPr>
            <p:ph type="ftr" sz="quarter" idx="3"/>
          </p:nvPr>
        </p:nvSpPr>
        <p:spPr>
          <a:xfrm>
            <a:off x="2819401" y="6424902"/>
            <a:ext cx="5857188" cy="231802"/>
          </a:xfrm>
          <a:prstGeom prst="rect">
            <a:avLst/>
          </a:prstGeom>
        </p:spPr>
        <p:txBody>
          <a:bodyPr vert="horz" lIns="0" tIns="0" rIns="0" bIns="0" rtlCol="0" anchor="b">
            <a:noAutofit/>
          </a:bodyPr>
          <a:lstStyle>
            <a:lvl1pPr marL="0" indent="0" algn="r">
              <a:buNone/>
              <a:defRPr sz="1200">
                <a:solidFill>
                  <a:schemeClr val="tx1"/>
                </a:solidFill>
              </a:defRPr>
            </a:lvl1pPr>
          </a:lstStyle>
          <a:p>
            <a:r>
              <a:rPr lang="en-IN" sz="120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2021, 2018, 2015 </a:t>
            </a:r>
            <a:r>
              <a:rPr lang="en-IN" sz="1200" dirty="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3711136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7" name="Title 6"/>
          <p:cNvSpPr>
            <a:spLocks noGrp="1"/>
          </p:cNvSpPr>
          <p:nvPr>
            <p:ph type="title"/>
          </p:nvPr>
        </p:nvSpPr>
        <p:spPr>
          <a:xfrm>
            <a:off x="489408" y="0"/>
            <a:ext cx="8229600" cy="533400"/>
          </a:xfrm>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A9DF6EFB-3F44-496C-A842-1E0B3D3B975A}" type="datetimeFigureOut">
              <a:rPr lang="en-US" smtClean="0"/>
              <a:t>3/12/26</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t>‹#›</a:t>
            </a:fld>
            <a:endParaRPr lang="en-US" dirty="0"/>
          </a:p>
        </p:txBody>
      </p:sp>
      <p:sp>
        <p:nvSpPr>
          <p:cNvPr id="4" name="Text Placeholder 3"/>
          <p:cNvSpPr>
            <a:spLocks noGrp="1"/>
          </p:cNvSpPr>
          <p:nvPr>
            <p:ph type="body" sz="quarter" idx="13"/>
          </p:nvPr>
        </p:nvSpPr>
        <p:spPr>
          <a:xfrm>
            <a:off x="533400" y="685800"/>
            <a:ext cx="8077200" cy="45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3" name="Text Placeholder 12"/>
          <p:cNvSpPr>
            <a:spLocks noGrp="1"/>
          </p:cNvSpPr>
          <p:nvPr>
            <p:ph type="body" sz="quarter" idx="14"/>
          </p:nvPr>
        </p:nvSpPr>
        <p:spPr>
          <a:xfrm>
            <a:off x="609600" y="1295400"/>
            <a:ext cx="7924800" cy="45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5" name="Text Placeholder 14"/>
          <p:cNvSpPr>
            <a:spLocks noGrp="1"/>
          </p:cNvSpPr>
          <p:nvPr>
            <p:ph type="body" sz="quarter" idx="15"/>
          </p:nvPr>
        </p:nvSpPr>
        <p:spPr>
          <a:xfrm>
            <a:off x="685800" y="1828800"/>
            <a:ext cx="7848600" cy="457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7" name="Text Placeholder 16"/>
          <p:cNvSpPr>
            <a:spLocks noGrp="1"/>
          </p:cNvSpPr>
          <p:nvPr>
            <p:ph type="body" sz="quarter" idx="16"/>
          </p:nvPr>
        </p:nvSpPr>
        <p:spPr>
          <a:xfrm>
            <a:off x="762000" y="2514600"/>
            <a:ext cx="7924800" cy="30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9" name="Picture Placeholder 18"/>
          <p:cNvSpPr>
            <a:spLocks noGrp="1"/>
          </p:cNvSpPr>
          <p:nvPr>
            <p:ph type="pic" sz="quarter" idx="17"/>
          </p:nvPr>
        </p:nvSpPr>
        <p:spPr>
          <a:xfrm>
            <a:off x="838200" y="3352800"/>
            <a:ext cx="7848600" cy="685800"/>
          </a:xfrm>
        </p:spPr>
        <p:txBody>
          <a:bodyPr/>
          <a:lstStyle/>
          <a:p>
            <a:endParaRPr lang="en-IN" dirty="0"/>
          </a:p>
        </p:txBody>
      </p:sp>
    </p:spTree>
    <p:extLst>
      <p:ext uri="{BB962C8B-B14F-4D97-AF65-F5344CB8AC3E}">
        <p14:creationId xmlns:p14="http://schemas.microsoft.com/office/powerpoint/2010/main" val="11285816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r>
              <a:rPr lang="en-US" sz="900" dirty="0"/>
              <a:t>1-2</a:t>
            </a:r>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4263490899"/>
      </p:ext>
    </p:extLst>
  </p:cSld>
  <p:clrMapOvr>
    <a:masterClrMapping/>
  </p:clrMapOvr>
  <p:extLst>
    <p:ext uri="{DCECCB84-F9BA-43D5-87BE-67443E8EF086}">
      <p15:sldGuideLst xmlns:p15="http://schemas.microsoft.com/office/powerpoint/2012/main">
        <p15:guide id="1" orient="horz" pos="4176">
          <p15:clr>
            <a:srgbClr val="FBAE40"/>
          </p15:clr>
        </p15:guide>
        <p15:guide id="2" pos="288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4" name="Date Placeholder 3"/>
          <p:cNvSpPr>
            <a:spLocks noGrp="1"/>
          </p:cNvSpPr>
          <p:nvPr>
            <p:ph type="dt" sz="half" idx="11"/>
          </p:nvPr>
        </p:nvSpPr>
        <p:spPr/>
        <p:txBody>
          <a:bodyPr/>
          <a:lstStyle/>
          <a:p>
            <a:fld id="{A9DF6EFB-3F44-496C-A842-1E0B3D3B975A}" type="datetimeFigureOut">
              <a:rPr lang="en-US" smtClean="0"/>
              <a:pPr/>
              <a:t>3/12/26</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6558436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11"/>
          </p:nvPr>
        </p:nvSpPr>
        <p:spPr/>
        <p:txBody>
          <a:bodyPr/>
          <a:lstStyle/>
          <a:p>
            <a:fld id="{A9DF6EFB-3F44-496C-A842-1E0B3D3B975A}" type="datetimeFigureOut">
              <a:rPr lang="en-US" smtClean="0"/>
              <a:pPr/>
              <a:t>3/12/26</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8187741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sz="3600">
                <a:latin typeface="+mj-lt"/>
              </a:defRPr>
            </a:lvl1p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3/12/26</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6481892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10"/>
          </p:nvPr>
        </p:nvSpPr>
        <p:spPr/>
        <p:txBody>
          <a:bodyPr/>
          <a:lstStyle/>
          <a:p>
            <a:fld id="{A9DF6EFB-3F44-496C-A842-1E0B3D3B975A}" type="datetimeFigureOut">
              <a:rPr lang="en-US" smtClean="0"/>
              <a:t>3/12/26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24101757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3/12/26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678795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3/12/26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p:cNvSpPr>
            <a:spLocks noGrp="1"/>
          </p:cNvSpPr>
          <p:nvPr>
            <p:ph idx="18"/>
          </p:nvPr>
        </p:nvSpPr>
        <p:spPr>
          <a:xfrm>
            <a:off x="762000" y="4953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idx="19"/>
          </p:nvPr>
        </p:nvSpPr>
        <p:spPr>
          <a:xfrm>
            <a:off x="914400" y="51054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p:cNvSpPr>
            <a:spLocks noGrp="1"/>
          </p:cNvSpPr>
          <p:nvPr>
            <p:ph idx="20"/>
          </p:nvPr>
        </p:nvSpPr>
        <p:spPr>
          <a:xfrm>
            <a:off x="1066800" y="52578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idx="21"/>
          </p:nvPr>
        </p:nvSpPr>
        <p:spPr>
          <a:xfrm>
            <a:off x="1219200" y="5410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idx="22"/>
          </p:nvPr>
        </p:nvSpPr>
        <p:spPr>
          <a:xfrm>
            <a:off x="1371600" y="5562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2"/>
          <p:cNvSpPr>
            <a:spLocks noGrp="1"/>
          </p:cNvSpPr>
          <p:nvPr>
            <p:ph idx="23"/>
          </p:nvPr>
        </p:nvSpPr>
        <p:spPr>
          <a:xfrm>
            <a:off x="1524000" y="5715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999933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3/12/26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Content Placeholder 4">
            <a:extLst>
              <a:ext uri="{FF2B5EF4-FFF2-40B4-BE49-F238E27FC236}">
                <a16:creationId xmlns:a16="http://schemas.microsoft.com/office/drawing/2014/main" id="{DDE22CE6-491F-4E22-AB44-4902B9C69DE4}"/>
              </a:ext>
            </a:extLst>
          </p:cNvPr>
          <p:cNvSpPr>
            <a:spLocks noGrp="1"/>
          </p:cNvSpPr>
          <p:nvPr>
            <p:ph sz="quarter" idx="14"/>
          </p:nvPr>
        </p:nvSpPr>
        <p:spPr>
          <a:xfrm>
            <a:off x="838200" y="2667000"/>
            <a:ext cx="8077200" cy="83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0258967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4572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743200"/>
            <a:ext cx="8229600" cy="1371601"/>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3/12/26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609600" y="460248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4"/>
          <p:cNvSpPr txBox="1">
            <a:spLocks/>
          </p:cNvSpPr>
          <p:nvPr userDrawn="1"/>
        </p:nvSpPr>
        <p:spPr>
          <a:xfrm>
            <a:off x="3810000" y="6425684"/>
            <a:ext cx="4866589" cy="184666"/>
          </a:xfrm>
          <a:prstGeom prst="rect">
            <a:avLst/>
          </a:prstGeom>
        </p:spPr>
        <p:txBody>
          <a:bodyPr vert="horz" lIns="0" tIns="0" rIns="0" bIns="0" rtlCol="0" anchor="b">
            <a:noAutofit/>
          </a:bodyPr>
          <a:lstStyle>
            <a:defPPr>
              <a:defRPr lang="en-US"/>
            </a:defPPr>
            <a:lvl1pPr marL="0" indent="0" algn="r" defTabSz="914400" rtl="0" eaLnBrk="1" latinLnBrk="0" hangingPunct="1">
              <a:buNone/>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dirty="0">
              <a:latin typeface="Verdana" panose="020B0604030504040204" pitchFamily="34" charset="0"/>
              <a:ea typeface="Verdana" panose="020B0604030504040204" pitchFamily="34" charset="0"/>
              <a:cs typeface="Verdana" panose="020B0604030504040204" pitchFamily="34" charset="0"/>
            </a:endParaRPr>
          </a:p>
        </p:txBody>
      </p:sp>
      <p:sp>
        <p:nvSpPr>
          <p:cNvPr id="5" name="Content Placeholder 4">
            <a:extLst>
              <a:ext uri="{FF2B5EF4-FFF2-40B4-BE49-F238E27FC236}">
                <a16:creationId xmlns:a16="http://schemas.microsoft.com/office/drawing/2014/main" id="{EA13232C-DF31-4CED-AB61-62F26E3165BA}"/>
              </a:ext>
            </a:extLst>
          </p:cNvPr>
          <p:cNvSpPr>
            <a:spLocks noGrp="1"/>
          </p:cNvSpPr>
          <p:nvPr>
            <p:ph sz="quarter" idx="15"/>
          </p:nvPr>
        </p:nvSpPr>
        <p:spPr>
          <a:xfrm>
            <a:off x="533400" y="3733800"/>
            <a:ext cx="8077200" cy="533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1" name="Content Placeholder 10">
            <a:extLst>
              <a:ext uri="{FF2B5EF4-FFF2-40B4-BE49-F238E27FC236}">
                <a16:creationId xmlns:a16="http://schemas.microsoft.com/office/drawing/2014/main" id="{25DD6962-3095-446C-A57F-4E808E224A95}"/>
              </a:ext>
            </a:extLst>
          </p:cNvPr>
          <p:cNvSpPr>
            <a:spLocks noGrp="1"/>
          </p:cNvSpPr>
          <p:nvPr>
            <p:ph sz="quarter" idx="16"/>
          </p:nvPr>
        </p:nvSpPr>
        <p:spPr>
          <a:xfrm>
            <a:off x="762000" y="5619750"/>
            <a:ext cx="7848600" cy="3238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4" name="Content Placeholder 13">
            <a:extLst>
              <a:ext uri="{FF2B5EF4-FFF2-40B4-BE49-F238E27FC236}">
                <a16:creationId xmlns:a16="http://schemas.microsoft.com/office/drawing/2014/main" id="{FD058FF3-6114-471E-A9AA-A3D250496F47}"/>
              </a:ext>
            </a:extLst>
          </p:cNvPr>
          <p:cNvSpPr>
            <a:spLocks noGrp="1"/>
          </p:cNvSpPr>
          <p:nvPr>
            <p:ph sz="quarter" idx="17"/>
          </p:nvPr>
        </p:nvSpPr>
        <p:spPr>
          <a:xfrm>
            <a:off x="381000" y="2255838"/>
            <a:ext cx="8458200" cy="3349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3051578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A9DF6EFB-3F44-496C-A842-1E0B3D3B975A}" type="datetimeFigureOut">
              <a:rPr lang="en-US" smtClean="0"/>
              <a:t>3/12/26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15157198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lvl1pPr>
              <a:defRPr sz="3600">
                <a:latin typeface="+mj-lt"/>
              </a:defRPr>
            </a:lvl1pPr>
          </a:lstStyle>
          <a:p>
            <a:r>
              <a:rPr lang="en-US" dirty="0"/>
              <a:t>Click to edit Master title style</a:t>
            </a:r>
          </a:p>
        </p:txBody>
      </p:sp>
      <p:sp>
        <p:nvSpPr>
          <p:cNvPr id="3" name="Date Placeholder 2"/>
          <p:cNvSpPr>
            <a:spLocks noGrp="1"/>
          </p:cNvSpPr>
          <p:nvPr>
            <p:ph type="dt" sz="half" idx="10"/>
          </p:nvPr>
        </p:nvSpPr>
        <p:spPr/>
        <p:txBody>
          <a:bodyPr/>
          <a:lstStyle/>
          <a:p>
            <a:fld id="{A9DF6EFB-3F44-496C-A842-1E0B3D3B975A}" type="datetimeFigureOut">
              <a:rPr lang="en-US" smtClean="0"/>
              <a:t>3/12/26</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t>‹#›</a:t>
            </a:fld>
            <a:endParaRPr lang="en-US" dirty="0"/>
          </a:p>
        </p:txBody>
      </p:sp>
      <p:sp>
        <p:nvSpPr>
          <p:cNvPr id="12" name="Picture Placeholder 11"/>
          <p:cNvSpPr>
            <a:spLocks noGrp="1"/>
          </p:cNvSpPr>
          <p:nvPr>
            <p:ph type="pic" sz="quarter" idx="13"/>
          </p:nvPr>
        </p:nvSpPr>
        <p:spPr>
          <a:xfrm>
            <a:off x="533400" y="2514600"/>
            <a:ext cx="8153400" cy="1066800"/>
          </a:xfrm>
        </p:spPr>
        <p:txBody>
          <a:bodyPr/>
          <a:lstStyle/>
          <a:p>
            <a:endParaRPr lang="en-IN"/>
          </a:p>
        </p:txBody>
      </p:sp>
      <p:sp>
        <p:nvSpPr>
          <p:cNvPr id="14" name="Text Placeholder 13"/>
          <p:cNvSpPr>
            <a:spLocks noGrp="1"/>
          </p:cNvSpPr>
          <p:nvPr>
            <p:ph type="body" sz="quarter" idx="14"/>
          </p:nvPr>
        </p:nvSpPr>
        <p:spPr>
          <a:xfrm>
            <a:off x="1066800" y="3810000"/>
            <a:ext cx="6858000" cy="1371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6" name="Content Placeholder 15"/>
          <p:cNvSpPr>
            <a:spLocks noGrp="1"/>
          </p:cNvSpPr>
          <p:nvPr>
            <p:ph sz="quarter" idx="15"/>
          </p:nvPr>
        </p:nvSpPr>
        <p:spPr>
          <a:xfrm>
            <a:off x="1143000" y="5257800"/>
            <a:ext cx="4648200" cy="6096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85785323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3/12/26</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1" name="Picture 10"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39387441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98_Learning Objectives">
    <p:spTree>
      <p:nvGrpSpPr>
        <p:cNvPr id="1" name="Shape 47"/>
        <p:cNvGrpSpPr/>
        <p:nvPr/>
      </p:nvGrpSpPr>
      <p:grpSpPr>
        <a:xfrm>
          <a:off x="0" y="0"/>
          <a:ext cx="0" cy="0"/>
          <a:chOff x="0" y="0"/>
          <a:chExt cx="0" cy="0"/>
        </a:xfrm>
      </p:grpSpPr>
      <p:sp>
        <p:nvSpPr>
          <p:cNvPr id="48" name="Shape 48"/>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49" name="Shape 49"/>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118871" marR="0" lvl="0" indent="-93471" algn="l" rtl="0">
              <a:spcBef>
                <a:spcPts val="1500"/>
              </a:spcBef>
              <a:buClr>
                <a:srgbClr val="007FA3"/>
              </a:buClr>
              <a:buSzPct val="25000"/>
              <a:buFont typeface="Arial"/>
              <a:buChar char="•"/>
              <a:defRPr sz="1600" b="0" i="0" u="none" strike="noStrike" cap="none">
                <a:solidFill>
                  <a:schemeClr val="dk1"/>
                </a:solidFill>
                <a:latin typeface="Arial(Body)"/>
                <a:ea typeface="Arial(Body)"/>
                <a:cs typeface="Arial"/>
                <a:sym typeface="Arial"/>
              </a:defRPr>
            </a:lvl1pPr>
            <a:lvl2pPr marL="569913" marR="0" lvl="1" indent="-188912"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51" name="Shape 51"/>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Body)"/>
                <a:ea typeface="Arial(Body)"/>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lang="en-IN" dirty="0"/>
          </a:p>
        </p:txBody>
      </p:sp>
      <p:sp>
        <p:nvSpPr>
          <p:cNvPr id="52" name="Shape 52"/>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latin typeface="Arial(Body)"/>
              </a:defRPr>
            </a:lvl1pPr>
          </a:lstStyle>
          <a:p>
            <a:pPr algn="r">
              <a:buSzPct val="25000"/>
            </a:pPr>
            <a:fld id="{00000000-1234-1234-1234-123412341234}" type="slidenum">
              <a:rPr lang="en-US" sz="900" smtClean="0">
                <a:solidFill>
                  <a:schemeClr val="lt1"/>
                </a:solidFill>
              </a:rPr>
              <a:pPr algn="r">
                <a:buSzPct val="25000"/>
              </a:pPr>
              <a:t>‹#›</a:t>
            </a:fld>
            <a:endParaRPr lang="en-US" sz="900" dirty="0">
              <a:solidFill>
                <a:schemeClr val="lt1"/>
              </a:solidFill>
            </a:endParaRPr>
          </a:p>
        </p:txBody>
      </p:sp>
      <p:sp>
        <p:nvSpPr>
          <p:cNvPr id="7" name="Footer Placeholder 4"/>
          <p:cNvSpPr>
            <a:spLocks noGrp="1"/>
          </p:cNvSpPr>
          <p:nvPr>
            <p:ph type="ftr" sz="quarter" idx="3"/>
          </p:nvPr>
        </p:nvSpPr>
        <p:spPr>
          <a:xfrm>
            <a:off x="2819401" y="6424902"/>
            <a:ext cx="5857188" cy="204498"/>
          </a:xfrm>
          <a:prstGeom prst="rect">
            <a:avLst/>
          </a:prstGeom>
        </p:spPr>
        <p:txBody>
          <a:bodyPr vert="horz" lIns="0" tIns="0" rIns="0" bIns="0" rtlCol="0" anchor="b">
            <a:noAutofit/>
          </a:bodyPr>
          <a:lstStyle>
            <a:lvl1pPr marL="0" indent="0" algn="r">
              <a:buNone/>
              <a:defRPr sz="1200">
                <a:solidFill>
                  <a:schemeClr val="tx1"/>
                </a:solidFill>
              </a:defRPr>
            </a:lvl1pPr>
          </a:lstStyle>
          <a:p>
            <a:r>
              <a:rPr lang="en-IN" sz="120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2021, 2018, 2015 </a:t>
            </a:r>
            <a:r>
              <a:rPr lang="en-IN" sz="1200" dirty="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21705162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copy">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sz="3600">
                <a:latin typeface="+mj-lt"/>
              </a:defRPr>
            </a:lvl1p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3/12/26</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
        <p:nvSpPr>
          <p:cNvPr id="4" name="Picture Placeholder 3">
            <a:extLst>
              <a:ext uri="{FF2B5EF4-FFF2-40B4-BE49-F238E27FC236}">
                <a16:creationId xmlns:a16="http://schemas.microsoft.com/office/drawing/2014/main" id="{49B1A741-EFA1-4984-B2F6-EC6B322134D1}"/>
              </a:ext>
            </a:extLst>
          </p:cNvPr>
          <p:cNvSpPr>
            <a:spLocks noGrp="1"/>
          </p:cNvSpPr>
          <p:nvPr>
            <p:ph type="pic" sz="quarter" idx="13"/>
          </p:nvPr>
        </p:nvSpPr>
        <p:spPr>
          <a:xfrm>
            <a:off x="457200" y="3276600"/>
            <a:ext cx="8229600" cy="1447800"/>
          </a:xfrm>
        </p:spPr>
        <p:txBody>
          <a:bodyPr/>
          <a:lstStyle/>
          <a:p>
            <a:endParaRPr lang="en-IN"/>
          </a:p>
        </p:txBody>
      </p:sp>
    </p:spTree>
    <p:extLst>
      <p:ext uri="{BB962C8B-B14F-4D97-AF65-F5344CB8AC3E}">
        <p14:creationId xmlns:p14="http://schemas.microsoft.com/office/powerpoint/2010/main" val="335575531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5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3/12/26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163750688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4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3/12/26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Picture Placeholder 4"/>
          <p:cNvSpPr>
            <a:spLocks noGrp="1"/>
          </p:cNvSpPr>
          <p:nvPr>
            <p:ph type="pic" sz="quarter" idx="14"/>
          </p:nvPr>
        </p:nvSpPr>
        <p:spPr>
          <a:xfrm>
            <a:off x="457200" y="5181600"/>
            <a:ext cx="8229600" cy="1066800"/>
          </a:xfrm>
        </p:spPr>
        <p:txBody>
          <a:bodyPr/>
          <a:lstStyle/>
          <a:p>
            <a:endParaRPr lang="en-IN"/>
          </a:p>
        </p:txBody>
      </p:sp>
    </p:spTree>
    <p:extLst>
      <p:ext uri="{BB962C8B-B14F-4D97-AF65-F5344CB8AC3E}">
        <p14:creationId xmlns:p14="http://schemas.microsoft.com/office/powerpoint/2010/main" val="13678310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image" Target="../media/image1.emf"/><Relationship Id="rId2" Type="http://schemas.openxmlformats.org/officeDocument/2006/relationships/slideLayout" Target="../slideLayouts/slideLayout14.xml"/><Relationship Id="rId16" Type="http://schemas.openxmlformats.org/officeDocument/2006/relationships/theme" Target="../theme/theme2.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758654"/>
            <a:ext cx="8229600" cy="553998"/>
          </a:xfrm>
          <a:prstGeom prst="rect">
            <a:avLst/>
          </a:prstGeom>
        </p:spPr>
        <p:txBody>
          <a:bodyPr vert="horz" lIns="0" tIns="0" rIns="0" bIns="0" rtlCol="0" anchor="b">
            <a:spAutoFit/>
          </a:bodyPr>
          <a:lstStyle/>
          <a:p>
            <a:r>
              <a:rPr lang="en-US" dirty="0"/>
              <a:t>Click to edit Master title style</a:t>
            </a:r>
          </a:p>
        </p:txBody>
      </p:sp>
      <p:sp>
        <p:nvSpPr>
          <p:cNvPr id="3" name="Text Placeholder 2"/>
          <p:cNvSpPr>
            <a:spLocks noGrp="1"/>
          </p:cNvSpPr>
          <p:nvPr>
            <p:ph type="body" idx="1"/>
          </p:nvPr>
        </p:nvSpPr>
        <p:spPr>
          <a:xfrm>
            <a:off x="457200" y="1600200"/>
            <a:ext cx="8229600" cy="2677656"/>
          </a:xfrm>
          <a:prstGeom prst="rect">
            <a:avLst/>
          </a:prstGeom>
        </p:spPr>
        <p:txBody>
          <a:bodyPr vert="horz"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3/12/26</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pic>
        <p:nvPicPr>
          <p:cNvPr id="10" name="Picture 9" descr="Pearson Logo"/>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8" name="Text Placeholder 4"/>
          <p:cNvSpPr txBox="1">
            <a:spLocks/>
          </p:cNvSpPr>
          <p:nvPr userDrawn="1"/>
        </p:nvSpPr>
        <p:spPr>
          <a:xfrm>
            <a:off x="2743200" y="6451395"/>
            <a:ext cx="5933357" cy="201755"/>
          </a:xfrm>
          <a:prstGeom prst="rect">
            <a:avLst/>
          </a:prstGeom>
        </p:spPr>
        <p:txBody>
          <a:bodyPr vert="horz" wrap="square"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lgn="r">
              <a:buFont typeface="Arial" panose="020B0604020202020204" pitchFamily="34" charset="0"/>
              <a:buNone/>
            </a:pPr>
            <a:r>
              <a:rPr lang="en-IN" sz="120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2021, 2018, 2015 </a:t>
            </a:r>
            <a:r>
              <a:rPr lang="en-IN" sz="1200" dirty="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9" r:id="rId3"/>
    <p:sldLayoutId id="2147483660" r:id="rId4"/>
    <p:sldLayoutId id="2147483662" r:id="rId5"/>
    <p:sldLayoutId id="2147483661" r:id="rId6"/>
    <p:sldLayoutId id="2147483663" r:id="rId7"/>
    <p:sldLayoutId id="2147483651" r:id="rId8"/>
    <p:sldLayoutId id="2147483654" r:id="rId9"/>
    <p:sldLayoutId id="2147483655" r:id="rId10"/>
    <p:sldLayoutId id="2147483696" r:id="rId11"/>
    <p:sldLayoutId id="2147483701" r:id="rId12"/>
  </p:sldLayoutIdLst>
  <p:txStyles>
    <p:titleStyle>
      <a:lvl1pPr algn="l" defTabSz="914400" rtl="0" eaLnBrk="1" latinLnBrk="0" hangingPunct="1">
        <a:lnSpc>
          <a:spcPct val="100000"/>
        </a:lnSpc>
        <a:spcBef>
          <a:spcPct val="0"/>
        </a:spcBef>
        <a:buNone/>
        <a:defRPr sz="3600" b="1" kern="1200">
          <a:solidFill>
            <a:srgbClr val="007FA3"/>
          </a:solidFill>
          <a:latin typeface="+mj-lt"/>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3/12/26</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pic>
        <p:nvPicPr>
          <p:cNvPr id="10" name="Picture 9" descr="Pearson Logo"/>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8" name="Text Placeholder 4"/>
          <p:cNvSpPr txBox="1">
            <a:spLocks/>
          </p:cNvSpPr>
          <p:nvPr userDrawn="1"/>
        </p:nvSpPr>
        <p:spPr>
          <a:xfrm>
            <a:off x="2743200" y="6451395"/>
            <a:ext cx="5933357" cy="201755"/>
          </a:xfrm>
          <a:prstGeom prst="rect">
            <a:avLst/>
          </a:prstGeom>
        </p:spPr>
        <p:txBody>
          <a:bodyPr vert="horz" wrap="square"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lgn="r">
              <a:buFont typeface="Arial" panose="020B0604020202020204" pitchFamily="34" charset="0"/>
              <a:buNone/>
            </a:pPr>
            <a:r>
              <a:rPr lang="en-IN" sz="1200">
                <a:latin typeface="Verdana" panose="020B0604030504040204" pitchFamily="34" charset="0"/>
                <a:ea typeface="Verdana" panose="020B0604030504040204" pitchFamily="34" charset="0"/>
                <a:cs typeface="Verdana" panose="020B0604030504040204" pitchFamily="34" charset="0"/>
              </a:rPr>
              <a:t>Copyright © </a:t>
            </a:r>
            <a:r>
              <a:rPr lang="en-US" sz="1200">
                <a:latin typeface="Verdana" panose="020B0604030504040204" pitchFamily="34" charset="0"/>
                <a:ea typeface="Verdana" panose="020B0604030504040204" pitchFamily="34" charset="0"/>
                <a:cs typeface="Verdana" panose="020B0604030504040204" pitchFamily="34" charset="0"/>
              </a:rPr>
              <a:t>2021, 2018, 2015 </a:t>
            </a:r>
            <a:r>
              <a:rPr lang="en-IN" sz="1200">
                <a:latin typeface="Verdana" panose="020B0604030504040204" pitchFamily="34" charset="0"/>
                <a:ea typeface="Verdana" panose="020B0604030504040204" pitchFamily="34" charset="0"/>
                <a:cs typeface="Verdana" panose="020B0604030504040204" pitchFamily="34" charset="0"/>
              </a:rPr>
              <a:t>Pearson Education, Inc. All Rights Reserved</a:t>
            </a:r>
            <a:endParaRPr lang="en-IN" sz="12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547644696"/>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97" r:id="rId13"/>
    <p:sldLayoutId id="2147483699" r:id="rId14"/>
    <p:sldLayoutId id="2147483700" r:id="rId15"/>
  </p:sldLayoutIdLst>
  <p:txStyles>
    <p:titleStyle>
      <a:lvl1pPr algn="l" defTabSz="914400" rtl="0" eaLnBrk="1" latinLnBrk="0" hangingPunct="1">
        <a:lnSpc>
          <a:spcPct val="100000"/>
        </a:lnSpc>
        <a:spcBef>
          <a:spcPct val="0"/>
        </a:spcBef>
        <a:buNone/>
        <a:defRPr sz="3400" b="1" kern="1200">
          <a:solidFill>
            <a:srgbClr val="007FA3"/>
          </a:solidFill>
          <a:latin typeface="Times New Roman" panose="02020603050405020304" pitchFamily="18" charset="0"/>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7.xml"/><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27.xml"/><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0.xml"/><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3.xml"/></Relationships>
</file>

<file path=ppt/slides/_rels/slide1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6.xml"/></Relationships>
</file>

<file path=ppt/slides/_rels/slide19.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Lst>
          </p:cNvPr>
          <p:cNvSpPr>
            <a:spLocks noGrp="1"/>
          </p:cNvSpPr>
          <p:nvPr>
            <p:ph type="title"/>
          </p:nvPr>
        </p:nvSpPr>
        <p:spPr>
          <a:xfrm>
            <a:off x="361934" y="117302"/>
            <a:ext cx="8272730" cy="590349"/>
          </a:xfrm>
        </p:spPr>
        <p:txBody>
          <a:bodyPr wrap="square" lIns="0" tIns="18000" rIns="0" bIns="18000" anchor="ctr" anchorCtr="0">
            <a:spAutoFit/>
          </a:bodyPr>
          <a:lstStyle/>
          <a:p>
            <a:r>
              <a:rPr lang="en-US" noProof="0" dirty="0"/>
              <a:t>Accounting Information Systems</a:t>
            </a:r>
          </a:p>
        </p:txBody>
      </p:sp>
      <p:sp>
        <p:nvSpPr>
          <p:cNvPr id="3" name="Content Placeholder 2">
            <a:extLst>
              <a:ext uri="{FF2B5EF4-FFF2-40B4-BE49-F238E27FC236}">
                <a16:creationId xmlns:a16="http://schemas.microsoft.com/office/drawing/2014/main" id="{ABE18F80-D4FC-4D8F-B2BD-E7BEE7E012B5}"/>
              </a:ext>
            </a:extLst>
          </p:cNvPr>
          <p:cNvSpPr>
            <a:spLocks noGrp="1"/>
          </p:cNvSpPr>
          <p:nvPr>
            <p:ph type="body" idx="1"/>
          </p:nvPr>
        </p:nvSpPr>
        <p:spPr>
          <a:xfrm>
            <a:off x="364643" y="932927"/>
            <a:ext cx="1958194" cy="344128"/>
          </a:xfrm>
        </p:spPr>
        <p:txBody>
          <a:bodyPr wrap="square" lIns="0" tIns="18000" rIns="0" bIns="18000" anchor="ctr" anchorCtr="0">
            <a:spAutoFit/>
          </a:bodyPr>
          <a:lstStyle/>
          <a:p>
            <a:r>
              <a:rPr lang="en-US" sz="2000" noProof="0" dirty="0">
                <a:solidFill>
                  <a:srgbClr val="007FA3"/>
                </a:solidFill>
              </a:rPr>
              <a:t>Sixteenth </a:t>
            </a:r>
            <a:r>
              <a:rPr lang="en-US" sz="2000" noProof="0" dirty="0">
                <a:solidFill>
                  <a:srgbClr val="007FA3"/>
                </a:solidFill>
                <a:latin typeface="+mn-lt"/>
              </a:rPr>
              <a:t>Edition</a:t>
            </a:r>
            <a:endParaRPr lang="en-US" noProof="0" dirty="0">
              <a:latin typeface="+mn-lt"/>
            </a:endParaRPr>
          </a:p>
        </p:txBody>
      </p:sp>
      <p:pic>
        <p:nvPicPr>
          <p:cNvPr id="9" name="Picture 8" descr="Front Cover: Accounting Information Systems, Sixteenth Edition by Romney, Steinbart, Summers and Wood.">
            <a:extLst>
              <a:ext uri="{FF2B5EF4-FFF2-40B4-BE49-F238E27FC236}">
                <a16:creationId xmlns:a16="http://schemas.microsoft.com/office/drawing/2014/main" id="{474D169D-DDD8-4DAB-92C6-0DAC8CD369D1}"/>
              </a:ext>
            </a:extLst>
          </p:cNvPr>
          <p:cNvPicPr>
            <a:picLocks noChangeAspect="1"/>
          </p:cNvPicPr>
          <p:nvPr/>
        </p:nvPicPr>
        <p:blipFill>
          <a:blip r:embed="rId3"/>
          <a:stretch>
            <a:fillRect/>
          </a:stretch>
        </p:blipFill>
        <p:spPr>
          <a:xfrm>
            <a:off x="384200" y="1386673"/>
            <a:ext cx="3892191" cy="4978953"/>
          </a:xfrm>
          <a:prstGeom prst="rect">
            <a:avLst/>
          </a:prstGeom>
        </p:spPr>
      </p:pic>
      <p:sp>
        <p:nvSpPr>
          <p:cNvPr id="5" name="Content Placeholder 4">
            <a:extLst>
              <a:ext uri="{FF2B5EF4-FFF2-40B4-BE49-F238E27FC236}">
                <a16:creationId xmlns:a16="http://schemas.microsoft.com/office/drawing/2014/main" id="{2D222376-7AD7-4443-B67A-120BE12F4DDB}"/>
              </a:ext>
            </a:extLst>
          </p:cNvPr>
          <p:cNvSpPr>
            <a:spLocks noGrp="1"/>
          </p:cNvSpPr>
          <p:nvPr>
            <p:ph sz="quarter" idx="14"/>
          </p:nvPr>
        </p:nvSpPr>
        <p:spPr>
          <a:xfrm>
            <a:off x="4572000" y="2430301"/>
            <a:ext cx="1991762" cy="498016"/>
          </a:xfrm>
        </p:spPr>
        <p:txBody>
          <a:bodyPr wrap="square" lIns="0" tIns="18000" rIns="0" bIns="18000" anchor="ctr" anchorCtr="0">
            <a:spAutoFit/>
          </a:bodyPr>
          <a:lstStyle/>
          <a:p>
            <a:pPr marL="0"/>
            <a:r>
              <a:rPr lang="en-US" noProof="0" dirty="0">
                <a:latin typeface="+mn-lt"/>
              </a:rPr>
              <a:t>Chapter 24</a:t>
            </a:r>
          </a:p>
        </p:txBody>
      </p:sp>
      <p:sp>
        <p:nvSpPr>
          <p:cNvPr id="6" name="Content Placeholder 5">
            <a:extLst>
              <a:ext uri="{FF2B5EF4-FFF2-40B4-BE49-F238E27FC236}">
                <a16:creationId xmlns:a16="http://schemas.microsoft.com/office/drawing/2014/main" id="{82FD4EC9-4778-4E2F-B136-2A176CA2BA69}"/>
              </a:ext>
            </a:extLst>
          </p:cNvPr>
          <p:cNvSpPr>
            <a:spLocks noGrp="1"/>
          </p:cNvSpPr>
          <p:nvPr>
            <p:ph sz="quarter" idx="15"/>
          </p:nvPr>
        </p:nvSpPr>
        <p:spPr>
          <a:xfrm>
            <a:off x="4582048" y="3213056"/>
            <a:ext cx="4140200" cy="713460"/>
          </a:xfrm>
        </p:spPr>
        <p:txBody>
          <a:bodyPr wrap="square" lIns="0" tIns="18000" rIns="0" bIns="18000" anchor="ctr" anchorCtr="0">
            <a:spAutoFit/>
          </a:bodyPr>
          <a:lstStyle/>
          <a:p>
            <a:pPr marL="0" lvl="0">
              <a:spcBef>
                <a:spcPts val="0"/>
              </a:spcBef>
              <a:buSzPts val="2200"/>
            </a:pPr>
            <a:r>
              <a:rPr lang="en-US" dirty="0"/>
              <a:t>Systems Design, Implementation, and Operation</a:t>
            </a:r>
          </a:p>
        </p:txBody>
      </p:sp>
      <p:pic>
        <p:nvPicPr>
          <p:cNvPr id="22" name="Picture Placeholder 21" descr="Pearson Logo">
            <a:extLst>
              <a:ext uri="{FF2B5EF4-FFF2-40B4-BE49-F238E27FC236}">
                <a16:creationId xmlns:a16="http://schemas.microsoft.com/office/drawing/2014/main" id="{463657D3-0029-4FB6-A24C-CAB832988B4E}"/>
              </a:ext>
            </a:extLst>
          </p:cNvPr>
          <p:cNvPicPr>
            <a:picLocks noGrp="1" noChangeAspect="1"/>
          </p:cNvPicPr>
          <p:nvPr>
            <p:ph type="pic" sz="quarter" idx="16"/>
          </p:nvPr>
        </p:nvPicPr>
        <p:blipFill>
          <a:blip r:embed="rId4"/>
          <a:srcRect t="22152" b="22152"/>
          <a:stretch>
            <a:fillRect/>
          </a:stretch>
        </p:blipFill>
        <p:spPr>
          <a:xfrm>
            <a:off x="332508" y="6431973"/>
            <a:ext cx="1153391" cy="290602"/>
          </a:xfrm>
        </p:spPr>
      </p:pic>
      <p:sp>
        <p:nvSpPr>
          <p:cNvPr id="8" name="Content Placeholder 7">
            <a:extLst>
              <a:ext uri="{FF2B5EF4-FFF2-40B4-BE49-F238E27FC236}">
                <a16:creationId xmlns:a16="http://schemas.microsoft.com/office/drawing/2014/main" id="{C8E88D28-1A9F-4FC4-946F-10B4629D1438}"/>
              </a:ext>
            </a:extLst>
          </p:cNvPr>
          <p:cNvSpPr>
            <a:spLocks noGrp="1"/>
          </p:cNvSpPr>
          <p:nvPr>
            <p:ph sz="quarter" idx="17"/>
          </p:nvPr>
        </p:nvSpPr>
        <p:spPr>
          <a:xfrm>
            <a:off x="2169825" y="6425373"/>
            <a:ext cx="6589712" cy="221018"/>
          </a:xfrm>
        </p:spPr>
        <p:txBody>
          <a:bodyPr lIns="0" tIns="18000" rIns="0" bIns="18000" anchor="ctr" anchorCtr="0">
            <a:spAutoFit/>
          </a:bodyPr>
          <a:lstStyle/>
          <a:p>
            <a:r>
              <a:rPr lang="en-US" altLang="en-US" sz="1200" b="0" noProof="0" dirty="0">
                <a:latin typeface="Verdana"/>
                <a:ea typeface="Verdana" panose="020B0604030504040204" pitchFamily="34" charset="0"/>
                <a:cs typeface="Verdana" panose="020B0604030504040204" pitchFamily="34" charset="0"/>
              </a:rPr>
              <a:t>Copyright © 2024, 2021, 2018 Pearson Education, Inc.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77115" y="124983"/>
            <a:ext cx="8229600" cy="618079"/>
          </a:xfrm>
        </p:spPr>
        <p:txBody>
          <a:bodyPr anchor="ctr">
            <a:noAutofit/>
          </a:bodyPr>
          <a:lstStyle/>
          <a:p>
            <a:r>
              <a:rPr lang="en-IN" sz="3600" dirty="0">
                <a:latin typeface="+mj-lt"/>
              </a:rPr>
              <a:t>Learning Objectives</a:t>
            </a:r>
          </a:p>
        </p:txBody>
      </p:sp>
      <p:sp>
        <p:nvSpPr>
          <p:cNvPr id="2" name="Content Placeholder 1"/>
          <p:cNvSpPr>
            <a:spLocks noGrp="1"/>
          </p:cNvSpPr>
          <p:nvPr>
            <p:ph idx="13"/>
          </p:nvPr>
        </p:nvSpPr>
        <p:spPr>
          <a:xfrm>
            <a:off x="477115" y="846666"/>
            <a:ext cx="8229600" cy="4308872"/>
          </a:xfrm>
        </p:spPr>
        <p:txBody>
          <a:bodyPr>
            <a:spAutoFit/>
          </a:bodyPr>
          <a:lstStyle/>
          <a:p>
            <a:pPr lvl="0">
              <a:spcBef>
                <a:spcPts val="0"/>
              </a:spcBef>
              <a:buSzPts val="2400"/>
            </a:pPr>
            <a:r>
              <a:rPr lang="en-IN" sz="2400" dirty="0"/>
              <a:t>Discuss the conceptual systems design process and the activities in this phase.</a:t>
            </a:r>
          </a:p>
          <a:p>
            <a:pPr lvl="0">
              <a:spcBef>
                <a:spcPts val="1200"/>
              </a:spcBef>
              <a:buSzPts val="2400"/>
            </a:pPr>
            <a:r>
              <a:rPr lang="en-IN" sz="2400" dirty="0"/>
              <a:t>Discuss the physical systems design process and the activities in this phase.</a:t>
            </a:r>
          </a:p>
          <a:p>
            <a:pPr lvl="0">
              <a:spcBef>
                <a:spcPts val="1200"/>
              </a:spcBef>
              <a:buSzPts val="2400"/>
            </a:pPr>
            <a:r>
              <a:rPr lang="en-IN" sz="2400" dirty="0"/>
              <a:t>Discuss the systems implementation process and the activities in this phase.</a:t>
            </a:r>
          </a:p>
          <a:p>
            <a:pPr lvl="0">
              <a:spcBef>
                <a:spcPts val="1200"/>
              </a:spcBef>
              <a:buSzPts val="2400"/>
            </a:pPr>
            <a:r>
              <a:rPr lang="en-IN" sz="2400" dirty="0"/>
              <a:t>Discuss the systems conversion process and the activities in this phase.</a:t>
            </a:r>
          </a:p>
          <a:p>
            <a:pPr lvl="0">
              <a:spcBef>
                <a:spcPts val="1200"/>
              </a:spcBef>
              <a:buSzPts val="2400"/>
            </a:pPr>
            <a:r>
              <a:rPr lang="en-IN" sz="2400" dirty="0"/>
              <a:t>Discuss the systems operation and maintenance process and the activities in this phase.</a:t>
            </a:r>
          </a:p>
        </p:txBody>
      </p:sp>
    </p:spTree>
    <p:extLst>
      <p:ext uri="{BB962C8B-B14F-4D97-AF65-F5344CB8AC3E}">
        <p14:creationId xmlns:p14="http://schemas.microsoft.com/office/powerpoint/2010/main" val="25605828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79506" y="87489"/>
            <a:ext cx="8229600" cy="1107996"/>
          </a:xfrm>
        </p:spPr>
        <p:txBody>
          <a:bodyPr>
            <a:noAutofit/>
          </a:bodyPr>
          <a:lstStyle/>
          <a:p>
            <a:r>
              <a:rPr lang="en-IN" sz="3200" dirty="0">
                <a:latin typeface="+mj-lt"/>
              </a:rPr>
              <a:t>Figure 22.1 The Systems Development Life Cycle</a:t>
            </a:r>
          </a:p>
        </p:txBody>
      </p:sp>
      <p:pic>
        <p:nvPicPr>
          <p:cNvPr id="10" name="Picture Placeholder 9" descr="A cyclic diagram shows the steps involved in the systems development life cycle.&#10;Long description is available in notes, press F6">
            <a:extLst>
              <a:ext uri="{FF2B5EF4-FFF2-40B4-BE49-F238E27FC236}">
                <a16:creationId xmlns:a16="http://schemas.microsoft.com/office/drawing/2014/main" id="{D3AEF6EF-E9CA-4854-BD44-B6B19CEC6806}"/>
              </a:ext>
            </a:extLst>
          </p:cNvPr>
          <p:cNvPicPr>
            <a:picLocks noGrp="1" noChangeAspect="1"/>
          </p:cNvPicPr>
          <p:nvPr>
            <p:ph type="pic" sz="quarter" idx="14"/>
          </p:nvPr>
        </p:nvPicPr>
        <p:blipFill>
          <a:blip r:embed="rId3" cstate="print">
            <a:extLst>
              <a:ext uri="{28A0092B-C50C-407E-A947-70E740481C1C}">
                <a14:useLocalDpi xmlns:a14="http://schemas.microsoft.com/office/drawing/2010/main" val="0"/>
              </a:ext>
            </a:extLst>
          </a:blip>
          <a:stretch>
            <a:fillRect/>
          </a:stretch>
        </p:blipFill>
        <p:spPr>
          <a:xfrm>
            <a:off x="1851239" y="1398216"/>
            <a:ext cx="5447694" cy="4876398"/>
          </a:xfrm>
          <a:prstGeom prst="rect">
            <a:avLst/>
          </a:prstGeom>
        </p:spPr>
      </p:pic>
    </p:spTree>
    <p:extLst>
      <p:ext uri="{BB962C8B-B14F-4D97-AF65-F5344CB8AC3E}">
        <p14:creationId xmlns:p14="http://schemas.microsoft.com/office/powerpoint/2010/main" val="4103485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79506" y="276225"/>
            <a:ext cx="8229600" cy="433485"/>
          </a:xfrm>
        </p:spPr>
        <p:txBody>
          <a:bodyPr>
            <a:noAutofit/>
          </a:bodyPr>
          <a:lstStyle/>
          <a:p>
            <a:r>
              <a:rPr lang="en-IN" dirty="0">
                <a:latin typeface="+mj-lt"/>
              </a:rPr>
              <a:t>Figure 22.4 Steps in Systems Analysis</a:t>
            </a:r>
          </a:p>
        </p:txBody>
      </p:sp>
      <p:pic>
        <p:nvPicPr>
          <p:cNvPr id="5" name="Picture Placeholder 4" descr="A diagram shows the steps involved in systems analysis.&#10;Long description is available in notes, press F6">
            <a:extLst>
              <a:ext uri="{FF2B5EF4-FFF2-40B4-BE49-F238E27FC236}">
                <a16:creationId xmlns:a16="http://schemas.microsoft.com/office/drawing/2014/main" id="{858A4573-EAEA-4AA3-9032-8FF612489D48}"/>
              </a:ext>
            </a:extLst>
          </p:cNvPr>
          <p:cNvPicPr>
            <a:picLocks noGrp="1" noChangeAspect="1"/>
          </p:cNvPicPr>
          <p:nvPr>
            <p:ph type="pic" sz="quarter" idx="14"/>
          </p:nvPr>
        </p:nvPicPr>
        <p:blipFill>
          <a:blip r:embed="rId3" cstate="print">
            <a:extLst>
              <a:ext uri="{28A0092B-C50C-407E-A947-70E740481C1C}">
                <a14:useLocalDpi xmlns:a14="http://schemas.microsoft.com/office/drawing/2010/main" val="0"/>
              </a:ext>
            </a:extLst>
          </a:blip>
          <a:stretch>
            <a:fillRect/>
          </a:stretch>
        </p:blipFill>
        <p:spPr>
          <a:xfrm>
            <a:off x="3048000" y="838200"/>
            <a:ext cx="5344827" cy="5476289"/>
          </a:xfrm>
          <a:prstGeom prst="rect">
            <a:avLst/>
          </a:prstGeom>
        </p:spPr>
      </p:pic>
      <p:pic>
        <p:nvPicPr>
          <p:cNvPr id="2" name="Picture Placeholder 9" descr="A cyclic diagram shows the steps involved in the systems development life cycle.&#10;Long description is available in notes, press F6">
            <a:extLst>
              <a:ext uri="{FF2B5EF4-FFF2-40B4-BE49-F238E27FC236}">
                <a16:creationId xmlns:a16="http://schemas.microsoft.com/office/drawing/2014/main" id="{F33EE00D-3090-990B-C9C9-0F4B7B2CE19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28600" y="1146699"/>
            <a:ext cx="2345933" cy="2099917"/>
          </a:xfrm>
          <a:prstGeom prst="rect">
            <a:avLst/>
          </a:prstGeom>
        </p:spPr>
      </p:pic>
      <p:sp>
        <p:nvSpPr>
          <p:cNvPr id="3" name="Rectangle 2">
            <a:extLst>
              <a:ext uri="{FF2B5EF4-FFF2-40B4-BE49-F238E27FC236}">
                <a16:creationId xmlns:a16="http://schemas.microsoft.com/office/drawing/2014/main" id="{DA4610B9-D6A2-DF2D-BF70-4D103ED86A93}"/>
              </a:ext>
            </a:extLst>
          </p:cNvPr>
          <p:cNvSpPr/>
          <p:nvPr/>
        </p:nvSpPr>
        <p:spPr>
          <a:xfrm>
            <a:off x="838200" y="1066800"/>
            <a:ext cx="990600" cy="609600"/>
          </a:xfrm>
          <a:prstGeom prst="rect">
            <a:avLst/>
          </a:prstGeom>
          <a:noFill/>
          <a:ln w="5715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err="1"/>
          </a:p>
        </p:txBody>
      </p:sp>
    </p:spTree>
    <p:extLst>
      <p:ext uri="{BB962C8B-B14F-4D97-AF65-F5344CB8AC3E}">
        <p14:creationId xmlns:p14="http://schemas.microsoft.com/office/powerpoint/2010/main" val="27633855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76955" y="333375"/>
            <a:ext cx="8229600" cy="351642"/>
          </a:xfrm>
        </p:spPr>
        <p:txBody>
          <a:bodyPr>
            <a:noAutofit/>
          </a:bodyPr>
          <a:lstStyle/>
          <a:p>
            <a:r>
              <a:rPr lang="en-IN" sz="2600" dirty="0">
                <a:latin typeface="+mj-lt"/>
              </a:rPr>
              <a:t>Figure 24.1 Conceptual Systems Design Activities</a:t>
            </a:r>
          </a:p>
        </p:txBody>
      </p:sp>
      <p:pic>
        <p:nvPicPr>
          <p:cNvPr id="5" name="Picture Placeholder 4" descr="A flow diagram shows the conceptual design steps: evaluating design alternatives, preparing design specifications, and preparing the conceptual systems design report.&#10;Long description is available in notes, press F6&#10;">
            <a:extLst>
              <a:ext uri="{FF2B5EF4-FFF2-40B4-BE49-F238E27FC236}">
                <a16:creationId xmlns:a16="http://schemas.microsoft.com/office/drawing/2014/main" id="{B5EBD7CF-FFFB-4CE3-A068-F2F336C36033}"/>
              </a:ext>
            </a:extLst>
          </p:cNvPr>
          <p:cNvPicPr>
            <a:picLocks noGrp="1" noChangeAspect="1"/>
          </p:cNvPicPr>
          <p:nvPr>
            <p:ph type="pic" sz="quarter" idx="14"/>
          </p:nvPr>
        </p:nvPicPr>
        <p:blipFill>
          <a:blip r:embed="rId3" cstate="print">
            <a:extLst>
              <a:ext uri="{28A0092B-C50C-407E-A947-70E740481C1C}">
                <a14:useLocalDpi xmlns:a14="http://schemas.microsoft.com/office/drawing/2010/main" val="0"/>
              </a:ext>
            </a:extLst>
          </a:blip>
          <a:stretch>
            <a:fillRect/>
          </a:stretch>
        </p:blipFill>
        <p:spPr>
          <a:xfrm>
            <a:off x="2031246" y="828754"/>
            <a:ext cx="5081508" cy="5495846"/>
          </a:xfrm>
          <a:prstGeom prst="rect">
            <a:avLst/>
          </a:prstGeom>
        </p:spPr>
      </p:pic>
      <p:sp>
        <p:nvSpPr>
          <p:cNvPr id="2" name="Rectangle 1">
            <a:extLst>
              <a:ext uri="{FF2B5EF4-FFF2-40B4-BE49-F238E27FC236}">
                <a16:creationId xmlns:a16="http://schemas.microsoft.com/office/drawing/2014/main" id="{FD5FF7E6-B204-0742-9105-FAEECA718EA1}"/>
              </a:ext>
            </a:extLst>
          </p:cNvPr>
          <p:cNvSpPr/>
          <p:nvPr/>
        </p:nvSpPr>
        <p:spPr>
          <a:xfrm>
            <a:off x="152400" y="4191000"/>
            <a:ext cx="3733799" cy="152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1) Input</a:t>
            </a:r>
          </a:p>
          <a:p>
            <a:pPr algn="ctr"/>
            <a:r>
              <a:rPr lang="en-US" sz="2000" dirty="0"/>
              <a:t>2) Processing / Operations</a:t>
            </a:r>
          </a:p>
          <a:p>
            <a:pPr algn="ctr"/>
            <a:r>
              <a:rPr lang="en-US" sz="2000" dirty="0"/>
              <a:t>3) Data Storage</a:t>
            </a:r>
          </a:p>
          <a:p>
            <a:pPr algn="ctr"/>
            <a:r>
              <a:rPr lang="en-US" sz="2000" dirty="0"/>
              <a:t>4) Output</a:t>
            </a:r>
          </a:p>
        </p:txBody>
      </p:sp>
      <p:sp>
        <p:nvSpPr>
          <p:cNvPr id="6" name="Rectangle 5">
            <a:extLst>
              <a:ext uri="{FF2B5EF4-FFF2-40B4-BE49-F238E27FC236}">
                <a16:creationId xmlns:a16="http://schemas.microsoft.com/office/drawing/2014/main" id="{61D7EE58-935C-F842-8EBD-6E7CFD006A87}"/>
              </a:ext>
            </a:extLst>
          </p:cNvPr>
          <p:cNvSpPr/>
          <p:nvPr/>
        </p:nvSpPr>
        <p:spPr>
          <a:xfrm>
            <a:off x="5410201" y="4191000"/>
            <a:ext cx="3733799" cy="152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Define </a:t>
            </a:r>
            <a:r>
              <a:rPr lang="en-US" sz="2000" i="1" dirty="0"/>
              <a:t>goals / intent</a:t>
            </a:r>
          </a:p>
          <a:p>
            <a:pPr algn="ctr"/>
            <a:r>
              <a:rPr lang="en-US" sz="2000" i="1" dirty="0"/>
              <a:t>Written </a:t>
            </a:r>
            <a:r>
              <a:rPr lang="en-US" sz="2000" dirty="0"/>
              <a:t>documents (not code)</a:t>
            </a:r>
          </a:p>
          <a:p>
            <a:pPr algn="ctr"/>
            <a:r>
              <a:rPr lang="en-US" sz="2000" i="1" dirty="0"/>
              <a:t>Use </a:t>
            </a:r>
            <a:r>
              <a:rPr lang="en-US" sz="2000" dirty="0"/>
              <a:t>and </a:t>
            </a:r>
            <a:r>
              <a:rPr lang="en-US" sz="2000" i="1" dirty="0"/>
              <a:t>test </a:t>
            </a:r>
            <a:r>
              <a:rPr lang="en-US" sz="2000" dirty="0"/>
              <a:t>cases</a:t>
            </a:r>
          </a:p>
        </p:txBody>
      </p:sp>
      <p:pic>
        <p:nvPicPr>
          <p:cNvPr id="3" name="Picture Placeholder 9" descr="A cyclic diagram shows the steps involved in the systems development life cycle.&#10;Long description is available in notes, press F6">
            <a:extLst>
              <a:ext uri="{FF2B5EF4-FFF2-40B4-BE49-F238E27FC236}">
                <a16:creationId xmlns:a16="http://schemas.microsoft.com/office/drawing/2014/main" id="{AE123595-757D-D347-2799-B274E49F6BE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7120" y="881651"/>
            <a:ext cx="1953794" cy="1748901"/>
          </a:xfrm>
          <a:prstGeom prst="rect">
            <a:avLst/>
          </a:prstGeom>
        </p:spPr>
      </p:pic>
      <p:sp>
        <p:nvSpPr>
          <p:cNvPr id="4" name="Rectangle 3">
            <a:extLst>
              <a:ext uri="{FF2B5EF4-FFF2-40B4-BE49-F238E27FC236}">
                <a16:creationId xmlns:a16="http://schemas.microsoft.com/office/drawing/2014/main" id="{99CF2DFB-43DD-F4F7-C9E4-FB6089AB29B5}"/>
              </a:ext>
            </a:extLst>
          </p:cNvPr>
          <p:cNvSpPr/>
          <p:nvPr/>
        </p:nvSpPr>
        <p:spPr>
          <a:xfrm>
            <a:off x="1219200" y="1295400"/>
            <a:ext cx="914400" cy="533400"/>
          </a:xfrm>
          <a:prstGeom prst="rect">
            <a:avLst/>
          </a:prstGeom>
          <a:noFill/>
          <a:ln w="5715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err="1"/>
          </a:p>
        </p:txBody>
      </p:sp>
    </p:spTree>
    <p:extLst>
      <p:ext uri="{BB962C8B-B14F-4D97-AF65-F5344CB8AC3E}">
        <p14:creationId xmlns:p14="http://schemas.microsoft.com/office/powerpoint/2010/main" val="33739932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77115" y="124983"/>
            <a:ext cx="8229600" cy="618079"/>
          </a:xfrm>
        </p:spPr>
        <p:txBody>
          <a:bodyPr anchor="ctr">
            <a:noAutofit/>
          </a:bodyPr>
          <a:lstStyle/>
          <a:p>
            <a:r>
              <a:rPr lang="en-IN" sz="3600" dirty="0">
                <a:latin typeface="+mj-lt"/>
              </a:rPr>
              <a:t>Phase 3: Physical Systems Design</a:t>
            </a:r>
          </a:p>
        </p:txBody>
      </p:sp>
      <p:pic>
        <p:nvPicPr>
          <p:cNvPr id="6" name="Content Placeholder 5" descr="Diagram&#10;&#10;Description automatically generated">
            <a:extLst>
              <a:ext uri="{FF2B5EF4-FFF2-40B4-BE49-F238E27FC236}">
                <a16:creationId xmlns:a16="http://schemas.microsoft.com/office/drawing/2014/main" id="{A32485C3-AA31-3944-B2CF-AE884E76639C}"/>
              </a:ext>
            </a:extLst>
          </p:cNvPr>
          <p:cNvPicPr>
            <a:picLocks noGrp="1" noChangeAspect="1"/>
          </p:cNvPicPr>
          <p:nvPr>
            <p:ph idx="13"/>
          </p:nvPr>
        </p:nvPicPr>
        <p:blipFill>
          <a:blip r:embed="rId3" cstate="print">
            <a:extLst>
              <a:ext uri="{28A0092B-C50C-407E-A947-70E740481C1C}">
                <a14:useLocalDpi xmlns:a14="http://schemas.microsoft.com/office/drawing/2010/main" val="0"/>
              </a:ext>
            </a:extLst>
          </a:blip>
          <a:stretch>
            <a:fillRect/>
          </a:stretch>
        </p:blipFill>
        <p:spPr>
          <a:xfrm>
            <a:off x="914400" y="1143000"/>
            <a:ext cx="7543800" cy="5215287"/>
          </a:xfrm>
        </p:spPr>
      </p:pic>
      <p:sp>
        <p:nvSpPr>
          <p:cNvPr id="7" name="Rounded Rectangle 6">
            <a:extLst>
              <a:ext uri="{FF2B5EF4-FFF2-40B4-BE49-F238E27FC236}">
                <a16:creationId xmlns:a16="http://schemas.microsoft.com/office/drawing/2014/main" id="{CA3F8506-A7CC-B14D-962C-070ED2F71941}"/>
              </a:ext>
            </a:extLst>
          </p:cNvPr>
          <p:cNvSpPr/>
          <p:nvPr/>
        </p:nvSpPr>
        <p:spPr>
          <a:xfrm>
            <a:off x="304800" y="4343400"/>
            <a:ext cx="3048000" cy="175260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Scheduled, special-purpose, trigger exceptions, and on-demand reports</a:t>
            </a:r>
          </a:p>
        </p:txBody>
      </p:sp>
      <p:sp>
        <p:nvSpPr>
          <p:cNvPr id="9" name="Rounded Rectangle 8">
            <a:extLst>
              <a:ext uri="{FF2B5EF4-FFF2-40B4-BE49-F238E27FC236}">
                <a16:creationId xmlns:a16="http://schemas.microsoft.com/office/drawing/2014/main" id="{5D3C490C-5976-B84A-951B-8F567494D7B6}"/>
              </a:ext>
            </a:extLst>
          </p:cNvPr>
          <p:cNvSpPr/>
          <p:nvPr/>
        </p:nvSpPr>
        <p:spPr>
          <a:xfrm>
            <a:off x="5403574" y="4343400"/>
            <a:ext cx="3048000" cy="175260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Code!</a:t>
            </a:r>
          </a:p>
        </p:txBody>
      </p:sp>
      <p:pic>
        <p:nvPicPr>
          <p:cNvPr id="2" name="Picture Placeholder 9" descr="A cyclic diagram shows the steps involved in the systems development life cycle.&#10;Long description is available in notes, press F6">
            <a:extLst>
              <a:ext uri="{FF2B5EF4-FFF2-40B4-BE49-F238E27FC236}">
                <a16:creationId xmlns:a16="http://schemas.microsoft.com/office/drawing/2014/main" id="{FF204E4B-50E7-2024-B5ED-0BAB1FDAA7C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75948" y="762740"/>
            <a:ext cx="2345933" cy="2099917"/>
          </a:xfrm>
          <a:prstGeom prst="rect">
            <a:avLst/>
          </a:prstGeom>
        </p:spPr>
      </p:pic>
      <p:sp>
        <p:nvSpPr>
          <p:cNvPr id="3" name="Rectangle 2">
            <a:extLst>
              <a:ext uri="{FF2B5EF4-FFF2-40B4-BE49-F238E27FC236}">
                <a16:creationId xmlns:a16="http://schemas.microsoft.com/office/drawing/2014/main" id="{4D2DBD7B-5C2E-52D3-F9EF-6CCA9CD6D158}"/>
              </a:ext>
            </a:extLst>
          </p:cNvPr>
          <p:cNvSpPr/>
          <p:nvPr/>
        </p:nvSpPr>
        <p:spPr>
          <a:xfrm>
            <a:off x="1775534" y="1981199"/>
            <a:ext cx="846347" cy="762001"/>
          </a:xfrm>
          <a:prstGeom prst="rect">
            <a:avLst/>
          </a:prstGeom>
          <a:noFill/>
          <a:ln w="5715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err="1"/>
          </a:p>
        </p:txBody>
      </p:sp>
    </p:spTree>
    <p:extLst>
      <p:ext uri="{BB962C8B-B14F-4D97-AF65-F5344CB8AC3E}">
        <p14:creationId xmlns:p14="http://schemas.microsoft.com/office/powerpoint/2010/main" val="38202031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Graphical user interface, text, application&#10;&#10;Description automatically generated">
            <a:extLst>
              <a:ext uri="{FF2B5EF4-FFF2-40B4-BE49-F238E27FC236}">
                <a16:creationId xmlns:a16="http://schemas.microsoft.com/office/drawing/2014/main" id="{E4FCA21C-7E4F-5F4E-9671-1E5FF03F6B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152400"/>
            <a:ext cx="8345557" cy="4020946"/>
          </a:xfrm>
          <a:prstGeom prst="rect">
            <a:avLst/>
          </a:prstGeom>
        </p:spPr>
      </p:pic>
    </p:spTree>
    <p:extLst>
      <p:ext uri="{BB962C8B-B14F-4D97-AF65-F5344CB8AC3E}">
        <p14:creationId xmlns:p14="http://schemas.microsoft.com/office/powerpoint/2010/main" val="35019267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Graphical user interface, text, application&#10;&#10;Description automatically generated">
            <a:extLst>
              <a:ext uri="{FF2B5EF4-FFF2-40B4-BE49-F238E27FC236}">
                <a16:creationId xmlns:a16="http://schemas.microsoft.com/office/drawing/2014/main" id="{0098A9B7-0971-5A48-8F03-4C5521528C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54" y="990600"/>
            <a:ext cx="8658092" cy="2978295"/>
          </a:xfrm>
          <a:prstGeom prst="rect">
            <a:avLst/>
          </a:prstGeom>
        </p:spPr>
      </p:pic>
    </p:spTree>
    <p:extLst>
      <p:ext uri="{BB962C8B-B14F-4D97-AF65-F5344CB8AC3E}">
        <p14:creationId xmlns:p14="http://schemas.microsoft.com/office/powerpoint/2010/main" val="41490174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 text, application&#10;&#10;Description automatically generated">
            <a:extLst>
              <a:ext uri="{FF2B5EF4-FFF2-40B4-BE49-F238E27FC236}">
                <a16:creationId xmlns:a16="http://schemas.microsoft.com/office/drawing/2014/main" id="{3D19DF46-B8E8-614C-BC5D-4F82CA808A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32222"/>
            <a:ext cx="9144000" cy="3593556"/>
          </a:xfrm>
          <a:prstGeom prst="rect">
            <a:avLst/>
          </a:prstGeom>
        </p:spPr>
      </p:pic>
    </p:spTree>
    <p:extLst>
      <p:ext uri="{BB962C8B-B14F-4D97-AF65-F5344CB8AC3E}">
        <p14:creationId xmlns:p14="http://schemas.microsoft.com/office/powerpoint/2010/main" val="31995401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ext&#10;&#10;Description automatically generated">
            <a:extLst>
              <a:ext uri="{FF2B5EF4-FFF2-40B4-BE49-F238E27FC236}">
                <a16:creationId xmlns:a16="http://schemas.microsoft.com/office/drawing/2014/main" id="{DBBED088-1644-2D47-AFCD-4C20201757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3420" y="0"/>
            <a:ext cx="8257159" cy="6858000"/>
          </a:xfrm>
          <a:prstGeom prst="rect">
            <a:avLst/>
          </a:prstGeom>
        </p:spPr>
      </p:pic>
    </p:spTree>
    <p:extLst>
      <p:ext uri="{BB962C8B-B14F-4D97-AF65-F5344CB8AC3E}">
        <p14:creationId xmlns:p14="http://schemas.microsoft.com/office/powerpoint/2010/main" val="40803779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21A80-0C00-1DE6-9C32-7FB1C7AE41BA}"/>
              </a:ext>
            </a:extLst>
          </p:cNvPr>
          <p:cNvSpPr>
            <a:spLocks noGrp="1"/>
          </p:cNvSpPr>
          <p:nvPr>
            <p:ph type="title"/>
          </p:nvPr>
        </p:nvSpPr>
        <p:spPr/>
        <p:txBody>
          <a:bodyPr/>
          <a:lstStyle/>
          <a:p>
            <a:r>
              <a:rPr lang="en-US"/>
              <a:t>Stop 3/12/26</a:t>
            </a:r>
          </a:p>
        </p:txBody>
      </p:sp>
      <p:sp>
        <p:nvSpPr>
          <p:cNvPr id="3" name="Content Placeholder 2">
            <a:extLst>
              <a:ext uri="{FF2B5EF4-FFF2-40B4-BE49-F238E27FC236}">
                <a16:creationId xmlns:a16="http://schemas.microsoft.com/office/drawing/2014/main" id="{2DAD4F67-3477-609A-F5E8-9E787DBAED81}"/>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0609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77115" y="124983"/>
            <a:ext cx="8229600" cy="618079"/>
          </a:xfrm>
        </p:spPr>
        <p:txBody>
          <a:bodyPr anchor="ctr">
            <a:noAutofit/>
          </a:bodyPr>
          <a:lstStyle/>
          <a:p>
            <a:r>
              <a:rPr lang="en-IN" sz="3600" dirty="0">
                <a:latin typeface="+mj-lt"/>
              </a:rPr>
              <a:t>Phase 4: Systems Implementation</a:t>
            </a:r>
          </a:p>
        </p:txBody>
      </p:sp>
      <p:sp>
        <p:nvSpPr>
          <p:cNvPr id="2" name="Content Placeholder 1"/>
          <p:cNvSpPr>
            <a:spLocks noGrp="1"/>
          </p:cNvSpPr>
          <p:nvPr>
            <p:ph idx="13"/>
          </p:nvPr>
        </p:nvSpPr>
        <p:spPr>
          <a:xfrm>
            <a:off x="477115" y="841180"/>
            <a:ext cx="8229600" cy="3508653"/>
          </a:xfrm>
        </p:spPr>
        <p:txBody>
          <a:bodyPr>
            <a:noAutofit/>
          </a:bodyPr>
          <a:lstStyle/>
          <a:p>
            <a:pPr lvl="0">
              <a:spcBef>
                <a:spcPts val="0"/>
              </a:spcBef>
              <a:buSzPts val="2400"/>
            </a:pPr>
            <a:r>
              <a:rPr lang="en-US" sz="2400" dirty="0"/>
              <a:t>Implementation plan (phased, direct, parallel, pilot)</a:t>
            </a:r>
          </a:p>
          <a:p>
            <a:pPr lvl="0">
              <a:spcBef>
                <a:spcPts val="1200"/>
              </a:spcBef>
              <a:buSzPts val="2400"/>
            </a:pPr>
            <a:r>
              <a:rPr lang="en-US" sz="2400" dirty="0"/>
              <a:t>Select and train personnel</a:t>
            </a:r>
          </a:p>
          <a:p>
            <a:pPr lvl="0">
              <a:spcBef>
                <a:spcPts val="1200"/>
              </a:spcBef>
              <a:buSzPts val="2400"/>
            </a:pPr>
            <a:r>
              <a:rPr lang="en-US" sz="2400" dirty="0"/>
              <a:t>Complete documentation</a:t>
            </a:r>
          </a:p>
          <a:p>
            <a:pPr lvl="1">
              <a:spcBef>
                <a:spcPts val="1200"/>
              </a:spcBef>
              <a:buSzPts val="2000"/>
            </a:pPr>
            <a:r>
              <a:rPr lang="en-US" sz="2400" dirty="0"/>
              <a:t>Development documentation</a:t>
            </a:r>
          </a:p>
          <a:p>
            <a:pPr lvl="1">
              <a:spcBef>
                <a:spcPts val="1200"/>
              </a:spcBef>
              <a:buSzPts val="2000"/>
            </a:pPr>
            <a:r>
              <a:rPr lang="en-US" sz="2400" dirty="0"/>
              <a:t>Operations documentation</a:t>
            </a:r>
          </a:p>
          <a:p>
            <a:pPr lvl="1">
              <a:spcBef>
                <a:spcPts val="1200"/>
              </a:spcBef>
              <a:buSzPts val="2000"/>
            </a:pPr>
            <a:r>
              <a:rPr lang="en-US" sz="2400" dirty="0"/>
              <a:t>User documentation</a:t>
            </a:r>
          </a:p>
          <a:p>
            <a:pPr lvl="0">
              <a:spcBef>
                <a:spcPts val="1200"/>
              </a:spcBef>
              <a:buSzPts val="2400"/>
            </a:pPr>
            <a:r>
              <a:rPr lang="en-US" sz="2400" dirty="0"/>
              <a:t>Testing the system</a:t>
            </a:r>
            <a:endParaRPr lang="en-US" sz="4400" dirty="0"/>
          </a:p>
        </p:txBody>
      </p:sp>
      <p:pic>
        <p:nvPicPr>
          <p:cNvPr id="3" name="Picture Placeholder 9" descr="A cyclic diagram shows the steps involved in the systems development life cycle.&#10;Long description is available in notes, press F6">
            <a:extLst>
              <a:ext uri="{FF2B5EF4-FFF2-40B4-BE49-F238E27FC236}">
                <a16:creationId xmlns:a16="http://schemas.microsoft.com/office/drawing/2014/main" id="{C0480E79-33D4-7037-6B91-59D9A1C8D2A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20952" y="2438400"/>
            <a:ext cx="2345933" cy="2099917"/>
          </a:xfrm>
          <a:prstGeom prst="rect">
            <a:avLst/>
          </a:prstGeom>
        </p:spPr>
      </p:pic>
      <p:sp>
        <p:nvSpPr>
          <p:cNvPr id="4" name="Rectangle 3">
            <a:extLst>
              <a:ext uri="{FF2B5EF4-FFF2-40B4-BE49-F238E27FC236}">
                <a16:creationId xmlns:a16="http://schemas.microsoft.com/office/drawing/2014/main" id="{71DA1E01-07F9-7549-50A9-ABF94B0B6DD7}"/>
              </a:ext>
            </a:extLst>
          </p:cNvPr>
          <p:cNvSpPr/>
          <p:nvPr/>
        </p:nvSpPr>
        <p:spPr>
          <a:xfrm>
            <a:off x="6281122" y="3581399"/>
            <a:ext cx="957878" cy="866551"/>
          </a:xfrm>
          <a:prstGeom prst="rect">
            <a:avLst/>
          </a:prstGeom>
          <a:noFill/>
          <a:ln w="5715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err="1"/>
          </a:p>
        </p:txBody>
      </p:sp>
    </p:spTree>
    <p:extLst>
      <p:ext uri="{BB962C8B-B14F-4D97-AF65-F5344CB8AC3E}">
        <p14:creationId xmlns:p14="http://schemas.microsoft.com/office/powerpoint/2010/main" val="9114295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2EF392F1-989A-3446-9031-D1923D2DE6C7}"/>
              </a:ext>
            </a:extLst>
          </p:cNvPr>
          <p:cNvSpPr txBox="1"/>
          <p:nvPr/>
        </p:nvSpPr>
        <p:spPr>
          <a:xfrm>
            <a:off x="152400" y="5890591"/>
            <a:ext cx="9067800" cy="369332"/>
          </a:xfrm>
          <a:prstGeom prst="rect">
            <a:avLst/>
          </a:prstGeom>
          <a:noFill/>
        </p:spPr>
        <p:txBody>
          <a:bodyPr wrap="square">
            <a:spAutoFit/>
          </a:bodyPr>
          <a:lstStyle/>
          <a:p>
            <a:r>
              <a:rPr lang="en-US" dirty="0"/>
              <a:t>https://</a:t>
            </a:r>
            <a:r>
              <a:rPr lang="en-US" dirty="0" err="1"/>
              <a:t>blog.atinternet.com</a:t>
            </a:r>
            <a:r>
              <a:rPr lang="en-US" dirty="0"/>
              <a:t>/</a:t>
            </a:r>
            <a:r>
              <a:rPr lang="en-US" dirty="0" err="1"/>
              <a:t>en</a:t>
            </a:r>
            <a:r>
              <a:rPr lang="en-US" dirty="0"/>
              <a:t>/</a:t>
            </a:r>
            <a:r>
              <a:rPr lang="en-US" dirty="0" err="1"/>
              <a:t>rd</a:t>
            </a:r>
            <a:r>
              <a:rPr lang="en-US" dirty="0"/>
              <a:t>-behind-the-scenes-combining-testing-agility/</a:t>
            </a:r>
          </a:p>
        </p:txBody>
      </p:sp>
      <p:pic>
        <p:nvPicPr>
          <p:cNvPr id="1025" name="Picture 1" descr="tests-bugs-detection">
            <a:extLst>
              <a:ext uri="{FF2B5EF4-FFF2-40B4-BE49-F238E27FC236}">
                <a16:creationId xmlns:a16="http://schemas.microsoft.com/office/drawing/2014/main" id="{E0C52BE7-ABDD-5544-9074-2B3A76C311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90600"/>
            <a:ext cx="8763000" cy="42643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54109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77115" y="124983"/>
            <a:ext cx="8229600" cy="618079"/>
          </a:xfrm>
        </p:spPr>
        <p:txBody>
          <a:bodyPr anchor="ctr">
            <a:noAutofit/>
          </a:bodyPr>
          <a:lstStyle/>
          <a:p>
            <a:r>
              <a:rPr lang="en-IN" sz="3600" dirty="0">
                <a:latin typeface="+mj-lt"/>
              </a:rPr>
              <a:t>Testing the System</a:t>
            </a:r>
          </a:p>
        </p:txBody>
      </p:sp>
      <p:sp>
        <p:nvSpPr>
          <p:cNvPr id="2" name="Content Placeholder 1"/>
          <p:cNvSpPr>
            <a:spLocks noGrp="1"/>
          </p:cNvSpPr>
          <p:nvPr>
            <p:ph idx="13"/>
          </p:nvPr>
        </p:nvSpPr>
        <p:spPr>
          <a:xfrm>
            <a:off x="477115" y="841180"/>
            <a:ext cx="8229600" cy="2985433"/>
          </a:xfrm>
        </p:spPr>
        <p:txBody>
          <a:bodyPr>
            <a:noAutofit/>
          </a:bodyPr>
          <a:lstStyle/>
          <a:p>
            <a:pPr lvl="0">
              <a:spcBef>
                <a:spcPts val="0"/>
              </a:spcBef>
              <a:buSzPts val="2400"/>
            </a:pPr>
            <a:r>
              <a:rPr lang="en-IN" sz="2400" dirty="0"/>
              <a:t>Walk-throughs</a:t>
            </a:r>
          </a:p>
          <a:p>
            <a:pPr lvl="1">
              <a:spcBef>
                <a:spcPts val="1200"/>
              </a:spcBef>
              <a:buSzPts val="2000"/>
            </a:pPr>
            <a:r>
              <a:rPr lang="en-IN" sz="2400" dirty="0"/>
              <a:t>Step by step review</a:t>
            </a:r>
          </a:p>
          <a:p>
            <a:pPr lvl="0">
              <a:spcBef>
                <a:spcPts val="1200"/>
              </a:spcBef>
              <a:buSzPts val="2400"/>
            </a:pPr>
            <a:r>
              <a:rPr lang="en-IN" sz="2400" dirty="0"/>
              <a:t>Processing test data</a:t>
            </a:r>
          </a:p>
          <a:p>
            <a:pPr lvl="1">
              <a:spcBef>
                <a:spcPts val="1200"/>
              </a:spcBef>
              <a:buSzPts val="2000"/>
            </a:pPr>
            <a:r>
              <a:rPr lang="en-IN" sz="2400" dirty="0"/>
              <a:t>Test all valid transactions and error conditions</a:t>
            </a:r>
          </a:p>
          <a:p>
            <a:pPr lvl="0">
              <a:spcBef>
                <a:spcPts val="1200"/>
              </a:spcBef>
              <a:buSzPts val="2400"/>
            </a:pPr>
            <a:r>
              <a:rPr lang="en-IN" sz="2400" dirty="0"/>
              <a:t>Acceptance tests</a:t>
            </a:r>
          </a:p>
          <a:p>
            <a:pPr lvl="1">
              <a:spcBef>
                <a:spcPts val="1200"/>
              </a:spcBef>
              <a:buSzPts val="2000"/>
            </a:pPr>
            <a:r>
              <a:rPr lang="en-IN" sz="2400" dirty="0"/>
              <a:t>Use copies of real data</a:t>
            </a:r>
          </a:p>
        </p:txBody>
      </p:sp>
    </p:spTree>
    <p:extLst>
      <p:ext uri="{BB962C8B-B14F-4D97-AF65-F5344CB8AC3E}">
        <p14:creationId xmlns:p14="http://schemas.microsoft.com/office/powerpoint/2010/main" val="19159690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77115" y="124983"/>
            <a:ext cx="8229600" cy="618079"/>
          </a:xfrm>
        </p:spPr>
        <p:txBody>
          <a:bodyPr anchor="ctr">
            <a:noAutofit/>
          </a:bodyPr>
          <a:lstStyle/>
          <a:p>
            <a:r>
              <a:rPr lang="en-IN" sz="3600" dirty="0">
                <a:latin typeface="+mj-lt"/>
              </a:rPr>
              <a:t>Systems Conversion</a:t>
            </a:r>
          </a:p>
        </p:txBody>
      </p:sp>
      <p:sp>
        <p:nvSpPr>
          <p:cNvPr id="2" name="Content Placeholder 1"/>
          <p:cNvSpPr>
            <a:spLocks noGrp="1"/>
          </p:cNvSpPr>
          <p:nvPr>
            <p:ph idx="13"/>
          </p:nvPr>
        </p:nvSpPr>
        <p:spPr>
          <a:xfrm>
            <a:off x="477115" y="841180"/>
            <a:ext cx="8229600" cy="4770537"/>
          </a:xfrm>
        </p:spPr>
        <p:txBody>
          <a:bodyPr>
            <a:noAutofit/>
          </a:bodyPr>
          <a:lstStyle/>
          <a:p>
            <a:pPr lvl="0">
              <a:spcBef>
                <a:spcPts val="0"/>
              </a:spcBef>
              <a:buSzPts val="2400"/>
            </a:pPr>
            <a:r>
              <a:rPr lang="en-IN" sz="2400" dirty="0"/>
              <a:t>Direct conversion</a:t>
            </a:r>
          </a:p>
          <a:p>
            <a:pPr lvl="1">
              <a:spcBef>
                <a:spcPts val="1200"/>
              </a:spcBef>
              <a:buSzPts val="2000"/>
            </a:pPr>
            <a:r>
              <a:rPr lang="en-IN" sz="2400" dirty="0"/>
              <a:t>Terminates the old and begins with the new system</a:t>
            </a:r>
          </a:p>
          <a:p>
            <a:pPr lvl="0">
              <a:spcBef>
                <a:spcPts val="1200"/>
              </a:spcBef>
              <a:buSzPts val="2400"/>
            </a:pPr>
            <a:r>
              <a:rPr lang="en-IN" sz="2400" dirty="0"/>
              <a:t>Parallel conversion</a:t>
            </a:r>
          </a:p>
          <a:p>
            <a:pPr lvl="1">
              <a:spcBef>
                <a:spcPts val="1200"/>
              </a:spcBef>
              <a:buSzPts val="2000"/>
            </a:pPr>
            <a:r>
              <a:rPr lang="en-IN" sz="2400" dirty="0"/>
              <a:t>Operate old and new systems for a period of time</a:t>
            </a:r>
          </a:p>
          <a:p>
            <a:pPr lvl="0">
              <a:spcBef>
                <a:spcPts val="1200"/>
              </a:spcBef>
              <a:buSzPts val="2400"/>
            </a:pPr>
            <a:r>
              <a:rPr lang="en-IN" sz="2400" dirty="0"/>
              <a:t>Phase-in conversion</a:t>
            </a:r>
          </a:p>
          <a:p>
            <a:pPr lvl="1">
              <a:spcBef>
                <a:spcPts val="1200"/>
              </a:spcBef>
              <a:buSzPts val="2000"/>
            </a:pPr>
            <a:r>
              <a:rPr lang="en-IN" sz="2400" dirty="0"/>
              <a:t>Gradual replacement of old elements with new system elements</a:t>
            </a:r>
          </a:p>
          <a:p>
            <a:pPr lvl="0">
              <a:spcBef>
                <a:spcPts val="1200"/>
              </a:spcBef>
              <a:buSzPts val="2400"/>
            </a:pPr>
            <a:r>
              <a:rPr lang="en-IN" sz="2400" dirty="0"/>
              <a:t>Pilot conversion</a:t>
            </a:r>
          </a:p>
          <a:p>
            <a:pPr lvl="1">
              <a:spcBef>
                <a:spcPts val="1200"/>
              </a:spcBef>
              <a:buSzPts val="2000"/>
            </a:pPr>
            <a:r>
              <a:rPr lang="en-IN" sz="2400" dirty="0"/>
              <a:t>Implement a system in a part of an organization (e.g., a branch)</a:t>
            </a:r>
          </a:p>
        </p:txBody>
      </p:sp>
    </p:spTree>
    <p:extLst>
      <p:ext uri="{BB962C8B-B14F-4D97-AF65-F5344CB8AC3E}">
        <p14:creationId xmlns:p14="http://schemas.microsoft.com/office/powerpoint/2010/main" val="22393434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B883FF8-ED02-D542-9DA9-C6CC11A3BEA1}"/>
              </a:ext>
            </a:extLst>
          </p:cNvPr>
          <p:cNvSpPr txBox="1"/>
          <p:nvPr/>
        </p:nvSpPr>
        <p:spPr>
          <a:xfrm>
            <a:off x="152400" y="5410200"/>
            <a:ext cx="8458200" cy="923330"/>
          </a:xfrm>
          <a:prstGeom prst="rect">
            <a:avLst/>
          </a:prstGeom>
          <a:noFill/>
        </p:spPr>
        <p:txBody>
          <a:bodyPr wrap="square">
            <a:spAutoFit/>
          </a:bodyPr>
          <a:lstStyle/>
          <a:p>
            <a:r>
              <a:rPr lang="en-US" dirty="0"/>
              <a:t>https://</a:t>
            </a:r>
            <a:r>
              <a:rPr lang="en-US" dirty="0" err="1"/>
              <a:t>www.researchgate.net</a:t>
            </a:r>
            <a:r>
              <a:rPr lang="en-US" dirty="0"/>
              <a:t>/publication/224871705_Comparing_Soft_Computing_Techniques_For_Early_Stage_Software_DevelopmentEffort_Estimations/</a:t>
            </a:r>
            <a:r>
              <a:rPr lang="en-US" dirty="0" err="1"/>
              <a:t>figures?lo</a:t>
            </a:r>
            <a:r>
              <a:rPr lang="en-US" dirty="0"/>
              <a:t>=1</a:t>
            </a:r>
          </a:p>
        </p:txBody>
      </p:sp>
      <p:pic>
        <p:nvPicPr>
          <p:cNvPr id="9" name="Picture 8" descr="Chart, pie chart&#10;&#10;Description automatically generated">
            <a:extLst>
              <a:ext uri="{FF2B5EF4-FFF2-40B4-BE49-F238E27FC236}">
                <a16:creationId xmlns:a16="http://schemas.microsoft.com/office/drawing/2014/main" id="{91B68624-0DE3-6342-8593-BDCA0F83FF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300407"/>
            <a:ext cx="9144000" cy="2257185"/>
          </a:xfrm>
          <a:prstGeom prst="rect">
            <a:avLst/>
          </a:prstGeom>
        </p:spPr>
      </p:pic>
    </p:spTree>
    <p:extLst>
      <p:ext uri="{BB962C8B-B14F-4D97-AF65-F5344CB8AC3E}">
        <p14:creationId xmlns:p14="http://schemas.microsoft.com/office/powerpoint/2010/main" val="18395419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77115" y="164826"/>
            <a:ext cx="8229600" cy="1107996"/>
          </a:xfrm>
        </p:spPr>
        <p:txBody>
          <a:bodyPr anchor="ctr">
            <a:noAutofit/>
          </a:bodyPr>
          <a:lstStyle/>
          <a:p>
            <a:r>
              <a:rPr lang="en-IN" sz="3600" dirty="0">
                <a:latin typeface="+mj-lt"/>
              </a:rPr>
              <a:t>Phase 5: Operations and Maintenance (75% of $)</a:t>
            </a:r>
          </a:p>
        </p:txBody>
      </p:sp>
      <p:sp>
        <p:nvSpPr>
          <p:cNvPr id="2" name="Content Placeholder 1"/>
          <p:cNvSpPr>
            <a:spLocks noGrp="1"/>
          </p:cNvSpPr>
          <p:nvPr>
            <p:ph idx="13"/>
          </p:nvPr>
        </p:nvSpPr>
        <p:spPr>
          <a:xfrm>
            <a:off x="477115" y="1425222"/>
            <a:ext cx="8229600" cy="4873129"/>
          </a:xfrm>
        </p:spPr>
        <p:txBody>
          <a:bodyPr>
            <a:noAutofit/>
          </a:bodyPr>
          <a:lstStyle/>
          <a:p>
            <a:pPr lvl="0">
              <a:spcBef>
                <a:spcPts val="400"/>
              </a:spcBef>
              <a:buSzPts val="2400"/>
            </a:pPr>
            <a:r>
              <a:rPr lang="en-IN" sz="2000" dirty="0"/>
              <a:t>Conduct post-implementation review</a:t>
            </a:r>
          </a:p>
          <a:p>
            <a:pPr lvl="0">
              <a:spcBef>
                <a:spcPts val="400"/>
              </a:spcBef>
              <a:buSzPts val="2400"/>
            </a:pPr>
            <a:r>
              <a:rPr lang="en-IN" sz="2000" dirty="0"/>
              <a:t>Answering these questions:</a:t>
            </a:r>
          </a:p>
          <a:p>
            <a:pPr lvl="1">
              <a:spcBef>
                <a:spcPts val="400"/>
              </a:spcBef>
              <a:buSzPts val="2000"/>
            </a:pPr>
            <a:r>
              <a:rPr lang="en-IN" sz="2000" dirty="0"/>
              <a:t>Does the system meet the organization’s goals?</a:t>
            </a:r>
          </a:p>
          <a:p>
            <a:pPr lvl="1">
              <a:spcBef>
                <a:spcPts val="400"/>
              </a:spcBef>
              <a:buSzPts val="2000"/>
            </a:pPr>
            <a:r>
              <a:rPr lang="en-IN" sz="2000" dirty="0"/>
              <a:t>Are users satisfied?</a:t>
            </a:r>
          </a:p>
          <a:p>
            <a:pPr lvl="1">
              <a:spcBef>
                <a:spcPts val="400"/>
              </a:spcBef>
              <a:buSzPts val="2000"/>
            </a:pPr>
            <a:r>
              <a:rPr lang="en-IN" sz="2000" dirty="0"/>
              <a:t>Were expected benefits achieved?</a:t>
            </a:r>
          </a:p>
          <a:p>
            <a:pPr lvl="1">
              <a:spcBef>
                <a:spcPts val="400"/>
              </a:spcBef>
              <a:buSzPts val="2000"/>
            </a:pPr>
            <a:r>
              <a:rPr lang="en-IN" sz="2000" dirty="0"/>
              <a:t>Were actual costs in line with expected costs?</a:t>
            </a:r>
          </a:p>
          <a:p>
            <a:pPr lvl="1">
              <a:spcBef>
                <a:spcPts val="400"/>
              </a:spcBef>
              <a:buSzPts val="2000"/>
            </a:pPr>
            <a:r>
              <a:rPr lang="en-IN" sz="2000" dirty="0"/>
              <a:t>Is the system reliable?</a:t>
            </a:r>
          </a:p>
          <a:p>
            <a:pPr lvl="1">
              <a:spcBef>
                <a:spcPts val="400"/>
              </a:spcBef>
              <a:buSzPts val="2000"/>
            </a:pPr>
            <a:r>
              <a:rPr lang="en-IN" sz="2000" dirty="0"/>
              <a:t>Does the system produce accurate and complete data and on a timely basis?</a:t>
            </a:r>
          </a:p>
          <a:p>
            <a:pPr lvl="1">
              <a:spcBef>
                <a:spcPts val="400"/>
              </a:spcBef>
              <a:buSzPts val="2000"/>
            </a:pPr>
            <a:r>
              <a:rPr lang="en-IN" sz="2000" dirty="0"/>
              <a:t>Is the system compatible with existing systems?</a:t>
            </a:r>
          </a:p>
          <a:p>
            <a:pPr lvl="1">
              <a:spcBef>
                <a:spcPts val="400"/>
              </a:spcBef>
              <a:buSzPts val="2000"/>
            </a:pPr>
            <a:r>
              <a:rPr lang="en-IN" sz="2000" dirty="0"/>
              <a:t>Is the system safeguarded from errors, fraud, and intrusion?</a:t>
            </a:r>
          </a:p>
          <a:p>
            <a:pPr lvl="1">
              <a:spcBef>
                <a:spcPts val="400"/>
              </a:spcBef>
              <a:buSzPts val="2000"/>
            </a:pPr>
            <a:r>
              <a:rPr lang="en-IN" sz="2000" dirty="0"/>
              <a:t>Are there adequate error-handling procedures in place?</a:t>
            </a:r>
          </a:p>
          <a:p>
            <a:pPr lvl="1">
              <a:spcBef>
                <a:spcPts val="400"/>
              </a:spcBef>
              <a:buSzPts val="2000"/>
            </a:pPr>
            <a:r>
              <a:rPr lang="en-IN" sz="2000" dirty="0"/>
              <a:t>Is everyone trained to use the new system?</a:t>
            </a:r>
          </a:p>
          <a:p>
            <a:pPr lvl="1">
              <a:spcBef>
                <a:spcPts val="400"/>
              </a:spcBef>
              <a:buSzPts val="2000"/>
            </a:pPr>
            <a:r>
              <a:rPr lang="en-IN" sz="2000" dirty="0"/>
              <a:t>Is systems documentation complete and accurate?</a:t>
            </a:r>
          </a:p>
        </p:txBody>
      </p:sp>
      <p:pic>
        <p:nvPicPr>
          <p:cNvPr id="3" name="Picture Placeholder 9" descr="A cyclic diagram shows the steps involved in the systems development life cycle.&#10;Long description is available in notes, press F6">
            <a:extLst>
              <a:ext uri="{FF2B5EF4-FFF2-40B4-BE49-F238E27FC236}">
                <a16:creationId xmlns:a16="http://schemas.microsoft.com/office/drawing/2014/main" id="{D14768B2-3366-3864-A73E-C805B44ED55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29400" y="327916"/>
            <a:ext cx="2345933" cy="2099917"/>
          </a:xfrm>
          <a:prstGeom prst="rect">
            <a:avLst/>
          </a:prstGeom>
        </p:spPr>
      </p:pic>
      <p:sp>
        <p:nvSpPr>
          <p:cNvPr id="4" name="Rectangle 3">
            <a:extLst>
              <a:ext uri="{FF2B5EF4-FFF2-40B4-BE49-F238E27FC236}">
                <a16:creationId xmlns:a16="http://schemas.microsoft.com/office/drawing/2014/main" id="{0FBCA006-E07F-6AA0-98C5-39CE8C0AF008}"/>
              </a:ext>
            </a:extLst>
          </p:cNvPr>
          <p:cNvSpPr/>
          <p:nvPr/>
        </p:nvSpPr>
        <p:spPr>
          <a:xfrm>
            <a:off x="6553200" y="826312"/>
            <a:ext cx="990600" cy="697688"/>
          </a:xfrm>
          <a:prstGeom prst="rect">
            <a:avLst/>
          </a:prstGeom>
          <a:noFill/>
          <a:ln w="5715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err="1"/>
          </a:p>
        </p:txBody>
      </p:sp>
    </p:spTree>
    <p:extLst>
      <p:ext uri="{BB962C8B-B14F-4D97-AF65-F5344CB8AC3E}">
        <p14:creationId xmlns:p14="http://schemas.microsoft.com/office/powerpoint/2010/main" val="12166189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8086" y="159102"/>
            <a:ext cx="8229600" cy="553998"/>
          </a:xfrm>
        </p:spPr>
        <p:txBody>
          <a:bodyPr>
            <a:noAutofit/>
          </a:bodyPr>
          <a:lstStyle/>
          <a:p>
            <a:r>
              <a:rPr lang="en-IN" sz="3600" dirty="0">
                <a:latin typeface="+mj-lt"/>
              </a:rPr>
              <a:t>Key Terms</a:t>
            </a:r>
          </a:p>
        </p:txBody>
      </p:sp>
      <p:sp>
        <p:nvSpPr>
          <p:cNvPr id="2" name="Content Placeholder 1"/>
          <p:cNvSpPr>
            <a:spLocks noGrp="1"/>
          </p:cNvSpPr>
          <p:nvPr>
            <p:ph idx="1"/>
          </p:nvPr>
        </p:nvSpPr>
        <p:spPr>
          <a:xfrm>
            <a:off x="468922" y="849489"/>
            <a:ext cx="3798278" cy="5039841"/>
          </a:xfrm>
        </p:spPr>
        <p:txBody>
          <a:bodyPr wrap="square">
            <a:noAutofit/>
          </a:bodyPr>
          <a:lstStyle/>
          <a:p>
            <a:pPr lvl="0">
              <a:spcBef>
                <a:spcPts val="0"/>
              </a:spcBef>
              <a:buSzPct val="100000"/>
            </a:pPr>
            <a:r>
              <a:rPr lang="en-IN" sz="2000" dirty="0"/>
              <a:t>Conceptual design specifications</a:t>
            </a:r>
          </a:p>
          <a:p>
            <a:pPr lvl="0">
              <a:spcBef>
                <a:spcPts val="900"/>
              </a:spcBef>
              <a:buSzPct val="100000"/>
            </a:pPr>
            <a:r>
              <a:rPr lang="en-IN" sz="2000" dirty="0"/>
              <a:t>Conceptual systems design report</a:t>
            </a:r>
          </a:p>
          <a:p>
            <a:pPr lvl="0">
              <a:spcBef>
                <a:spcPts val="900"/>
              </a:spcBef>
              <a:buSzPct val="100000"/>
            </a:pPr>
            <a:r>
              <a:rPr lang="en-IN" sz="2000" dirty="0"/>
              <a:t>Scheduled reports</a:t>
            </a:r>
          </a:p>
          <a:p>
            <a:pPr lvl="0">
              <a:spcBef>
                <a:spcPts val="900"/>
              </a:spcBef>
              <a:buSzPct val="100000"/>
            </a:pPr>
            <a:r>
              <a:rPr lang="en-IN" sz="2000" dirty="0"/>
              <a:t>Special-purpose analysis reports</a:t>
            </a:r>
          </a:p>
          <a:p>
            <a:pPr lvl="0">
              <a:spcBef>
                <a:spcPts val="900"/>
              </a:spcBef>
              <a:buSzPct val="100000"/>
            </a:pPr>
            <a:r>
              <a:rPr lang="en-IN" sz="2000" dirty="0"/>
              <a:t>Triggered exception reports</a:t>
            </a:r>
          </a:p>
          <a:p>
            <a:pPr lvl="0">
              <a:spcBef>
                <a:spcPts val="900"/>
              </a:spcBef>
              <a:buSzPct val="100000"/>
            </a:pPr>
            <a:r>
              <a:rPr lang="en-IN" sz="2000" dirty="0"/>
              <a:t>Demand reports</a:t>
            </a:r>
          </a:p>
          <a:p>
            <a:pPr lvl="0">
              <a:spcBef>
                <a:spcPts val="900"/>
              </a:spcBef>
              <a:buSzPct val="100000"/>
            </a:pPr>
            <a:r>
              <a:rPr lang="en-IN" sz="2000" dirty="0"/>
              <a:t>Structured programming</a:t>
            </a:r>
          </a:p>
          <a:p>
            <a:pPr lvl="0">
              <a:spcBef>
                <a:spcPts val="900"/>
              </a:spcBef>
              <a:buSzPct val="100000"/>
            </a:pPr>
            <a:r>
              <a:rPr lang="en-IN" sz="2000" dirty="0"/>
              <a:t>Debugging</a:t>
            </a:r>
          </a:p>
          <a:p>
            <a:pPr lvl="0">
              <a:spcBef>
                <a:spcPts val="900"/>
              </a:spcBef>
              <a:buSzPct val="100000"/>
            </a:pPr>
            <a:r>
              <a:rPr lang="en-IN" sz="2000" dirty="0"/>
              <a:t>Program maintenance</a:t>
            </a:r>
          </a:p>
          <a:p>
            <a:pPr lvl="0">
              <a:spcBef>
                <a:spcPts val="900"/>
              </a:spcBef>
              <a:buSzPct val="100000"/>
            </a:pPr>
            <a:r>
              <a:rPr lang="en-IN" sz="2000" dirty="0"/>
              <a:t>Physical systems design report</a:t>
            </a:r>
          </a:p>
        </p:txBody>
      </p:sp>
      <p:sp>
        <p:nvSpPr>
          <p:cNvPr id="3" name="Content Placeholder 2"/>
          <p:cNvSpPr>
            <a:spLocks noGrp="1"/>
          </p:cNvSpPr>
          <p:nvPr>
            <p:ph idx="13"/>
          </p:nvPr>
        </p:nvSpPr>
        <p:spPr>
          <a:xfrm>
            <a:off x="4572000" y="855027"/>
            <a:ext cx="4114800" cy="4962897"/>
          </a:xfrm>
        </p:spPr>
        <p:txBody>
          <a:bodyPr>
            <a:noAutofit/>
          </a:bodyPr>
          <a:lstStyle/>
          <a:p>
            <a:pPr lvl="0">
              <a:spcBef>
                <a:spcPts val="0"/>
              </a:spcBef>
              <a:buSzPct val="100000"/>
            </a:pPr>
            <a:r>
              <a:rPr lang="en-US" sz="2000" dirty="0"/>
              <a:t>Systems implementation</a:t>
            </a:r>
          </a:p>
          <a:p>
            <a:pPr lvl="0">
              <a:spcBef>
                <a:spcPts val="900"/>
              </a:spcBef>
              <a:buSzPct val="100000"/>
            </a:pPr>
            <a:r>
              <a:rPr lang="en-US" sz="2000" b="1" dirty="0"/>
              <a:t>Implementation plan</a:t>
            </a:r>
          </a:p>
          <a:p>
            <a:pPr lvl="0">
              <a:spcBef>
                <a:spcPts val="900"/>
              </a:spcBef>
              <a:buSzPct val="100000"/>
            </a:pPr>
            <a:r>
              <a:rPr lang="en-US" sz="2000" b="1" dirty="0"/>
              <a:t>Walk-throughs</a:t>
            </a:r>
          </a:p>
          <a:p>
            <a:pPr lvl="0">
              <a:spcBef>
                <a:spcPts val="900"/>
              </a:spcBef>
              <a:buSzPct val="100000"/>
            </a:pPr>
            <a:r>
              <a:rPr lang="en-US" sz="2000" b="1" dirty="0"/>
              <a:t>Processing test data</a:t>
            </a:r>
          </a:p>
          <a:p>
            <a:pPr lvl="0">
              <a:spcBef>
                <a:spcPts val="900"/>
              </a:spcBef>
              <a:buSzPct val="100000"/>
            </a:pPr>
            <a:r>
              <a:rPr lang="en-US" sz="2000" b="1" dirty="0"/>
              <a:t>Acceptance tests</a:t>
            </a:r>
          </a:p>
          <a:p>
            <a:pPr lvl="0">
              <a:spcBef>
                <a:spcPts val="900"/>
              </a:spcBef>
              <a:buSzPct val="100000"/>
            </a:pPr>
            <a:r>
              <a:rPr lang="en-US" sz="2000" b="1" dirty="0"/>
              <a:t>Conversion</a:t>
            </a:r>
          </a:p>
          <a:p>
            <a:pPr lvl="0">
              <a:spcBef>
                <a:spcPts val="900"/>
              </a:spcBef>
              <a:buSzPct val="100000"/>
            </a:pPr>
            <a:r>
              <a:rPr lang="en-US" sz="2000" b="1" dirty="0"/>
              <a:t>Direct conversion</a:t>
            </a:r>
          </a:p>
          <a:p>
            <a:pPr lvl="0">
              <a:spcBef>
                <a:spcPts val="900"/>
              </a:spcBef>
              <a:buSzPct val="100000"/>
            </a:pPr>
            <a:r>
              <a:rPr lang="en-US" sz="2000" b="1" dirty="0"/>
              <a:t>Parallel conversion</a:t>
            </a:r>
          </a:p>
          <a:p>
            <a:pPr lvl="0">
              <a:spcBef>
                <a:spcPts val="900"/>
              </a:spcBef>
              <a:buSzPct val="100000"/>
            </a:pPr>
            <a:r>
              <a:rPr lang="en-US" sz="2000" b="1" dirty="0"/>
              <a:t>Phase-in conversion</a:t>
            </a:r>
          </a:p>
          <a:p>
            <a:pPr lvl="0">
              <a:spcBef>
                <a:spcPts val="900"/>
              </a:spcBef>
              <a:buSzPct val="100000"/>
            </a:pPr>
            <a:r>
              <a:rPr lang="en-US" sz="2000" b="1" dirty="0"/>
              <a:t>Pilot conversion</a:t>
            </a:r>
          </a:p>
          <a:p>
            <a:pPr lvl="0">
              <a:spcBef>
                <a:spcPts val="900"/>
              </a:spcBef>
              <a:buSzPct val="100000"/>
            </a:pPr>
            <a:r>
              <a:rPr lang="en-US" sz="2000" dirty="0"/>
              <a:t>Post-implementation review</a:t>
            </a:r>
          </a:p>
          <a:p>
            <a:pPr lvl="0">
              <a:spcBef>
                <a:spcPts val="900"/>
              </a:spcBef>
              <a:buSzPct val="100000"/>
            </a:pPr>
            <a:r>
              <a:rPr lang="en-US" sz="2000" dirty="0"/>
              <a:t>Post-implementation review report</a:t>
            </a:r>
          </a:p>
        </p:txBody>
      </p:sp>
    </p:spTree>
    <p:extLst>
      <p:ext uri="{BB962C8B-B14F-4D97-AF65-F5344CB8AC3E}">
        <p14:creationId xmlns:p14="http://schemas.microsoft.com/office/powerpoint/2010/main" val="15609942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9732"/>
            <a:ext cx="8229600" cy="553998"/>
          </a:xfrm>
        </p:spPr>
        <p:txBody>
          <a:bodyPr wrap="square">
            <a:spAutoFit/>
          </a:bodyPr>
          <a:lstStyle/>
          <a:p>
            <a:r>
              <a:rPr lang="en-US" sz="3600" dirty="0">
                <a:latin typeface="+mj-lt"/>
              </a:rPr>
              <a:t>Copyright</a:t>
            </a:r>
            <a:endParaRPr lang="en-US" sz="3600" b="0" dirty="0">
              <a:latin typeface="+mj-lt"/>
            </a:endParaRPr>
          </a:p>
        </p:txBody>
      </p:sp>
      <p:pic>
        <p:nvPicPr>
          <p:cNvPr id="10" name="Picture Placeholder 9" descr="Warning">
            <a:extLst>
              <a:ext uri="{FF2B5EF4-FFF2-40B4-BE49-F238E27FC236}">
                <a16:creationId xmlns:a16="http://schemas.microsoft.com/office/drawing/2014/main" id="{916ED080-4A7D-4795-B4C6-665358BE6EAE}"/>
              </a:ext>
            </a:extLst>
          </p:cNvPr>
          <p:cNvPicPr>
            <a:picLocks noGrp="1" noChangeAspect="1"/>
          </p:cNvPicPr>
          <p:nvPr>
            <p:ph type="pic" sz="quarter" idx="14"/>
          </p:nvPr>
        </p:nvPicPr>
        <p:blipFill>
          <a:blip>
            <a:extLst>
              <a:ext uri="{96DAC541-7B7A-43D3-8B79-37D633B846F1}">
                <asvg:svgBlip xmlns:asvg="http://schemas.microsoft.com/office/drawing/2016/SVG/main" r:embed="rId3"/>
              </a:ext>
            </a:extLst>
          </a:blip>
          <a:stretch>
            <a:fillRect/>
          </a:stretch>
        </p:blipFill>
        <p:spPr>
          <a:xfrm>
            <a:off x="557060" y="2286000"/>
            <a:ext cx="1347940" cy="1347940"/>
          </a:xfrm>
          <a:prstGeom prst="rect">
            <a:avLst/>
          </a:prstGeom>
        </p:spPr>
      </p:pic>
      <p:sp>
        <p:nvSpPr>
          <p:cNvPr id="3" name="Content Placeholder 2">
            <a:extLst>
              <a:ext uri="{FF2B5EF4-FFF2-40B4-BE49-F238E27FC236}">
                <a16:creationId xmlns:a16="http://schemas.microsoft.com/office/drawing/2014/main" id="{DF9C7A11-9888-4F7B-B711-91904077BD8C}"/>
              </a:ext>
            </a:extLst>
          </p:cNvPr>
          <p:cNvSpPr>
            <a:spLocks noGrp="1"/>
          </p:cNvSpPr>
          <p:nvPr>
            <p:ph idx="1"/>
          </p:nvPr>
        </p:nvSpPr>
        <p:spPr>
          <a:xfrm>
            <a:off x="2277035" y="1609165"/>
            <a:ext cx="6400800" cy="3262432"/>
          </a:xfrm>
          <a:ln w="28575">
            <a:solidFill>
              <a:schemeClr val="tx1"/>
            </a:solidFill>
          </a:ln>
        </p:spPr>
        <p:txBody>
          <a:bodyPr lIns="274320" tIns="274320" rIns="274320" bIns="274320"/>
          <a:lstStyle/>
          <a:p>
            <a:pPr marL="0" indent="0">
              <a:buNone/>
            </a:pPr>
            <a:r>
              <a:rPr lang="en-US" b="1" dirty="0"/>
              <a:t>This work is protected by United States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extLst>
      <p:ext uri="{BB962C8B-B14F-4D97-AF65-F5344CB8AC3E}">
        <p14:creationId xmlns:p14="http://schemas.microsoft.com/office/powerpoint/2010/main" val="3651771386"/>
      </p:ext>
    </p:extLst>
  </p:cSld>
  <p:clrMapOvr>
    <a:masterClrMapping/>
  </p:clrMapOvr>
</p:sld>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1_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26052</TotalTime>
  <Words>1460</Words>
  <Application>Microsoft Macintosh PowerPoint</Application>
  <PresentationFormat>On-screen Show (4:3)</PresentationFormat>
  <Paragraphs>210</Paragraphs>
  <Slides>19</Slides>
  <Notes>12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19</vt:i4>
      </vt:variant>
    </vt:vector>
  </HeadingPairs>
  <TitlesOfParts>
    <vt:vector size="27" baseType="lpstr">
      <vt:lpstr>Arial</vt:lpstr>
      <vt:lpstr>Arial(Body)</vt:lpstr>
      <vt:lpstr>Noto Sans Symbols</vt:lpstr>
      <vt:lpstr>Times New Roman</vt:lpstr>
      <vt:lpstr>Verdana</vt:lpstr>
      <vt:lpstr>Wingdings</vt:lpstr>
      <vt:lpstr>508 Lecture</vt:lpstr>
      <vt:lpstr>1_508 Lecture</vt:lpstr>
      <vt:lpstr>Accounting Information Systems</vt:lpstr>
      <vt:lpstr>Learning Objectives</vt:lpstr>
      <vt:lpstr>Figure 22.1 The Systems Development Life Cycle</vt:lpstr>
      <vt:lpstr>Figure 22.4 Steps in Systems Analysis</vt:lpstr>
      <vt:lpstr>Figure 24.1 Conceptual Systems Design Activities</vt:lpstr>
      <vt:lpstr>Phase 3: Physical Systems Design</vt:lpstr>
      <vt:lpstr>PowerPoint Presentation</vt:lpstr>
      <vt:lpstr>PowerPoint Presentation</vt:lpstr>
      <vt:lpstr>PowerPoint Presentation</vt:lpstr>
      <vt:lpstr>PowerPoint Presentation</vt:lpstr>
      <vt:lpstr>Stop 3/12/26</vt:lpstr>
      <vt:lpstr>Phase 4: Systems Implementation</vt:lpstr>
      <vt:lpstr>PowerPoint Presentation</vt:lpstr>
      <vt:lpstr>Testing the System</vt:lpstr>
      <vt:lpstr>Systems Conversion</vt:lpstr>
      <vt:lpstr>PowerPoint Presentation</vt:lpstr>
      <vt:lpstr>Phase 5: Operations and Maintenance (75% of $)</vt:lpstr>
      <vt:lpstr>Key Terms</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Accounting Information Systems, Fifteenth Edition, Chapter 24, Systems Design, Implementation, and Operation</dc:title>
  <dc:subject/>
  <dc:creator>Romney</dc:creator>
  <cp:keywords>Automotive</cp:keywords>
  <cp:lastModifiedBy>Nathan Garrett</cp:lastModifiedBy>
  <cp:revision>5264</cp:revision>
  <dcterms:created xsi:type="dcterms:W3CDTF">2014-07-14T20:04:21Z</dcterms:created>
  <dcterms:modified xsi:type="dcterms:W3CDTF">2026-03-12T13:35:01Z</dcterms:modified>
</cp:coreProperties>
</file>