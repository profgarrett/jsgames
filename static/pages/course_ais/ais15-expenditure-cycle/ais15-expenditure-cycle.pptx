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30"/>
  </p:notesMasterIdLst>
  <p:handoutMasterIdLst>
    <p:handoutMasterId r:id="rId31"/>
  </p:handoutMasterIdLst>
  <p:sldIdLst>
    <p:sldId id="330" r:id="rId3"/>
    <p:sldId id="1718" r:id="rId4"/>
    <p:sldId id="1797" r:id="rId5"/>
    <p:sldId id="1771" r:id="rId6"/>
    <p:sldId id="1817" r:id="rId7"/>
    <p:sldId id="1818" r:id="rId8"/>
    <p:sldId id="1806" r:id="rId9"/>
    <p:sldId id="1786" r:id="rId10"/>
    <p:sldId id="1798" r:id="rId11"/>
    <p:sldId id="1809" r:id="rId12"/>
    <p:sldId id="1811" r:id="rId13"/>
    <p:sldId id="1810" r:id="rId14"/>
    <p:sldId id="1799" r:id="rId15"/>
    <p:sldId id="1807" r:id="rId16"/>
    <p:sldId id="1800" r:id="rId17"/>
    <p:sldId id="1812" r:id="rId18"/>
    <p:sldId id="1813" r:id="rId19"/>
    <p:sldId id="1801" r:id="rId20"/>
    <p:sldId id="1802" r:id="rId21"/>
    <p:sldId id="1814" r:id="rId22"/>
    <p:sldId id="1816" r:id="rId23"/>
    <p:sldId id="1819" r:id="rId24"/>
    <p:sldId id="1815" r:id="rId25"/>
    <p:sldId id="1803" r:id="rId26"/>
    <p:sldId id="1808" r:id="rId27"/>
    <p:sldId id="1796" r:id="rId28"/>
    <p:sldId id="170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575" autoAdjust="0"/>
    <p:restoredTop sz="79147" autoAdjust="0"/>
  </p:normalViewPr>
  <p:slideViewPr>
    <p:cSldViewPr>
      <p:cViewPr varScale="1">
        <p:scale>
          <a:sx n="116" d="100"/>
          <a:sy n="116" d="100"/>
        </p:scale>
        <p:origin x="200" y="1440"/>
      </p:cViewPr>
      <p:guideLst>
        <p:guide pos="2880"/>
        <p:guide orient="horz" pos="384"/>
        <p:guide orient="horz" pos="144"/>
        <p:guide orient="horz" pos="624"/>
        <p:guide pos="288"/>
        <p:guide pos="5472"/>
        <p:guide orient="horz" pos="3984"/>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362E10-61D9-4BF3-A85F-BC02457D5DC6}"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49323A19-AD40-4C1C-800B-5F7C49E66FCC}">
      <dgm:prSet phldrT="[Text]"/>
      <dgm:spPr/>
      <dgm:t>
        <a:bodyPr/>
        <a:lstStyle/>
        <a:p>
          <a:r>
            <a:rPr lang="en-US" dirty="0"/>
            <a:t>Payment Package</a:t>
          </a:r>
        </a:p>
      </dgm:t>
    </dgm:pt>
    <dgm:pt modelId="{1A373973-5410-4852-A68F-FF0937D306A6}" type="parTrans" cxnId="{9FD49EE9-EFD0-4EA9-8B3B-58033128C59E}">
      <dgm:prSet/>
      <dgm:spPr/>
      <dgm:t>
        <a:bodyPr/>
        <a:lstStyle/>
        <a:p>
          <a:endParaRPr lang="en-US"/>
        </a:p>
      </dgm:t>
    </dgm:pt>
    <dgm:pt modelId="{0D9831C0-7C46-41AC-B648-FCF305B43A07}" type="sibTrans" cxnId="{9FD49EE9-EFD0-4EA9-8B3B-58033128C59E}">
      <dgm:prSet/>
      <dgm:spPr/>
      <dgm:t>
        <a:bodyPr/>
        <a:lstStyle/>
        <a:p>
          <a:endParaRPr lang="en-US"/>
        </a:p>
      </dgm:t>
    </dgm:pt>
    <dgm:pt modelId="{D6AC0C05-9303-4B16-B810-95C779DE80D6}">
      <dgm:prSet phldrT="[Text]"/>
      <dgm:spPr/>
      <dgm:t>
        <a:bodyPr/>
        <a:lstStyle/>
        <a:p>
          <a:r>
            <a:rPr lang="en-US" dirty="0"/>
            <a:t>Check (signed by CFO)</a:t>
          </a:r>
        </a:p>
      </dgm:t>
    </dgm:pt>
    <dgm:pt modelId="{CA0A41C2-2D54-46C9-A27D-68D48E749CAE}" type="parTrans" cxnId="{EBEA37CB-5854-48D8-84EE-9070E64F8125}">
      <dgm:prSet/>
      <dgm:spPr/>
      <dgm:t>
        <a:bodyPr/>
        <a:lstStyle/>
        <a:p>
          <a:endParaRPr lang="en-US"/>
        </a:p>
      </dgm:t>
    </dgm:pt>
    <dgm:pt modelId="{26A5F7A1-D4FE-412E-AC56-486EEC70B15D}" type="sibTrans" cxnId="{EBEA37CB-5854-48D8-84EE-9070E64F8125}">
      <dgm:prSet/>
      <dgm:spPr/>
      <dgm:t>
        <a:bodyPr/>
        <a:lstStyle/>
        <a:p>
          <a:endParaRPr lang="en-US"/>
        </a:p>
      </dgm:t>
    </dgm:pt>
    <dgm:pt modelId="{12668492-A765-46EE-8F0A-1BA143F213AE}">
      <dgm:prSet phldrT="[Text]"/>
      <dgm:spPr/>
      <dgm:t>
        <a:bodyPr/>
        <a:lstStyle/>
        <a:p>
          <a:r>
            <a:rPr lang="en-US" dirty="0"/>
            <a:t>Purchase Order (what we ordered)</a:t>
          </a:r>
        </a:p>
      </dgm:t>
    </dgm:pt>
    <dgm:pt modelId="{52B102F1-CD7A-4B6C-9CAB-8BA3E4C3B563}" type="parTrans" cxnId="{916596AD-048C-4811-933E-B45655280032}">
      <dgm:prSet/>
      <dgm:spPr/>
      <dgm:t>
        <a:bodyPr/>
        <a:lstStyle/>
        <a:p>
          <a:endParaRPr lang="en-US"/>
        </a:p>
      </dgm:t>
    </dgm:pt>
    <dgm:pt modelId="{834375E7-C5F4-40DE-9500-5F57CF608D16}" type="sibTrans" cxnId="{916596AD-048C-4811-933E-B45655280032}">
      <dgm:prSet/>
      <dgm:spPr/>
      <dgm:t>
        <a:bodyPr/>
        <a:lstStyle/>
        <a:p>
          <a:endParaRPr lang="en-US"/>
        </a:p>
      </dgm:t>
    </dgm:pt>
    <dgm:pt modelId="{1889B4DC-4AF1-46C9-8EF0-B54D624CAB04}">
      <dgm:prSet phldrT="[Text]"/>
      <dgm:spPr/>
      <dgm:t>
        <a:bodyPr/>
        <a:lstStyle/>
        <a:p>
          <a:r>
            <a:rPr lang="en-US" dirty="0"/>
            <a:t>Receiving Report(what we received)</a:t>
          </a:r>
        </a:p>
      </dgm:t>
    </dgm:pt>
    <dgm:pt modelId="{3A3F3241-72C4-4329-A016-BB237A0BFE25}" type="parTrans" cxnId="{65BF0527-FDFC-4086-8488-C8FA5333EF84}">
      <dgm:prSet/>
      <dgm:spPr/>
      <dgm:t>
        <a:bodyPr/>
        <a:lstStyle/>
        <a:p>
          <a:endParaRPr lang="en-US"/>
        </a:p>
      </dgm:t>
    </dgm:pt>
    <dgm:pt modelId="{7E49E4F6-B90F-4480-9EA6-094BC86D1CEE}" type="sibTrans" cxnId="{65BF0527-FDFC-4086-8488-C8FA5333EF84}">
      <dgm:prSet/>
      <dgm:spPr/>
      <dgm:t>
        <a:bodyPr/>
        <a:lstStyle/>
        <a:p>
          <a:endParaRPr lang="en-US"/>
        </a:p>
      </dgm:t>
    </dgm:pt>
    <dgm:pt modelId="{71E2C2B8-B94C-4D56-8992-D0463A93CDAA}">
      <dgm:prSet phldrT="[Text]"/>
      <dgm:spPr/>
      <dgm:t>
        <a:bodyPr/>
        <a:lstStyle/>
        <a:p>
          <a:r>
            <a:rPr lang="en-US" dirty="0"/>
            <a:t>Invoice (what they are billing us for)</a:t>
          </a:r>
        </a:p>
      </dgm:t>
    </dgm:pt>
    <dgm:pt modelId="{DB893EE0-78F9-4E38-88C1-3D9639A9EC69}" type="parTrans" cxnId="{28F044E9-CA86-485D-9266-7153F527D7B8}">
      <dgm:prSet/>
      <dgm:spPr/>
      <dgm:t>
        <a:bodyPr/>
        <a:lstStyle/>
        <a:p>
          <a:endParaRPr lang="en-US"/>
        </a:p>
      </dgm:t>
    </dgm:pt>
    <dgm:pt modelId="{0448B11A-13C5-4A3B-8BAC-C810FBC75A93}" type="sibTrans" cxnId="{28F044E9-CA86-485D-9266-7153F527D7B8}">
      <dgm:prSet/>
      <dgm:spPr/>
      <dgm:t>
        <a:bodyPr/>
        <a:lstStyle/>
        <a:p>
          <a:endParaRPr lang="en-US"/>
        </a:p>
      </dgm:t>
    </dgm:pt>
    <dgm:pt modelId="{0217BD42-00DA-4B16-9C1A-E06878023ADA}" type="pres">
      <dgm:prSet presAssocID="{D6362E10-61D9-4BF3-A85F-BC02457D5DC6}" presName="Name0" presStyleCnt="0">
        <dgm:presLayoutVars>
          <dgm:chPref val="1"/>
          <dgm:dir/>
          <dgm:animOne val="branch"/>
          <dgm:animLvl val="lvl"/>
          <dgm:resizeHandles val="exact"/>
        </dgm:presLayoutVars>
      </dgm:prSet>
      <dgm:spPr/>
    </dgm:pt>
    <dgm:pt modelId="{4C106217-1EA3-4D55-BAB9-2E730401A396}" type="pres">
      <dgm:prSet presAssocID="{49323A19-AD40-4C1C-800B-5F7C49E66FCC}" presName="root1" presStyleCnt="0"/>
      <dgm:spPr/>
    </dgm:pt>
    <dgm:pt modelId="{966B0FA8-040B-428D-BF40-1890365BB0DA}" type="pres">
      <dgm:prSet presAssocID="{49323A19-AD40-4C1C-800B-5F7C49E66FCC}" presName="LevelOneTextNode" presStyleLbl="node0" presStyleIdx="0" presStyleCnt="1">
        <dgm:presLayoutVars>
          <dgm:chPref val="3"/>
        </dgm:presLayoutVars>
      </dgm:prSet>
      <dgm:spPr/>
    </dgm:pt>
    <dgm:pt modelId="{CC2645EC-7A10-40EE-975A-1426E3E6F13F}" type="pres">
      <dgm:prSet presAssocID="{49323A19-AD40-4C1C-800B-5F7C49E66FCC}" presName="level2hierChild" presStyleCnt="0"/>
      <dgm:spPr/>
    </dgm:pt>
    <dgm:pt modelId="{FA240463-C031-42B7-B4B0-A5D8E4558476}" type="pres">
      <dgm:prSet presAssocID="{CA0A41C2-2D54-46C9-A27D-68D48E749CAE}" presName="conn2-1" presStyleLbl="parChTrans1D2" presStyleIdx="0" presStyleCnt="4"/>
      <dgm:spPr/>
    </dgm:pt>
    <dgm:pt modelId="{6E283AA8-C888-440A-B42B-833755964E7A}" type="pres">
      <dgm:prSet presAssocID="{CA0A41C2-2D54-46C9-A27D-68D48E749CAE}" presName="connTx" presStyleLbl="parChTrans1D2" presStyleIdx="0" presStyleCnt="4"/>
      <dgm:spPr/>
    </dgm:pt>
    <dgm:pt modelId="{8B618939-2342-4F97-8151-7A680D9E4937}" type="pres">
      <dgm:prSet presAssocID="{D6AC0C05-9303-4B16-B810-95C779DE80D6}" presName="root2" presStyleCnt="0"/>
      <dgm:spPr/>
    </dgm:pt>
    <dgm:pt modelId="{034BA640-6C5E-4AAA-A407-07C852281F1B}" type="pres">
      <dgm:prSet presAssocID="{D6AC0C05-9303-4B16-B810-95C779DE80D6}" presName="LevelTwoTextNode" presStyleLbl="node2" presStyleIdx="0" presStyleCnt="4">
        <dgm:presLayoutVars>
          <dgm:chPref val="3"/>
        </dgm:presLayoutVars>
      </dgm:prSet>
      <dgm:spPr/>
    </dgm:pt>
    <dgm:pt modelId="{D472F83F-64B1-4798-9E3A-6FA96D358931}" type="pres">
      <dgm:prSet presAssocID="{D6AC0C05-9303-4B16-B810-95C779DE80D6}" presName="level3hierChild" presStyleCnt="0"/>
      <dgm:spPr/>
    </dgm:pt>
    <dgm:pt modelId="{8F036F08-F9C5-469E-A745-5DAC3361E9EA}" type="pres">
      <dgm:prSet presAssocID="{52B102F1-CD7A-4B6C-9CAB-8BA3E4C3B563}" presName="conn2-1" presStyleLbl="parChTrans1D2" presStyleIdx="1" presStyleCnt="4"/>
      <dgm:spPr/>
    </dgm:pt>
    <dgm:pt modelId="{F73D5BC7-BE83-428F-8193-987B7C3B478F}" type="pres">
      <dgm:prSet presAssocID="{52B102F1-CD7A-4B6C-9CAB-8BA3E4C3B563}" presName="connTx" presStyleLbl="parChTrans1D2" presStyleIdx="1" presStyleCnt="4"/>
      <dgm:spPr/>
    </dgm:pt>
    <dgm:pt modelId="{1DB575A5-3CF5-411F-A09B-E028C341F77F}" type="pres">
      <dgm:prSet presAssocID="{12668492-A765-46EE-8F0A-1BA143F213AE}" presName="root2" presStyleCnt="0"/>
      <dgm:spPr/>
    </dgm:pt>
    <dgm:pt modelId="{4542AC49-C9A9-4BA0-821E-3A55AAD3ED88}" type="pres">
      <dgm:prSet presAssocID="{12668492-A765-46EE-8F0A-1BA143F213AE}" presName="LevelTwoTextNode" presStyleLbl="node2" presStyleIdx="1" presStyleCnt="4">
        <dgm:presLayoutVars>
          <dgm:chPref val="3"/>
        </dgm:presLayoutVars>
      </dgm:prSet>
      <dgm:spPr/>
    </dgm:pt>
    <dgm:pt modelId="{F46A27FF-8DE1-441F-B519-2BD4C00A2AE1}" type="pres">
      <dgm:prSet presAssocID="{12668492-A765-46EE-8F0A-1BA143F213AE}" presName="level3hierChild" presStyleCnt="0"/>
      <dgm:spPr/>
    </dgm:pt>
    <dgm:pt modelId="{C7407BBB-6BA9-4A9A-A5FB-3F15D289A236}" type="pres">
      <dgm:prSet presAssocID="{3A3F3241-72C4-4329-A016-BB237A0BFE25}" presName="conn2-1" presStyleLbl="parChTrans1D2" presStyleIdx="2" presStyleCnt="4"/>
      <dgm:spPr/>
    </dgm:pt>
    <dgm:pt modelId="{B84EAE62-004C-49AF-9AD9-335D1FB6EE61}" type="pres">
      <dgm:prSet presAssocID="{3A3F3241-72C4-4329-A016-BB237A0BFE25}" presName="connTx" presStyleLbl="parChTrans1D2" presStyleIdx="2" presStyleCnt="4"/>
      <dgm:spPr/>
    </dgm:pt>
    <dgm:pt modelId="{C2CB4FEF-CD7E-4C45-899B-039A05E78726}" type="pres">
      <dgm:prSet presAssocID="{1889B4DC-4AF1-46C9-8EF0-B54D624CAB04}" presName="root2" presStyleCnt="0"/>
      <dgm:spPr/>
    </dgm:pt>
    <dgm:pt modelId="{56BC698C-88B5-455A-974D-29D495DFA16D}" type="pres">
      <dgm:prSet presAssocID="{1889B4DC-4AF1-46C9-8EF0-B54D624CAB04}" presName="LevelTwoTextNode" presStyleLbl="node2" presStyleIdx="2" presStyleCnt="4">
        <dgm:presLayoutVars>
          <dgm:chPref val="3"/>
        </dgm:presLayoutVars>
      </dgm:prSet>
      <dgm:spPr/>
    </dgm:pt>
    <dgm:pt modelId="{908299B3-AA6C-46EC-966A-CA481225A218}" type="pres">
      <dgm:prSet presAssocID="{1889B4DC-4AF1-46C9-8EF0-B54D624CAB04}" presName="level3hierChild" presStyleCnt="0"/>
      <dgm:spPr/>
    </dgm:pt>
    <dgm:pt modelId="{3528993A-F2E8-46A4-A1EC-77A040CD42F1}" type="pres">
      <dgm:prSet presAssocID="{DB893EE0-78F9-4E38-88C1-3D9639A9EC69}" presName="conn2-1" presStyleLbl="parChTrans1D2" presStyleIdx="3" presStyleCnt="4"/>
      <dgm:spPr/>
    </dgm:pt>
    <dgm:pt modelId="{6548FAF3-6E3B-409C-9906-2BF6D9F31362}" type="pres">
      <dgm:prSet presAssocID="{DB893EE0-78F9-4E38-88C1-3D9639A9EC69}" presName="connTx" presStyleLbl="parChTrans1D2" presStyleIdx="3" presStyleCnt="4"/>
      <dgm:spPr/>
    </dgm:pt>
    <dgm:pt modelId="{DAD706C6-5830-4D8B-BBD0-F40149FA6C93}" type="pres">
      <dgm:prSet presAssocID="{71E2C2B8-B94C-4D56-8992-D0463A93CDAA}" presName="root2" presStyleCnt="0"/>
      <dgm:spPr/>
    </dgm:pt>
    <dgm:pt modelId="{4E2DE922-D53D-491D-B3DD-F8B390E9CC8A}" type="pres">
      <dgm:prSet presAssocID="{71E2C2B8-B94C-4D56-8992-D0463A93CDAA}" presName="LevelTwoTextNode" presStyleLbl="node2" presStyleIdx="3" presStyleCnt="4">
        <dgm:presLayoutVars>
          <dgm:chPref val="3"/>
        </dgm:presLayoutVars>
      </dgm:prSet>
      <dgm:spPr/>
    </dgm:pt>
    <dgm:pt modelId="{F314E5A3-8AAD-4F39-8222-AAC3856B54B2}" type="pres">
      <dgm:prSet presAssocID="{71E2C2B8-B94C-4D56-8992-D0463A93CDAA}" presName="level3hierChild" presStyleCnt="0"/>
      <dgm:spPr/>
    </dgm:pt>
  </dgm:ptLst>
  <dgm:cxnLst>
    <dgm:cxn modelId="{5159810C-6D9D-4937-8041-EB8057C0B806}" type="presOf" srcId="{DB893EE0-78F9-4E38-88C1-3D9639A9EC69}" destId="{3528993A-F2E8-46A4-A1EC-77A040CD42F1}" srcOrd="0" destOrd="0" presId="urn:microsoft.com/office/officeart/2008/layout/HorizontalMultiLevelHierarchy"/>
    <dgm:cxn modelId="{FA6B9911-686C-4FFB-9EAD-A526D3150FA6}" type="presOf" srcId="{D6362E10-61D9-4BF3-A85F-BC02457D5DC6}" destId="{0217BD42-00DA-4B16-9C1A-E06878023ADA}" srcOrd="0" destOrd="0" presId="urn:microsoft.com/office/officeart/2008/layout/HorizontalMultiLevelHierarchy"/>
    <dgm:cxn modelId="{65BF0527-FDFC-4086-8488-C8FA5333EF84}" srcId="{49323A19-AD40-4C1C-800B-5F7C49E66FCC}" destId="{1889B4DC-4AF1-46C9-8EF0-B54D624CAB04}" srcOrd="2" destOrd="0" parTransId="{3A3F3241-72C4-4329-A016-BB237A0BFE25}" sibTransId="{7E49E4F6-B90F-4480-9EA6-094BC86D1CEE}"/>
    <dgm:cxn modelId="{69CE8F35-E30A-4AEF-92C3-7DE7026853CF}" type="presOf" srcId="{CA0A41C2-2D54-46C9-A27D-68D48E749CAE}" destId="{FA240463-C031-42B7-B4B0-A5D8E4558476}" srcOrd="0" destOrd="0" presId="urn:microsoft.com/office/officeart/2008/layout/HorizontalMultiLevelHierarchy"/>
    <dgm:cxn modelId="{C3D4E439-027F-4DE6-893A-664C651097A9}" type="presOf" srcId="{3A3F3241-72C4-4329-A016-BB237A0BFE25}" destId="{B84EAE62-004C-49AF-9AD9-335D1FB6EE61}" srcOrd="1" destOrd="0" presId="urn:microsoft.com/office/officeart/2008/layout/HorizontalMultiLevelHierarchy"/>
    <dgm:cxn modelId="{A88B7650-D250-49AA-BF10-EAFFA6809E81}" type="presOf" srcId="{CA0A41C2-2D54-46C9-A27D-68D48E749CAE}" destId="{6E283AA8-C888-440A-B42B-833755964E7A}" srcOrd="1" destOrd="0" presId="urn:microsoft.com/office/officeart/2008/layout/HorizontalMultiLevelHierarchy"/>
    <dgm:cxn modelId="{C4EA0455-60D4-487F-816E-529C6EFFBFE3}" type="presOf" srcId="{DB893EE0-78F9-4E38-88C1-3D9639A9EC69}" destId="{6548FAF3-6E3B-409C-9906-2BF6D9F31362}" srcOrd="1" destOrd="0" presId="urn:microsoft.com/office/officeart/2008/layout/HorizontalMultiLevelHierarchy"/>
    <dgm:cxn modelId="{42A5895C-DBE4-4A05-B9C4-B2E1F1089614}" type="presOf" srcId="{D6AC0C05-9303-4B16-B810-95C779DE80D6}" destId="{034BA640-6C5E-4AAA-A407-07C852281F1B}" srcOrd="0" destOrd="0" presId="urn:microsoft.com/office/officeart/2008/layout/HorizontalMultiLevelHierarchy"/>
    <dgm:cxn modelId="{0908B05C-36D3-4848-BC05-EEA02FDF5C5F}" type="presOf" srcId="{52B102F1-CD7A-4B6C-9CAB-8BA3E4C3B563}" destId="{F73D5BC7-BE83-428F-8193-987B7C3B478F}" srcOrd="1" destOrd="0" presId="urn:microsoft.com/office/officeart/2008/layout/HorizontalMultiLevelHierarchy"/>
    <dgm:cxn modelId="{5DB5C160-C7C0-401D-91ED-76A7958ABCA3}" type="presOf" srcId="{71E2C2B8-B94C-4D56-8992-D0463A93CDAA}" destId="{4E2DE922-D53D-491D-B3DD-F8B390E9CC8A}" srcOrd="0" destOrd="0" presId="urn:microsoft.com/office/officeart/2008/layout/HorizontalMultiLevelHierarchy"/>
    <dgm:cxn modelId="{A3BC4061-33AA-4066-975B-8438BD7CCCE0}" type="presOf" srcId="{52B102F1-CD7A-4B6C-9CAB-8BA3E4C3B563}" destId="{8F036F08-F9C5-469E-A745-5DAC3361E9EA}" srcOrd="0" destOrd="0" presId="urn:microsoft.com/office/officeart/2008/layout/HorizontalMultiLevelHierarchy"/>
    <dgm:cxn modelId="{EBDAF97B-CEF4-4542-A540-00978234B54F}" type="presOf" srcId="{1889B4DC-4AF1-46C9-8EF0-B54D624CAB04}" destId="{56BC698C-88B5-455A-974D-29D495DFA16D}" srcOrd="0" destOrd="0" presId="urn:microsoft.com/office/officeart/2008/layout/HorizontalMultiLevelHierarchy"/>
    <dgm:cxn modelId="{D7F91E90-84C7-4298-9CDB-86BFA46CF3F0}" type="presOf" srcId="{3A3F3241-72C4-4329-A016-BB237A0BFE25}" destId="{C7407BBB-6BA9-4A9A-A5FB-3F15D289A236}" srcOrd="0" destOrd="0" presId="urn:microsoft.com/office/officeart/2008/layout/HorizontalMultiLevelHierarchy"/>
    <dgm:cxn modelId="{90537C9F-F7AB-4E5B-8CBF-ED0462759683}" type="presOf" srcId="{12668492-A765-46EE-8F0A-1BA143F213AE}" destId="{4542AC49-C9A9-4BA0-821E-3A55AAD3ED88}" srcOrd="0" destOrd="0" presId="urn:microsoft.com/office/officeart/2008/layout/HorizontalMultiLevelHierarchy"/>
    <dgm:cxn modelId="{6D4671A8-ECB0-48B4-B31B-325D0DAD4005}" type="presOf" srcId="{49323A19-AD40-4C1C-800B-5F7C49E66FCC}" destId="{966B0FA8-040B-428D-BF40-1890365BB0DA}" srcOrd="0" destOrd="0" presId="urn:microsoft.com/office/officeart/2008/layout/HorizontalMultiLevelHierarchy"/>
    <dgm:cxn modelId="{916596AD-048C-4811-933E-B45655280032}" srcId="{49323A19-AD40-4C1C-800B-5F7C49E66FCC}" destId="{12668492-A765-46EE-8F0A-1BA143F213AE}" srcOrd="1" destOrd="0" parTransId="{52B102F1-CD7A-4B6C-9CAB-8BA3E4C3B563}" sibTransId="{834375E7-C5F4-40DE-9500-5F57CF608D16}"/>
    <dgm:cxn modelId="{EBEA37CB-5854-48D8-84EE-9070E64F8125}" srcId="{49323A19-AD40-4C1C-800B-5F7C49E66FCC}" destId="{D6AC0C05-9303-4B16-B810-95C779DE80D6}" srcOrd="0" destOrd="0" parTransId="{CA0A41C2-2D54-46C9-A27D-68D48E749CAE}" sibTransId="{26A5F7A1-D4FE-412E-AC56-486EEC70B15D}"/>
    <dgm:cxn modelId="{28F044E9-CA86-485D-9266-7153F527D7B8}" srcId="{49323A19-AD40-4C1C-800B-5F7C49E66FCC}" destId="{71E2C2B8-B94C-4D56-8992-D0463A93CDAA}" srcOrd="3" destOrd="0" parTransId="{DB893EE0-78F9-4E38-88C1-3D9639A9EC69}" sibTransId="{0448B11A-13C5-4A3B-8BAC-C810FBC75A93}"/>
    <dgm:cxn modelId="{9FD49EE9-EFD0-4EA9-8B3B-58033128C59E}" srcId="{D6362E10-61D9-4BF3-A85F-BC02457D5DC6}" destId="{49323A19-AD40-4C1C-800B-5F7C49E66FCC}" srcOrd="0" destOrd="0" parTransId="{1A373973-5410-4852-A68F-FF0937D306A6}" sibTransId="{0D9831C0-7C46-41AC-B648-FCF305B43A07}"/>
    <dgm:cxn modelId="{24F8BCEF-D194-41A1-B41D-4F5CB5B00168}" type="presParOf" srcId="{0217BD42-00DA-4B16-9C1A-E06878023ADA}" destId="{4C106217-1EA3-4D55-BAB9-2E730401A396}" srcOrd="0" destOrd="0" presId="urn:microsoft.com/office/officeart/2008/layout/HorizontalMultiLevelHierarchy"/>
    <dgm:cxn modelId="{B99017F8-EA3A-4F08-965A-ED9A50CD9CB2}" type="presParOf" srcId="{4C106217-1EA3-4D55-BAB9-2E730401A396}" destId="{966B0FA8-040B-428D-BF40-1890365BB0DA}" srcOrd="0" destOrd="0" presId="urn:microsoft.com/office/officeart/2008/layout/HorizontalMultiLevelHierarchy"/>
    <dgm:cxn modelId="{5AF36C7B-A963-4E70-A41A-31B9E42D8A0F}" type="presParOf" srcId="{4C106217-1EA3-4D55-BAB9-2E730401A396}" destId="{CC2645EC-7A10-40EE-975A-1426E3E6F13F}" srcOrd="1" destOrd="0" presId="urn:microsoft.com/office/officeart/2008/layout/HorizontalMultiLevelHierarchy"/>
    <dgm:cxn modelId="{E4AB1446-7EF7-4957-A741-763C3FD5CB38}" type="presParOf" srcId="{CC2645EC-7A10-40EE-975A-1426E3E6F13F}" destId="{FA240463-C031-42B7-B4B0-A5D8E4558476}" srcOrd="0" destOrd="0" presId="urn:microsoft.com/office/officeart/2008/layout/HorizontalMultiLevelHierarchy"/>
    <dgm:cxn modelId="{1F91DA7A-E3A6-4720-9698-921A6FB77F2F}" type="presParOf" srcId="{FA240463-C031-42B7-B4B0-A5D8E4558476}" destId="{6E283AA8-C888-440A-B42B-833755964E7A}" srcOrd="0" destOrd="0" presId="urn:microsoft.com/office/officeart/2008/layout/HorizontalMultiLevelHierarchy"/>
    <dgm:cxn modelId="{4EE31529-CFD1-4181-A6BE-DFB735F94CDD}" type="presParOf" srcId="{CC2645EC-7A10-40EE-975A-1426E3E6F13F}" destId="{8B618939-2342-4F97-8151-7A680D9E4937}" srcOrd="1" destOrd="0" presId="urn:microsoft.com/office/officeart/2008/layout/HorizontalMultiLevelHierarchy"/>
    <dgm:cxn modelId="{5CA82F28-3E2F-4180-99E0-7471A885E230}" type="presParOf" srcId="{8B618939-2342-4F97-8151-7A680D9E4937}" destId="{034BA640-6C5E-4AAA-A407-07C852281F1B}" srcOrd="0" destOrd="0" presId="urn:microsoft.com/office/officeart/2008/layout/HorizontalMultiLevelHierarchy"/>
    <dgm:cxn modelId="{E48BBA3C-DA51-4B56-BBDF-CCDEE74C195C}" type="presParOf" srcId="{8B618939-2342-4F97-8151-7A680D9E4937}" destId="{D472F83F-64B1-4798-9E3A-6FA96D358931}" srcOrd="1" destOrd="0" presId="urn:microsoft.com/office/officeart/2008/layout/HorizontalMultiLevelHierarchy"/>
    <dgm:cxn modelId="{84AB0EA7-1446-4191-ADFA-4C4E5C8FFBAC}" type="presParOf" srcId="{CC2645EC-7A10-40EE-975A-1426E3E6F13F}" destId="{8F036F08-F9C5-469E-A745-5DAC3361E9EA}" srcOrd="2" destOrd="0" presId="urn:microsoft.com/office/officeart/2008/layout/HorizontalMultiLevelHierarchy"/>
    <dgm:cxn modelId="{C86B45F2-3F10-4C37-AC51-5A9F812F9AED}" type="presParOf" srcId="{8F036F08-F9C5-469E-A745-5DAC3361E9EA}" destId="{F73D5BC7-BE83-428F-8193-987B7C3B478F}" srcOrd="0" destOrd="0" presId="urn:microsoft.com/office/officeart/2008/layout/HorizontalMultiLevelHierarchy"/>
    <dgm:cxn modelId="{1B15DA37-FF3B-4DD1-843F-BC3113B87C9C}" type="presParOf" srcId="{CC2645EC-7A10-40EE-975A-1426E3E6F13F}" destId="{1DB575A5-3CF5-411F-A09B-E028C341F77F}" srcOrd="3" destOrd="0" presId="urn:microsoft.com/office/officeart/2008/layout/HorizontalMultiLevelHierarchy"/>
    <dgm:cxn modelId="{0BA99E52-F3CA-4366-9C67-E64B80E50BAF}" type="presParOf" srcId="{1DB575A5-3CF5-411F-A09B-E028C341F77F}" destId="{4542AC49-C9A9-4BA0-821E-3A55AAD3ED88}" srcOrd="0" destOrd="0" presId="urn:microsoft.com/office/officeart/2008/layout/HorizontalMultiLevelHierarchy"/>
    <dgm:cxn modelId="{01F43657-1447-4D61-A8B0-6D0E368D59D0}" type="presParOf" srcId="{1DB575A5-3CF5-411F-A09B-E028C341F77F}" destId="{F46A27FF-8DE1-441F-B519-2BD4C00A2AE1}" srcOrd="1" destOrd="0" presId="urn:microsoft.com/office/officeart/2008/layout/HorizontalMultiLevelHierarchy"/>
    <dgm:cxn modelId="{4F1F4402-C16C-4417-83E1-389F168C82A7}" type="presParOf" srcId="{CC2645EC-7A10-40EE-975A-1426E3E6F13F}" destId="{C7407BBB-6BA9-4A9A-A5FB-3F15D289A236}" srcOrd="4" destOrd="0" presId="urn:microsoft.com/office/officeart/2008/layout/HorizontalMultiLevelHierarchy"/>
    <dgm:cxn modelId="{D877DFCF-D211-425D-8164-084B3023471D}" type="presParOf" srcId="{C7407BBB-6BA9-4A9A-A5FB-3F15D289A236}" destId="{B84EAE62-004C-49AF-9AD9-335D1FB6EE61}" srcOrd="0" destOrd="0" presId="urn:microsoft.com/office/officeart/2008/layout/HorizontalMultiLevelHierarchy"/>
    <dgm:cxn modelId="{22F39418-9983-46AD-9197-A2AADEAE6398}" type="presParOf" srcId="{CC2645EC-7A10-40EE-975A-1426E3E6F13F}" destId="{C2CB4FEF-CD7E-4C45-899B-039A05E78726}" srcOrd="5" destOrd="0" presId="urn:microsoft.com/office/officeart/2008/layout/HorizontalMultiLevelHierarchy"/>
    <dgm:cxn modelId="{400FAD84-F8B4-4964-BA53-EE3996281075}" type="presParOf" srcId="{C2CB4FEF-CD7E-4C45-899B-039A05E78726}" destId="{56BC698C-88B5-455A-974D-29D495DFA16D}" srcOrd="0" destOrd="0" presId="urn:microsoft.com/office/officeart/2008/layout/HorizontalMultiLevelHierarchy"/>
    <dgm:cxn modelId="{2A208D86-7818-4D25-84C3-2ED63234BFBC}" type="presParOf" srcId="{C2CB4FEF-CD7E-4C45-899B-039A05E78726}" destId="{908299B3-AA6C-46EC-966A-CA481225A218}" srcOrd="1" destOrd="0" presId="urn:microsoft.com/office/officeart/2008/layout/HorizontalMultiLevelHierarchy"/>
    <dgm:cxn modelId="{01497653-7F04-48AA-BDCD-231AF3C52BDA}" type="presParOf" srcId="{CC2645EC-7A10-40EE-975A-1426E3E6F13F}" destId="{3528993A-F2E8-46A4-A1EC-77A040CD42F1}" srcOrd="6" destOrd="0" presId="urn:microsoft.com/office/officeart/2008/layout/HorizontalMultiLevelHierarchy"/>
    <dgm:cxn modelId="{9E54A218-904B-40A7-B080-48F885F5D188}" type="presParOf" srcId="{3528993A-F2E8-46A4-A1EC-77A040CD42F1}" destId="{6548FAF3-6E3B-409C-9906-2BF6D9F31362}" srcOrd="0" destOrd="0" presId="urn:microsoft.com/office/officeart/2008/layout/HorizontalMultiLevelHierarchy"/>
    <dgm:cxn modelId="{A9CB58BE-0ADA-4260-AB1B-E4466740EB50}" type="presParOf" srcId="{CC2645EC-7A10-40EE-975A-1426E3E6F13F}" destId="{DAD706C6-5830-4D8B-BBD0-F40149FA6C93}" srcOrd="7" destOrd="0" presId="urn:microsoft.com/office/officeart/2008/layout/HorizontalMultiLevelHierarchy"/>
    <dgm:cxn modelId="{027585A7-277A-4010-9FA1-375C6B2ABF65}" type="presParOf" srcId="{DAD706C6-5830-4D8B-BBD0-F40149FA6C93}" destId="{4E2DE922-D53D-491D-B3DD-F8B390E9CC8A}" srcOrd="0" destOrd="0" presId="urn:microsoft.com/office/officeart/2008/layout/HorizontalMultiLevelHierarchy"/>
    <dgm:cxn modelId="{5C91B209-D338-4BCC-ACF8-21EDD9F1288E}" type="presParOf" srcId="{DAD706C6-5830-4D8B-BBD0-F40149FA6C93}" destId="{F314E5A3-8AAD-4F39-8222-AAC3856B54B2}"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8993A-F2E8-46A4-A1EC-77A040CD42F1}">
      <dsp:nvSpPr>
        <dsp:cNvPr id="0" name=""/>
        <dsp:cNvSpPr/>
      </dsp:nvSpPr>
      <dsp:spPr>
        <a:xfrm>
          <a:off x="2928216" y="2400300"/>
          <a:ext cx="598346" cy="1710213"/>
        </a:xfrm>
        <a:custGeom>
          <a:avLst/>
          <a:gdLst/>
          <a:ahLst/>
          <a:cxnLst/>
          <a:rect l="0" t="0" r="0" b="0"/>
          <a:pathLst>
            <a:path>
              <a:moveTo>
                <a:pt x="0" y="0"/>
              </a:moveTo>
              <a:lnTo>
                <a:pt x="299173" y="0"/>
              </a:lnTo>
              <a:lnTo>
                <a:pt x="299173" y="1710213"/>
              </a:lnTo>
              <a:lnTo>
                <a:pt x="598346" y="171021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182093" y="3210110"/>
        <a:ext cx="90593" cy="90593"/>
      </dsp:txXfrm>
    </dsp:sp>
    <dsp:sp modelId="{C7407BBB-6BA9-4A9A-A5FB-3F15D289A236}">
      <dsp:nvSpPr>
        <dsp:cNvPr id="0" name=""/>
        <dsp:cNvSpPr/>
      </dsp:nvSpPr>
      <dsp:spPr>
        <a:xfrm>
          <a:off x="2928216" y="2400300"/>
          <a:ext cx="598346" cy="570071"/>
        </a:xfrm>
        <a:custGeom>
          <a:avLst/>
          <a:gdLst/>
          <a:ahLst/>
          <a:cxnLst/>
          <a:rect l="0" t="0" r="0" b="0"/>
          <a:pathLst>
            <a:path>
              <a:moveTo>
                <a:pt x="0" y="0"/>
              </a:moveTo>
              <a:lnTo>
                <a:pt x="299173" y="0"/>
              </a:lnTo>
              <a:lnTo>
                <a:pt x="299173" y="570071"/>
              </a:lnTo>
              <a:lnTo>
                <a:pt x="598346" y="5700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06729" y="2664674"/>
        <a:ext cx="41321" cy="41321"/>
      </dsp:txXfrm>
    </dsp:sp>
    <dsp:sp modelId="{8F036F08-F9C5-469E-A745-5DAC3361E9EA}">
      <dsp:nvSpPr>
        <dsp:cNvPr id="0" name=""/>
        <dsp:cNvSpPr/>
      </dsp:nvSpPr>
      <dsp:spPr>
        <a:xfrm>
          <a:off x="2928216" y="1830228"/>
          <a:ext cx="598346" cy="570071"/>
        </a:xfrm>
        <a:custGeom>
          <a:avLst/>
          <a:gdLst/>
          <a:ahLst/>
          <a:cxnLst/>
          <a:rect l="0" t="0" r="0" b="0"/>
          <a:pathLst>
            <a:path>
              <a:moveTo>
                <a:pt x="0" y="570071"/>
              </a:moveTo>
              <a:lnTo>
                <a:pt x="299173" y="570071"/>
              </a:lnTo>
              <a:lnTo>
                <a:pt x="299173" y="0"/>
              </a:lnTo>
              <a:lnTo>
                <a:pt x="598346"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06729" y="2094603"/>
        <a:ext cx="41321" cy="41321"/>
      </dsp:txXfrm>
    </dsp:sp>
    <dsp:sp modelId="{FA240463-C031-42B7-B4B0-A5D8E4558476}">
      <dsp:nvSpPr>
        <dsp:cNvPr id="0" name=""/>
        <dsp:cNvSpPr/>
      </dsp:nvSpPr>
      <dsp:spPr>
        <a:xfrm>
          <a:off x="2928216" y="690086"/>
          <a:ext cx="598346" cy="1710213"/>
        </a:xfrm>
        <a:custGeom>
          <a:avLst/>
          <a:gdLst/>
          <a:ahLst/>
          <a:cxnLst/>
          <a:rect l="0" t="0" r="0" b="0"/>
          <a:pathLst>
            <a:path>
              <a:moveTo>
                <a:pt x="0" y="1710213"/>
              </a:moveTo>
              <a:lnTo>
                <a:pt x="299173" y="1710213"/>
              </a:lnTo>
              <a:lnTo>
                <a:pt x="299173" y="0"/>
              </a:lnTo>
              <a:lnTo>
                <a:pt x="598346"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182093" y="1499896"/>
        <a:ext cx="90593" cy="90593"/>
      </dsp:txXfrm>
    </dsp:sp>
    <dsp:sp modelId="{966B0FA8-040B-428D-BF40-1890365BB0DA}">
      <dsp:nvSpPr>
        <dsp:cNvPr id="0" name=""/>
        <dsp:cNvSpPr/>
      </dsp:nvSpPr>
      <dsp:spPr>
        <a:xfrm rot="16200000">
          <a:off x="71859" y="1944243"/>
          <a:ext cx="4800600" cy="9121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2044700">
            <a:lnSpc>
              <a:spcPct val="90000"/>
            </a:lnSpc>
            <a:spcBef>
              <a:spcPct val="0"/>
            </a:spcBef>
            <a:spcAft>
              <a:spcPct val="35000"/>
            </a:spcAft>
            <a:buNone/>
          </a:pPr>
          <a:r>
            <a:rPr lang="en-US" sz="4600" kern="1200" dirty="0"/>
            <a:t>Payment Package</a:t>
          </a:r>
        </a:p>
      </dsp:txBody>
      <dsp:txXfrm>
        <a:off x="71859" y="1944243"/>
        <a:ext cx="4800600" cy="912114"/>
      </dsp:txXfrm>
    </dsp:sp>
    <dsp:sp modelId="{034BA640-6C5E-4AAA-A407-07C852281F1B}">
      <dsp:nvSpPr>
        <dsp:cNvPr id="0" name=""/>
        <dsp:cNvSpPr/>
      </dsp:nvSpPr>
      <dsp:spPr>
        <a:xfrm>
          <a:off x="3526563" y="234029"/>
          <a:ext cx="2991733" cy="9121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Check (signed by CFO)</a:t>
          </a:r>
        </a:p>
      </dsp:txBody>
      <dsp:txXfrm>
        <a:off x="3526563" y="234029"/>
        <a:ext cx="2991733" cy="912114"/>
      </dsp:txXfrm>
    </dsp:sp>
    <dsp:sp modelId="{4542AC49-C9A9-4BA0-821E-3A55AAD3ED88}">
      <dsp:nvSpPr>
        <dsp:cNvPr id="0" name=""/>
        <dsp:cNvSpPr/>
      </dsp:nvSpPr>
      <dsp:spPr>
        <a:xfrm>
          <a:off x="3526563" y="1374171"/>
          <a:ext cx="2991733" cy="9121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Purchase Order (what we ordered)</a:t>
          </a:r>
        </a:p>
      </dsp:txBody>
      <dsp:txXfrm>
        <a:off x="3526563" y="1374171"/>
        <a:ext cx="2991733" cy="912114"/>
      </dsp:txXfrm>
    </dsp:sp>
    <dsp:sp modelId="{56BC698C-88B5-455A-974D-29D495DFA16D}">
      <dsp:nvSpPr>
        <dsp:cNvPr id="0" name=""/>
        <dsp:cNvSpPr/>
      </dsp:nvSpPr>
      <dsp:spPr>
        <a:xfrm>
          <a:off x="3526563" y="2514314"/>
          <a:ext cx="2991733" cy="9121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Receiving Report(what we received)</a:t>
          </a:r>
        </a:p>
      </dsp:txBody>
      <dsp:txXfrm>
        <a:off x="3526563" y="2514314"/>
        <a:ext cx="2991733" cy="912114"/>
      </dsp:txXfrm>
    </dsp:sp>
    <dsp:sp modelId="{4E2DE922-D53D-491D-B3DD-F8B390E9CC8A}">
      <dsp:nvSpPr>
        <dsp:cNvPr id="0" name=""/>
        <dsp:cNvSpPr/>
      </dsp:nvSpPr>
      <dsp:spPr>
        <a:xfrm>
          <a:off x="3526563" y="3654456"/>
          <a:ext cx="2991733" cy="9121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Invoice (what they are billing us for)</a:t>
          </a:r>
        </a:p>
      </dsp:txBody>
      <dsp:txXfrm>
        <a:off x="3526563" y="3654456"/>
        <a:ext cx="2991733" cy="912114"/>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7/22/25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7/22/25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3873643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At each of these cycle activity levels, accounting information may be affected as well as general ledger account information.</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 expenditure cycle is concerned with transacting business between the organization and its suppliers (vendors) for goods and services.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Sometimes students can get confused in understanding if they are answering questions about the revenue or the expenditure cycle. Table 15-1 in the book is a good reference as it shows the comparison between the two cycles.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 primary objective of the expenditure cycle is to minimize the total cost of acquiring and maintaining inventories, supplies, and various services the organization needs to function.</a:t>
            </a:r>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2212462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At each of these cycle activity levels, accounting information may be affected as well as general ledger account information.</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 expenditure cycle is concerned with transacting business between the organization and its suppliers (vendors) for goods and services.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Sometimes students can get confused in understanding if they are answering questions about the revenue or the expenditure cycle. Table 15-1 in the book is a good reference as it shows the comparison between the two cycles.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 primary objective of the expenditure cycle is to minimize the total cost of acquiring and maintaining inventories, supplies, and various services the organization needs to function.</a:t>
            </a:r>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1724832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At each of these cycle activity levels, accounting information may be affected as well as general ledger account information.</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 expenditure cycle is concerned with transacting business between the organization and its suppliers (vendors) for goods and services.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Sometimes students can get confused in understanding if they are answering questions about the revenue or the expenditure cycle. Table 15-1 in the book is a good reference as it shows the comparison between the two cycles.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 primary objective of the expenditure cycle is to minimize the total cost of acquiring and maintaining inventories, supplies, and various services the organization needs to function.</a:t>
            </a:r>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2802479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Overall key decisions related to the expenditure cycle involve getting the inventory needed at a good price when the organization needs it.</a:t>
            </a:r>
          </a:p>
          <a:p>
            <a:pPr marL="0" lvl="0" indent="0" algn="l" rtl="0">
              <a:spcBef>
                <a:spcPts val="0"/>
              </a:spcBef>
              <a:spcAft>
                <a:spcPts val="0"/>
              </a:spcAft>
              <a:buNone/>
            </a:pPr>
            <a:r>
              <a:rPr lang="en-IN" dirty="0"/>
              <a:t>Basically, the organization does not want to tie up too much money in inventory that will take a long time to use up; this is why logistics is so important and why IT can leverage this for companies to save money by not overbuying inventory, purchasing inventory of poor quality, or paying too much for inventory.</a:t>
            </a:r>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3390008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1015738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At this activity stage of the expenditure cycle, the key objective is to identify exactly what to order, how much you need, and when you need it. It is essential in managing a supply chain that raw materials are accurately ordered and received in time; otherwise, these will cause issues and added expenses in the supply chain. There are three approaches to ordering:</a:t>
            </a:r>
          </a:p>
          <a:p>
            <a:pPr marL="228600" lvl="0" indent="-228600" algn="l" rtl="0">
              <a:spcBef>
                <a:spcPts val="0"/>
              </a:spcBef>
              <a:spcAft>
                <a:spcPts val="0"/>
              </a:spcAft>
              <a:buClr>
                <a:schemeClr val="dk1"/>
              </a:buClr>
              <a:buSzPts val="1200"/>
              <a:buFont typeface="Arial"/>
              <a:buAutoNum type="arabicPeriod"/>
            </a:pPr>
            <a:r>
              <a:rPr lang="en-IN" dirty="0"/>
              <a:t>Economic quantity ordered (EOQ) is used to minimize costs and stockouts. For example, stores may identify certain inventory items that are sold frequently and may have an EOQ that is different than an inventory item that is not sold as frequently.</a:t>
            </a:r>
          </a:p>
          <a:p>
            <a:pPr marL="228600" lvl="0" indent="-228600" algn="l" rtl="0">
              <a:spcBef>
                <a:spcPts val="0"/>
              </a:spcBef>
              <a:spcAft>
                <a:spcPts val="0"/>
              </a:spcAft>
              <a:buClr>
                <a:schemeClr val="dk1"/>
              </a:buClr>
              <a:buSzPts val="1200"/>
              <a:buFont typeface="Arial"/>
              <a:buAutoNum type="arabicPeriod"/>
            </a:pPr>
            <a:r>
              <a:rPr lang="en-IN" dirty="0"/>
              <a:t>Materials requirements planning (MRP) is based on forecast sales.</a:t>
            </a:r>
          </a:p>
          <a:p>
            <a:pPr marL="228600" lvl="0" indent="-228600" algn="l" rtl="0">
              <a:spcBef>
                <a:spcPts val="0"/>
              </a:spcBef>
              <a:spcAft>
                <a:spcPts val="0"/>
              </a:spcAft>
              <a:buClr>
                <a:schemeClr val="dk1"/>
              </a:buClr>
              <a:buSzPts val="1200"/>
              <a:buFont typeface="Arial"/>
              <a:buAutoNum type="arabicPeriod"/>
            </a:pPr>
            <a:r>
              <a:rPr lang="en-IN" dirty="0"/>
              <a:t>Just-in-time inventory (JIT) responds to actual sales (demand).</a:t>
            </a:r>
          </a:p>
          <a:p>
            <a:pPr marL="228600" lvl="0" indent="-152400" algn="l" rtl="0">
              <a:spcBef>
                <a:spcPts val="0"/>
              </a:spcBef>
              <a:spcAft>
                <a:spcPts val="0"/>
              </a:spcAft>
              <a:buClr>
                <a:schemeClr val="dk1"/>
              </a:buClr>
              <a:buSzPts val="1200"/>
              <a:buFont typeface="Arial"/>
              <a:buNone/>
            </a:pPr>
            <a:endParaRPr lang="en-IN" dirty="0"/>
          </a:p>
          <a:p>
            <a:pPr marL="0" lvl="0" indent="0" algn="l" rtl="0">
              <a:spcBef>
                <a:spcPts val="0"/>
              </a:spcBef>
              <a:spcAft>
                <a:spcPts val="0"/>
              </a:spcAft>
              <a:buClr>
                <a:schemeClr val="dk1"/>
              </a:buClr>
              <a:buSzPts val="1200"/>
              <a:buFont typeface="Arial"/>
              <a:buNone/>
            </a:pPr>
            <a:r>
              <a:rPr lang="en-IN" dirty="0"/>
              <a:t>The key objective is to make sure that the purchase is authorized, that you receive what you ordered when you want it, and that the goods are of good quality.</a:t>
            </a:r>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521926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https://www.investopedia.com/terms/r/requisition.asp</a:t>
            </a:r>
          </a:p>
        </p:txBody>
      </p:sp>
      <p:sp>
        <p:nvSpPr>
          <p:cNvPr id="4" name="Slide Number Placeholder 3"/>
          <p:cNvSpPr>
            <a:spLocks noGrp="1"/>
          </p:cNvSpPr>
          <p:nvPr>
            <p:ph type="sldNum" sz="quarter" idx="5"/>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2600119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https://quickbooks.intuit.com/ca/resources/invoicing/how-to-write-business-quotes-with-template/</a:t>
            </a:r>
          </a:p>
        </p:txBody>
      </p:sp>
      <p:sp>
        <p:nvSpPr>
          <p:cNvPr id="4" name="Slide Number Placeholder 3"/>
          <p:cNvSpPr>
            <a:spLocks noGrp="1"/>
          </p:cNvSpPr>
          <p:nvPr>
            <p:ph type="sldNum" sz="quarter" idx="5"/>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32680756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https://en.wikipedia.org/wiki/Purchase_order</a:t>
            </a:r>
          </a:p>
        </p:txBody>
      </p:sp>
      <p:sp>
        <p:nvSpPr>
          <p:cNvPr id="4" name="Slide Number Placeholder 3"/>
          <p:cNvSpPr>
            <a:spLocks noGrp="1"/>
          </p:cNvSpPr>
          <p:nvPr>
            <p:ph type="sldNum" sz="quarter" idx="5"/>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1442100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3054869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2252024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At this stage, when the goods are received into the warehouse, the company has a legal obligation to pay the vendor. That is why it is so important to make sure that:</a:t>
            </a:r>
          </a:p>
          <a:p>
            <a:pPr marL="228600" lvl="0" indent="-228600" algn="l" rtl="0">
              <a:spcBef>
                <a:spcPts val="0"/>
              </a:spcBef>
              <a:spcAft>
                <a:spcPts val="0"/>
              </a:spcAft>
              <a:buClr>
                <a:schemeClr val="dk1"/>
              </a:buClr>
              <a:buSzPts val="1200"/>
              <a:buFont typeface="Arial"/>
              <a:buAutoNum type="arabicPeriod"/>
            </a:pPr>
            <a:r>
              <a:rPr lang="en-IN" dirty="0"/>
              <a:t>The goods were authorized (check against a Purchase Order).</a:t>
            </a:r>
          </a:p>
          <a:p>
            <a:pPr marL="228600" lvl="0" indent="-228600" algn="l" rtl="0">
              <a:spcBef>
                <a:spcPts val="0"/>
              </a:spcBef>
              <a:spcAft>
                <a:spcPts val="0"/>
              </a:spcAft>
              <a:buClr>
                <a:schemeClr val="dk1"/>
              </a:buClr>
              <a:buSzPts val="1200"/>
              <a:buFont typeface="Arial"/>
              <a:buAutoNum type="arabicPeriod"/>
            </a:pPr>
            <a:r>
              <a:rPr lang="en-IN" dirty="0"/>
              <a:t>The goods received are what was ordered and in the correct quantity.</a:t>
            </a:r>
          </a:p>
          <a:p>
            <a:pPr marL="228600" lvl="0" indent="-228600" algn="l" rtl="0">
              <a:spcBef>
                <a:spcPts val="0"/>
              </a:spcBef>
              <a:spcAft>
                <a:spcPts val="0"/>
              </a:spcAft>
              <a:buClr>
                <a:schemeClr val="dk1"/>
              </a:buClr>
              <a:buSzPts val="1200"/>
              <a:buFont typeface="Arial"/>
              <a:buAutoNum type="arabicPeriod"/>
            </a:pPr>
            <a:r>
              <a:rPr lang="en-IN" dirty="0"/>
              <a:t>The goods are of good quality.</a:t>
            </a:r>
          </a:p>
          <a:p>
            <a:pPr marL="228600" lvl="0" indent="-152400" algn="l" rtl="0">
              <a:spcBef>
                <a:spcPts val="0"/>
              </a:spcBef>
              <a:spcAft>
                <a:spcPts val="0"/>
              </a:spcAft>
              <a:buClr>
                <a:schemeClr val="dk1"/>
              </a:buClr>
              <a:buSzPts val="1200"/>
              <a:buFont typeface="Arial"/>
              <a:buNone/>
            </a:pPr>
            <a:endParaRPr lang="en-IN" dirty="0"/>
          </a:p>
          <a:p>
            <a:pPr marL="0" lvl="0" indent="0" algn="l" rtl="0">
              <a:spcBef>
                <a:spcPts val="0"/>
              </a:spcBef>
              <a:spcAft>
                <a:spcPts val="0"/>
              </a:spcAft>
              <a:buClr>
                <a:schemeClr val="dk1"/>
              </a:buClr>
              <a:buSzPts val="1200"/>
              <a:buFont typeface="Arial"/>
              <a:buNone/>
            </a:pPr>
            <a:r>
              <a:rPr lang="en-IN" dirty="0"/>
              <a:t>If there are problems in step 2, then there may be a back-order situation. For example, if five items were ordered but only three are received, then there is a backorder of two items. You would only want to pay the vendor for the items received. So if there is a back-order situation, the warehouse would need to make sure that this is documented for the accounting department (this would be shown on the packing slip of the quantity received as well as the receiving report normally).</a:t>
            </a:r>
          </a:p>
          <a:p>
            <a:pPr marL="0" lvl="0" indent="0" algn="l" rtl="0">
              <a:spcBef>
                <a:spcPts val="0"/>
              </a:spcBef>
              <a:spcAft>
                <a:spcPts val="0"/>
              </a:spcAft>
              <a:buClr>
                <a:schemeClr val="dk1"/>
              </a:buClr>
              <a:buSzPts val="1200"/>
              <a:buFont typeface="Arial"/>
              <a:buNone/>
            </a:pPr>
            <a:r>
              <a:rPr lang="en-IN" dirty="0"/>
              <a:t>If there is a problem with step 3, the goods are of poor quality, the merchandise should not be received, and the vendor should be contacted to return the items.</a:t>
            </a:r>
          </a:p>
          <a:p>
            <a:pPr marL="0" lvl="0" indent="0" algn="l" rtl="0">
              <a:spcBef>
                <a:spcPts val="0"/>
              </a:spcBef>
              <a:spcAft>
                <a:spcPts val="0"/>
              </a:spcAft>
              <a:buClr>
                <a:schemeClr val="dk1"/>
              </a:buClr>
              <a:buSzPts val="1200"/>
              <a:buFont typeface="Arial"/>
              <a:buNone/>
            </a:pPr>
            <a:endParaRPr lang="en-IN" dirty="0"/>
          </a:p>
          <a:p>
            <a:pPr marL="0" lvl="0" indent="0" algn="l" rtl="0">
              <a:spcBef>
                <a:spcPts val="0"/>
              </a:spcBef>
              <a:spcAft>
                <a:spcPts val="0"/>
              </a:spcAft>
              <a:buClr>
                <a:schemeClr val="dk1"/>
              </a:buClr>
              <a:buSzPts val="1200"/>
              <a:buFont typeface="Arial"/>
              <a:buNone/>
            </a:pPr>
            <a:r>
              <a:rPr lang="en-IN" dirty="0"/>
              <a:t>At this stage, you would see an increase in the inventory general ledger account and the obligation (accounts payable) increase.</a:t>
            </a:r>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983578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33015023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https://www.financestrategists.com/accounting/cost-accounting/material-costing/procedure-for-receiving-of-materials/</a:t>
            </a:r>
          </a:p>
        </p:txBody>
      </p:sp>
      <p:sp>
        <p:nvSpPr>
          <p:cNvPr id="4" name="Slide Number Placeholder 3"/>
          <p:cNvSpPr>
            <a:spLocks noGrp="1"/>
          </p:cNvSpPr>
          <p:nvPr>
            <p:ph type="sldNum" sz="quarter" idx="5"/>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1779898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1637955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29615738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https://create.microsoft.com/en-us/templates/invoices</a:t>
            </a:r>
          </a:p>
        </p:txBody>
      </p:sp>
      <p:sp>
        <p:nvSpPr>
          <p:cNvPr id="4" name="Slide Number Placeholder 3"/>
          <p:cNvSpPr>
            <a:spLocks noGrp="1"/>
          </p:cNvSpPr>
          <p:nvPr>
            <p:ph type="sldNum" sz="quarter" idx="5"/>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4261056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https://www.academia.edu/33515851/Disbursement_Voucher_32</a:t>
            </a:r>
          </a:p>
        </p:txBody>
      </p:sp>
      <p:sp>
        <p:nvSpPr>
          <p:cNvPr id="4" name="Slide Number Placeholder 3"/>
          <p:cNvSpPr>
            <a:spLocks noGrp="1"/>
          </p:cNvSpPr>
          <p:nvPr>
            <p:ph type="sldNum" sz="quarter" idx="5"/>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33410794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https://www.docspile.com/remittance-template/</a:t>
            </a:r>
          </a:p>
        </p:txBody>
      </p:sp>
      <p:sp>
        <p:nvSpPr>
          <p:cNvPr id="4" name="Slide Number Placeholder 3"/>
          <p:cNvSpPr>
            <a:spLocks noGrp="1"/>
          </p:cNvSpPr>
          <p:nvPr>
            <p:ph type="sldNum" sz="quarter" idx="5"/>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21178024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1960678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P-cards are procurement cards that departments will sometimes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33254716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15678973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26</a:t>
            </a:fld>
            <a:endParaRPr lang="en-US" dirty="0"/>
          </a:p>
        </p:txBody>
      </p:sp>
    </p:spTree>
    <p:extLst>
      <p:ext uri="{BB962C8B-B14F-4D97-AF65-F5344CB8AC3E}">
        <p14:creationId xmlns:p14="http://schemas.microsoft.com/office/powerpoint/2010/main" val="4024285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A73D6722-9B4D-4E29-B226-C325925A8118}" type="slidenum">
              <a:rPr lang="en-US" smtClean="0"/>
              <a:t>27</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2678891401"/>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a:extLst>
              <a:ext uri="{FF2B5EF4-FFF2-40B4-BE49-F238E27FC236}">
                <a16:creationId xmlns:a16="http://schemas.microsoft.com/office/drawing/2014/main" id="{DDE22CE6-491F-4E22-AB44-4902B9C69DE4}"/>
              </a:ext>
            </a:extLst>
          </p:cNvPr>
          <p:cNvSpPr>
            <a:spLocks noGrp="1"/>
          </p:cNvSpPr>
          <p:nvPr>
            <p:ph sz="quarter" idx="14"/>
          </p:nvPr>
        </p:nvSpPr>
        <p:spPr>
          <a:xfrm>
            <a:off x="838200" y="2667000"/>
            <a:ext cx="8077200" cy="83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457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743200"/>
            <a:ext cx="8229600" cy="13716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60248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
        <p:nvSpPr>
          <p:cNvPr id="5" name="Content Placeholder 4">
            <a:extLst>
              <a:ext uri="{FF2B5EF4-FFF2-40B4-BE49-F238E27FC236}">
                <a16:creationId xmlns:a16="http://schemas.microsoft.com/office/drawing/2014/main" id="{EA13232C-DF31-4CED-AB61-62F26E3165BA}"/>
              </a:ext>
            </a:extLst>
          </p:cNvPr>
          <p:cNvSpPr>
            <a:spLocks noGrp="1"/>
          </p:cNvSpPr>
          <p:nvPr>
            <p:ph sz="quarter" idx="15"/>
          </p:nvPr>
        </p:nvSpPr>
        <p:spPr>
          <a:xfrm>
            <a:off x="533400" y="3733800"/>
            <a:ext cx="80772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a:extLst>
              <a:ext uri="{FF2B5EF4-FFF2-40B4-BE49-F238E27FC236}">
                <a16:creationId xmlns:a16="http://schemas.microsoft.com/office/drawing/2014/main" id="{25DD6962-3095-446C-A57F-4E808E224A95}"/>
              </a:ext>
            </a:extLst>
          </p:cNvPr>
          <p:cNvSpPr>
            <a:spLocks noGrp="1"/>
          </p:cNvSpPr>
          <p:nvPr>
            <p:ph sz="quarter" idx="16"/>
          </p:nvPr>
        </p:nvSpPr>
        <p:spPr>
          <a:xfrm>
            <a:off x="762000" y="5619750"/>
            <a:ext cx="7848600" cy="323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a:extLst>
              <a:ext uri="{FF2B5EF4-FFF2-40B4-BE49-F238E27FC236}">
                <a16:creationId xmlns:a16="http://schemas.microsoft.com/office/drawing/2014/main" id="{FD058FF3-6114-471E-A9AA-A3D250496F47}"/>
              </a:ext>
            </a:extLst>
          </p:cNvPr>
          <p:cNvSpPr>
            <a:spLocks noGrp="1"/>
          </p:cNvSpPr>
          <p:nvPr>
            <p:ph sz="quarter" idx="17"/>
          </p:nvPr>
        </p:nvSpPr>
        <p:spPr>
          <a:xfrm>
            <a:off x="381000" y="2255838"/>
            <a:ext cx="8458200" cy="334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Picture Placeholder 3">
            <a:extLst>
              <a:ext uri="{FF2B5EF4-FFF2-40B4-BE49-F238E27FC236}">
                <a16:creationId xmlns:a16="http://schemas.microsoft.com/office/drawing/2014/main" id="{49B1A741-EFA1-4984-B2F6-EC6B322134D1}"/>
              </a:ext>
            </a:extLst>
          </p:cNvPr>
          <p:cNvSpPr>
            <a:spLocks noGrp="1"/>
          </p:cNvSpPr>
          <p:nvPr>
            <p:ph type="pic" sz="quarter" idx="13"/>
          </p:nvPr>
        </p:nvSpPr>
        <p:spPr>
          <a:xfrm>
            <a:off x="457200" y="3276600"/>
            <a:ext cx="8229600" cy="1447800"/>
          </a:xfrm>
        </p:spPr>
        <p:txBody>
          <a:bodyPr/>
          <a:lstStyle/>
          <a:p>
            <a:endParaRPr lang="en-IN"/>
          </a:p>
        </p:txBody>
      </p:sp>
    </p:spTree>
    <p:extLst>
      <p:ext uri="{BB962C8B-B14F-4D97-AF65-F5344CB8AC3E}">
        <p14:creationId xmlns:p14="http://schemas.microsoft.com/office/powerpoint/2010/main" val="3355755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e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698"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7" r:id="rId13"/>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xml"/><Relationship Id="rId1" Type="http://schemas.openxmlformats.org/officeDocument/2006/relationships/slideLayout" Target="../slideLayouts/slideLayout2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dirty="0">
                <a:solidFill>
                  <a:srgbClr val="007FA3"/>
                </a:solidFill>
                <a:latin typeface="Arial" panose="020B0604020202020204" pitchFamily="34" charset="0"/>
                <a:cs typeface="Arial" panose="020B0604020202020204" pitchFamily="34" charset="0"/>
              </a:rPr>
              <a:t>Sixteenth Edition</a:t>
            </a:r>
            <a:endParaRPr lang="en-US" dirty="0">
              <a:latin typeface="Arial" panose="020B0604020202020204" pitchFamily="34" charset="0"/>
              <a:cs typeface="Arial" panose="020B0604020202020204" pitchFamily="34" charset="0"/>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1999" y="2430301"/>
            <a:ext cx="2104845" cy="498016"/>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Chapter 15</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084948"/>
            <a:ext cx="4130152" cy="1052014"/>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The Expenditure Cycle: Purchasing to Cash Disbursements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Learning Objectives </a:t>
            </a:r>
            <a:r>
              <a:rPr lang="en-IN" sz="2800" dirty="0">
                <a:latin typeface="+mj-lt"/>
              </a:rPr>
              <a:t>(1 of 2)</a:t>
            </a:r>
            <a:endParaRPr lang="en-IN" sz="3600" dirty="0">
              <a:latin typeface="+mj-lt"/>
            </a:endParaRPr>
          </a:p>
        </p:txBody>
      </p:sp>
      <p:sp>
        <p:nvSpPr>
          <p:cNvPr id="2" name="Content Placeholder 1"/>
          <p:cNvSpPr>
            <a:spLocks noGrp="1"/>
          </p:cNvSpPr>
          <p:nvPr>
            <p:ph idx="13"/>
          </p:nvPr>
        </p:nvSpPr>
        <p:spPr>
          <a:xfrm>
            <a:off x="477115" y="999226"/>
            <a:ext cx="8229600" cy="4816703"/>
          </a:xfrm>
        </p:spPr>
        <p:txBody>
          <a:bodyPr>
            <a:noAutofit/>
          </a:bodyPr>
          <a:lstStyle/>
          <a:p>
            <a:pPr lvl="0">
              <a:spcBef>
                <a:spcPts val="0"/>
              </a:spcBef>
              <a:buSzPts val="2400"/>
            </a:pPr>
            <a:r>
              <a:rPr lang="en-IN" sz="2400" dirty="0"/>
              <a:t>Discuss the basic business activities and related information processing operations in the expenditure cycle, explain the general threats to those activities, and describe the controls that can mitigate those threats.</a:t>
            </a:r>
          </a:p>
          <a:p>
            <a:pPr lvl="0">
              <a:buSzPts val="2400"/>
            </a:pPr>
            <a:r>
              <a:rPr lang="en-IN" sz="2400" dirty="0"/>
              <a:t>Explain the process and key decisions involved in </a:t>
            </a:r>
            <a:r>
              <a:rPr lang="en-IN" sz="2400" b="1" i="1" dirty="0"/>
              <a:t>ordering goods and services</a:t>
            </a:r>
            <a:r>
              <a:rPr lang="en-IN" sz="2400" dirty="0"/>
              <a:t>, identify the threats to those activities, and describe the controls that can mitigate those threats.</a:t>
            </a:r>
          </a:p>
          <a:p>
            <a:pPr lvl="0">
              <a:buSzPts val="2400"/>
            </a:pPr>
            <a:r>
              <a:rPr lang="en-IN" sz="2400" dirty="0"/>
              <a:t>Explain the process and key decisions involved in </a:t>
            </a:r>
            <a:r>
              <a:rPr lang="en-IN" sz="2400" b="1" i="1" dirty="0"/>
              <a:t>receiving goods and services</a:t>
            </a:r>
            <a:r>
              <a:rPr lang="en-IN" sz="2400" dirty="0"/>
              <a:t>, identify the threats to those activities, and describe the controls that can mitigate those threats.</a:t>
            </a:r>
          </a:p>
        </p:txBody>
      </p:sp>
    </p:spTree>
    <p:extLst>
      <p:ext uri="{BB962C8B-B14F-4D97-AF65-F5344CB8AC3E}">
        <p14:creationId xmlns:p14="http://schemas.microsoft.com/office/powerpoint/2010/main" val="2560582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Learning Objectives </a:t>
            </a:r>
            <a:r>
              <a:rPr lang="en-IN" sz="2800" dirty="0">
                <a:latin typeface="+mj-lt"/>
              </a:rPr>
              <a:t>(2 of 2)</a:t>
            </a:r>
            <a:endParaRPr lang="en-IN" sz="3600" dirty="0">
              <a:latin typeface="+mj-lt"/>
            </a:endParaRPr>
          </a:p>
        </p:txBody>
      </p:sp>
      <p:sp>
        <p:nvSpPr>
          <p:cNvPr id="2" name="Content Placeholder 1"/>
          <p:cNvSpPr>
            <a:spLocks noGrp="1"/>
          </p:cNvSpPr>
          <p:nvPr>
            <p:ph idx="13"/>
          </p:nvPr>
        </p:nvSpPr>
        <p:spPr>
          <a:xfrm>
            <a:off x="477115" y="999226"/>
            <a:ext cx="8229600" cy="3147015"/>
          </a:xfrm>
        </p:spPr>
        <p:txBody>
          <a:bodyPr>
            <a:noAutofit/>
          </a:bodyPr>
          <a:lstStyle/>
          <a:p>
            <a:pPr lvl="0">
              <a:spcBef>
                <a:spcPts val="0"/>
              </a:spcBef>
              <a:buSzPts val="2400"/>
            </a:pPr>
            <a:r>
              <a:rPr lang="en-IN" sz="2400" dirty="0"/>
              <a:t>Explain the process and key decisions involved in </a:t>
            </a:r>
            <a:r>
              <a:rPr lang="en-IN" sz="2400" b="1" i="1" dirty="0"/>
              <a:t>approving supplier invoices</a:t>
            </a:r>
            <a:r>
              <a:rPr lang="en-IN" sz="2400" dirty="0"/>
              <a:t> for goods and services, identify the threats to those activities, and describe the controls that can mitigate those threats.</a:t>
            </a:r>
          </a:p>
          <a:p>
            <a:pPr lvl="0">
              <a:buSzPts val="2400"/>
            </a:pPr>
            <a:r>
              <a:rPr lang="en-IN" sz="2400" dirty="0"/>
              <a:t>Explain the process and key decisions involved in making </a:t>
            </a:r>
            <a:r>
              <a:rPr lang="en-IN" sz="2400" b="1" i="1" dirty="0"/>
              <a:t>cash disbursements </a:t>
            </a:r>
            <a:r>
              <a:rPr lang="en-IN" sz="2400" dirty="0"/>
              <a:t>to suppliers, identify the threats to those activities, and describe the controls that can mitigate those threats.</a:t>
            </a:r>
          </a:p>
        </p:txBody>
      </p:sp>
    </p:spTree>
    <p:extLst>
      <p:ext uri="{BB962C8B-B14F-4D97-AF65-F5344CB8AC3E}">
        <p14:creationId xmlns:p14="http://schemas.microsoft.com/office/powerpoint/2010/main" val="3776739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52277"/>
            <a:ext cx="8229600" cy="553998"/>
          </a:xfrm>
        </p:spPr>
        <p:txBody>
          <a:bodyPr anchor="ctr">
            <a:noAutofit/>
          </a:bodyPr>
          <a:lstStyle/>
          <a:p>
            <a:r>
              <a:rPr lang="en-IN" sz="3600" dirty="0">
                <a:latin typeface="+mj-lt"/>
              </a:rPr>
              <a:t>Basic Expenditure Cycle Activities</a:t>
            </a:r>
          </a:p>
        </p:txBody>
      </p:sp>
      <p:sp>
        <p:nvSpPr>
          <p:cNvPr id="2" name="Content Placeholder 1"/>
          <p:cNvSpPr>
            <a:spLocks noGrp="1"/>
          </p:cNvSpPr>
          <p:nvPr>
            <p:ph idx="13"/>
          </p:nvPr>
        </p:nvSpPr>
        <p:spPr>
          <a:xfrm>
            <a:off x="477115" y="1010355"/>
            <a:ext cx="7066685" cy="1823576"/>
          </a:xfrm>
        </p:spPr>
        <p:txBody>
          <a:bodyPr>
            <a:noAutofit/>
          </a:bodyPr>
          <a:lstStyle/>
          <a:p>
            <a:pPr lvl="0">
              <a:spcBef>
                <a:spcPts val="0"/>
              </a:spcBef>
              <a:buSzPts val="2400"/>
            </a:pPr>
            <a:r>
              <a:rPr lang="en-IN" sz="2400" dirty="0"/>
              <a:t>Order materials, supplies, and services</a:t>
            </a:r>
          </a:p>
          <a:p>
            <a:pPr lvl="0">
              <a:spcBef>
                <a:spcPts val="900"/>
              </a:spcBef>
              <a:buSzPts val="2400"/>
            </a:pPr>
            <a:r>
              <a:rPr lang="en-IN" sz="2400" dirty="0"/>
              <a:t>Receive materials, supplies, and services</a:t>
            </a:r>
          </a:p>
          <a:p>
            <a:pPr lvl="0">
              <a:spcBef>
                <a:spcPts val="900"/>
              </a:spcBef>
              <a:buSzPts val="2400"/>
            </a:pPr>
            <a:r>
              <a:rPr lang="en-IN" sz="2400" dirty="0"/>
              <a:t>Approve supplier (vendor) invoice</a:t>
            </a:r>
          </a:p>
          <a:p>
            <a:pPr lvl="0">
              <a:spcBef>
                <a:spcPts val="900"/>
              </a:spcBef>
              <a:buSzPts val="2400"/>
            </a:pPr>
            <a:r>
              <a:rPr lang="en-IN" sz="2400" dirty="0"/>
              <a:t>Cash disbursement</a:t>
            </a:r>
          </a:p>
        </p:txBody>
      </p:sp>
    </p:spTree>
    <p:extLst>
      <p:ext uri="{BB962C8B-B14F-4D97-AF65-F5344CB8AC3E}">
        <p14:creationId xmlns:p14="http://schemas.microsoft.com/office/powerpoint/2010/main" val="788392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Right 2">
            <a:extLst>
              <a:ext uri="{FF2B5EF4-FFF2-40B4-BE49-F238E27FC236}">
                <a16:creationId xmlns:a16="http://schemas.microsoft.com/office/drawing/2014/main" id="{1AF66C02-65A6-EDFC-F641-ED5C402E3785}"/>
              </a:ext>
            </a:extLst>
          </p:cNvPr>
          <p:cNvSpPr/>
          <p:nvPr/>
        </p:nvSpPr>
        <p:spPr>
          <a:xfrm>
            <a:off x="4684699" y="1675465"/>
            <a:ext cx="2415188" cy="64008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Can you sell us x?</a:t>
            </a:r>
          </a:p>
        </p:txBody>
      </p:sp>
      <p:sp>
        <p:nvSpPr>
          <p:cNvPr id="4" name="Arrow: Down 3">
            <a:extLst>
              <a:ext uri="{FF2B5EF4-FFF2-40B4-BE49-F238E27FC236}">
                <a16:creationId xmlns:a16="http://schemas.microsoft.com/office/drawing/2014/main" id="{F73BA17A-E6A0-B350-F040-E4B64D172E88}"/>
              </a:ext>
            </a:extLst>
          </p:cNvPr>
          <p:cNvSpPr/>
          <p:nvPr/>
        </p:nvSpPr>
        <p:spPr>
          <a:xfrm>
            <a:off x="2958618" y="976606"/>
            <a:ext cx="1321763" cy="1004594"/>
          </a:xfrm>
          <a:prstGeom prst="downArrow">
            <a:avLst>
              <a:gd name="adj1" fmla="val 62195"/>
              <a:gd name="adj2" fmla="val 31439"/>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Ask for X</a:t>
            </a:r>
          </a:p>
        </p:txBody>
      </p:sp>
      <p:sp>
        <p:nvSpPr>
          <p:cNvPr id="5" name="Arrow: Right 4">
            <a:extLst>
              <a:ext uri="{FF2B5EF4-FFF2-40B4-BE49-F238E27FC236}">
                <a16:creationId xmlns:a16="http://schemas.microsoft.com/office/drawing/2014/main" id="{288E0869-4BDE-6F28-9C53-6BA7B62B171B}"/>
              </a:ext>
            </a:extLst>
          </p:cNvPr>
          <p:cNvSpPr/>
          <p:nvPr/>
        </p:nvSpPr>
        <p:spPr>
          <a:xfrm>
            <a:off x="4665247" y="2766452"/>
            <a:ext cx="2434640" cy="64008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Sell us X</a:t>
            </a:r>
          </a:p>
        </p:txBody>
      </p:sp>
      <p:sp>
        <p:nvSpPr>
          <p:cNvPr id="6" name="Arrow: Left 5">
            <a:extLst>
              <a:ext uri="{FF2B5EF4-FFF2-40B4-BE49-F238E27FC236}">
                <a16:creationId xmlns:a16="http://schemas.microsoft.com/office/drawing/2014/main" id="{18206699-86C8-1DA8-4086-BDA5683543C8}"/>
              </a:ext>
            </a:extLst>
          </p:cNvPr>
          <p:cNvSpPr/>
          <p:nvPr/>
        </p:nvSpPr>
        <p:spPr>
          <a:xfrm>
            <a:off x="4599861" y="2213276"/>
            <a:ext cx="2434640" cy="640080"/>
          </a:xfrm>
          <a:prstGeom prst="lef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Yes, price is $40</a:t>
            </a:r>
          </a:p>
        </p:txBody>
      </p:sp>
      <p:sp>
        <p:nvSpPr>
          <p:cNvPr id="9" name="Oval 8">
            <a:extLst>
              <a:ext uri="{FF2B5EF4-FFF2-40B4-BE49-F238E27FC236}">
                <a16:creationId xmlns:a16="http://schemas.microsoft.com/office/drawing/2014/main" id="{1F25E7DA-D284-4DBA-2EB7-0CF859755576}"/>
              </a:ext>
            </a:extLst>
          </p:cNvPr>
          <p:cNvSpPr/>
          <p:nvPr/>
        </p:nvSpPr>
        <p:spPr>
          <a:xfrm>
            <a:off x="2514600" y="166117"/>
            <a:ext cx="2209800" cy="893925"/>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Production Department</a:t>
            </a:r>
          </a:p>
        </p:txBody>
      </p:sp>
      <p:sp>
        <p:nvSpPr>
          <p:cNvPr id="10" name="Oval 9">
            <a:extLst>
              <a:ext uri="{FF2B5EF4-FFF2-40B4-BE49-F238E27FC236}">
                <a16:creationId xmlns:a16="http://schemas.microsoft.com/office/drawing/2014/main" id="{AD778BBE-7F2E-5559-7007-A02B04CFC8A5}"/>
              </a:ext>
            </a:extLst>
          </p:cNvPr>
          <p:cNvSpPr/>
          <p:nvPr/>
        </p:nvSpPr>
        <p:spPr>
          <a:xfrm>
            <a:off x="2673334" y="2047567"/>
            <a:ext cx="2088178" cy="208329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Purchasing Dept</a:t>
            </a:r>
          </a:p>
        </p:txBody>
      </p:sp>
      <p:sp>
        <p:nvSpPr>
          <p:cNvPr id="12" name="Oval 11">
            <a:extLst>
              <a:ext uri="{FF2B5EF4-FFF2-40B4-BE49-F238E27FC236}">
                <a16:creationId xmlns:a16="http://schemas.microsoft.com/office/drawing/2014/main" id="{74C403C6-EFBD-5037-E15D-48C9AC62413D}"/>
              </a:ext>
            </a:extLst>
          </p:cNvPr>
          <p:cNvSpPr/>
          <p:nvPr/>
        </p:nvSpPr>
        <p:spPr>
          <a:xfrm>
            <a:off x="7053421" y="2443338"/>
            <a:ext cx="1948040" cy="1669355"/>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Supplier</a:t>
            </a:r>
          </a:p>
        </p:txBody>
      </p:sp>
      <p:sp>
        <p:nvSpPr>
          <p:cNvPr id="13" name="Oval 12">
            <a:extLst>
              <a:ext uri="{FF2B5EF4-FFF2-40B4-BE49-F238E27FC236}">
                <a16:creationId xmlns:a16="http://schemas.microsoft.com/office/drawing/2014/main" id="{9E0CB013-DF74-ED7A-3C26-541035A49F99}"/>
              </a:ext>
            </a:extLst>
          </p:cNvPr>
          <p:cNvSpPr/>
          <p:nvPr/>
        </p:nvSpPr>
        <p:spPr>
          <a:xfrm>
            <a:off x="5948521" y="5021076"/>
            <a:ext cx="2209800" cy="893925"/>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Shipper</a:t>
            </a:r>
          </a:p>
        </p:txBody>
      </p:sp>
      <p:sp>
        <p:nvSpPr>
          <p:cNvPr id="14" name="Arrow: Left 13">
            <a:extLst>
              <a:ext uri="{FF2B5EF4-FFF2-40B4-BE49-F238E27FC236}">
                <a16:creationId xmlns:a16="http://schemas.microsoft.com/office/drawing/2014/main" id="{4B9D90F2-D5C9-D82E-C3EC-903AFF844F25}"/>
              </a:ext>
            </a:extLst>
          </p:cNvPr>
          <p:cNvSpPr/>
          <p:nvPr/>
        </p:nvSpPr>
        <p:spPr>
          <a:xfrm rot="17171175">
            <a:off x="6768345" y="3951228"/>
            <a:ext cx="1282522" cy="914400"/>
          </a:xfrm>
          <a:prstGeom prst="lef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Stuff</a:t>
            </a:r>
          </a:p>
        </p:txBody>
      </p:sp>
      <p:sp>
        <p:nvSpPr>
          <p:cNvPr id="15" name="Arrow: Left 14">
            <a:extLst>
              <a:ext uri="{FF2B5EF4-FFF2-40B4-BE49-F238E27FC236}">
                <a16:creationId xmlns:a16="http://schemas.microsoft.com/office/drawing/2014/main" id="{2E9C5026-EFD7-224A-C59C-3BE9EE2DDE0E}"/>
              </a:ext>
            </a:extLst>
          </p:cNvPr>
          <p:cNvSpPr/>
          <p:nvPr/>
        </p:nvSpPr>
        <p:spPr>
          <a:xfrm>
            <a:off x="4899135" y="5021076"/>
            <a:ext cx="1414746" cy="914400"/>
          </a:xfrm>
          <a:prstGeom prst="lef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Stuff</a:t>
            </a:r>
          </a:p>
        </p:txBody>
      </p:sp>
      <p:sp>
        <p:nvSpPr>
          <p:cNvPr id="16" name="Oval 15">
            <a:extLst>
              <a:ext uri="{FF2B5EF4-FFF2-40B4-BE49-F238E27FC236}">
                <a16:creationId xmlns:a16="http://schemas.microsoft.com/office/drawing/2014/main" id="{8F892B17-FD28-29ED-0BD2-2843F6480853}"/>
              </a:ext>
            </a:extLst>
          </p:cNvPr>
          <p:cNvSpPr/>
          <p:nvPr/>
        </p:nvSpPr>
        <p:spPr>
          <a:xfrm>
            <a:off x="2730624" y="5073102"/>
            <a:ext cx="2209800" cy="893925"/>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Receiving Dept</a:t>
            </a:r>
          </a:p>
        </p:txBody>
      </p:sp>
      <p:sp>
        <p:nvSpPr>
          <p:cNvPr id="17" name="Arrow: Up 16">
            <a:extLst>
              <a:ext uri="{FF2B5EF4-FFF2-40B4-BE49-F238E27FC236}">
                <a16:creationId xmlns:a16="http://schemas.microsoft.com/office/drawing/2014/main" id="{61FCFC16-0A34-5BC0-32BB-2CA59135D35B}"/>
              </a:ext>
            </a:extLst>
          </p:cNvPr>
          <p:cNvSpPr/>
          <p:nvPr/>
        </p:nvSpPr>
        <p:spPr>
          <a:xfrm>
            <a:off x="3062882" y="4111226"/>
            <a:ext cx="1253664" cy="1109395"/>
          </a:xfrm>
          <a:prstGeom prst="up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We got X</a:t>
            </a:r>
          </a:p>
        </p:txBody>
      </p:sp>
      <p:sp>
        <p:nvSpPr>
          <p:cNvPr id="18" name="Oval 17">
            <a:extLst>
              <a:ext uri="{FF2B5EF4-FFF2-40B4-BE49-F238E27FC236}">
                <a16:creationId xmlns:a16="http://schemas.microsoft.com/office/drawing/2014/main" id="{36EC820A-5B88-D418-1255-F1706490B3A8}"/>
              </a:ext>
            </a:extLst>
          </p:cNvPr>
          <p:cNvSpPr/>
          <p:nvPr/>
        </p:nvSpPr>
        <p:spPr>
          <a:xfrm>
            <a:off x="37272" y="1752600"/>
            <a:ext cx="1133770" cy="1200492"/>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CFO</a:t>
            </a:r>
          </a:p>
        </p:txBody>
      </p:sp>
      <p:sp>
        <p:nvSpPr>
          <p:cNvPr id="19" name="Arrow: Left 18">
            <a:extLst>
              <a:ext uri="{FF2B5EF4-FFF2-40B4-BE49-F238E27FC236}">
                <a16:creationId xmlns:a16="http://schemas.microsoft.com/office/drawing/2014/main" id="{8A374EDB-507F-3B93-A2F1-1EF06E882D32}"/>
              </a:ext>
            </a:extLst>
          </p:cNvPr>
          <p:cNvSpPr/>
          <p:nvPr/>
        </p:nvSpPr>
        <p:spPr>
          <a:xfrm rot="1329697">
            <a:off x="1051514" y="1949481"/>
            <a:ext cx="2086144" cy="731520"/>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Can we pay?</a:t>
            </a:r>
          </a:p>
        </p:txBody>
      </p:sp>
      <p:sp>
        <p:nvSpPr>
          <p:cNvPr id="20" name="Arrow: Right 19">
            <a:extLst>
              <a:ext uri="{FF2B5EF4-FFF2-40B4-BE49-F238E27FC236}">
                <a16:creationId xmlns:a16="http://schemas.microsoft.com/office/drawing/2014/main" id="{6CC504FA-6340-C760-0E8B-AEB3044C3B24}"/>
              </a:ext>
            </a:extLst>
          </p:cNvPr>
          <p:cNvSpPr/>
          <p:nvPr/>
        </p:nvSpPr>
        <p:spPr>
          <a:xfrm rot="4629870">
            <a:off x="7629" y="3069612"/>
            <a:ext cx="1691853" cy="1072659"/>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It is ok to pay Supplier</a:t>
            </a:r>
          </a:p>
        </p:txBody>
      </p:sp>
      <p:sp>
        <p:nvSpPr>
          <p:cNvPr id="21" name="Oval 20">
            <a:extLst>
              <a:ext uri="{FF2B5EF4-FFF2-40B4-BE49-F238E27FC236}">
                <a16:creationId xmlns:a16="http://schemas.microsoft.com/office/drawing/2014/main" id="{27FD5BBB-84B1-660E-A48F-856E4EF9E1D2}"/>
              </a:ext>
            </a:extLst>
          </p:cNvPr>
          <p:cNvSpPr/>
          <p:nvPr/>
        </p:nvSpPr>
        <p:spPr>
          <a:xfrm>
            <a:off x="391708" y="4388053"/>
            <a:ext cx="1450044" cy="1222513"/>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AP</a:t>
            </a:r>
          </a:p>
        </p:txBody>
      </p:sp>
      <p:sp>
        <p:nvSpPr>
          <p:cNvPr id="23" name="Arrow: Left 22">
            <a:extLst>
              <a:ext uri="{FF2B5EF4-FFF2-40B4-BE49-F238E27FC236}">
                <a16:creationId xmlns:a16="http://schemas.microsoft.com/office/drawing/2014/main" id="{E68C7CA9-7053-BAEE-1766-316EB8FEB231}"/>
              </a:ext>
            </a:extLst>
          </p:cNvPr>
          <p:cNvSpPr/>
          <p:nvPr/>
        </p:nvSpPr>
        <p:spPr>
          <a:xfrm>
            <a:off x="4598002" y="3316883"/>
            <a:ext cx="2434640" cy="640080"/>
          </a:xfrm>
          <a:prstGeom prst="lef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Please pay us</a:t>
            </a:r>
          </a:p>
        </p:txBody>
      </p:sp>
      <p:sp>
        <p:nvSpPr>
          <p:cNvPr id="24" name="Arrow: Right 23">
            <a:extLst>
              <a:ext uri="{FF2B5EF4-FFF2-40B4-BE49-F238E27FC236}">
                <a16:creationId xmlns:a16="http://schemas.microsoft.com/office/drawing/2014/main" id="{09A27453-9117-1AB6-C625-23917FC8D58A}"/>
              </a:ext>
            </a:extLst>
          </p:cNvPr>
          <p:cNvSpPr/>
          <p:nvPr/>
        </p:nvSpPr>
        <p:spPr>
          <a:xfrm rot="16200000">
            <a:off x="7306898" y="4819357"/>
            <a:ext cx="2415107" cy="764662"/>
          </a:xfrm>
          <a:prstGeom prst="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27" name="Rectangle 26">
            <a:extLst>
              <a:ext uri="{FF2B5EF4-FFF2-40B4-BE49-F238E27FC236}">
                <a16:creationId xmlns:a16="http://schemas.microsoft.com/office/drawing/2014/main" id="{A796556D-5092-4731-34BC-A80217C80929}"/>
              </a:ext>
            </a:extLst>
          </p:cNvPr>
          <p:cNvSpPr/>
          <p:nvPr/>
        </p:nvSpPr>
        <p:spPr>
          <a:xfrm rot="2272212">
            <a:off x="1090334" y="5740989"/>
            <a:ext cx="1421705" cy="37000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28" name="Rectangle 27">
            <a:extLst>
              <a:ext uri="{FF2B5EF4-FFF2-40B4-BE49-F238E27FC236}">
                <a16:creationId xmlns:a16="http://schemas.microsoft.com/office/drawing/2014/main" id="{5EF82752-A8FF-C6A6-AB66-FB27C17020F4}"/>
              </a:ext>
            </a:extLst>
          </p:cNvPr>
          <p:cNvSpPr/>
          <p:nvPr/>
        </p:nvSpPr>
        <p:spPr>
          <a:xfrm>
            <a:off x="2268009" y="6138403"/>
            <a:ext cx="6418791" cy="37000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Check + Remittance Memo</a:t>
            </a:r>
          </a:p>
        </p:txBody>
      </p:sp>
    </p:spTree>
    <p:extLst>
      <p:ext uri="{BB962C8B-B14F-4D97-AF65-F5344CB8AC3E}">
        <p14:creationId xmlns:p14="http://schemas.microsoft.com/office/powerpoint/2010/main" val="1385524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14" grpId="0" animBg="1"/>
      <p:bldP spid="15" grpId="0" animBg="1"/>
      <p:bldP spid="17" grpId="0" animBg="1"/>
      <p:bldP spid="19" grpId="0" animBg="1"/>
      <p:bldP spid="20" grpId="0" animBg="1"/>
      <p:bldP spid="23" grpId="0" animBg="1"/>
      <p:bldP spid="24" grpId="0" animBg="1"/>
      <p:bldP spid="27"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Right 2">
            <a:extLst>
              <a:ext uri="{FF2B5EF4-FFF2-40B4-BE49-F238E27FC236}">
                <a16:creationId xmlns:a16="http://schemas.microsoft.com/office/drawing/2014/main" id="{1AF66C02-65A6-EDFC-F641-ED5C402E3785}"/>
              </a:ext>
            </a:extLst>
          </p:cNvPr>
          <p:cNvSpPr/>
          <p:nvPr/>
        </p:nvSpPr>
        <p:spPr>
          <a:xfrm>
            <a:off x="4684699" y="1675465"/>
            <a:ext cx="2415188" cy="64008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Can you sell us x?</a:t>
            </a:r>
          </a:p>
        </p:txBody>
      </p:sp>
      <p:sp>
        <p:nvSpPr>
          <p:cNvPr id="4" name="Arrow: Down 3">
            <a:extLst>
              <a:ext uri="{FF2B5EF4-FFF2-40B4-BE49-F238E27FC236}">
                <a16:creationId xmlns:a16="http://schemas.microsoft.com/office/drawing/2014/main" id="{F73BA17A-E6A0-B350-F040-E4B64D172E88}"/>
              </a:ext>
            </a:extLst>
          </p:cNvPr>
          <p:cNvSpPr/>
          <p:nvPr/>
        </p:nvSpPr>
        <p:spPr>
          <a:xfrm>
            <a:off x="2958618" y="976606"/>
            <a:ext cx="1321763" cy="1004594"/>
          </a:xfrm>
          <a:prstGeom prst="downArrow">
            <a:avLst>
              <a:gd name="adj1" fmla="val 62195"/>
              <a:gd name="adj2" fmla="val 31439"/>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Ask for X</a:t>
            </a:r>
          </a:p>
        </p:txBody>
      </p:sp>
      <p:sp>
        <p:nvSpPr>
          <p:cNvPr id="5" name="Arrow: Right 4">
            <a:extLst>
              <a:ext uri="{FF2B5EF4-FFF2-40B4-BE49-F238E27FC236}">
                <a16:creationId xmlns:a16="http://schemas.microsoft.com/office/drawing/2014/main" id="{288E0869-4BDE-6F28-9C53-6BA7B62B171B}"/>
              </a:ext>
            </a:extLst>
          </p:cNvPr>
          <p:cNvSpPr/>
          <p:nvPr/>
        </p:nvSpPr>
        <p:spPr>
          <a:xfrm>
            <a:off x="4665247" y="2766452"/>
            <a:ext cx="2434640" cy="64008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Sell us X</a:t>
            </a:r>
          </a:p>
        </p:txBody>
      </p:sp>
      <p:sp>
        <p:nvSpPr>
          <p:cNvPr id="6" name="Arrow: Left 5">
            <a:extLst>
              <a:ext uri="{FF2B5EF4-FFF2-40B4-BE49-F238E27FC236}">
                <a16:creationId xmlns:a16="http://schemas.microsoft.com/office/drawing/2014/main" id="{18206699-86C8-1DA8-4086-BDA5683543C8}"/>
              </a:ext>
            </a:extLst>
          </p:cNvPr>
          <p:cNvSpPr/>
          <p:nvPr/>
        </p:nvSpPr>
        <p:spPr>
          <a:xfrm>
            <a:off x="4599861" y="2213276"/>
            <a:ext cx="2434640" cy="640080"/>
          </a:xfrm>
          <a:prstGeom prst="lef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Yes, price is $40</a:t>
            </a:r>
          </a:p>
        </p:txBody>
      </p:sp>
      <p:sp>
        <p:nvSpPr>
          <p:cNvPr id="9" name="Oval 8">
            <a:extLst>
              <a:ext uri="{FF2B5EF4-FFF2-40B4-BE49-F238E27FC236}">
                <a16:creationId xmlns:a16="http://schemas.microsoft.com/office/drawing/2014/main" id="{1F25E7DA-D284-4DBA-2EB7-0CF859755576}"/>
              </a:ext>
            </a:extLst>
          </p:cNvPr>
          <p:cNvSpPr/>
          <p:nvPr/>
        </p:nvSpPr>
        <p:spPr>
          <a:xfrm>
            <a:off x="2514600" y="166117"/>
            <a:ext cx="2209800" cy="893925"/>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Production Department</a:t>
            </a:r>
          </a:p>
        </p:txBody>
      </p:sp>
      <p:sp>
        <p:nvSpPr>
          <p:cNvPr id="10" name="Oval 9">
            <a:extLst>
              <a:ext uri="{FF2B5EF4-FFF2-40B4-BE49-F238E27FC236}">
                <a16:creationId xmlns:a16="http://schemas.microsoft.com/office/drawing/2014/main" id="{AD778BBE-7F2E-5559-7007-A02B04CFC8A5}"/>
              </a:ext>
            </a:extLst>
          </p:cNvPr>
          <p:cNvSpPr/>
          <p:nvPr/>
        </p:nvSpPr>
        <p:spPr>
          <a:xfrm>
            <a:off x="2673334" y="2047567"/>
            <a:ext cx="2088178" cy="208329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Purchasing Dept</a:t>
            </a:r>
          </a:p>
        </p:txBody>
      </p:sp>
      <p:sp>
        <p:nvSpPr>
          <p:cNvPr id="12" name="Oval 11">
            <a:extLst>
              <a:ext uri="{FF2B5EF4-FFF2-40B4-BE49-F238E27FC236}">
                <a16:creationId xmlns:a16="http://schemas.microsoft.com/office/drawing/2014/main" id="{74C403C6-EFBD-5037-E15D-48C9AC62413D}"/>
              </a:ext>
            </a:extLst>
          </p:cNvPr>
          <p:cNvSpPr/>
          <p:nvPr/>
        </p:nvSpPr>
        <p:spPr>
          <a:xfrm>
            <a:off x="7053421" y="2443338"/>
            <a:ext cx="1948040" cy="1669355"/>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Supplier</a:t>
            </a:r>
          </a:p>
        </p:txBody>
      </p:sp>
      <p:sp>
        <p:nvSpPr>
          <p:cNvPr id="13" name="Oval 12">
            <a:extLst>
              <a:ext uri="{FF2B5EF4-FFF2-40B4-BE49-F238E27FC236}">
                <a16:creationId xmlns:a16="http://schemas.microsoft.com/office/drawing/2014/main" id="{9E0CB013-DF74-ED7A-3C26-541035A49F99}"/>
              </a:ext>
            </a:extLst>
          </p:cNvPr>
          <p:cNvSpPr/>
          <p:nvPr/>
        </p:nvSpPr>
        <p:spPr>
          <a:xfrm>
            <a:off x="5948521" y="5021076"/>
            <a:ext cx="2209800" cy="893925"/>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Shipper</a:t>
            </a:r>
          </a:p>
        </p:txBody>
      </p:sp>
      <p:sp>
        <p:nvSpPr>
          <p:cNvPr id="14" name="Arrow: Left 13">
            <a:extLst>
              <a:ext uri="{FF2B5EF4-FFF2-40B4-BE49-F238E27FC236}">
                <a16:creationId xmlns:a16="http://schemas.microsoft.com/office/drawing/2014/main" id="{4B9D90F2-D5C9-D82E-C3EC-903AFF844F25}"/>
              </a:ext>
            </a:extLst>
          </p:cNvPr>
          <p:cNvSpPr/>
          <p:nvPr/>
        </p:nvSpPr>
        <p:spPr>
          <a:xfrm rot="17171175">
            <a:off x="6768345" y="3951228"/>
            <a:ext cx="1282522" cy="914400"/>
          </a:xfrm>
          <a:prstGeom prst="lef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Stuff</a:t>
            </a:r>
          </a:p>
        </p:txBody>
      </p:sp>
      <p:sp>
        <p:nvSpPr>
          <p:cNvPr id="15" name="Arrow: Left 14">
            <a:extLst>
              <a:ext uri="{FF2B5EF4-FFF2-40B4-BE49-F238E27FC236}">
                <a16:creationId xmlns:a16="http://schemas.microsoft.com/office/drawing/2014/main" id="{2E9C5026-EFD7-224A-C59C-3BE9EE2DDE0E}"/>
              </a:ext>
            </a:extLst>
          </p:cNvPr>
          <p:cNvSpPr/>
          <p:nvPr/>
        </p:nvSpPr>
        <p:spPr>
          <a:xfrm>
            <a:off x="4899135" y="5021076"/>
            <a:ext cx="1414746" cy="914400"/>
          </a:xfrm>
          <a:prstGeom prst="lef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Stuff</a:t>
            </a:r>
          </a:p>
        </p:txBody>
      </p:sp>
      <p:sp>
        <p:nvSpPr>
          <p:cNvPr id="16" name="Oval 15">
            <a:extLst>
              <a:ext uri="{FF2B5EF4-FFF2-40B4-BE49-F238E27FC236}">
                <a16:creationId xmlns:a16="http://schemas.microsoft.com/office/drawing/2014/main" id="{8F892B17-FD28-29ED-0BD2-2843F6480853}"/>
              </a:ext>
            </a:extLst>
          </p:cNvPr>
          <p:cNvSpPr/>
          <p:nvPr/>
        </p:nvSpPr>
        <p:spPr>
          <a:xfrm>
            <a:off x="2730624" y="5073102"/>
            <a:ext cx="2209800" cy="893925"/>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Receiving Dept</a:t>
            </a:r>
          </a:p>
        </p:txBody>
      </p:sp>
      <p:sp>
        <p:nvSpPr>
          <p:cNvPr id="17" name="Arrow: Up 16">
            <a:extLst>
              <a:ext uri="{FF2B5EF4-FFF2-40B4-BE49-F238E27FC236}">
                <a16:creationId xmlns:a16="http://schemas.microsoft.com/office/drawing/2014/main" id="{61FCFC16-0A34-5BC0-32BB-2CA59135D35B}"/>
              </a:ext>
            </a:extLst>
          </p:cNvPr>
          <p:cNvSpPr/>
          <p:nvPr/>
        </p:nvSpPr>
        <p:spPr>
          <a:xfrm>
            <a:off x="3062882" y="4111226"/>
            <a:ext cx="1253664" cy="1109395"/>
          </a:xfrm>
          <a:prstGeom prst="up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We got X</a:t>
            </a:r>
          </a:p>
        </p:txBody>
      </p:sp>
      <p:sp>
        <p:nvSpPr>
          <p:cNvPr id="18" name="Oval 17">
            <a:extLst>
              <a:ext uri="{FF2B5EF4-FFF2-40B4-BE49-F238E27FC236}">
                <a16:creationId xmlns:a16="http://schemas.microsoft.com/office/drawing/2014/main" id="{36EC820A-5B88-D418-1255-F1706490B3A8}"/>
              </a:ext>
            </a:extLst>
          </p:cNvPr>
          <p:cNvSpPr/>
          <p:nvPr/>
        </p:nvSpPr>
        <p:spPr>
          <a:xfrm>
            <a:off x="37272" y="1752600"/>
            <a:ext cx="1133770" cy="1200492"/>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CFO</a:t>
            </a:r>
          </a:p>
        </p:txBody>
      </p:sp>
      <p:sp>
        <p:nvSpPr>
          <p:cNvPr id="19" name="Arrow: Left 18">
            <a:extLst>
              <a:ext uri="{FF2B5EF4-FFF2-40B4-BE49-F238E27FC236}">
                <a16:creationId xmlns:a16="http://schemas.microsoft.com/office/drawing/2014/main" id="{8A374EDB-507F-3B93-A2F1-1EF06E882D32}"/>
              </a:ext>
            </a:extLst>
          </p:cNvPr>
          <p:cNvSpPr/>
          <p:nvPr/>
        </p:nvSpPr>
        <p:spPr>
          <a:xfrm rot="1329697">
            <a:off x="1051514" y="1949481"/>
            <a:ext cx="2086144" cy="731520"/>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Can we pay?</a:t>
            </a:r>
          </a:p>
        </p:txBody>
      </p:sp>
      <p:sp>
        <p:nvSpPr>
          <p:cNvPr id="20" name="Arrow: Right 19">
            <a:extLst>
              <a:ext uri="{FF2B5EF4-FFF2-40B4-BE49-F238E27FC236}">
                <a16:creationId xmlns:a16="http://schemas.microsoft.com/office/drawing/2014/main" id="{6CC504FA-6340-C760-0E8B-AEB3044C3B24}"/>
              </a:ext>
            </a:extLst>
          </p:cNvPr>
          <p:cNvSpPr/>
          <p:nvPr/>
        </p:nvSpPr>
        <p:spPr>
          <a:xfrm rot="4629870">
            <a:off x="7629" y="3069612"/>
            <a:ext cx="1691853" cy="1072659"/>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It is ok to pay Supplier</a:t>
            </a:r>
          </a:p>
        </p:txBody>
      </p:sp>
      <p:sp>
        <p:nvSpPr>
          <p:cNvPr id="21" name="Oval 20">
            <a:extLst>
              <a:ext uri="{FF2B5EF4-FFF2-40B4-BE49-F238E27FC236}">
                <a16:creationId xmlns:a16="http://schemas.microsoft.com/office/drawing/2014/main" id="{27FD5BBB-84B1-660E-A48F-856E4EF9E1D2}"/>
              </a:ext>
            </a:extLst>
          </p:cNvPr>
          <p:cNvSpPr/>
          <p:nvPr/>
        </p:nvSpPr>
        <p:spPr>
          <a:xfrm>
            <a:off x="391708" y="4388053"/>
            <a:ext cx="1450044" cy="1222513"/>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AP</a:t>
            </a:r>
          </a:p>
        </p:txBody>
      </p:sp>
      <p:sp>
        <p:nvSpPr>
          <p:cNvPr id="23" name="Arrow: Left 22">
            <a:extLst>
              <a:ext uri="{FF2B5EF4-FFF2-40B4-BE49-F238E27FC236}">
                <a16:creationId xmlns:a16="http://schemas.microsoft.com/office/drawing/2014/main" id="{E68C7CA9-7053-BAEE-1766-316EB8FEB231}"/>
              </a:ext>
            </a:extLst>
          </p:cNvPr>
          <p:cNvSpPr/>
          <p:nvPr/>
        </p:nvSpPr>
        <p:spPr>
          <a:xfrm>
            <a:off x="4598002" y="3316883"/>
            <a:ext cx="2434640" cy="640080"/>
          </a:xfrm>
          <a:prstGeom prst="lef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Please pay us</a:t>
            </a:r>
          </a:p>
        </p:txBody>
      </p:sp>
      <p:sp>
        <p:nvSpPr>
          <p:cNvPr id="24" name="Arrow: Right 23">
            <a:extLst>
              <a:ext uri="{FF2B5EF4-FFF2-40B4-BE49-F238E27FC236}">
                <a16:creationId xmlns:a16="http://schemas.microsoft.com/office/drawing/2014/main" id="{09A27453-9117-1AB6-C625-23917FC8D58A}"/>
              </a:ext>
            </a:extLst>
          </p:cNvPr>
          <p:cNvSpPr/>
          <p:nvPr/>
        </p:nvSpPr>
        <p:spPr>
          <a:xfrm rot="16200000">
            <a:off x="7306898" y="4819357"/>
            <a:ext cx="2415107" cy="764662"/>
          </a:xfrm>
          <a:prstGeom prst="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27" name="Rectangle 26">
            <a:extLst>
              <a:ext uri="{FF2B5EF4-FFF2-40B4-BE49-F238E27FC236}">
                <a16:creationId xmlns:a16="http://schemas.microsoft.com/office/drawing/2014/main" id="{A796556D-5092-4731-34BC-A80217C80929}"/>
              </a:ext>
            </a:extLst>
          </p:cNvPr>
          <p:cNvSpPr/>
          <p:nvPr/>
        </p:nvSpPr>
        <p:spPr>
          <a:xfrm rot="2272212">
            <a:off x="1090334" y="5740989"/>
            <a:ext cx="1421705" cy="37000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28" name="Rectangle 27">
            <a:extLst>
              <a:ext uri="{FF2B5EF4-FFF2-40B4-BE49-F238E27FC236}">
                <a16:creationId xmlns:a16="http://schemas.microsoft.com/office/drawing/2014/main" id="{5EF82752-A8FF-C6A6-AB66-FB27C17020F4}"/>
              </a:ext>
            </a:extLst>
          </p:cNvPr>
          <p:cNvSpPr/>
          <p:nvPr/>
        </p:nvSpPr>
        <p:spPr>
          <a:xfrm>
            <a:off x="2268009" y="6138403"/>
            <a:ext cx="6418791" cy="37000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Check + Remittance Memo</a:t>
            </a:r>
          </a:p>
        </p:txBody>
      </p:sp>
      <p:sp>
        <p:nvSpPr>
          <p:cNvPr id="2" name="Rectangle: Rounded Corners 1">
            <a:extLst>
              <a:ext uri="{FF2B5EF4-FFF2-40B4-BE49-F238E27FC236}">
                <a16:creationId xmlns:a16="http://schemas.microsoft.com/office/drawing/2014/main" id="{0BF64587-3284-9A48-DDB7-B73F0B786AB1}"/>
              </a:ext>
            </a:extLst>
          </p:cNvPr>
          <p:cNvSpPr/>
          <p:nvPr/>
        </p:nvSpPr>
        <p:spPr>
          <a:xfrm>
            <a:off x="1916377" y="938056"/>
            <a:ext cx="1623928" cy="64982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Purchase Requisition</a:t>
            </a:r>
          </a:p>
        </p:txBody>
      </p:sp>
      <p:sp>
        <p:nvSpPr>
          <p:cNvPr id="7" name="Rectangle: Rounded Corners 6">
            <a:extLst>
              <a:ext uri="{FF2B5EF4-FFF2-40B4-BE49-F238E27FC236}">
                <a16:creationId xmlns:a16="http://schemas.microsoft.com/office/drawing/2014/main" id="{1174DD27-1210-1649-E52D-52C99947332D}"/>
              </a:ext>
            </a:extLst>
          </p:cNvPr>
          <p:cNvSpPr/>
          <p:nvPr/>
        </p:nvSpPr>
        <p:spPr>
          <a:xfrm>
            <a:off x="5892293" y="1967125"/>
            <a:ext cx="1623928" cy="649825"/>
          </a:xfrm>
          <a:prstGeom prst="roundRect">
            <a:avLst/>
          </a:prstGeom>
          <a:solidFill>
            <a:schemeClr val="accent4">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Sales Quote</a:t>
            </a:r>
          </a:p>
        </p:txBody>
      </p:sp>
      <p:sp>
        <p:nvSpPr>
          <p:cNvPr id="8" name="Rectangle: Rounded Corners 7">
            <a:extLst>
              <a:ext uri="{FF2B5EF4-FFF2-40B4-BE49-F238E27FC236}">
                <a16:creationId xmlns:a16="http://schemas.microsoft.com/office/drawing/2014/main" id="{BB1340F6-D5DB-1532-2338-4C8DF030591A}"/>
              </a:ext>
            </a:extLst>
          </p:cNvPr>
          <p:cNvSpPr/>
          <p:nvPr/>
        </p:nvSpPr>
        <p:spPr>
          <a:xfrm>
            <a:off x="4933518" y="2722536"/>
            <a:ext cx="1623928" cy="64982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Purchase Order</a:t>
            </a:r>
          </a:p>
        </p:txBody>
      </p:sp>
      <p:sp>
        <p:nvSpPr>
          <p:cNvPr id="11" name="Rectangle: Rounded Corners 10">
            <a:extLst>
              <a:ext uri="{FF2B5EF4-FFF2-40B4-BE49-F238E27FC236}">
                <a16:creationId xmlns:a16="http://schemas.microsoft.com/office/drawing/2014/main" id="{11F8F3E0-AD40-E1AF-30C7-7C95AC80DEC3}"/>
              </a:ext>
            </a:extLst>
          </p:cNvPr>
          <p:cNvSpPr/>
          <p:nvPr/>
        </p:nvSpPr>
        <p:spPr>
          <a:xfrm>
            <a:off x="4828624" y="3679839"/>
            <a:ext cx="1623928" cy="649825"/>
          </a:xfrm>
          <a:prstGeom prst="roundRect">
            <a:avLst/>
          </a:prstGeom>
          <a:solidFill>
            <a:schemeClr val="accent4">
              <a:lumMod val="20000"/>
              <a:lumOff val="8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dirty="0"/>
              <a:t>Sales Invoice</a:t>
            </a:r>
          </a:p>
        </p:txBody>
      </p:sp>
      <p:sp>
        <p:nvSpPr>
          <p:cNvPr id="22" name="Rectangle: Rounded Corners 21">
            <a:extLst>
              <a:ext uri="{FF2B5EF4-FFF2-40B4-BE49-F238E27FC236}">
                <a16:creationId xmlns:a16="http://schemas.microsoft.com/office/drawing/2014/main" id="{461909C6-CB66-1358-9A70-3B79839EEED2}"/>
              </a:ext>
            </a:extLst>
          </p:cNvPr>
          <p:cNvSpPr/>
          <p:nvPr/>
        </p:nvSpPr>
        <p:spPr>
          <a:xfrm>
            <a:off x="1291521" y="2423403"/>
            <a:ext cx="1623928" cy="64982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Voucher Package</a:t>
            </a:r>
          </a:p>
        </p:txBody>
      </p:sp>
      <p:sp>
        <p:nvSpPr>
          <p:cNvPr id="25" name="Rectangle: Rounded Corners 24">
            <a:extLst>
              <a:ext uri="{FF2B5EF4-FFF2-40B4-BE49-F238E27FC236}">
                <a16:creationId xmlns:a16="http://schemas.microsoft.com/office/drawing/2014/main" id="{AE402170-D5B0-740B-2890-C7425A3CE8CC}"/>
              </a:ext>
            </a:extLst>
          </p:cNvPr>
          <p:cNvSpPr/>
          <p:nvPr/>
        </p:nvSpPr>
        <p:spPr>
          <a:xfrm>
            <a:off x="834405" y="5784900"/>
            <a:ext cx="1623928" cy="64982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Remittance</a:t>
            </a:r>
          </a:p>
        </p:txBody>
      </p:sp>
      <p:sp>
        <p:nvSpPr>
          <p:cNvPr id="26" name="Rectangle: Rounded Corners 25">
            <a:extLst>
              <a:ext uri="{FF2B5EF4-FFF2-40B4-BE49-F238E27FC236}">
                <a16:creationId xmlns:a16="http://schemas.microsoft.com/office/drawing/2014/main" id="{029704B5-515E-17F8-ACC9-987A0D22C036}"/>
              </a:ext>
            </a:extLst>
          </p:cNvPr>
          <p:cNvSpPr/>
          <p:nvPr/>
        </p:nvSpPr>
        <p:spPr>
          <a:xfrm>
            <a:off x="2042297" y="4267374"/>
            <a:ext cx="1623928" cy="64982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Receiving Report</a:t>
            </a:r>
          </a:p>
        </p:txBody>
      </p:sp>
      <p:sp>
        <p:nvSpPr>
          <p:cNvPr id="29" name="Rectangle: Rounded Corners 28">
            <a:extLst>
              <a:ext uri="{FF2B5EF4-FFF2-40B4-BE49-F238E27FC236}">
                <a16:creationId xmlns:a16="http://schemas.microsoft.com/office/drawing/2014/main" id="{5AFD274C-908D-E27F-770C-4EF3E4AFE6B5}"/>
              </a:ext>
            </a:extLst>
          </p:cNvPr>
          <p:cNvSpPr/>
          <p:nvPr/>
        </p:nvSpPr>
        <p:spPr>
          <a:xfrm>
            <a:off x="5279642" y="4804776"/>
            <a:ext cx="1623928" cy="649825"/>
          </a:xfrm>
          <a:prstGeom prst="roundRect">
            <a:avLst/>
          </a:prstGeom>
          <a:solidFill>
            <a:schemeClr val="accent4">
              <a:lumMod val="20000"/>
              <a:lumOff val="8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dirty="0"/>
              <a:t>Bill of Lading</a:t>
            </a:r>
          </a:p>
        </p:txBody>
      </p:sp>
    </p:spTree>
    <p:extLst>
      <p:ext uri="{BB962C8B-B14F-4D97-AF65-F5344CB8AC3E}">
        <p14:creationId xmlns:p14="http://schemas.microsoft.com/office/powerpoint/2010/main" val="3437997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52277"/>
            <a:ext cx="8229600" cy="553998"/>
          </a:xfrm>
        </p:spPr>
        <p:txBody>
          <a:bodyPr anchor="ctr">
            <a:noAutofit/>
          </a:bodyPr>
          <a:lstStyle/>
          <a:p>
            <a:r>
              <a:rPr lang="en-IN" sz="3600" dirty="0">
                <a:latin typeface="+mj-lt"/>
              </a:rPr>
              <a:t>Key Decisions</a:t>
            </a:r>
          </a:p>
        </p:txBody>
      </p:sp>
      <p:sp>
        <p:nvSpPr>
          <p:cNvPr id="2" name="Content Placeholder 1"/>
          <p:cNvSpPr>
            <a:spLocks noGrp="1"/>
          </p:cNvSpPr>
          <p:nvPr>
            <p:ph idx="13"/>
          </p:nvPr>
        </p:nvSpPr>
        <p:spPr>
          <a:xfrm>
            <a:off x="477115" y="1010355"/>
            <a:ext cx="8229600" cy="2677656"/>
          </a:xfrm>
        </p:spPr>
        <p:txBody>
          <a:bodyPr>
            <a:noAutofit/>
          </a:bodyPr>
          <a:lstStyle/>
          <a:p>
            <a:pPr lvl="0">
              <a:spcBef>
                <a:spcPts val="0"/>
              </a:spcBef>
              <a:buSzPts val="2400"/>
            </a:pPr>
            <a:r>
              <a:rPr lang="en-IN" sz="2400" dirty="0"/>
              <a:t>What is the optimal level of inventory?</a:t>
            </a:r>
          </a:p>
          <a:p>
            <a:pPr lvl="0">
              <a:spcBef>
                <a:spcPts val="900"/>
              </a:spcBef>
              <a:buSzPts val="2400"/>
            </a:pPr>
            <a:r>
              <a:rPr lang="en-IN" sz="2400" dirty="0"/>
              <a:t>Which suppliers provide the best quality at the best price?</a:t>
            </a:r>
          </a:p>
          <a:p>
            <a:pPr lvl="0">
              <a:spcBef>
                <a:spcPts val="900"/>
              </a:spcBef>
              <a:buSzPts val="2400"/>
            </a:pPr>
            <a:r>
              <a:rPr lang="en-IN" sz="2400" dirty="0"/>
              <a:t>How can IT be used to improve efficiency and accuracy of logistics?</a:t>
            </a:r>
          </a:p>
          <a:p>
            <a:pPr lvl="0">
              <a:spcBef>
                <a:spcPts val="900"/>
              </a:spcBef>
              <a:buSzPts val="2400"/>
            </a:pPr>
            <a:r>
              <a:rPr lang="en-IN" sz="2400" dirty="0"/>
              <a:t>How can we take advantage of vendor discounts?</a:t>
            </a:r>
          </a:p>
          <a:p>
            <a:pPr lvl="0">
              <a:spcBef>
                <a:spcPts val="900"/>
              </a:spcBef>
              <a:buSzPts val="2400"/>
            </a:pPr>
            <a:r>
              <a:rPr lang="en-IN" sz="2400" dirty="0"/>
              <a:t>How can we maximize cash flow?</a:t>
            </a:r>
          </a:p>
        </p:txBody>
      </p:sp>
    </p:spTree>
    <p:extLst>
      <p:ext uri="{BB962C8B-B14F-4D97-AF65-F5344CB8AC3E}">
        <p14:creationId xmlns:p14="http://schemas.microsoft.com/office/powerpoint/2010/main" val="4293589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63689"/>
            <a:ext cx="8229600" cy="553998"/>
          </a:xfrm>
        </p:spPr>
        <p:txBody>
          <a:bodyPr anchor="ctr">
            <a:noAutofit/>
          </a:bodyPr>
          <a:lstStyle/>
          <a:p>
            <a:r>
              <a:rPr lang="en-IN" sz="3600" dirty="0">
                <a:latin typeface="+mj-lt"/>
              </a:rPr>
              <a:t>General Threats and Controls</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013178"/>
            <a:ext cx="3962400" cy="369332"/>
          </a:xfrm>
          <a:solidFill>
            <a:schemeClr val="bg2"/>
          </a:solidFill>
        </p:spPr>
        <p:txBody>
          <a:bodyPr>
            <a:noAutofit/>
          </a:bodyPr>
          <a:lstStyle/>
          <a:p>
            <a:pPr marL="0" indent="92075">
              <a:buNone/>
            </a:pPr>
            <a:r>
              <a:rPr lang="en-US" sz="2400"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470853"/>
            <a:ext cx="3962400" cy="2446824"/>
          </a:xfrm>
        </p:spPr>
        <p:txBody>
          <a:bodyPr>
            <a:noAutofit/>
          </a:bodyPr>
          <a:lstStyle/>
          <a:p>
            <a:pPr marL="342900" lvl="0" indent="-342900">
              <a:spcBef>
                <a:spcPts val="0"/>
              </a:spcBef>
              <a:buSzPts val="2000"/>
              <a:buFont typeface="Arial"/>
              <a:buAutoNum type="arabicPeriod"/>
            </a:pPr>
            <a:r>
              <a:rPr lang="en-IN" sz="2400" dirty="0"/>
              <a:t>Inaccurate or invalid master data</a:t>
            </a:r>
          </a:p>
          <a:p>
            <a:pPr marL="342900" lvl="0" indent="-342900">
              <a:spcBef>
                <a:spcPts val="600"/>
              </a:spcBef>
              <a:buSzPts val="2000"/>
              <a:buFont typeface="Arial"/>
              <a:buAutoNum type="arabicPeriod"/>
            </a:pPr>
            <a:r>
              <a:rPr lang="en-IN" sz="2400" dirty="0"/>
              <a:t>Unauthorized disclosure of sensitive information</a:t>
            </a:r>
          </a:p>
          <a:p>
            <a:pPr marL="342900" lvl="0" indent="-342900">
              <a:spcBef>
                <a:spcPts val="600"/>
              </a:spcBef>
              <a:buSzPts val="2000"/>
              <a:buFont typeface="Arial"/>
              <a:buAutoNum type="arabicPeriod"/>
            </a:pPr>
            <a:r>
              <a:rPr lang="en-IN" sz="2400" dirty="0"/>
              <a:t>Loss or destruction of data</a:t>
            </a:r>
          </a:p>
          <a:p>
            <a:pPr marL="342900" lvl="0" indent="-342900">
              <a:spcBef>
                <a:spcPts val="600"/>
              </a:spcBef>
              <a:buSzPts val="2000"/>
              <a:buFont typeface="Arial"/>
              <a:buAutoNum type="arabicPeriod"/>
            </a:pPr>
            <a:r>
              <a:rPr lang="en-IN" sz="2400" dirty="0"/>
              <a:t>Poor performance</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013416"/>
            <a:ext cx="3939540" cy="369332"/>
          </a:xfrm>
          <a:solidFill>
            <a:schemeClr val="bg2"/>
          </a:solidFill>
        </p:spPr>
        <p:txBody>
          <a:bodyPr>
            <a:noAutofit/>
          </a:bodyPr>
          <a:lstStyle/>
          <a:p>
            <a:pPr marL="0" indent="92075">
              <a:spcBef>
                <a:spcPts val="0"/>
              </a:spcBef>
              <a:buSzPts val="2400"/>
              <a:buNone/>
            </a:pPr>
            <a:r>
              <a:rPr lang="en-US" sz="2400"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474395"/>
            <a:ext cx="3939540" cy="4370427"/>
          </a:xfrm>
        </p:spPr>
        <p:txBody>
          <a:bodyPr>
            <a:noAutofit/>
          </a:bodyPr>
          <a:lstStyle/>
          <a:p>
            <a:pPr marL="358775" lvl="0" indent="-358775">
              <a:spcBef>
                <a:spcPts val="0"/>
              </a:spcBef>
              <a:buSzPts val="2000"/>
              <a:buFont typeface="+mj-lt"/>
              <a:buAutoNum type="arabicPeriod"/>
              <a:tabLst>
                <a:tab pos="708025" algn="l"/>
              </a:tabLst>
            </a:pPr>
            <a:r>
              <a:rPr lang="en-IN" sz="2400" dirty="0">
                <a:solidFill>
                  <a:srgbClr val="007FA3"/>
                </a:solidFill>
              </a:rPr>
              <a:t>a. </a:t>
            </a:r>
            <a:r>
              <a:rPr lang="en-IN" sz="2400" dirty="0"/>
              <a:t>Data processing 	integrity controls</a:t>
            </a:r>
          </a:p>
          <a:p>
            <a:pPr marL="358775" lvl="0" indent="22225">
              <a:spcBef>
                <a:spcPts val="400"/>
              </a:spcBef>
              <a:buSzPts val="2000"/>
              <a:buNone/>
              <a:tabLst>
                <a:tab pos="708025" algn="l"/>
                <a:tab pos="719138" algn="l"/>
              </a:tabLst>
            </a:pPr>
            <a:r>
              <a:rPr lang="en-IN" sz="2400" dirty="0">
                <a:solidFill>
                  <a:srgbClr val="007FA3"/>
                </a:solidFill>
              </a:rPr>
              <a:t>b. </a:t>
            </a:r>
            <a:r>
              <a:rPr lang="en-IN" sz="2400" dirty="0"/>
              <a:t>Restriction of access to 	master data</a:t>
            </a:r>
          </a:p>
          <a:p>
            <a:pPr marL="358775" lvl="0" indent="-11113">
              <a:spcBef>
                <a:spcPts val="400"/>
              </a:spcBef>
              <a:buSzPts val="2000"/>
              <a:buNone/>
              <a:tabLst>
                <a:tab pos="708025" algn="l"/>
                <a:tab pos="719138" algn="l"/>
              </a:tabLst>
            </a:pPr>
            <a:r>
              <a:rPr lang="en-IN" sz="2400" dirty="0">
                <a:solidFill>
                  <a:srgbClr val="007FA3"/>
                </a:solidFill>
              </a:rPr>
              <a:t>c. </a:t>
            </a:r>
            <a:r>
              <a:rPr lang="en-IN" sz="2400" dirty="0"/>
              <a:t>Review of all changes 	to master data</a:t>
            </a:r>
          </a:p>
          <a:p>
            <a:pPr marL="358775" lvl="0" indent="-358775">
              <a:spcBef>
                <a:spcPts val="400"/>
              </a:spcBef>
              <a:buSzPts val="2000"/>
              <a:buFont typeface="+mj-lt"/>
              <a:buAutoNum type="arabicPeriod" startAt="2"/>
            </a:pPr>
            <a:r>
              <a:rPr lang="en-IN" sz="2400" dirty="0">
                <a:solidFill>
                  <a:srgbClr val="007FA3"/>
                </a:solidFill>
              </a:rPr>
              <a:t>a. </a:t>
            </a:r>
            <a:r>
              <a:rPr lang="en-IN" sz="2400" dirty="0"/>
              <a:t>Access controls</a:t>
            </a:r>
          </a:p>
          <a:p>
            <a:pPr marL="358775" lvl="0" indent="-11113">
              <a:spcBef>
                <a:spcPts val="400"/>
              </a:spcBef>
              <a:buSzPts val="2000"/>
              <a:buNone/>
            </a:pPr>
            <a:r>
              <a:rPr lang="en-IN" sz="2400" dirty="0">
                <a:solidFill>
                  <a:srgbClr val="007FA3"/>
                </a:solidFill>
              </a:rPr>
              <a:t>b. </a:t>
            </a:r>
            <a:r>
              <a:rPr lang="en-IN" sz="2400" dirty="0"/>
              <a:t>Encryption</a:t>
            </a:r>
          </a:p>
          <a:p>
            <a:pPr marL="358775" lvl="0" indent="-358775">
              <a:spcBef>
                <a:spcPts val="400"/>
              </a:spcBef>
              <a:buSzPts val="2000"/>
              <a:buFont typeface="+mj-lt"/>
              <a:buAutoNum type="arabicPeriod" startAt="3"/>
              <a:tabLst>
                <a:tab pos="708025" algn="l"/>
              </a:tabLst>
            </a:pPr>
            <a:r>
              <a:rPr lang="en-IN" sz="2400" dirty="0">
                <a:solidFill>
                  <a:srgbClr val="007FA3"/>
                </a:solidFill>
              </a:rPr>
              <a:t>a. </a:t>
            </a:r>
            <a:r>
              <a:rPr lang="en-IN" sz="2400" dirty="0"/>
              <a:t>Backup and disaster  	recovery procedures</a:t>
            </a:r>
          </a:p>
          <a:p>
            <a:pPr marL="358775" lvl="0" indent="-358775">
              <a:spcBef>
                <a:spcPts val="400"/>
              </a:spcBef>
              <a:buSzPts val="2000"/>
              <a:buFont typeface="+mj-lt"/>
              <a:buAutoNum type="arabicPeriod" startAt="3"/>
            </a:pPr>
            <a:r>
              <a:rPr lang="en-IN" sz="2400" dirty="0">
                <a:solidFill>
                  <a:srgbClr val="007FA3"/>
                </a:solidFill>
              </a:rPr>
              <a:t>a. </a:t>
            </a:r>
            <a:r>
              <a:rPr lang="en-IN" sz="2400" dirty="0"/>
              <a:t>Managerial reports</a:t>
            </a:r>
          </a:p>
        </p:txBody>
      </p:sp>
    </p:spTree>
    <p:extLst>
      <p:ext uri="{BB962C8B-B14F-4D97-AF65-F5344CB8AC3E}">
        <p14:creationId xmlns:p14="http://schemas.microsoft.com/office/powerpoint/2010/main" val="145623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8465" y="167649"/>
            <a:ext cx="8229600" cy="1107996"/>
          </a:xfrm>
        </p:spPr>
        <p:txBody>
          <a:bodyPr anchor="ctr">
            <a:noAutofit/>
          </a:bodyPr>
          <a:lstStyle/>
          <a:p>
            <a:r>
              <a:rPr lang="en-IN" sz="3600" dirty="0">
                <a:latin typeface="+mj-lt"/>
              </a:rPr>
              <a:t>Order Goods (Materials/Supplies) or Services Processing Steps</a:t>
            </a:r>
          </a:p>
        </p:txBody>
      </p:sp>
      <p:sp>
        <p:nvSpPr>
          <p:cNvPr id="2" name="Content Placeholder 1"/>
          <p:cNvSpPr>
            <a:spLocks noGrp="1"/>
          </p:cNvSpPr>
          <p:nvPr>
            <p:ph idx="13"/>
          </p:nvPr>
        </p:nvSpPr>
        <p:spPr>
          <a:xfrm>
            <a:off x="477115" y="1481667"/>
            <a:ext cx="8229600" cy="1938992"/>
          </a:xfrm>
        </p:spPr>
        <p:txBody>
          <a:bodyPr>
            <a:noAutofit/>
          </a:bodyPr>
          <a:lstStyle/>
          <a:p>
            <a:pPr lvl="0">
              <a:spcBef>
                <a:spcPts val="0"/>
              </a:spcBef>
              <a:buSzPts val="2400"/>
            </a:pPr>
            <a:r>
              <a:rPr lang="en-IN" sz="2400" dirty="0"/>
              <a:t>Identify what, when, and how much to purchase</a:t>
            </a:r>
          </a:p>
          <a:p>
            <a:pPr lvl="1">
              <a:spcBef>
                <a:spcPts val="1200"/>
              </a:spcBef>
              <a:buSzPts val="2000"/>
            </a:pPr>
            <a:r>
              <a:rPr lang="en-IN" sz="2400" dirty="0"/>
              <a:t>Source document: </a:t>
            </a:r>
            <a:r>
              <a:rPr lang="en-IN" sz="2400" b="1" dirty="0"/>
              <a:t>purchase requisition</a:t>
            </a:r>
          </a:p>
          <a:p>
            <a:pPr>
              <a:spcBef>
                <a:spcPts val="1200"/>
              </a:spcBef>
              <a:buSzPts val="2000"/>
            </a:pPr>
            <a:r>
              <a:rPr lang="en-IN" sz="2400" dirty="0"/>
              <a:t>Get the price / availability / terms</a:t>
            </a:r>
          </a:p>
          <a:p>
            <a:pPr lvl="1">
              <a:spcBef>
                <a:spcPts val="1200"/>
              </a:spcBef>
              <a:buSzPts val="2000"/>
            </a:pPr>
            <a:r>
              <a:rPr lang="en-IN" sz="2400" dirty="0"/>
              <a:t>Source document: </a:t>
            </a:r>
            <a:r>
              <a:rPr lang="en-IN" sz="2400" b="1" dirty="0"/>
              <a:t>sales quote</a:t>
            </a:r>
            <a:endParaRPr lang="en-IN" sz="2400" dirty="0"/>
          </a:p>
          <a:p>
            <a:pPr lvl="0">
              <a:spcBef>
                <a:spcPts val="1200"/>
              </a:spcBef>
              <a:buSzPts val="2400"/>
            </a:pPr>
            <a:r>
              <a:rPr lang="en-IN" sz="2400" dirty="0"/>
              <a:t>Authorize the purchase</a:t>
            </a:r>
          </a:p>
          <a:p>
            <a:pPr lvl="1">
              <a:spcBef>
                <a:spcPts val="1200"/>
              </a:spcBef>
              <a:buSzPts val="2000"/>
            </a:pPr>
            <a:r>
              <a:rPr lang="en-IN" sz="2400" dirty="0"/>
              <a:t>Source document: </a:t>
            </a:r>
            <a:r>
              <a:rPr lang="en-IN" sz="2400" b="1" dirty="0"/>
              <a:t>purchase order</a:t>
            </a:r>
          </a:p>
        </p:txBody>
      </p:sp>
    </p:spTree>
    <p:extLst>
      <p:ext uri="{BB962C8B-B14F-4D97-AF65-F5344CB8AC3E}">
        <p14:creationId xmlns:p14="http://schemas.microsoft.com/office/powerpoint/2010/main" val="1257554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close-up of a document&#10;&#10;Description automatically generated">
            <a:extLst>
              <a:ext uri="{FF2B5EF4-FFF2-40B4-BE49-F238E27FC236}">
                <a16:creationId xmlns:a16="http://schemas.microsoft.com/office/drawing/2014/main" id="{60874310-A351-34A8-1388-148CADEAE9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0" y="410736"/>
            <a:ext cx="4805368" cy="6001494"/>
          </a:xfrm>
          <a:prstGeom prst="rect">
            <a:avLst/>
          </a:prstGeom>
        </p:spPr>
      </p:pic>
      <p:sp>
        <p:nvSpPr>
          <p:cNvPr id="11" name="Rectangle 10">
            <a:extLst>
              <a:ext uri="{FF2B5EF4-FFF2-40B4-BE49-F238E27FC236}">
                <a16:creationId xmlns:a16="http://schemas.microsoft.com/office/drawing/2014/main" id="{A7BB1CCF-2253-0151-BF7B-A2CB0AD9C29B}"/>
              </a:ext>
            </a:extLst>
          </p:cNvPr>
          <p:cNvSpPr/>
          <p:nvPr/>
        </p:nvSpPr>
        <p:spPr>
          <a:xfrm>
            <a:off x="3733800" y="0"/>
            <a:ext cx="539496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2"/>
                </a:solidFill>
              </a:rPr>
              <a:t>Purchase Requisition</a:t>
            </a:r>
          </a:p>
        </p:txBody>
      </p:sp>
      <p:sp>
        <p:nvSpPr>
          <p:cNvPr id="14" name="Rectangle 13">
            <a:extLst>
              <a:ext uri="{FF2B5EF4-FFF2-40B4-BE49-F238E27FC236}">
                <a16:creationId xmlns:a16="http://schemas.microsoft.com/office/drawing/2014/main" id="{1B31C15C-9B0B-98C3-A750-E5A04FFEF0D2}"/>
              </a:ext>
            </a:extLst>
          </p:cNvPr>
          <p:cNvSpPr/>
          <p:nvPr/>
        </p:nvSpPr>
        <p:spPr>
          <a:xfrm>
            <a:off x="457200" y="1524000"/>
            <a:ext cx="2743200" cy="28956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From: Production</a:t>
            </a:r>
          </a:p>
          <a:p>
            <a:pPr algn="ctr"/>
            <a:r>
              <a:rPr lang="en-US" sz="2000" dirty="0"/>
              <a:t>To: Purchasing</a:t>
            </a:r>
          </a:p>
          <a:p>
            <a:pPr algn="ctr"/>
            <a:endParaRPr lang="en-US" sz="2000" dirty="0"/>
          </a:p>
          <a:p>
            <a:pPr algn="ctr"/>
            <a:r>
              <a:rPr lang="en-US" sz="2000" dirty="0"/>
              <a:t>Key: explanation / justification for need</a:t>
            </a:r>
          </a:p>
        </p:txBody>
      </p:sp>
    </p:spTree>
    <p:extLst>
      <p:ext uri="{BB962C8B-B14F-4D97-AF65-F5344CB8AC3E}">
        <p14:creationId xmlns:p14="http://schemas.microsoft.com/office/powerpoint/2010/main" val="3240639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green and white document with text&#10;&#10;Description automatically generated">
            <a:extLst>
              <a:ext uri="{FF2B5EF4-FFF2-40B4-BE49-F238E27FC236}">
                <a16:creationId xmlns:a16="http://schemas.microsoft.com/office/drawing/2014/main" id="{2326A1A7-31DF-0004-46DB-D597E84FE6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7338" y="685800"/>
            <a:ext cx="6161902" cy="5181600"/>
          </a:xfrm>
          <a:prstGeom prst="rect">
            <a:avLst/>
          </a:prstGeom>
        </p:spPr>
      </p:pic>
      <p:sp>
        <p:nvSpPr>
          <p:cNvPr id="11" name="Rectangle 10">
            <a:extLst>
              <a:ext uri="{FF2B5EF4-FFF2-40B4-BE49-F238E27FC236}">
                <a16:creationId xmlns:a16="http://schemas.microsoft.com/office/drawing/2014/main" id="{A7BB1CCF-2253-0151-BF7B-A2CB0AD9C29B}"/>
              </a:ext>
            </a:extLst>
          </p:cNvPr>
          <p:cNvSpPr/>
          <p:nvPr/>
        </p:nvSpPr>
        <p:spPr>
          <a:xfrm>
            <a:off x="2552700" y="685800"/>
            <a:ext cx="61722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2"/>
                </a:solidFill>
              </a:rPr>
              <a:t>Sales Quote</a:t>
            </a:r>
          </a:p>
        </p:txBody>
      </p:sp>
      <p:sp>
        <p:nvSpPr>
          <p:cNvPr id="2" name="Rectangle 1">
            <a:extLst>
              <a:ext uri="{FF2B5EF4-FFF2-40B4-BE49-F238E27FC236}">
                <a16:creationId xmlns:a16="http://schemas.microsoft.com/office/drawing/2014/main" id="{7D05451B-13DF-2E9B-9AA3-C7E256C08E7D}"/>
              </a:ext>
            </a:extLst>
          </p:cNvPr>
          <p:cNvSpPr/>
          <p:nvPr/>
        </p:nvSpPr>
        <p:spPr>
          <a:xfrm>
            <a:off x="457200" y="1524000"/>
            <a:ext cx="2743200" cy="28956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From: Supplier</a:t>
            </a:r>
          </a:p>
          <a:p>
            <a:pPr algn="ctr"/>
            <a:r>
              <a:rPr lang="en-US" sz="2000" dirty="0"/>
              <a:t>To: Purchasing</a:t>
            </a:r>
          </a:p>
          <a:p>
            <a:pPr algn="ctr"/>
            <a:endParaRPr lang="en-US" sz="2000" dirty="0"/>
          </a:p>
          <a:p>
            <a:pPr algn="ctr"/>
            <a:r>
              <a:rPr lang="en-US" sz="2000" dirty="0"/>
              <a:t>Key: pricing, delivery, availability</a:t>
            </a:r>
          </a:p>
        </p:txBody>
      </p:sp>
    </p:spTree>
    <p:extLst>
      <p:ext uri="{BB962C8B-B14F-4D97-AF65-F5344CB8AC3E}">
        <p14:creationId xmlns:p14="http://schemas.microsoft.com/office/powerpoint/2010/main" val="2027424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form&#10;&#10;Description automatically generated">
            <a:extLst>
              <a:ext uri="{FF2B5EF4-FFF2-40B4-BE49-F238E27FC236}">
                <a16:creationId xmlns:a16="http://schemas.microsoft.com/office/drawing/2014/main" id="{4C6F037D-C9C4-CB61-FB33-AFAB5BECEE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497205"/>
            <a:ext cx="4626905" cy="5863590"/>
          </a:xfrm>
          <a:prstGeom prst="rect">
            <a:avLst/>
          </a:prstGeom>
        </p:spPr>
      </p:pic>
      <p:sp>
        <p:nvSpPr>
          <p:cNvPr id="11" name="Rectangle 10">
            <a:extLst>
              <a:ext uri="{FF2B5EF4-FFF2-40B4-BE49-F238E27FC236}">
                <a16:creationId xmlns:a16="http://schemas.microsoft.com/office/drawing/2014/main" id="{A7BB1CCF-2253-0151-BF7B-A2CB0AD9C29B}"/>
              </a:ext>
            </a:extLst>
          </p:cNvPr>
          <p:cNvSpPr/>
          <p:nvPr/>
        </p:nvSpPr>
        <p:spPr>
          <a:xfrm>
            <a:off x="457200" y="497205"/>
            <a:ext cx="3581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2"/>
                </a:solidFill>
              </a:rPr>
              <a:t>Purchase Order</a:t>
            </a:r>
          </a:p>
        </p:txBody>
      </p:sp>
      <p:sp>
        <p:nvSpPr>
          <p:cNvPr id="4" name="Rectangle 3">
            <a:extLst>
              <a:ext uri="{FF2B5EF4-FFF2-40B4-BE49-F238E27FC236}">
                <a16:creationId xmlns:a16="http://schemas.microsoft.com/office/drawing/2014/main" id="{CE83FA35-A4F1-869B-B19F-76BA38E67A88}"/>
              </a:ext>
            </a:extLst>
          </p:cNvPr>
          <p:cNvSpPr/>
          <p:nvPr/>
        </p:nvSpPr>
        <p:spPr>
          <a:xfrm>
            <a:off x="533400" y="1981200"/>
            <a:ext cx="2743200" cy="28956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From: Purchasing</a:t>
            </a:r>
          </a:p>
          <a:p>
            <a:pPr algn="ctr"/>
            <a:r>
              <a:rPr lang="en-US" sz="2000" dirty="0"/>
              <a:t>To: Supplier</a:t>
            </a:r>
          </a:p>
          <a:p>
            <a:pPr algn="ctr"/>
            <a:endParaRPr lang="en-US" sz="2000" dirty="0"/>
          </a:p>
          <a:p>
            <a:pPr algn="ctr"/>
            <a:r>
              <a:rPr lang="en-US" sz="2000" dirty="0"/>
              <a:t>Key: Promise to pay after delivery of item</a:t>
            </a:r>
          </a:p>
        </p:txBody>
      </p:sp>
    </p:spTree>
    <p:extLst>
      <p:ext uri="{BB962C8B-B14F-4D97-AF65-F5344CB8AC3E}">
        <p14:creationId xmlns:p14="http://schemas.microsoft.com/office/powerpoint/2010/main" val="340054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53750"/>
            <a:ext cx="8229600" cy="553998"/>
          </a:xfrm>
        </p:spPr>
        <p:txBody>
          <a:bodyPr anchor="ctr">
            <a:noAutofit/>
          </a:bodyPr>
          <a:lstStyle/>
          <a:p>
            <a:r>
              <a:rPr lang="en-IN" sz="3600" dirty="0">
                <a:latin typeface="+mj-lt"/>
              </a:rPr>
              <a:t>Ordering Goods/Services </a:t>
            </a:r>
            <a:r>
              <a:rPr lang="en-IN" sz="2800" dirty="0">
                <a:latin typeface="+mj-lt"/>
              </a:rPr>
              <a:t>(1 of 2)</a:t>
            </a:r>
            <a:endParaRPr lang="en-IN" sz="3600" dirty="0">
              <a:latin typeface="+mj-lt"/>
            </a:endParaRP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013178"/>
            <a:ext cx="3962400" cy="307777"/>
          </a:xfrm>
          <a:solidFill>
            <a:schemeClr val="bg2"/>
          </a:solidFill>
        </p:spPr>
        <p:txBody>
          <a:bodyPr>
            <a:noAutofit/>
          </a:bodyPr>
          <a:lstStyle/>
          <a:p>
            <a:pPr marL="0" indent="92075">
              <a:buNone/>
            </a:pPr>
            <a:r>
              <a:rPr lang="en-US"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436511"/>
            <a:ext cx="3962400" cy="1215717"/>
          </a:xfrm>
        </p:spPr>
        <p:txBody>
          <a:bodyPr>
            <a:noAutofit/>
          </a:bodyPr>
          <a:lstStyle/>
          <a:p>
            <a:pPr marL="342900" lvl="0" indent="-342900">
              <a:spcBef>
                <a:spcPts val="600"/>
              </a:spcBef>
              <a:buSzPts val="2000"/>
              <a:buFont typeface="Arial"/>
              <a:buAutoNum type="arabicPeriod"/>
            </a:pPr>
            <a:r>
              <a:rPr lang="en-IN" dirty="0"/>
              <a:t>Stockouts and excess inventory</a:t>
            </a:r>
          </a:p>
          <a:p>
            <a:pPr marL="342900" lvl="0" indent="-342900">
              <a:spcBef>
                <a:spcPts val="600"/>
              </a:spcBef>
              <a:buSzPts val="2000"/>
              <a:buFont typeface="Arial"/>
              <a:buAutoNum type="arabicPeriod"/>
            </a:pPr>
            <a:r>
              <a:rPr lang="en-IN" dirty="0"/>
              <a:t>Purchasing items not needed</a:t>
            </a:r>
          </a:p>
          <a:p>
            <a:pPr marL="342900" lvl="0" indent="-342900">
              <a:spcBef>
                <a:spcPts val="600"/>
              </a:spcBef>
              <a:buSzPts val="2000"/>
              <a:buFont typeface="Arial"/>
              <a:buAutoNum type="arabicPeriod"/>
            </a:pPr>
            <a:r>
              <a:rPr lang="en-IN" dirty="0"/>
              <a:t>Purchasing items at inflated prices</a:t>
            </a:r>
          </a:p>
          <a:p>
            <a:pPr marL="342900" lvl="0" indent="-342900">
              <a:spcBef>
                <a:spcPts val="600"/>
              </a:spcBef>
              <a:buSzPts val="2000"/>
              <a:buFont typeface="Arial"/>
              <a:buAutoNum type="arabicPeriod"/>
            </a:pPr>
            <a:r>
              <a:rPr lang="en-IN" dirty="0"/>
              <a:t>Purchasing goods of poor quality</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013416"/>
            <a:ext cx="3939540" cy="307777"/>
          </a:xfrm>
          <a:solidFill>
            <a:schemeClr val="bg2"/>
          </a:solidFill>
        </p:spPr>
        <p:txBody>
          <a:bodyPr>
            <a:noAutofit/>
          </a:bodyPr>
          <a:lstStyle/>
          <a:p>
            <a:pPr marL="0" indent="92075">
              <a:spcBef>
                <a:spcPts val="0"/>
              </a:spcBef>
              <a:buSzPts val="2400"/>
              <a:buNone/>
            </a:pPr>
            <a:r>
              <a:rPr lang="en-US"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440053"/>
            <a:ext cx="3939540" cy="4884547"/>
          </a:xfrm>
        </p:spPr>
        <p:txBody>
          <a:bodyPr>
            <a:noAutofit/>
          </a:bodyPr>
          <a:lstStyle/>
          <a:p>
            <a:pPr marL="293688" lvl="0" indent="-293688">
              <a:spcBef>
                <a:spcPts val="600"/>
              </a:spcBef>
              <a:buSzPts val="1600"/>
              <a:buFont typeface="+mj-lt"/>
              <a:buAutoNum type="arabicPeriod"/>
            </a:pPr>
            <a:r>
              <a:rPr lang="en-IN" dirty="0">
                <a:solidFill>
                  <a:srgbClr val="007FA3"/>
                </a:solidFill>
              </a:rPr>
              <a:t>a. </a:t>
            </a:r>
            <a:r>
              <a:rPr lang="en-IN" dirty="0"/>
              <a:t>Perpetual inventory system</a:t>
            </a:r>
          </a:p>
          <a:p>
            <a:pPr marL="171450" lvl="0" indent="111125">
              <a:spcBef>
                <a:spcPts val="600"/>
              </a:spcBef>
              <a:buSzPts val="1600"/>
              <a:buNone/>
            </a:pPr>
            <a:r>
              <a:rPr lang="en-IN" dirty="0">
                <a:solidFill>
                  <a:srgbClr val="007FA3"/>
                </a:solidFill>
              </a:rPr>
              <a:t>b. </a:t>
            </a:r>
            <a:r>
              <a:rPr lang="en-IN" dirty="0"/>
              <a:t>Bar-coding, </a:t>
            </a:r>
            <a:r>
              <a:rPr lang="en-IN" spc="-200" dirty="0"/>
              <a:t>R F I </a:t>
            </a:r>
            <a:r>
              <a:rPr lang="en-IN" dirty="0"/>
              <a:t>D</a:t>
            </a:r>
          </a:p>
          <a:p>
            <a:pPr marL="171450" lvl="0" indent="111125">
              <a:spcBef>
                <a:spcPts val="600"/>
              </a:spcBef>
              <a:buSzPts val="1600"/>
              <a:buNone/>
            </a:pPr>
            <a:r>
              <a:rPr lang="en-IN" dirty="0">
                <a:solidFill>
                  <a:srgbClr val="007FA3"/>
                </a:solidFill>
              </a:rPr>
              <a:t>c. </a:t>
            </a:r>
            <a:r>
              <a:rPr lang="en-IN" dirty="0"/>
              <a:t>Periodic physical counts</a:t>
            </a:r>
          </a:p>
          <a:p>
            <a:pPr marL="293688" lvl="0" indent="-293688">
              <a:spcBef>
                <a:spcPts val="600"/>
              </a:spcBef>
              <a:buSzPts val="1600"/>
              <a:buFont typeface="+mj-lt"/>
              <a:buAutoNum type="arabicPeriod" startAt="2"/>
            </a:pPr>
            <a:r>
              <a:rPr lang="en-IN" dirty="0">
                <a:solidFill>
                  <a:srgbClr val="007FA3"/>
                </a:solidFill>
              </a:rPr>
              <a:t>a. </a:t>
            </a:r>
            <a:r>
              <a:rPr lang="en-IN" dirty="0"/>
              <a:t>Perpetual inventory systems</a:t>
            </a:r>
          </a:p>
          <a:p>
            <a:pPr marL="511175" lvl="0" indent="-228600">
              <a:spcBef>
                <a:spcPts val="600"/>
              </a:spcBef>
              <a:buSzPts val="1600"/>
              <a:buNone/>
            </a:pPr>
            <a:r>
              <a:rPr lang="en-IN" dirty="0">
                <a:solidFill>
                  <a:srgbClr val="007FA3"/>
                </a:solidFill>
              </a:rPr>
              <a:t>b. </a:t>
            </a:r>
            <a:r>
              <a:rPr lang="en-IN" dirty="0"/>
              <a:t>Review and approval of purchase requisitions</a:t>
            </a:r>
          </a:p>
          <a:p>
            <a:pPr marL="171450" lvl="0" indent="111125">
              <a:spcBef>
                <a:spcPts val="600"/>
              </a:spcBef>
              <a:buSzPts val="1600"/>
              <a:buNone/>
            </a:pPr>
            <a:r>
              <a:rPr lang="en-IN" dirty="0">
                <a:solidFill>
                  <a:srgbClr val="007FA3"/>
                </a:solidFill>
              </a:rPr>
              <a:t>c. </a:t>
            </a:r>
            <a:r>
              <a:rPr lang="en-IN" dirty="0"/>
              <a:t>Centralized purchasing</a:t>
            </a:r>
          </a:p>
          <a:p>
            <a:pPr marL="293688" lvl="0" indent="-293688">
              <a:spcBef>
                <a:spcPts val="600"/>
              </a:spcBef>
              <a:buSzPts val="1600"/>
              <a:buFont typeface="+mj-lt"/>
              <a:buAutoNum type="arabicPeriod" startAt="3"/>
            </a:pPr>
            <a:r>
              <a:rPr lang="en-IN" dirty="0">
                <a:solidFill>
                  <a:srgbClr val="007FA3"/>
                </a:solidFill>
              </a:rPr>
              <a:t>a. </a:t>
            </a:r>
            <a:r>
              <a:rPr lang="en-IN" dirty="0"/>
              <a:t>Price lists</a:t>
            </a:r>
          </a:p>
          <a:p>
            <a:pPr marL="171450" lvl="0" indent="111125">
              <a:spcBef>
                <a:spcPts val="600"/>
              </a:spcBef>
              <a:buSzPts val="1600"/>
              <a:buNone/>
            </a:pPr>
            <a:r>
              <a:rPr lang="en-IN" dirty="0">
                <a:solidFill>
                  <a:srgbClr val="007FA3"/>
                </a:solidFill>
              </a:rPr>
              <a:t>b. </a:t>
            </a:r>
            <a:r>
              <a:rPr lang="en-IN" dirty="0"/>
              <a:t>Competitive bids</a:t>
            </a:r>
          </a:p>
          <a:p>
            <a:pPr marL="171450" lvl="0" indent="111125">
              <a:spcBef>
                <a:spcPts val="600"/>
              </a:spcBef>
              <a:buSzPts val="1600"/>
              <a:buNone/>
            </a:pPr>
            <a:r>
              <a:rPr lang="en-IN" dirty="0">
                <a:solidFill>
                  <a:srgbClr val="007FA3"/>
                </a:solidFill>
              </a:rPr>
              <a:t>c. </a:t>
            </a:r>
            <a:r>
              <a:rPr lang="en-IN" dirty="0"/>
              <a:t>Review purchase orders</a:t>
            </a:r>
          </a:p>
          <a:p>
            <a:pPr marL="293688" lvl="0" indent="-293688">
              <a:spcBef>
                <a:spcPts val="600"/>
              </a:spcBef>
              <a:buSzPts val="1600"/>
              <a:buFont typeface="+mj-lt"/>
              <a:buAutoNum type="arabicPeriod" startAt="4"/>
            </a:pPr>
            <a:r>
              <a:rPr lang="en-IN" dirty="0">
                <a:solidFill>
                  <a:srgbClr val="007FA3"/>
                </a:solidFill>
              </a:rPr>
              <a:t>a. </a:t>
            </a:r>
            <a:r>
              <a:rPr lang="en-IN" dirty="0"/>
              <a:t>Use approved suppliers</a:t>
            </a:r>
          </a:p>
          <a:p>
            <a:pPr marL="511175" lvl="0" indent="-228600">
              <a:spcBef>
                <a:spcPts val="600"/>
              </a:spcBef>
              <a:buSzPts val="1600"/>
              <a:buNone/>
            </a:pPr>
            <a:r>
              <a:rPr lang="en-IN" dirty="0">
                <a:solidFill>
                  <a:srgbClr val="007FA3"/>
                </a:solidFill>
              </a:rPr>
              <a:t>b.</a:t>
            </a:r>
            <a:r>
              <a:rPr lang="en-IN" baseline="0" dirty="0">
                <a:solidFill>
                  <a:srgbClr val="007FA3"/>
                </a:solidFill>
              </a:rPr>
              <a:t> </a:t>
            </a:r>
            <a:r>
              <a:rPr lang="en-IN" dirty="0"/>
              <a:t>Review and approve purchases from new suppliers</a:t>
            </a:r>
          </a:p>
          <a:p>
            <a:pPr marL="171450" lvl="0" indent="111125">
              <a:spcBef>
                <a:spcPts val="600"/>
              </a:spcBef>
              <a:buSzPts val="1600"/>
              <a:buNone/>
            </a:pPr>
            <a:r>
              <a:rPr lang="en-IN" dirty="0">
                <a:solidFill>
                  <a:srgbClr val="007FA3"/>
                </a:solidFill>
              </a:rPr>
              <a:t>c.</a:t>
            </a:r>
            <a:r>
              <a:rPr lang="en-IN" baseline="0" dirty="0">
                <a:solidFill>
                  <a:srgbClr val="007FA3"/>
                </a:solidFill>
              </a:rPr>
              <a:t> </a:t>
            </a:r>
            <a:r>
              <a:rPr lang="en-IN" dirty="0"/>
              <a:t>Monitor product quality by supplier</a:t>
            </a:r>
          </a:p>
          <a:p>
            <a:pPr marL="511175" lvl="0" indent="-228600">
              <a:spcBef>
                <a:spcPts val="600"/>
              </a:spcBef>
              <a:buSzPts val="1600"/>
              <a:buNone/>
            </a:pPr>
            <a:r>
              <a:rPr lang="en-IN" dirty="0">
                <a:solidFill>
                  <a:srgbClr val="007FA3"/>
                </a:solidFill>
              </a:rPr>
              <a:t>d.</a:t>
            </a:r>
            <a:r>
              <a:rPr lang="en-IN" baseline="0" dirty="0">
                <a:solidFill>
                  <a:srgbClr val="007FA3"/>
                </a:solidFill>
              </a:rPr>
              <a:t> </a:t>
            </a:r>
            <a:r>
              <a:rPr lang="en-IN" dirty="0"/>
              <a:t>Hold purchasing managers responsible for rework and scrap cost</a:t>
            </a:r>
          </a:p>
        </p:txBody>
      </p:sp>
    </p:spTree>
    <p:extLst>
      <p:ext uri="{BB962C8B-B14F-4D97-AF65-F5344CB8AC3E}">
        <p14:creationId xmlns:p14="http://schemas.microsoft.com/office/powerpoint/2010/main" val="1927154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53750"/>
            <a:ext cx="8229600" cy="553998"/>
          </a:xfrm>
        </p:spPr>
        <p:txBody>
          <a:bodyPr anchor="ctr">
            <a:noAutofit/>
          </a:bodyPr>
          <a:lstStyle/>
          <a:p>
            <a:r>
              <a:rPr lang="en-IN" sz="3600" dirty="0">
                <a:latin typeface="+mj-lt"/>
              </a:rPr>
              <a:t>Ordering Goods/Services </a:t>
            </a:r>
            <a:r>
              <a:rPr lang="en-IN" sz="2800" dirty="0">
                <a:latin typeface="+mj-lt"/>
              </a:rPr>
              <a:t>(2 of 2)</a:t>
            </a:r>
            <a:endParaRPr lang="en-IN" sz="3600" dirty="0">
              <a:latin typeface="+mj-lt"/>
            </a:endParaRP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860778"/>
            <a:ext cx="3962400" cy="307777"/>
          </a:xfrm>
          <a:solidFill>
            <a:schemeClr val="bg2"/>
          </a:solidFill>
        </p:spPr>
        <p:txBody>
          <a:bodyPr>
            <a:noAutofit/>
          </a:bodyPr>
          <a:lstStyle/>
          <a:p>
            <a:pPr marL="0" indent="92075">
              <a:buNone/>
            </a:pPr>
            <a:r>
              <a:rPr lang="en-US" sz="2000"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284111"/>
            <a:ext cx="3962400" cy="1384995"/>
          </a:xfrm>
        </p:spPr>
        <p:txBody>
          <a:bodyPr>
            <a:noAutofit/>
          </a:bodyPr>
          <a:lstStyle/>
          <a:p>
            <a:pPr marL="342900" lvl="0" indent="-342900">
              <a:spcBef>
                <a:spcPts val="0"/>
              </a:spcBef>
              <a:buSzPts val="2000"/>
              <a:buFont typeface="Arial"/>
              <a:buAutoNum type="arabicPeriod" startAt="5"/>
            </a:pPr>
            <a:r>
              <a:rPr lang="en-IN" sz="2000" dirty="0"/>
              <a:t>Unreliable suppliers</a:t>
            </a:r>
          </a:p>
          <a:p>
            <a:pPr marL="342900" lvl="0" indent="-342900">
              <a:spcBef>
                <a:spcPts val="600"/>
              </a:spcBef>
              <a:buSzPts val="2000"/>
              <a:buFont typeface="Arial"/>
              <a:buAutoNum type="arabicPeriod" startAt="5"/>
            </a:pPr>
            <a:r>
              <a:rPr lang="en-IN" sz="2000" dirty="0"/>
              <a:t>Purchasing from unauthorized suppliers</a:t>
            </a:r>
          </a:p>
          <a:p>
            <a:pPr marL="342900" lvl="0" indent="-342900">
              <a:spcBef>
                <a:spcPts val="600"/>
              </a:spcBef>
              <a:buSzPts val="2000"/>
              <a:buFont typeface="Arial"/>
              <a:buAutoNum type="arabicPeriod" startAt="5"/>
            </a:pPr>
            <a:r>
              <a:rPr lang="en-IN" sz="2000" dirty="0"/>
              <a:t>Kickbacks</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861016"/>
            <a:ext cx="3939540" cy="307777"/>
          </a:xfrm>
          <a:solidFill>
            <a:schemeClr val="bg2"/>
          </a:solidFill>
        </p:spPr>
        <p:txBody>
          <a:bodyPr>
            <a:noAutofit/>
          </a:bodyPr>
          <a:lstStyle/>
          <a:p>
            <a:pPr marL="0" indent="92075">
              <a:spcBef>
                <a:spcPts val="0"/>
              </a:spcBef>
              <a:buSzPts val="2400"/>
              <a:buNone/>
            </a:pPr>
            <a:r>
              <a:rPr lang="en-US" sz="2000"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287653"/>
            <a:ext cx="3939540" cy="5036947"/>
          </a:xfrm>
        </p:spPr>
        <p:txBody>
          <a:bodyPr>
            <a:noAutofit/>
          </a:bodyPr>
          <a:lstStyle/>
          <a:p>
            <a:pPr marL="423863" lvl="0" indent="-423863">
              <a:spcBef>
                <a:spcPts val="0"/>
              </a:spcBef>
              <a:buSzPts val="1800"/>
              <a:buFont typeface="+mj-lt"/>
              <a:buAutoNum type="arabicPeriod" startAt="5"/>
              <a:tabLst>
                <a:tab pos="719138" algn="l"/>
              </a:tabLst>
            </a:pPr>
            <a:r>
              <a:rPr lang="en-IN" sz="2000" dirty="0">
                <a:solidFill>
                  <a:srgbClr val="007FA3"/>
                </a:solidFill>
              </a:rPr>
              <a:t>a.</a:t>
            </a:r>
            <a:r>
              <a:rPr lang="en-IN" sz="2000" baseline="0" dirty="0">
                <a:solidFill>
                  <a:srgbClr val="007FA3"/>
                </a:solidFill>
              </a:rPr>
              <a:t> </a:t>
            </a:r>
            <a:r>
              <a:rPr lang="en-IN" sz="2000" dirty="0"/>
              <a:t>Monitor supplier 	performance</a:t>
            </a:r>
          </a:p>
          <a:p>
            <a:pPr marL="696913" lvl="0" indent="-282575">
              <a:spcBef>
                <a:spcPts val="400"/>
              </a:spcBef>
              <a:buSzPts val="1800"/>
              <a:buNone/>
            </a:pPr>
            <a:r>
              <a:rPr lang="en-IN" sz="2000" dirty="0">
                <a:solidFill>
                  <a:srgbClr val="007FA3"/>
                </a:solidFill>
              </a:rPr>
              <a:t>b.</a:t>
            </a:r>
            <a:r>
              <a:rPr lang="en-IN" sz="2000" dirty="0"/>
              <a:t>	Require quality certification</a:t>
            </a:r>
          </a:p>
          <a:p>
            <a:pPr marL="423863" lvl="0" indent="-423863">
              <a:spcBef>
                <a:spcPts val="400"/>
              </a:spcBef>
              <a:buSzPts val="1800"/>
              <a:buFont typeface="+mj-lt"/>
              <a:buAutoNum type="arabicPeriod" startAt="6"/>
              <a:tabLst>
                <a:tab pos="708025" algn="l"/>
              </a:tabLst>
            </a:pPr>
            <a:r>
              <a:rPr lang="en-IN" sz="2000" dirty="0">
                <a:solidFill>
                  <a:srgbClr val="007FA3"/>
                </a:solidFill>
              </a:rPr>
              <a:t>a.</a:t>
            </a:r>
            <a:r>
              <a:rPr lang="en-IN" sz="2000" baseline="0" dirty="0">
                <a:solidFill>
                  <a:srgbClr val="007FA3"/>
                </a:solidFill>
              </a:rPr>
              <a:t> </a:t>
            </a:r>
            <a:r>
              <a:rPr lang="en-IN" sz="2000" dirty="0"/>
              <a:t>Purchase from approved 	suppliers</a:t>
            </a:r>
          </a:p>
          <a:p>
            <a:pPr marL="696913" lvl="0" indent="-282575">
              <a:spcBef>
                <a:spcPts val="400"/>
              </a:spcBef>
              <a:buSzPts val="1800"/>
              <a:buNone/>
            </a:pPr>
            <a:r>
              <a:rPr lang="en-IN" sz="2000" dirty="0">
                <a:solidFill>
                  <a:srgbClr val="007FA3"/>
                </a:solidFill>
              </a:rPr>
              <a:t>b. </a:t>
            </a:r>
            <a:r>
              <a:rPr lang="en-IN" sz="2000" dirty="0"/>
              <a:t>Review approval from purchases of new suppliers</a:t>
            </a:r>
          </a:p>
          <a:p>
            <a:pPr marL="674688" lvl="0" indent="-260350">
              <a:spcBef>
                <a:spcPts val="400"/>
              </a:spcBef>
              <a:buSzPts val="1800"/>
              <a:buNone/>
            </a:pPr>
            <a:r>
              <a:rPr lang="en-IN" sz="2000" dirty="0">
                <a:solidFill>
                  <a:srgbClr val="007FA3"/>
                </a:solidFill>
              </a:rPr>
              <a:t>c.</a:t>
            </a:r>
            <a:r>
              <a:rPr lang="en-IN" sz="2000" dirty="0"/>
              <a:t>	</a:t>
            </a:r>
            <a:r>
              <a:rPr lang="en-IN" sz="2000" spc="-250" dirty="0"/>
              <a:t>E D </a:t>
            </a:r>
            <a:r>
              <a:rPr lang="en-IN" sz="2000" dirty="0"/>
              <a:t>I specific controls</a:t>
            </a:r>
          </a:p>
          <a:p>
            <a:pPr marL="423863" lvl="0" indent="-423863">
              <a:spcBef>
                <a:spcPts val="400"/>
              </a:spcBef>
              <a:buSzPts val="1800"/>
              <a:buFont typeface="+mj-lt"/>
              <a:buAutoNum type="arabicPeriod" startAt="7"/>
              <a:tabLst>
                <a:tab pos="674688" algn="l"/>
              </a:tabLst>
            </a:pPr>
            <a:r>
              <a:rPr lang="en-IN" sz="2000" dirty="0">
                <a:solidFill>
                  <a:srgbClr val="007FA3"/>
                </a:solidFill>
              </a:rPr>
              <a:t>a.</a:t>
            </a:r>
            <a:r>
              <a:rPr lang="en-IN" sz="2000" dirty="0"/>
              <a:t>	Supplier audits</a:t>
            </a:r>
          </a:p>
          <a:p>
            <a:pPr marL="696913" lvl="0" indent="-282575">
              <a:spcBef>
                <a:spcPts val="400"/>
              </a:spcBef>
              <a:buSzPts val="1800"/>
              <a:buNone/>
            </a:pPr>
            <a:r>
              <a:rPr lang="en-IN" sz="2000" dirty="0">
                <a:solidFill>
                  <a:srgbClr val="007FA3"/>
                </a:solidFill>
              </a:rPr>
              <a:t>b.</a:t>
            </a:r>
            <a:r>
              <a:rPr lang="en-IN" sz="2000" dirty="0"/>
              <a:t>	Prohibit gifts</a:t>
            </a:r>
          </a:p>
          <a:p>
            <a:pPr marL="696913" lvl="0" indent="-282575">
              <a:spcBef>
                <a:spcPts val="400"/>
              </a:spcBef>
              <a:buSzPts val="1800"/>
              <a:buNone/>
            </a:pPr>
            <a:r>
              <a:rPr lang="en-IN" sz="2000" dirty="0">
                <a:solidFill>
                  <a:srgbClr val="007FA3"/>
                </a:solidFill>
              </a:rPr>
              <a:t>c.</a:t>
            </a:r>
            <a:r>
              <a:rPr lang="en-IN" sz="2000" dirty="0"/>
              <a:t>	Job rotation &amp; mandatory vacations</a:t>
            </a:r>
          </a:p>
          <a:p>
            <a:pPr marL="674688" lvl="0" indent="-260350">
              <a:spcBef>
                <a:spcPts val="400"/>
              </a:spcBef>
              <a:buSzPts val="1800"/>
              <a:buNone/>
            </a:pPr>
            <a:r>
              <a:rPr lang="en-IN" sz="2000" dirty="0">
                <a:solidFill>
                  <a:srgbClr val="007FA3"/>
                </a:solidFill>
              </a:rPr>
              <a:t>d.</a:t>
            </a:r>
            <a:r>
              <a:rPr lang="en-IN" sz="2000" dirty="0"/>
              <a:t>	Required disclosure of financial and personal interests in suppliers</a:t>
            </a:r>
          </a:p>
        </p:txBody>
      </p:sp>
    </p:spTree>
    <p:extLst>
      <p:ext uri="{BB962C8B-B14F-4D97-AF65-F5344CB8AC3E}">
        <p14:creationId xmlns:p14="http://schemas.microsoft.com/office/powerpoint/2010/main" val="4164127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7176" y="152277"/>
            <a:ext cx="8229600" cy="553998"/>
          </a:xfrm>
        </p:spPr>
        <p:txBody>
          <a:bodyPr anchor="ctr">
            <a:noAutofit/>
          </a:bodyPr>
          <a:lstStyle/>
          <a:p>
            <a:r>
              <a:rPr lang="en-IN" sz="3600" dirty="0">
                <a:latin typeface="+mj-lt"/>
              </a:rPr>
              <a:t>Receiving Process</a:t>
            </a:r>
          </a:p>
        </p:txBody>
      </p:sp>
      <p:sp>
        <p:nvSpPr>
          <p:cNvPr id="2" name="Content Placeholder 1"/>
          <p:cNvSpPr>
            <a:spLocks noGrp="1"/>
          </p:cNvSpPr>
          <p:nvPr>
            <p:ph idx="13"/>
          </p:nvPr>
        </p:nvSpPr>
        <p:spPr>
          <a:xfrm>
            <a:off x="477115" y="1010355"/>
            <a:ext cx="8229600" cy="1708160"/>
          </a:xfrm>
        </p:spPr>
        <p:txBody>
          <a:bodyPr>
            <a:noAutofit/>
          </a:bodyPr>
          <a:lstStyle/>
          <a:p>
            <a:pPr lvl="0">
              <a:spcBef>
                <a:spcPts val="0"/>
              </a:spcBef>
              <a:buSzPts val="2400"/>
            </a:pPr>
            <a:r>
              <a:rPr lang="en-IN" sz="2400" dirty="0"/>
              <a:t>Goods arrive </a:t>
            </a:r>
          </a:p>
          <a:p>
            <a:pPr lvl="1">
              <a:spcBef>
                <a:spcPts val="900"/>
              </a:spcBef>
              <a:buSzPts val="2000"/>
            </a:pPr>
            <a:r>
              <a:rPr lang="en-IN" sz="2400" dirty="0"/>
              <a:t>Verify goods ordered against the purchase order (what, how much, quality)</a:t>
            </a:r>
          </a:p>
          <a:p>
            <a:pPr lvl="1">
              <a:spcBef>
                <a:spcPts val="900"/>
              </a:spcBef>
              <a:buSzPts val="2000"/>
            </a:pPr>
            <a:r>
              <a:rPr lang="en-IN" sz="2400" dirty="0"/>
              <a:t>Source document: </a:t>
            </a:r>
            <a:r>
              <a:rPr lang="en-IN" sz="2400" b="1" dirty="0"/>
              <a:t>receiving report</a:t>
            </a:r>
          </a:p>
          <a:p>
            <a:pPr lvl="1">
              <a:spcBef>
                <a:spcPts val="900"/>
              </a:spcBef>
              <a:buSzPts val="2000"/>
            </a:pPr>
            <a:r>
              <a:rPr lang="en-IN" sz="2400" dirty="0"/>
              <a:t>Source document: </a:t>
            </a:r>
            <a:r>
              <a:rPr lang="en-IN" sz="2400" b="1" dirty="0"/>
              <a:t>bill of lading</a:t>
            </a:r>
          </a:p>
        </p:txBody>
      </p:sp>
    </p:spTree>
    <p:extLst>
      <p:ext uri="{BB962C8B-B14F-4D97-AF65-F5344CB8AC3E}">
        <p14:creationId xmlns:p14="http://schemas.microsoft.com/office/powerpoint/2010/main" val="276153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8014D1-3245-FF67-4F18-D392AA0C3828}"/>
              </a:ext>
            </a:extLst>
          </p:cNvPr>
          <p:cNvSpPr/>
          <p:nvPr/>
        </p:nvSpPr>
        <p:spPr>
          <a:xfrm>
            <a:off x="457200" y="457200"/>
            <a:ext cx="3581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2"/>
                </a:solidFill>
              </a:rPr>
              <a:t>Bill of Lading</a:t>
            </a:r>
          </a:p>
        </p:txBody>
      </p:sp>
      <p:sp>
        <p:nvSpPr>
          <p:cNvPr id="12" name="Rectangle 11">
            <a:extLst>
              <a:ext uri="{FF2B5EF4-FFF2-40B4-BE49-F238E27FC236}">
                <a16:creationId xmlns:a16="http://schemas.microsoft.com/office/drawing/2014/main" id="{A3064721-FBEF-0994-E7B5-BA49E6E63B68}"/>
              </a:ext>
            </a:extLst>
          </p:cNvPr>
          <p:cNvSpPr/>
          <p:nvPr/>
        </p:nvSpPr>
        <p:spPr>
          <a:xfrm>
            <a:off x="533400" y="1981200"/>
            <a:ext cx="2743200" cy="28956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From: Supplier</a:t>
            </a:r>
          </a:p>
          <a:p>
            <a:pPr algn="ctr"/>
            <a:r>
              <a:rPr lang="en-US" sz="2000" dirty="0"/>
              <a:t>To: Receiving</a:t>
            </a:r>
          </a:p>
          <a:p>
            <a:pPr algn="ctr"/>
            <a:endParaRPr lang="en-US" sz="2000" dirty="0"/>
          </a:p>
          <a:p>
            <a:pPr algn="ctr"/>
            <a:r>
              <a:rPr lang="en-US" sz="2000" dirty="0"/>
              <a:t>Key: What is supposed to be on the truck?</a:t>
            </a:r>
          </a:p>
        </p:txBody>
      </p:sp>
      <p:pic>
        <p:nvPicPr>
          <p:cNvPr id="16" name="Picture 15">
            <a:extLst>
              <a:ext uri="{FF2B5EF4-FFF2-40B4-BE49-F238E27FC236}">
                <a16:creationId xmlns:a16="http://schemas.microsoft.com/office/drawing/2014/main" id="{AAEAABFA-3DD9-FAE0-5CC7-912A339B81C1}"/>
              </a:ext>
            </a:extLst>
          </p:cNvPr>
          <p:cNvPicPr>
            <a:picLocks noChangeAspect="1"/>
          </p:cNvPicPr>
          <p:nvPr/>
        </p:nvPicPr>
        <p:blipFill>
          <a:blip r:embed="rId3"/>
          <a:stretch>
            <a:fillRect/>
          </a:stretch>
        </p:blipFill>
        <p:spPr>
          <a:xfrm>
            <a:off x="4038600" y="476250"/>
            <a:ext cx="4511425" cy="5456627"/>
          </a:xfrm>
          <a:prstGeom prst="rect">
            <a:avLst/>
          </a:prstGeom>
        </p:spPr>
      </p:pic>
    </p:spTree>
    <p:extLst>
      <p:ext uri="{BB962C8B-B14F-4D97-AF65-F5344CB8AC3E}">
        <p14:creationId xmlns:p14="http://schemas.microsoft.com/office/powerpoint/2010/main" val="1161427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receipt of goods&#10;&#10;Description automatically generated with medium confidence">
            <a:extLst>
              <a:ext uri="{FF2B5EF4-FFF2-40B4-BE49-F238E27FC236}">
                <a16:creationId xmlns:a16="http://schemas.microsoft.com/office/drawing/2014/main" id="{CFD295BE-281A-4504-9387-7C26B6048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8600" y="1371600"/>
            <a:ext cx="4486275" cy="3495675"/>
          </a:xfrm>
          <a:prstGeom prst="rect">
            <a:avLst/>
          </a:prstGeom>
        </p:spPr>
      </p:pic>
      <p:sp>
        <p:nvSpPr>
          <p:cNvPr id="11" name="Rectangle 10">
            <a:extLst>
              <a:ext uri="{FF2B5EF4-FFF2-40B4-BE49-F238E27FC236}">
                <a16:creationId xmlns:a16="http://schemas.microsoft.com/office/drawing/2014/main" id="{4A8014D1-3245-FF67-4F18-D392AA0C3828}"/>
              </a:ext>
            </a:extLst>
          </p:cNvPr>
          <p:cNvSpPr/>
          <p:nvPr/>
        </p:nvSpPr>
        <p:spPr>
          <a:xfrm>
            <a:off x="457200" y="497205"/>
            <a:ext cx="3581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2"/>
                </a:solidFill>
              </a:rPr>
              <a:t>Receiving Report</a:t>
            </a:r>
          </a:p>
        </p:txBody>
      </p:sp>
      <p:sp>
        <p:nvSpPr>
          <p:cNvPr id="12" name="Rectangle 11">
            <a:extLst>
              <a:ext uri="{FF2B5EF4-FFF2-40B4-BE49-F238E27FC236}">
                <a16:creationId xmlns:a16="http://schemas.microsoft.com/office/drawing/2014/main" id="{A3064721-FBEF-0994-E7B5-BA49E6E63B68}"/>
              </a:ext>
            </a:extLst>
          </p:cNvPr>
          <p:cNvSpPr/>
          <p:nvPr/>
        </p:nvSpPr>
        <p:spPr>
          <a:xfrm>
            <a:off x="533400" y="1981200"/>
            <a:ext cx="2743200" cy="28956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From: Receiving</a:t>
            </a:r>
          </a:p>
          <a:p>
            <a:pPr algn="ctr"/>
            <a:r>
              <a:rPr lang="en-US" sz="2000" dirty="0"/>
              <a:t>To: Purchasing</a:t>
            </a:r>
          </a:p>
          <a:p>
            <a:pPr algn="ctr"/>
            <a:endParaRPr lang="en-US" sz="2000" dirty="0"/>
          </a:p>
          <a:p>
            <a:pPr algn="ctr"/>
            <a:r>
              <a:rPr lang="en-US" sz="2000" dirty="0"/>
              <a:t>Key: What did we actually receive?</a:t>
            </a:r>
          </a:p>
        </p:txBody>
      </p:sp>
    </p:spTree>
    <p:extLst>
      <p:ext uri="{BB962C8B-B14F-4D97-AF65-F5344CB8AC3E}">
        <p14:creationId xmlns:p14="http://schemas.microsoft.com/office/powerpoint/2010/main" val="3691788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53750"/>
            <a:ext cx="8229600" cy="553998"/>
          </a:xfrm>
        </p:spPr>
        <p:txBody>
          <a:bodyPr anchor="ctr">
            <a:noAutofit/>
          </a:bodyPr>
          <a:lstStyle/>
          <a:p>
            <a:r>
              <a:rPr lang="en-IN" sz="3600" dirty="0">
                <a:latin typeface="+mj-lt"/>
              </a:rPr>
              <a:t>Receiving Goods or Services</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013178"/>
            <a:ext cx="3962400" cy="307777"/>
          </a:xfrm>
          <a:solidFill>
            <a:schemeClr val="bg2"/>
          </a:solidFill>
        </p:spPr>
        <p:txBody>
          <a:bodyPr>
            <a:noAutofit/>
          </a:bodyPr>
          <a:lstStyle/>
          <a:p>
            <a:pPr marL="0" indent="92075">
              <a:buNone/>
            </a:pPr>
            <a:r>
              <a:rPr lang="en-US" sz="2000"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349022"/>
            <a:ext cx="3962400" cy="1461939"/>
          </a:xfrm>
        </p:spPr>
        <p:txBody>
          <a:bodyPr>
            <a:noAutofit/>
          </a:bodyPr>
          <a:lstStyle/>
          <a:p>
            <a:pPr marL="342900" lvl="0" indent="-342900">
              <a:spcBef>
                <a:spcPts val="0"/>
              </a:spcBef>
              <a:buSzPts val="2000"/>
              <a:buFont typeface="Arial"/>
              <a:buAutoNum type="arabicPeriod"/>
            </a:pPr>
            <a:r>
              <a:rPr lang="en-IN" sz="2000" dirty="0"/>
              <a:t>Accepting unordered items</a:t>
            </a:r>
          </a:p>
          <a:p>
            <a:pPr marL="342900" lvl="0" indent="-342900">
              <a:spcBef>
                <a:spcPts val="600"/>
              </a:spcBef>
              <a:buSzPts val="2000"/>
              <a:buFont typeface="Arial"/>
              <a:buAutoNum type="arabicPeriod"/>
            </a:pPr>
            <a:r>
              <a:rPr lang="en-IN" sz="2000" dirty="0"/>
              <a:t>Mistakes in counting</a:t>
            </a:r>
          </a:p>
          <a:p>
            <a:pPr marL="342900" lvl="0" indent="-342900">
              <a:spcBef>
                <a:spcPts val="600"/>
              </a:spcBef>
              <a:buSzPts val="2000"/>
              <a:buFont typeface="Arial"/>
              <a:buAutoNum type="arabicPeriod"/>
            </a:pPr>
            <a:r>
              <a:rPr lang="en-IN" sz="2000" dirty="0"/>
              <a:t>Verifying receipt of services</a:t>
            </a:r>
          </a:p>
          <a:p>
            <a:pPr marL="342900" lvl="0" indent="-342900">
              <a:spcBef>
                <a:spcPts val="600"/>
              </a:spcBef>
              <a:buSzPts val="2000"/>
              <a:buFont typeface="Arial"/>
              <a:buAutoNum type="arabicPeriod"/>
            </a:pPr>
            <a:r>
              <a:rPr lang="en-IN" sz="2000" dirty="0"/>
              <a:t>Inventory theft</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013416"/>
            <a:ext cx="3939540" cy="307777"/>
          </a:xfrm>
          <a:solidFill>
            <a:schemeClr val="bg2"/>
          </a:solidFill>
        </p:spPr>
        <p:txBody>
          <a:bodyPr>
            <a:noAutofit/>
          </a:bodyPr>
          <a:lstStyle/>
          <a:p>
            <a:pPr marL="0" indent="92075">
              <a:spcBef>
                <a:spcPts val="0"/>
              </a:spcBef>
              <a:buSzPts val="2400"/>
              <a:buNone/>
            </a:pPr>
            <a:r>
              <a:rPr lang="en-US" sz="2000"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352564"/>
            <a:ext cx="3939540" cy="4975721"/>
          </a:xfrm>
        </p:spPr>
        <p:txBody>
          <a:bodyPr>
            <a:noAutofit/>
          </a:bodyPr>
          <a:lstStyle/>
          <a:p>
            <a:pPr marL="347663" lvl="0" indent="-347663">
              <a:spcBef>
                <a:spcPts val="0"/>
              </a:spcBef>
              <a:buSzPts val="1900"/>
              <a:buFont typeface="+mj-lt"/>
              <a:buAutoNum type="arabicPeriod"/>
              <a:tabLst>
                <a:tab pos="728663" algn="l"/>
              </a:tabLst>
            </a:pPr>
            <a:r>
              <a:rPr lang="en-IN" sz="2000" dirty="0">
                <a:solidFill>
                  <a:srgbClr val="007FA3"/>
                </a:solidFill>
              </a:rPr>
              <a:t>a.	</a:t>
            </a:r>
            <a:r>
              <a:rPr lang="en-IN" sz="2000" dirty="0"/>
              <a:t>Authorized purchase orders 	needed before receiving 	goods</a:t>
            </a:r>
          </a:p>
          <a:p>
            <a:pPr marL="347663" lvl="0" indent="-347663">
              <a:spcBef>
                <a:spcPts val="400"/>
              </a:spcBef>
              <a:buSzPts val="1900"/>
              <a:buFont typeface="+mj-lt"/>
              <a:buAutoNum type="arabicPeriod"/>
              <a:tabLst>
                <a:tab pos="728663" algn="l"/>
              </a:tabLst>
            </a:pPr>
            <a:r>
              <a:rPr lang="en-IN" sz="2000" dirty="0">
                <a:solidFill>
                  <a:srgbClr val="007FA3"/>
                </a:solidFill>
              </a:rPr>
              <a:t>a.</a:t>
            </a:r>
            <a:r>
              <a:rPr lang="en-IN" sz="2000" dirty="0"/>
              <a:t>	Bar codes or </a:t>
            </a:r>
            <a:r>
              <a:rPr lang="en-IN" sz="2000" spc="-250" dirty="0"/>
              <a:t>R F I </a:t>
            </a:r>
            <a:r>
              <a:rPr lang="en-IN" sz="2000" dirty="0"/>
              <a:t>D</a:t>
            </a:r>
          </a:p>
          <a:p>
            <a:pPr marL="728663" lvl="0" indent="-369888">
              <a:spcBef>
                <a:spcPts val="400"/>
              </a:spcBef>
              <a:buSzPts val="1900"/>
              <a:buNone/>
            </a:pPr>
            <a:r>
              <a:rPr lang="en-IN" sz="2000" dirty="0">
                <a:solidFill>
                  <a:srgbClr val="007FA3"/>
                </a:solidFill>
              </a:rPr>
              <a:t>b.</a:t>
            </a:r>
            <a:r>
              <a:rPr lang="en-IN" sz="2000" dirty="0"/>
              <a:t>	Receiving employees sign receiving report</a:t>
            </a:r>
          </a:p>
          <a:p>
            <a:pPr marL="719138" lvl="0" indent="-360363">
              <a:spcBef>
                <a:spcPts val="400"/>
              </a:spcBef>
              <a:buSzPts val="1900"/>
              <a:buNone/>
            </a:pPr>
            <a:r>
              <a:rPr lang="en-IN" sz="2000" dirty="0">
                <a:solidFill>
                  <a:srgbClr val="007FA3"/>
                </a:solidFill>
              </a:rPr>
              <a:t>c.</a:t>
            </a:r>
            <a:r>
              <a:rPr lang="en-IN" sz="2000" dirty="0"/>
              <a:t>	Do not inform receiving of quantity ordered</a:t>
            </a:r>
          </a:p>
          <a:p>
            <a:pPr marL="347663" lvl="0" indent="-347663">
              <a:spcBef>
                <a:spcPts val="400"/>
              </a:spcBef>
              <a:buSzPts val="1900"/>
              <a:buFont typeface="+mj-lt"/>
              <a:buAutoNum type="arabicPeriod" startAt="3"/>
              <a:tabLst>
                <a:tab pos="728663" algn="l"/>
              </a:tabLst>
            </a:pPr>
            <a:r>
              <a:rPr lang="en-IN" sz="2000" dirty="0">
                <a:solidFill>
                  <a:srgbClr val="007FA3"/>
                </a:solidFill>
              </a:rPr>
              <a:t>a.	</a:t>
            </a:r>
            <a:r>
              <a:rPr lang="en-IN" sz="2000" dirty="0"/>
              <a:t>Budget controls and audits</a:t>
            </a:r>
          </a:p>
          <a:p>
            <a:pPr marL="347663" lvl="0" indent="-347663">
              <a:spcBef>
                <a:spcPts val="400"/>
              </a:spcBef>
              <a:buSzPts val="1900"/>
              <a:buFont typeface="+mj-lt"/>
              <a:buAutoNum type="arabicPeriod" startAt="3"/>
              <a:tabLst>
                <a:tab pos="728663" algn="l"/>
              </a:tabLst>
            </a:pPr>
            <a:r>
              <a:rPr lang="en-IN" sz="2000" dirty="0">
                <a:solidFill>
                  <a:srgbClr val="007FA3"/>
                </a:solidFill>
              </a:rPr>
              <a:t>a.</a:t>
            </a:r>
            <a:r>
              <a:rPr lang="en-IN" sz="2000" dirty="0"/>
              <a:t>	Restrict physical access to 	inventory</a:t>
            </a:r>
          </a:p>
          <a:p>
            <a:pPr marL="719138" lvl="0" indent="-360363">
              <a:spcBef>
                <a:spcPts val="400"/>
              </a:spcBef>
              <a:buSzPts val="1900"/>
              <a:buNone/>
            </a:pPr>
            <a:r>
              <a:rPr lang="en-IN" sz="2000" dirty="0">
                <a:solidFill>
                  <a:srgbClr val="007FA3"/>
                </a:solidFill>
              </a:rPr>
              <a:t>b.</a:t>
            </a:r>
            <a:r>
              <a:rPr lang="en-IN" sz="2000" dirty="0"/>
              <a:t>	Document all inventory transfers</a:t>
            </a:r>
          </a:p>
          <a:p>
            <a:pPr marL="719138" lvl="0" indent="-360363">
              <a:spcBef>
                <a:spcPts val="400"/>
              </a:spcBef>
              <a:buSzPts val="1900"/>
              <a:buNone/>
            </a:pPr>
            <a:r>
              <a:rPr lang="en-IN" sz="2000" dirty="0">
                <a:solidFill>
                  <a:srgbClr val="007FA3"/>
                </a:solidFill>
              </a:rPr>
              <a:t>c.	</a:t>
            </a:r>
            <a:r>
              <a:rPr lang="en-IN" sz="2000" dirty="0"/>
              <a:t>Segregate custody vs. receiving of inventory</a:t>
            </a:r>
          </a:p>
        </p:txBody>
      </p:sp>
    </p:spTree>
    <p:extLst>
      <p:ext uri="{BB962C8B-B14F-4D97-AF65-F5344CB8AC3E}">
        <p14:creationId xmlns:p14="http://schemas.microsoft.com/office/powerpoint/2010/main" val="2507422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52400"/>
            <a:ext cx="8229600" cy="1097280"/>
          </a:xfrm>
        </p:spPr>
        <p:txBody>
          <a:bodyPr anchor="ctr">
            <a:noAutofit/>
          </a:bodyPr>
          <a:lstStyle/>
          <a:p>
            <a:r>
              <a:rPr lang="en-IN" sz="3600" dirty="0">
                <a:latin typeface="+mj-lt"/>
              </a:rPr>
              <a:t>Approve Supplier Invoice and Cash Disbursements</a:t>
            </a:r>
          </a:p>
        </p:txBody>
      </p:sp>
      <p:sp>
        <p:nvSpPr>
          <p:cNvPr id="2" name="Content Placeholder 1"/>
          <p:cNvSpPr>
            <a:spLocks noGrp="1"/>
          </p:cNvSpPr>
          <p:nvPr>
            <p:ph idx="1"/>
          </p:nvPr>
        </p:nvSpPr>
        <p:spPr>
          <a:xfrm>
            <a:off x="471311" y="1478844"/>
            <a:ext cx="8229600" cy="1015663"/>
          </a:xfrm>
        </p:spPr>
        <p:txBody>
          <a:bodyPr>
            <a:noAutofit/>
          </a:bodyPr>
          <a:lstStyle/>
          <a:p>
            <a:pPr lvl="0">
              <a:spcBef>
                <a:spcPts val="0"/>
              </a:spcBef>
              <a:buSzPts val="2400"/>
            </a:pPr>
            <a:r>
              <a:rPr lang="en-IN" sz="2200" dirty="0"/>
              <a:t>Match the supplier invoice to:</a:t>
            </a:r>
          </a:p>
          <a:p>
            <a:pPr lvl="1">
              <a:spcBef>
                <a:spcPts val="0"/>
              </a:spcBef>
              <a:buSzPts val="2400"/>
            </a:pPr>
            <a:r>
              <a:rPr lang="en-IN" sz="2200" dirty="0"/>
              <a:t>Purchase order</a:t>
            </a:r>
          </a:p>
          <a:p>
            <a:pPr lvl="1">
              <a:spcBef>
                <a:spcPts val="0"/>
              </a:spcBef>
              <a:buSzPts val="2400"/>
            </a:pPr>
            <a:r>
              <a:rPr lang="en-IN" sz="2200" dirty="0"/>
              <a:t>Receiving report</a:t>
            </a:r>
          </a:p>
        </p:txBody>
      </p:sp>
      <p:sp>
        <p:nvSpPr>
          <p:cNvPr id="5" name="Content Placeholder 4">
            <a:extLst>
              <a:ext uri="{FF2B5EF4-FFF2-40B4-BE49-F238E27FC236}">
                <a16:creationId xmlns:a16="http://schemas.microsoft.com/office/drawing/2014/main" id="{56633FA8-5F45-4903-ABD9-AC0A1C15FB06}"/>
              </a:ext>
            </a:extLst>
          </p:cNvPr>
          <p:cNvSpPr>
            <a:spLocks noGrp="1"/>
          </p:cNvSpPr>
          <p:nvPr>
            <p:ph sz="quarter" idx="14"/>
          </p:nvPr>
        </p:nvSpPr>
        <p:spPr>
          <a:xfrm>
            <a:off x="468489" y="2579511"/>
            <a:ext cx="8229600" cy="338554"/>
          </a:xfrm>
        </p:spPr>
        <p:txBody>
          <a:bodyPr>
            <a:noAutofit/>
          </a:bodyPr>
          <a:lstStyle/>
          <a:p>
            <a:pPr marL="90488" indent="90488">
              <a:buNone/>
            </a:pPr>
            <a:r>
              <a:rPr lang="en-IN" sz="2200" dirty="0"/>
              <a:t>supplier invoice + purchase order + receiving report = voucher</a:t>
            </a:r>
          </a:p>
        </p:txBody>
      </p:sp>
      <p:sp>
        <p:nvSpPr>
          <p:cNvPr id="4" name="Content Placeholder 3">
            <a:extLst>
              <a:ext uri="{FF2B5EF4-FFF2-40B4-BE49-F238E27FC236}">
                <a16:creationId xmlns:a16="http://schemas.microsoft.com/office/drawing/2014/main" id="{4C28B322-ECA4-4B24-AE22-5F018AF0AC11}"/>
              </a:ext>
            </a:extLst>
          </p:cNvPr>
          <p:cNvSpPr>
            <a:spLocks noGrp="1"/>
          </p:cNvSpPr>
          <p:nvPr>
            <p:ph idx="13"/>
          </p:nvPr>
        </p:nvSpPr>
        <p:spPr>
          <a:xfrm>
            <a:off x="468489" y="3002844"/>
            <a:ext cx="8229600" cy="1492956"/>
          </a:xfrm>
        </p:spPr>
        <p:txBody>
          <a:bodyPr>
            <a:noAutofit/>
          </a:bodyPr>
          <a:lstStyle/>
          <a:p>
            <a:pPr lvl="0">
              <a:spcBef>
                <a:spcPts val="600"/>
              </a:spcBef>
              <a:buSzPts val="2400"/>
            </a:pPr>
            <a:r>
              <a:rPr lang="en-IN" sz="2000" dirty="0"/>
              <a:t>Approve supplier invoice for payment </a:t>
            </a:r>
          </a:p>
          <a:p>
            <a:pPr lvl="0">
              <a:spcBef>
                <a:spcPts val="600"/>
              </a:spcBef>
              <a:buSzPts val="2400"/>
            </a:pPr>
            <a:r>
              <a:rPr lang="en-IN" sz="2000" dirty="0"/>
              <a:t>Source document: </a:t>
            </a:r>
          </a:p>
          <a:p>
            <a:pPr lvl="1">
              <a:buSzPts val="2400"/>
            </a:pPr>
            <a:r>
              <a:rPr lang="en-IN" sz="2000" dirty="0"/>
              <a:t>disbursement voucher</a:t>
            </a:r>
          </a:p>
          <a:p>
            <a:pPr lvl="0">
              <a:spcBef>
                <a:spcPts val="600"/>
              </a:spcBef>
              <a:buSzPts val="2400"/>
            </a:pPr>
            <a:r>
              <a:rPr lang="en-IN" sz="2000" dirty="0"/>
              <a:t>Pay vendor</a:t>
            </a:r>
          </a:p>
        </p:txBody>
      </p:sp>
    </p:spTree>
    <p:extLst>
      <p:ext uri="{BB962C8B-B14F-4D97-AF65-F5344CB8AC3E}">
        <p14:creationId xmlns:p14="http://schemas.microsoft.com/office/powerpoint/2010/main" val="2943547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BB0191-6C9A-DE6C-07E4-A7F35CCC391C}"/>
              </a:ext>
            </a:extLst>
          </p:cNvPr>
          <p:cNvSpPr/>
          <p:nvPr/>
        </p:nvSpPr>
        <p:spPr>
          <a:xfrm>
            <a:off x="457200" y="497205"/>
            <a:ext cx="3581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2"/>
                </a:solidFill>
              </a:rPr>
              <a:t>Invoice</a:t>
            </a:r>
          </a:p>
        </p:txBody>
      </p:sp>
      <p:sp>
        <p:nvSpPr>
          <p:cNvPr id="7" name="Rectangle 6">
            <a:extLst>
              <a:ext uri="{FF2B5EF4-FFF2-40B4-BE49-F238E27FC236}">
                <a16:creationId xmlns:a16="http://schemas.microsoft.com/office/drawing/2014/main" id="{C7E6A5FA-C7F6-D8A5-0DEB-CFBEACC8E606}"/>
              </a:ext>
            </a:extLst>
          </p:cNvPr>
          <p:cNvSpPr/>
          <p:nvPr/>
        </p:nvSpPr>
        <p:spPr>
          <a:xfrm>
            <a:off x="533400" y="1981200"/>
            <a:ext cx="2743200" cy="28956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From: Supplier</a:t>
            </a:r>
          </a:p>
          <a:p>
            <a:pPr algn="ctr"/>
            <a:r>
              <a:rPr lang="en-US" sz="2000" dirty="0"/>
              <a:t>To: Purchasing</a:t>
            </a:r>
          </a:p>
          <a:p>
            <a:pPr algn="ctr"/>
            <a:endParaRPr lang="en-US" sz="2000" dirty="0"/>
          </a:p>
          <a:p>
            <a:pPr algn="ctr"/>
            <a:r>
              <a:rPr lang="en-US" sz="2000" dirty="0"/>
              <a:t>Key: Please pay us</a:t>
            </a:r>
          </a:p>
        </p:txBody>
      </p:sp>
      <p:pic>
        <p:nvPicPr>
          <p:cNvPr id="9" name="Picture 8" descr="A close-up of a receipt&#10;&#10;Description automatically generated">
            <a:extLst>
              <a:ext uri="{FF2B5EF4-FFF2-40B4-BE49-F238E27FC236}">
                <a16:creationId xmlns:a16="http://schemas.microsoft.com/office/drawing/2014/main" id="{CD0A1DB2-2513-4D6A-B58F-4B373C340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4206" y="188595"/>
            <a:ext cx="4752594" cy="6172200"/>
          </a:xfrm>
          <a:prstGeom prst="rect">
            <a:avLst/>
          </a:prstGeom>
        </p:spPr>
      </p:pic>
    </p:spTree>
    <p:extLst>
      <p:ext uri="{BB962C8B-B14F-4D97-AF65-F5344CB8AC3E}">
        <p14:creationId xmlns:p14="http://schemas.microsoft.com/office/powerpoint/2010/main" val="524034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9EBF12-8C17-70C0-9768-7B2E58D8B435}"/>
              </a:ext>
            </a:extLst>
          </p:cNvPr>
          <p:cNvPicPr>
            <a:picLocks noChangeAspect="1"/>
          </p:cNvPicPr>
          <p:nvPr/>
        </p:nvPicPr>
        <p:blipFill>
          <a:blip r:embed="rId3"/>
          <a:stretch>
            <a:fillRect/>
          </a:stretch>
        </p:blipFill>
        <p:spPr>
          <a:xfrm>
            <a:off x="3962400" y="0"/>
            <a:ext cx="4898571" cy="6858000"/>
          </a:xfrm>
          <a:prstGeom prst="rect">
            <a:avLst/>
          </a:prstGeom>
        </p:spPr>
      </p:pic>
      <p:sp>
        <p:nvSpPr>
          <p:cNvPr id="4" name="Rectangle 3">
            <a:extLst>
              <a:ext uri="{FF2B5EF4-FFF2-40B4-BE49-F238E27FC236}">
                <a16:creationId xmlns:a16="http://schemas.microsoft.com/office/drawing/2014/main" id="{8D9874D4-442C-F309-F5F8-DD658331ABDE}"/>
              </a:ext>
            </a:extLst>
          </p:cNvPr>
          <p:cNvSpPr/>
          <p:nvPr/>
        </p:nvSpPr>
        <p:spPr>
          <a:xfrm>
            <a:off x="457200" y="497205"/>
            <a:ext cx="27432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2"/>
                </a:solidFill>
              </a:rPr>
              <a:t>Voucher</a:t>
            </a:r>
          </a:p>
        </p:txBody>
      </p:sp>
      <p:sp>
        <p:nvSpPr>
          <p:cNvPr id="5" name="Rectangle 4">
            <a:extLst>
              <a:ext uri="{FF2B5EF4-FFF2-40B4-BE49-F238E27FC236}">
                <a16:creationId xmlns:a16="http://schemas.microsoft.com/office/drawing/2014/main" id="{23A83ADB-C736-CFEA-181C-82734AC9FDB1}"/>
              </a:ext>
            </a:extLst>
          </p:cNvPr>
          <p:cNvSpPr/>
          <p:nvPr/>
        </p:nvSpPr>
        <p:spPr>
          <a:xfrm>
            <a:off x="533400" y="1981200"/>
            <a:ext cx="2743200" cy="28956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From: Purchasing</a:t>
            </a:r>
          </a:p>
          <a:p>
            <a:pPr algn="ctr"/>
            <a:r>
              <a:rPr lang="en-US" sz="2000" dirty="0"/>
              <a:t>To: CFO  and AP</a:t>
            </a:r>
          </a:p>
          <a:p>
            <a:pPr algn="ctr"/>
            <a:endParaRPr lang="en-US" sz="2000" dirty="0"/>
          </a:p>
          <a:p>
            <a:pPr algn="ctr"/>
            <a:r>
              <a:rPr lang="en-US" sz="2000" dirty="0"/>
              <a:t>Key: Send a check</a:t>
            </a:r>
          </a:p>
        </p:txBody>
      </p:sp>
    </p:spTree>
    <p:extLst>
      <p:ext uri="{BB962C8B-B14F-4D97-AF65-F5344CB8AC3E}">
        <p14:creationId xmlns:p14="http://schemas.microsoft.com/office/powerpoint/2010/main" val="717868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D9874D4-442C-F309-F5F8-DD658331ABDE}"/>
              </a:ext>
            </a:extLst>
          </p:cNvPr>
          <p:cNvSpPr/>
          <p:nvPr/>
        </p:nvSpPr>
        <p:spPr>
          <a:xfrm>
            <a:off x="457200" y="497205"/>
            <a:ext cx="27432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2"/>
                </a:solidFill>
              </a:rPr>
              <a:t>Remittance</a:t>
            </a:r>
          </a:p>
        </p:txBody>
      </p:sp>
      <p:sp>
        <p:nvSpPr>
          <p:cNvPr id="5" name="Rectangle 4">
            <a:extLst>
              <a:ext uri="{FF2B5EF4-FFF2-40B4-BE49-F238E27FC236}">
                <a16:creationId xmlns:a16="http://schemas.microsoft.com/office/drawing/2014/main" id="{23A83ADB-C736-CFEA-181C-82734AC9FDB1}"/>
              </a:ext>
            </a:extLst>
          </p:cNvPr>
          <p:cNvSpPr/>
          <p:nvPr/>
        </p:nvSpPr>
        <p:spPr>
          <a:xfrm>
            <a:off x="533400" y="1981200"/>
            <a:ext cx="2743200" cy="28956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From: AP</a:t>
            </a:r>
          </a:p>
          <a:p>
            <a:pPr algn="ctr"/>
            <a:r>
              <a:rPr lang="en-US" sz="2000" dirty="0"/>
              <a:t>To: Supplier</a:t>
            </a:r>
          </a:p>
          <a:p>
            <a:pPr algn="ctr"/>
            <a:endParaRPr lang="en-US" sz="2000" dirty="0"/>
          </a:p>
          <a:p>
            <a:pPr algn="ctr"/>
            <a:r>
              <a:rPr lang="en-US" sz="2000" dirty="0"/>
              <a:t>Key: Apply this payment to these invoices</a:t>
            </a:r>
          </a:p>
        </p:txBody>
      </p:sp>
      <p:pic>
        <p:nvPicPr>
          <p:cNvPr id="8" name="Picture 7" descr="A close-up of a receipt&#10;&#10;Description automatically generated">
            <a:extLst>
              <a:ext uri="{FF2B5EF4-FFF2-40B4-BE49-F238E27FC236}">
                <a16:creationId xmlns:a16="http://schemas.microsoft.com/office/drawing/2014/main" id="{00318F6A-3572-8817-28A3-F1A99F6BBA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1320403"/>
            <a:ext cx="5314566" cy="3093244"/>
          </a:xfrm>
          <a:prstGeom prst="rect">
            <a:avLst/>
          </a:prstGeom>
        </p:spPr>
      </p:pic>
    </p:spTree>
    <p:extLst>
      <p:ext uri="{BB962C8B-B14F-4D97-AF65-F5344CB8AC3E}">
        <p14:creationId xmlns:p14="http://schemas.microsoft.com/office/powerpoint/2010/main" val="3685185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5E3AEBF5-D553-CC51-856E-40F64DB5E420}"/>
              </a:ext>
            </a:extLst>
          </p:cNvPr>
          <p:cNvGraphicFramePr/>
          <p:nvPr>
            <p:extLst>
              <p:ext uri="{D42A27DB-BD31-4B8C-83A1-F6EECF244321}">
                <p14:modId xmlns:p14="http://schemas.microsoft.com/office/powerpoint/2010/main" val="2026905600"/>
              </p:ext>
            </p:extLst>
          </p:nvPr>
        </p:nvGraphicFramePr>
        <p:xfrm>
          <a:off x="381000" y="609600"/>
          <a:ext cx="85344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047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53750"/>
            <a:ext cx="8229600" cy="553998"/>
          </a:xfrm>
        </p:spPr>
        <p:txBody>
          <a:bodyPr anchor="ctr">
            <a:noAutofit/>
          </a:bodyPr>
          <a:lstStyle/>
          <a:p>
            <a:r>
              <a:rPr lang="en-IN" sz="3600" dirty="0">
                <a:latin typeface="+mj-lt"/>
              </a:rPr>
              <a:t>Approve Supplier Invoice</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013178"/>
            <a:ext cx="3962400" cy="369332"/>
          </a:xfrm>
          <a:solidFill>
            <a:schemeClr val="bg2"/>
          </a:solidFill>
        </p:spPr>
        <p:txBody>
          <a:bodyPr>
            <a:noAutofit/>
          </a:bodyPr>
          <a:lstStyle/>
          <a:p>
            <a:pPr marL="0" indent="92075">
              <a:buNone/>
            </a:pPr>
            <a:r>
              <a:rPr lang="en-US" sz="2400"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436511"/>
            <a:ext cx="3962400" cy="1215717"/>
          </a:xfrm>
        </p:spPr>
        <p:txBody>
          <a:bodyPr>
            <a:noAutofit/>
          </a:bodyPr>
          <a:lstStyle/>
          <a:p>
            <a:pPr marL="342900" lvl="0" indent="-342900">
              <a:spcBef>
                <a:spcPts val="0"/>
              </a:spcBef>
              <a:buSzPts val="2000"/>
              <a:buFont typeface="Arial"/>
              <a:buAutoNum type="arabicPeriod"/>
            </a:pPr>
            <a:r>
              <a:rPr lang="en-IN" sz="2400" dirty="0"/>
              <a:t>Errors in supplier invoice</a:t>
            </a:r>
          </a:p>
          <a:p>
            <a:pPr marL="342900" lvl="0" indent="-342900">
              <a:spcBef>
                <a:spcPts val="600"/>
              </a:spcBef>
              <a:buSzPts val="2000"/>
              <a:buFont typeface="Arial"/>
              <a:buAutoNum type="arabicPeriod"/>
            </a:pPr>
            <a:r>
              <a:rPr lang="en-IN" sz="2400" dirty="0"/>
              <a:t>Mistakes in posting to accounts payable</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013416"/>
            <a:ext cx="3939540" cy="369332"/>
          </a:xfrm>
          <a:solidFill>
            <a:schemeClr val="bg2"/>
          </a:solidFill>
        </p:spPr>
        <p:txBody>
          <a:bodyPr>
            <a:noAutofit/>
          </a:bodyPr>
          <a:lstStyle/>
          <a:p>
            <a:pPr marL="0" indent="92075">
              <a:spcBef>
                <a:spcPts val="0"/>
              </a:spcBef>
              <a:buSzPts val="2400"/>
              <a:buNone/>
            </a:pPr>
            <a:r>
              <a:rPr lang="en-US" sz="2400"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440053"/>
            <a:ext cx="3939540" cy="4655947"/>
          </a:xfrm>
        </p:spPr>
        <p:txBody>
          <a:bodyPr>
            <a:noAutofit/>
          </a:bodyPr>
          <a:lstStyle/>
          <a:p>
            <a:pPr marL="369888" lvl="0" indent="-369888">
              <a:spcBef>
                <a:spcPts val="0"/>
              </a:spcBef>
              <a:buSzPts val="2000"/>
              <a:buFont typeface="+mj-lt"/>
              <a:buAutoNum type="arabicPeriod"/>
              <a:tabLst>
                <a:tab pos="804863" algn="l"/>
              </a:tabLst>
            </a:pPr>
            <a:r>
              <a:rPr lang="en-IN" sz="2400" dirty="0">
                <a:solidFill>
                  <a:srgbClr val="007FA3"/>
                </a:solidFill>
              </a:rPr>
              <a:t>a.</a:t>
            </a:r>
            <a:r>
              <a:rPr lang="en-IN" sz="2400" dirty="0"/>
              <a:t>	Verify invoice accuracy</a:t>
            </a:r>
          </a:p>
          <a:p>
            <a:pPr marL="827088" lvl="0" indent="-457200">
              <a:spcBef>
                <a:spcPts val="400"/>
              </a:spcBef>
              <a:buSzPts val="2000"/>
              <a:buNone/>
              <a:tabLst>
                <a:tab pos="533400" algn="l"/>
              </a:tabLst>
            </a:pPr>
            <a:r>
              <a:rPr lang="en-IN" sz="2400" dirty="0">
                <a:solidFill>
                  <a:srgbClr val="007FA3"/>
                </a:solidFill>
              </a:rPr>
              <a:t>b.</a:t>
            </a:r>
            <a:r>
              <a:rPr lang="en-IN" sz="2400" dirty="0"/>
              <a:t>	Require detailed receipts for p-cards</a:t>
            </a:r>
          </a:p>
          <a:p>
            <a:pPr marL="827088" lvl="0" indent="-457200">
              <a:spcBef>
                <a:spcPts val="400"/>
              </a:spcBef>
              <a:buSzPts val="2000"/>
              <a:buNone/>
            </a:pPr>
            <a:r>
              <a:rPr lang="en-IN" sz="2400" dirty="0">
                <a:solidFill>
                  <a:srgbClr val="007FA3"/>
                </a:solidFill>
              </a:rPr>
              <a:t>c.</a:t>
            </a:r>
            <a:r>
              <a:rPr lang="en-IN" sz="2400" dirty="0"/>
              <a:t>	Restrict access to supplier master data</a:t>
            </a:r>
          </a:p>
          <a:p>
            <a:pPr marL="369888" lvl="0" indent="-369888">
              <a:spcBef>
                <a:spcPts val="400"/>
              </a:spcBef>
              <a:buSzPts val="2000"/>
              <a:buFont typeface="+mj-lt"/>
              <a:buAutoNum type="arabicPeriod" startAt="2"/>
            </a:pPr>
            <a:r>
              <a:rPr lang="en-IN" sz="2400" dirty="0">
                <a:solidFill>
                  <a:srgbClr val="007FA3"/>
                </a:solidFill>
              </a:rPr>
              <a:t>a.</a:t>
            </a:r>
            <a:r>
              <a:rPr lang="en-IN" sz="2400" dirty="0"/>
              <a:t>	Data entry edit 	controls</a:t>
            </a:r>
          </a:p>
          <a:p>
            <a:pPr marL="827088" lvl="0" indent="-457200">
              <a:spcBef>
                <a:spcPts val="400"/>
              </a:spcBef>
              <a:buSzPts val="2000"/>
              <a:buNone/>
            </a:pPr>
            <a:r>
              <a:rPr lang="en-IN" sz="2400" dirty="0">
                <a:solidFill>
                  <a:srgbClr val="007FA3"/>
                </a:solidFill>
              </a:rPr>
              <a:t>b.	</a:t>
            </a:r>
            <a:r>
              <a:rPr lang="en-IN" sz="2400" dirty="0"/>
              <a:t>Reconcile detailed accounts payable records to the general ledger accounts payable account</a:t>
            </a:r>
          </a:p>
        </p:txBody>
      </p:sp>
    </p:spTree>
    <p:extLst>
      <p:ext uri="{BB962C8B-B14F-4D97-AF65-F5344CB8AC3E}">
        <p14:creationId xmlns:p14="http://schemas.microsoft.com/office/powerpoint/2010/main" val="1033028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53750"/>
            <a:ext cx="8229600" cy="553998"/>
          </a:xfrm>
        </p:spPr>
        <p:txBody>
          <a:bodyPr anchor="ctr">
            <a:noAutofit/>
          </a:bodyPr>
          <a:lstStyle/>
          <a:p>
            <a:r>
              <a:rPr lang="en-IN" sz="3600" dirty="0">
                <a:latin typeface="+mj-lt"/>
              </a:rPr>
              <a:t>Cash Disbursements</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013178"/>
            <a:ext cx="3962400" cy="276999"/>
          </a:xfrm>
          <a:solidFill>
            <a:schemeClr val="bg2"/>
          </a:solidFill>
        </p:spPr>
        <p:txBody>
          <a:bodyPr>
            <a:noAutofit/>
          </a:bodyPr>
          <a:lstStyle/>
          <a:p>
            <a:pPr marL="0" indent="92075">
              <a:buNone/>
            </a:pPr>
            <a:r>
              <a:rPr lang="en-US" sz="1800"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360311"/>
            <a:ext cx="3962400" cy="2046714"/>
          </a:xfrm>
        </p:spPr>
        <p:txBody>
          <a:bodyPr>
            <a:noAutofit/>
          </a:bodyPr>
          <a:lstStyle/>
          <a:p>
            <a:pPr marL="342900" lvl="0" indent="-342900">
              <a:spcBef>
                <a:spcPts val="0"/>
              </a:spcBef>
              <a:buSzPts val="2000"/>
              <a:buFont typeface="Arial"/>
              <a:buAutoNum type="arabicPeriod"/>
            </a:pPr>
            <a:r>
              <a:rPr lang="en-IN" sz="1800" dirty="0"/>
              <a:t>Failure to take discounts</a:t>
            </a:r>
          </a:p>
          <a:p>
            <a:pPr marL="342900" lvl="0" indent="-342900">
              <a:spcBef>
                <a:spcPts val="600"/>
              </a:spcBef>
              <a:buSzPts val="2000"/>
              <a:buFont typeface="Arial"/>
              <a:buAutoNum type="arabicPeriod"/>
            </a:pPr>
            <a:r>
              <a:rPr lang="en-IN" sz="1800" dirty="0"/>
              <a:t>Pay for items not received</a:t>
            </a:r>
          </a:p>
          <a:p>
            <a:pPr marL="342900" lvl="0" indent="-342900">
              <a:spcBef>
                <a:spcPts val="600"/>
              </a:spcBef>
              <a:buSzPts val="2000"/>
              <a:buFont typeface="Arial"/>
              <a:buAutoNum type="arabicPeriod"/>
            </a:pPr>
            <a:r>
              <a:rPr lang="en-IN" sz="1800" dirty="0"/>
              <a:t>Duplicate payments</a:t>
            </a:r>
          </a:p>
          <a:p>
            <a:pPr marL="342900" lvl="0" indent="-342900">
              <a:spcBef>
                <a:spcPts val="600"/>
              </a:spcBef>
              <a:buSzPts val="2000"/>
              <a:buFont typeface="Arial"/>
              <a:buAutoNum type="arabicPeriod"/>
            </a:pPr>
            <a:r>
              <a:rPr lang="en-IN" sz="1800" dirty="0"/>
              <a:t>Theft of cash</a:t>
            </a:r>
          </a:p>
          <a:p>
            <a:pPr marL="342900" lvl="0" indent="-342900">
              <a:spcBef>
                <a:spcPts val="600"/>
              </a:spcBef>
              <a:buSzPts val="2000"/>
              <a:buFont typeface="Arial"/>
              <a:buAutoNum type="arabicPeriod"/>
            </a:pPr>
            <a:r>
              <a:rPr lang="en-IN" sz="1800" dirty="0"/>
              <a:t>Check alteration</a:t>
            </a:r>
          </a:p>
          <a:p>
            <a:pPr marL="342900" lvl="0" indent="-342900">
              <a:spcBef>
                <a:spcPts val="600"/>
              </a:spcBef>
              <a:buSzPts val="2000"/>
              <a:buFont typeface="Arial"/>
              <a:buAutoNum type="arabicPeriod"/>
            </a:pPr>
            <a:r>
              <a:rPr lang="en-IN" sz="1800" dirty="0"/>
              <a:t>Cash flow problems</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013416"/>
            <a:ext cx="3939540" cy="276999"/>
          </a:xfrm>
          <a:solidFill>
            <a:schemeClr val="bg2"/>
          </a:solidFill>
        </p:spPr>
        <p:txBody>
          <a:bodyPr>
            <a:noAutofit/>
          </a:bodyPr>
          <a:lstStyle/>
          <a:p>
            <a:pPr marL="0" indent="92075">
              <a:spcBef>
                <a:spcPts val="0"/>
              </a:spcBef>
              <a:buSzPts val="2400"/>
              <a:buNone/>
            </a:pPr>
            <a:r>
              <a:rPr lang="en-US" sz="1800"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363853"/>
            <a:ext cx="3939540" cy="4570482"/>
          </a:xfrm>
        </p:spPr>
        <p:txBody>
          <a:bodyPr>
            <a:noAutofit/>
          </a:bodyPr>
          <a:lstStyle/>
          <a:p>
            <a:pPr marL="271463" lvl="0" indent="-271463">
              <a:spcBef>
                <a:spcPts val="0"/>
              </a:spcBef>
              <a:buSzPts val="1600"/>
              <a:buFont typeface="+mj-lt"/>
              <a:buAutoNum type="arabicPeriod"/>
              <a:tabLst>
                <a:tab pos="522288" algn="l"/>
              </a:tabLst>
            </a:pPr>
            <a:r>
              <a:rPr lang="en-IN" sz="1800" dirty="0">
                <a:solidFill>
                  <a:srgbClr val="007FA3"/>
                </a:solidFill>
              </a:rPr>
              <a:t>a. </a:t>
            </a:r>
            <a:r>
              <a:rPr lang="en-IN" sz="1800" dirty="0"/>
              <a:t>File invoices by due date to take 	advantage of discounts</a:t>
            </a:r>
          </a:p>
          <a:p>
            <a:pPr marL="271463" lvl="0" indent="-271463">
              <a:spcBef>
                <a:spcPts val="600"/>
              </a:spcBef>
              <a:buSzPts val="1600"/>
              <a:buFont typeface="+mj-lt"/>
              <a:buAutoNum type="arabicPeriod"/>
              <a:tabLst>
                <a:tab pos="522288" algn="l"/>
              </a:tabLst>
            </a:pPr>
            <a:r>
              <a:rPr lang="en-IN" sz="1800" dirty="0">
                <a:solidFill>
                  <a:srgbClr val="007FA3"/>
                </a:solidFill>
              </a:rPr>
              <a:t>a. </a:t>
            </a:r>
            <a:r>
              <a:rPr lang="en-IN" sz="1800" dirty="0"/>
              <a:t>Match supplier invoice to 	supporting documents (purchase 	order, receiving report)</a:t>
            </a:r>
          </a:p>
          <a:p>
            <a:pPr marL="271463" lvl="0" indent="-271463">
              <a:spcBef>
                <a:spcPts val="600"/>
              </a:spcBef>
              <a:buSzPts val="1600"/>
              <a:buFont typeface="+mj-lt"/>
              <a:buAutoNum type="arabicPeriod"/>
            </a:pPr>
            <a:r>
              <a:rPr lang="en-IN" sz="1800" dirty="0">
                <a:solidFill>
                  <a:srgbClr val="007FA3"/>
                </a:solidFill>
              </a:rPr>
              <a:t>a. </a:t>
            </a:r>
            <a:r>
              <a:rPr lang="en-IN" sz="1800" dirty="0"/>
              <a:t>Pay only original invoices</a:t>
            </a:r>
          </a:p>
          <a:p>
            <a:pPr marL="171450" lvl="0" indent="111125">
              <a:spcBef>
                <a:spcPts val="600"/>
              </a:spcBef>
              <a:buSzPts val="1600"/>
              <a:buNone/>
              <a:tabLst>
                <a:tab pos="522288" algn="l"/>
              </a:tabLst>
            </a:pPr>
            <a:r>
              <a:rPr lang="en-IN" sz="1800" dirty="0">
                <a:solidFill>
                  <a:srgbClr val="007FA3"/>
                </a:solidFill>
              </a:rPr>
              <a:t>b. </a:t>
            </a:r>
            <a:r>
              <a:rPr lang="en-IN" sz="1800" dirty="0"/>
              <a:t>Cancel supporting document 	when payment is made</a:t>
            </a:r>
          </a:p>
          <a:p>
            <a:pPr marL="271463" lvl="0" indent="-271463">
              <a:spcBef>
                <a:spcPts val="600"/>
              </a:spcBef>
              <a:buSzPts val="1600"/>
              <a:buFont typeface="+mj-lt"/>
              <a:buAutoNum type="arabicPeriod" startAt="4"/>
            </a:pPr>
            <a:r>
              <a:rPr lang="en-IN" sz="1800" dirty="0">
                <a:solidFill>
                  <a:srgbClr val="007FA3"/>
                </a:solidFill>
              </a:rPr>
              <a:t>a. </a:t>
            </a:r>
            <a:r>
              <a:rPr lang="en-IN" sz="1800" dirty="0"/>
              <a:t>Physical security of checks</a:t>
            </a:r>
          </a:p>
          <a:p>
            <a:pPr marL="171450" lvl="0" indent="111125">
              <a:spcBef>
                <a:spcPts val="600"/>
              </a:spcBef>
              <a:buSzPts val="1600"/>
              <a:buNone/>
            </a:pPr>
            <a:r>
              <a:rPr lang="en-IN" sz="1800" dirty="0">
                <a:solidFill>
                  <a:srgbClr val="007FA3"/>
                </a:solidFill>
              </a:rPr>
              <a:t>b.</a:t>
            </a:r>
            <a:r>
              <a:rPr lang="en-IN" sz="1800" dirty="0"/>
              <a:t> Separation of duties</a:t>
            </a:r>
          </a:p>
          <a:p>
            <a:pPr marL="171450" lvl="0" indent="111125">
              <a:spcBef>
                <a:spcPts val="600"/>
              </a:spcBef>
              <a:buSzPts val="1600"/>
              <a:buNone/>
            </a:pPr>
            <a:r>
              <a:rPr lang="en-IN" sz="1800" dirty="0">
                <a:solidFill>
                  <a:srgbClr val="007FA3"/>
                </a:solidFill>
              </a:rPr>
              <a:t>c.</a:t>
            </a:r>
            <a:r>
              <a:rPr lang="en-IN" sz="1800" dirty="0"/>
              <a:t> Reconcile bank accounts</a:t>
            </a:r>
          </a:p>
          <a:p>
            <a:pPr marL="271463" lvl="0" indent="-271463">
              <a:spcBef>
                <a:spcPts val="600"/>
              </a:spcBef>
              <a:buSzPts val="1600"/>
              <a:buFont typeface="+mj-lt"/>
              <a:buAutoNum type="arabicPeriod" startAt="5"/>
            </a:pPr>
            <a:r>
              <a:rPr lang="en-IN" sz="1800" dirty="0">
                <a:solidFill>
                  <a:srgbClr val="007FA3"/>
                </a:solidFill>
              </a:rPr>
              <a:t>a.</a:t>
            </a:r>
            <a:r>
              <a:rPr lang="en-IN" sz="1800" dirty="0"/>
              <a:t> Check protection machines</a:t>
            </a:r>
          </a:p>
          <a:p>
            <a:pPr marL="171450" lvl="0" indent="111125">
              <a:spcBef>
                <a:spcPts val="600"/>
              </a:spcBef>
              <a:buSzPts val="1600"/>
              <a:buNone/>
              <a:tabLst>
                <a:tab pos="522288" algn="l"/>
              </a:tabLst>
            </a:pPr>
            <a:r>
              <a:rPr lang="en-IN" sz="1800" dirty="0">
                <a:solidFill>
                  <a:srgbClr val="007FA3"/>
                </a:solidFill>
              </a:rPr>
              <a:t>b. </a:t>
            </a:r>
            <a:r>
              <a:rPr lang="en-IN" sz="1800" dirty="0"/>
              <a:t>Special inks / papers</a:t>
            </a:r>
          </a:p>
          <a:p>
            <a:pPr marL="271463" lvl="0" indent="-271463">
              <a:spcBef>
                <a:spcPts val="600"/>
              </a:spcBef>
              <a:buSzPts val="1600"/>
              <a:buFont typeface="+mj-lt"/>
              <a:buAutoNum type="arabicPeriod" startAt="6"/>
            </a:pPr>
            <a:r>
              <a:rPr lang="en-IN" sz="1800" dirty="0">
                <a:solidFill>
                  <a:srgbClr val="007FA3"/>
                </a:solidFill>
              </a:rPr>
              <a:t>a.</a:t>
            </a:r>
            <a:r>
              <a:rPr lang="en-IN" sz="1800" dirty="0"/>
              <a:t> Cash flow budget</a:t>
            </a:r>
          </a:p>
        </p:txBody>
      </p:sp>
    </p:spTree>
    <p:extLst>
      <p:ext uri="{BB962C8B-B14F-4D97-AF65-F5344CB8AC3E}">
        <p14:creationId xmlns:p14="http://schemas.microsoft.com/office/powerpoint/2010/main" val="2385538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94077"/>
            <a:ext cx="8229600" cy="689038"/>
          </a:xfrm>
        </p:spPr>
        <p:txBody>
          <a:bodyPr anchor="ctr">
            <a:noAutofit/>
          </a:bodyPr>
          <a:lstStyle/>
          <a:p>
            <a:r>
              <a:rPr lang="en-IN" sz="3600" dirty="0">
                <a:latin typeface="+mj-lt"/>
              </a:rPr>
              <a:t>Key Terms</a:t>
            </a:r>
          </a:p>
        </p:txBody>
      </p:sp>
      <p:sp>
        <p:nvSpPr>
          <p:cNvPr id="2" name="Content Placeholder 1"/>
          <p:cNvSpPr>
            <a:spLocks noGrp="1"/>
          </p:cNvSpPr>
          <p:nvPr>
            <p:ph idx="1"/>
          </p:nvPr>
        </p:nvSpPr>
        <p:spPr>
          <a:xfrm>
            <a:off x="468922" y="1000648"/>
            <a:ext cx="3950678" cy="4193456"/>
          </a:xfrm>
        </p:spPr>
        <p:txBody>
          <a:bodyPr wrap="square">
            <a:noAutofit/>
          </a:bodyPr>
          <a:lstStyle/>
          <a:p>
            <a:pPr lvl="0">
              <a:spcBef>
                <a:spcPts val="0"/>
              </a:spcBef>
              <a:buSzPct val="100000"/>
            </a:pPr>
            <a:r>
              <a:rPr lang="en-US" sz="2000" dirty="0"/>
              <a:t>Expenditure cycle</a:t>
            </a:r>
          </a:p>
          <a:p>
            <a:pPr lvl="0">
              <a:spcBef>
                <a:spcPts val="900"/>
              </a:spcBef>
              <a:buSzPct val="100000"/>
            </a:pPr>
            <a:r>
              <a:rPr lang="en-US" sz="2000" dirty="0"/>
              <a:t>Economic order quantity (</a:t>
            </a:r>
            <a:r>
              <a:rPr lang="en-US" sz="2000" spc="-250" dirty="0"/>
              <a:t>E O </a:t>
            </a:r>
            <a:r>
              <a:rPr lang="en-US" sz="2000" dirty="0"/>
              <a:t>Q)</a:t>
            </a:r>
          </a:p>
          <a:p>
            <a:pPr lvl="0">
              <a:spcBef>
                <a:spcPts val="900"/>
              </a:spcBef>
              <a:buSzPct val="100000"/>
            </a:pPr>
            <a:r>
              <a:rPr lang="en-US" sz="2000" dirty="0"/>
              <a:t>Reorder point</a:t>
            </a:r>
          </a:p>
          <a:p>
            <a:pPr lvl="0">
              <a:spcBef>
                <a:spcPts val="900"/>
              </a:spcBef>
              <a:buSzPct val="100000"/>
            </a:pPr>
            <a:r>
              <a:rPr lang="en-US" sz="2000" dirty="0"/>
              <a:t>Materials requirement planning (</a:t>
            </a:r>
            <a:r>
              <a:rPr lang="en-US" sz="2000" spc="-250" dirty="0"/>
              <a:t>M R </a:t>
            </a:r>
            <a:r>
              <a:rPr lang="en-US" sz="2000" dirty="0"/>
              <a:t>P)</a:t>
            </a:r>
          </a:p>
          <a:p>
            <a:pPr lvl="0">
              <a:spcBef>
                <a:spcPts val="900"/>
              </a:spcBef>
              <a:buSzPct val="100000"/>
            </a:pPr>
            <a:r>
              <a:rPr lang="en-US" sz="2000" dirty="0"/>
              <a:t>Just-in-time (</a:t>
            </a:r>
            <a:r>
              <a:rPr lang="en-US" sz="2000" spc="-250" dirty="0"/>
              <a:t>J I </a:t>
            </a:r>
            <a:r>
              <a:rPr lang="en-US" sz="2000" dirty="0"/>
              <a:t>T) inventory system</a:t>
            </a:r>
          </a:p>
          <a:p>
            <a:pPr lvl="0">
              <a:spcBef>
                <a:spcPts val="900"/>
              </a:spcBef>
              <a:buSzPct val="100000"/>
            </a:pPr>
            <a:r>
              <a:rPr lang="en-US" sz="2000" dirty="0"/>
              <a:t>Purchase requisition</a:t>
            </a:r>
          </a:p>
          <a:p>
            <a:pPr lvl="0">
              <a:spcBef>
                <a:spcPts val="900"/>
              </a:spcBef>
              <a:buSzPct val="100000"/>
            </a:pPr>
            <a:r>
              <a:rPr lang="en-US" sz="2000" dirty="0"/>
              <a:t>Purchase order</a:t>
            </a:r>
          </a:p>
          <a:p>
            <a:pPr lvl="0">
              <a:spcBef>
                <a:spcPts val="900"/>
              </a:spcBef>
              <a:buSzPct val="100000"/>
            </a:pPr>
            <a:r>
              <a:rPr lang="en-US" sz="2000" dirty="0"/>
              <a:t>Blanket purchase order/blanket order</a:t>
            </a:r>
          </a:p>
        </p:txBody>
      </p:sp>
      <p:sp>
        <p:nvSpPr>
          <p:cNvPr id="3" name="Content Placeholder 2"/>
          <p:cNvSpPr>
            <a:spLocks noGrp="1"/>
          </p:cNvSpPr>
          <p:nvPr>
            <p:ph idx="13"/>
          </p:nvPr>
        </p:nvSpPr>
        <p:spPr>
          <a:xfrm>
            <a:off x="4572000" y="1006187"/>
            <a:ext cx="4114800" cy="4937414"/>
          </a:xfrm>
        </p:spPr>
        <p:txBody>
          <a:bodyPr>
            <a:noAutofit/>
          </a:bodyPr>
          <a:lstStyle/>
          <a:p>
            <a:pPr lvl="0">
              <a:spcBef>
                <a:spcPts val="0"/>
              </a:spcBef>
              <a:buSzPct val="100000"/>
            </a:pPr>
            <a:r>
              <a:rPr lang="en-US" sz="2000" dirty="0"/>
              <a:t>Vendor-managed inventory (</a:t>
            </a:r>
            <a:r>
              <a:rPr lang="en-US" sz="2000" spc="-250" dirty="0"/>
              <a:t>V M </a:t>
            </a:r>
            <a:r>
              <a:rPr lang="en-US" sz="2000" dirty="0"/>
              <a:t>I)</a:t>
            </a:r>
          </a:p>
          <a:p>
            <a:pPr lvl="0">
              <a:spcBef>
                <a:spcPts val="900"/>
              </a:spcBef>
              <a:buSzPct val="100000"/>
            </a:pPr>
            <a:r>
              <a:rPr lang="en-US" sz="2000" dirty="0"/>
              <a:t>Kickbacks</a:t>
            </a:r>
          </a:p>
          <a:p>
            <a:pPr lvl="0">
              <a:spcBef>
                <a:spcPts val="900"/>
              </a:spcBef>
              <a:buSzPct val="100000"/>
            </a:pPr>
            <a:r>
              <a:rPr lang="en-US" sz="2000" dirty="0"/>
              <a:t>Receiving report</a:t>
            </a:r>
          </a:p>
          <a:p>
            <a:pPr lvl="0">
              <a:spcBef>
                <a:spcPts val="900"/>
              </a:spcBef>
              <a:buSzPct val="100000"/>
            </a:pPr>
            <a:r>
              <a:rPr lang="en-US" sz="2000" dirty="0"/>
              <a:t>Debit memo</a:t>
            </a:r>
          </a:p>
          <a:p>
            <a:pPr lvl="0">
              <a:spcBef>
                <a:spcPts val="900"/>
              </a:spcBef>
              <a:buSzPct val="100000"/>
            </a:pPr>
            <a:r>
              <a:rPr lang="en-US" sz="2000" dirty="0"/>
              <a:t>Voucher package</a:t>
            </a:r>
          </a:p>
          <a:p>
            <a:pPr lvl="0">
              <a:spcBef>
                <a:spcPts val="900"/>
              </a:spcBef>
              <a:buSzPct val="100000"/>
            </a:pPr>
            <a:r>
              <a:rPr lang="en-US" sz="2000" dirty="0" err="1"/>
              <a:t>Nonvoucher</a:t>
            </a:r>
            <a:r>
              <a:rPr lang="en-US" sz="2000" dirty="0"/>
              <a:t> system</a:t>
            </a:r>
          </a:p>
          <a:p>
            <a:pPr lvl="0">
              <a:spcBef>
                <a:spcPts val="900"/>
              </a:spcBef>
              <a:buSzPct val="100000"/>
            </a:pPr>
            <a:r>
              <a:rPr lang="en-US" sz="2000" dirty="0"/>
              <a:t>Voucher system</a:t>
            </a:r>
          </a:p>
          <a:p>
            <a:pPr lvl="0">
              <a:spcBef>
                <a:spcPts val="900"/>
              </a:spcBef>
              <a:buSzPct val="100000"/>
            </a:pPr>
            <a:r>
              <a:rPr lang="en-US" sz="2000" dirty="0"/>
              <a:t>Disbursement voucher</a:t>
            </a:r>
          </a:p>
          <a:p>
            <a:pPr lvl="0">
              <a:spcBef>
                <a:spcPts val="900"/>
              </a:spcBef>
              <a:buSzPct val="100000"/>
            </a:pPr>
            <a:r>
              <a:rPr lang="en-US" sz="2000" dirty="0"/>
              <a:t>Evaluated receipt settlement       (</a:t>
            </a:r>
            <a:r>
              <a:rPr lang="en-US" sz="2000" spc="-200" dirty="0"/>
              <a:t>E R </a:t>
            </a:r>
            <a:r>
              <a:rPr lang="en-US" sz="2000" dirty="0"/>
              <a:t>S)</a:t>
            </a:r>
          </a:p>
          <a:p>
            <a:pPr lvl="0">
              <a:spcBef>
                <a:spcPts val="900"/>
              </a:spcBef>
              <a:buSzPct val="100000"/>
            </a:pPr>
            <a:r>
              <a:rPr lang="en-US" sz="2000" dirty="0"/>
              <a:t>Procurement card</a:t>
            </a:r>
          </a:p>
          <a:p>
            <a:pPr lvl="0">
              <a:spcBef>
                <a:spcPts val="900"/>
              </a:spcBef>
              <a:buSzPct val="100000"/>
            </a:pPr>
            <a:r>
              <a:rPr lang="en-US" sz="2000" dirty="0" err="1"/>
              <a:t>Imprest</a:t>
            </a:r>
            <a:r>
              <a:rPr lang="en-US" sz="2000" dirty="0"/>
              <a:t> fund</a:t>
            </a:r>
          </a:p>
        </p:txBody>
      </p:sp>
    </p:spTree>
    <p:extLst>
      <p:ext uri="{BB962C8B-B14F-4D97-AF65-F5344CB8AC3E}">
        <p14:creationId xmlns:p14="http://schemas.microsoft.com/office/powerpoint/2010/main" val="421712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25623</TotalTime>
  <Words>2352</Words>
  <Application>Microsoft Macintosh PowerPoint</Application>
  <PresentationFormat>On-screen Show (4:3)</PresentationFormat>
  <Paragraphs>325</Paragraphs>
  <Slides>27</Slides>
  <Notes>27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27</vt:i4>
      </vt:variant>
    </vt:vector>
  </HeadingPairs>
  <TitlesOfParts>
    <vt:vector size="35" baseType="lpstr">
      <vt:lpstr>Arial</vt:lpstr>
      <vt:lpstr>Arial(Body)</vt:lpstr>
      <vt:lpstr>Noto Sans Symbols</vt:lpstr>
      <vt:lpstr>Times New Roman</vt:lpstr>
      <vt:lpstr>Verdana</vt:lpstr>
      <vt:lpstr>Wingdings</vt:lpstr>
      <vt:lpstr>508 Lecture</vt:lpstr>
      <vt:lpstr>1_508 Lecture</vt:lpstr>
      <vt:lpstr>Accounting Information Systems</vt:lpstr>
      <vt:lpstr>Learning Objectives (1 of 2)</vt:lpstr>
      <vt:lpstr>Learning Objectives (2 of 2)</vt:lpstr>
      <vt:lpstr>Basic Expenditure Cycle Activities</vt:lpstr>
      <vt:lpstr>PowerPoint Presentation</vt:lpstr>
      <vt:lpstr>PowerPoint Presentation</vt:lpstr>
      <vt:lpstr>Key Decisions</vt:lpstr>
      <vt:lpstr>General Threats and Controls</vt:lpstr>
      <vt:lpstr>Order Goods (Materials/Supplies) or Services Processing Steps</vt:lpstr>
      <vt:lpstr>PowerPoint Presentation</vt:lpstr>
      <vt:lpstr>PowerPoint Presentation</vt:lpstr>
      <vt:lpstr>PowerPoint Presentation</vt:lpstr>
      <vt:lpstr>Ordering Goods/Services (1 of 2)</vt:lpstr>
      <vt:lpstr>Ordering Goods/Services (2 of 2)</vt:lpstr>
      <vt:lpstr>Receiving Process</vt:lpstr>
      <vt:lpstr>PowerPoint Presentation</vt:lpstr>
      <vt:lpstr>PowerPoint Presentation</vt:lpstr>
      <vt:lpstr>Receiving Goods or Services</vt:lpstr>
      <vt:lpstr>Approve Supplier Invoice and Cash Disbursements</vt:lpstr>
      <vt:lpstr>PowerPoint Presentation</vt:lpstr>
      <vt:lpstr>PowerPoint Presentation</vt:lpstr>
      <vt:lpstr>PowerPoint Presentation</vt:lpstr>
      <vt:lpstr>PowerPoint Presentation</vt:lpstr>
      <vt:lpstr>Approve Supplier Invoice</vt:lpstr>
      <vt:lpstr>Cash Disbursements</vt:lpstr>
      <vt:lpstr>Key Terms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15, The Expenditure Cycle: Purchasing to Cash Disbursements</dc:title>
  <dc:subject/>
  <dc:creator>Romney</dc:creator>
  <cp:keywords>Automotive</cp:keywords>
  <cp:lastModifiedBy>Nathan Garrett</cp:lastModifiedBy>
  <cp:revision>5144</cp:revision>
  <dcterms:created xsi:type="dcterms:W3CDTF">2014-07-14T20:04:21Z</dcterms:created>
  <dcterms:modified xsi:type="dcterms:W3CDTF">2025-07-22T13:09:03Z</dcterms:modified>
</cp:coreProperties>
</file>