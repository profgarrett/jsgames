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34"/>
  </p:notesMasterIdLst>
  <p:handoutMasterIdLst>
    <p:handoutMasterId r:id="rId35"/>
  </p:handoutMasterIdLst>
  <p:sldIdLst>
    <p:sldId id="330" r:id="rId3"/>
    <p:sldId id="1718" r:id="rId4"/>
    <p:sldId id="1825" r:id="rId5"/>
    <p:sldId id="1838" r:id="rId6"/>
    <p:sldId id="1845" r:id="rId7"/>
    <p:sldId id="1846" r:id="rId8"/>
    <p:sldId id="1847" r:id="rId9"/>
    <p:sldId id="1848" r:id="rId10"/>
    <p:sldId id="1849" r:id="rId11"/>
    <p:sldId id="1839" r:id="rId12"/>
    <p:sldId id="1856" r:id="rId13"/>
    <p:sldId id="1851" r:id="rId14"/>
    <p:sldId id="1852" r:id="rId15"/>
    <p:sldId id="1853" r:id="rId16"/>
    <p:sldId id="1854" r:id="rId17"/>
    <p:sldId id="1855" r:id="rId18"/>
    <p:sldId id="1857" r:id="rId19"/>
    <p:sldId id="1840" r:id="rId20"/>
    <p:sldId id="1850" r:id="rId21"/>
    <p:sldId id="1841" r:id="rId22"/>
    <p:sldId id="1724" r:id="rId23"/>
    <p:sldId id="1714" r:id="rId24"/>
    <p:sldId id="1729" r:id="rId25"/>
    <p:sldId id="1863" r:id="rId26"/>
    <p:sldId id="1842" r:id="rId27"/>
    <p:sldId id="1864" r:id="rId28"/>
    <p:sldId id="1837" r:id="rId29"/>
    <p:sldId id="1844" r:id="rId30"/>
    <p:sldId id="1869" r:id="rId31"/>
    <p:sldId id="1870" r:id="rId32"/>
    <p:sldId id="170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guide id="13" orient="horz" pos="52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172DA-EE60-4D58-8926-CEF203B8C47A}" v="2" dt="2022-10-31T21:08:46.65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117" autoAdjust="0"/>
    <p:restoredTop sz="83414" autoAdjust="0"/>
  </p:normalViewPr>
  <p:slideViewPr>
    <p:cSldViewPr>
      <p:cViewPr varScale="1">
        <p:scale>
          <a:sx n="119" d="100"/>
          <a:sy n="119" d="100"/>
        </p:scale>
        <p:origin x="192" y="1592"/>
      </p:cViewPr>
      <p:guideLst>
        <p:guide pos="2880"/>
        <p:guide orient="horz" pos="384"/>
        <p:guide orient="horz" pos="144"/>
        <p:guide orient="horz" pos="624"/>
        <p:guide pos="288"/>
        <p:guide pos="5472"/>
        <p:guide orient="horz" pos="3984"/>
        <p:guide orient="horz" pos="2160"/>
        <p:guide orient="horz" pos="52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Garrett" userId="2e433c4c-36ae-4b16-acdd-ef7227993467" providerId="ADAL" clId="{562172DA-EE60-4D58-8926-CEF203B8C47A}"/>
    <pc:docChg chg="custSel addSld delSld modSld">
      <pc:chgData name="Nathan Garrett" userId="2e433c4c-36ae-4b16-acdd-ef7227993467" providerId="ADAL" clId="{562172DA-EE60-4D58-8926-CEF203B8C47A}" dt="2022-11-01T12:12:59.191" v="25" actId="2696"/>
      <pc:docMkLst>
        <pc:docMk/>
      </pc:docMkLst>
      <pc:sldChg chg="modSp mod">
        <pc:chgData name="Nathan Garrett" userId="2e433c4c-36ae-4b16-acdd-ef7227993467" providerId="ADAL" clId="{562172DA-EE60-4D58-8926-CEF203B8C47A}" dt="2022-10-31T20:50:20.298" v="0" actId="20577"/>
        <pc:sldMkLst>
          <pc:docMk/>
          <pc:sldMk cId="845397033" sldId="1849"/>
        </pc:sldMkLst>
        <pc:spChg chg="mod">
          <ac:chgData name="Nathan Garrett" userId="2e433c4c-36ae-4b16-acdd-ef7227993467" providerId="ADAL" clId="{562172DA-EE60-4D58-8926-CEF203B8C47A}" dt="2022-10-31T20:50:20.298" v="0" actId="20577"/>
          <ac:spMkLst>
            <pc:docMk/>
            <pc:sldMk cId="845397033" sldId="1849"/>
            <ac:spMk id="3" creationId="{BC72D647-7317-874B-AE56-63041BDEA314}"/>
          </ac:spMkLst>
        </pc:spChg>
      </pc:sldChg>
      <pc:sldChg chg="addSp modSp mod modAnim">
        <pc:chgData name="Nathan Garrett" userId="2e433c4c-36ae-4b16-acdd-ef7227993467" providerId="ADAL" clId="{562172DA-EE60-4D58-8926-CEF203B8C47A}" dt="2022-10-31T20:51:37.618" v="9"/>
        <pc:sldMkLst>
          <pc:docMk/>
          <pc:sldMk cId="2930235877" sldId="1854"/>
        </pc:sldMkLst>
        <pc:spChg chg="add mod">
          <ac:chgData name="Nathan Garrett" userId="2e433c4c-36ae-4b16-acdd-ef7227993467" providerId="ADAL" clId="{562172DA-EE60-4D58-8926-CEF203B8C47A}" dt="2022-10-31T20:51:30.250" v="8" actId="1076"/>
          <ac:spMkLst>
            <pc:docMk/>
            <pc:sldMk cId="2930235877" sldId="1854"/>
            <ac:spMk id="2" creationId="{CAB67BDA-C7BD-40CF-A4F8-EE241C232099}"/>
          </ac:spMkLst>
        </pc:spChg>
        <pc:picChg chg="mod">
          <ac:chgData name="Nathan Garrett" userId="2e433c4c-36ae-4b16-acdd-ef7227993467" providerId="ADAL" clId="{562172DA-EE60-4D58-8926-CEF203B8C47A}" dt="2022-10-31T20:51:17.558" v="5" actId="1076"/>
          <ac:picMkLst>
            <pc:docMk/>
            <pc:sldMk cId="2930235877" sldId="1854"/>
            <ac:picMk id="7" creationId="{6D0F3B45-89BD-0C43-8E05-69CA962A76F0}"/>
          </ac:picMkLst>
        </pc:picChg>
      </pc:sldChg>
      <pc:sldChg chg="del">
        <pc:chgData name="Nathan Garrett" userId="2e433c4c-36ae-4b16-acdd-ef7227993467" providerId="ADAL" clId="{562172DA-EE60-4D58-8926-CEF203B8C47A}" dt="2022-11-01T12:12:59.191" v="25" actId="2696"/>
        <pc:sldMkLst>
          <pc:docMk/>
          <pc:sldMk cId="3692402614" sldId="1862"/>
        </pc:sldMkLst>
      </pc:sldChg>
      <pc:sldChg chg="addSp delSp modSp mod">
        <pc:chgData name="Nathan Garrett" userId="2e433c4c-36ae-4b16-acdd-ef7227993467" providerId="ADAL" clId="{562172DA-EE60-4D58-8926-CEF203B8C47A}" dt="2022-10-31T21:08:49.679" v="12" actId="478"/>
        <pc:sldMkLst>
          <pc:docMk/>
          <pc:sldMk cId="3308730520" sldId="1869"/>
        </pc:sldMkLst>
        <pc:spChg chg="del mod">
          <ac:chgData name="Nathan Garrett" userId="2e433c4c-36ae-4b16-acdd-ef7227993467" providerId="ADAL" clId="{562172DA-EE60-4D58-8926-CEF203B8C47A}" dt="2022-10-31T21:08:49.679" v="12" actId="478"/>
          <ac:spMkLst>
            <pc:docMk/>
            <pc:sldMk cId="3308730520" sldId="1869"/>
            <ac:spMk id="3" creationId="{7AF739C2-3C76-3448-88F8-07E6DBA9383A}"/>
          </ac:spMkLst>
        </pc:spChg>
        <pc:spChg chg="add mod">
          <ac:chgData name="Nathan Garrett" userId="2e433c4c-36ae-4b16-acdd-ef7227993467" providerId="ADAL" clId="{562172DA-EE60-4D58-8926-CEF203B8C47A}" dt="2022-10-31T21:08:49.679" v="12" actId="478"/>
          <ac:spMkLst>
            <pc:docMk/>
            <pc:sldMk cId="3308730520" sldId="1869"/>
            <ac:spMk id="6" creationId="{7AEE5235-0B2B-4725-A0E2-25AF616B9EF1}"/>
          </ac:spMkLst>
        </pc:spChg>
      </pc:sldChg>
      <pc:sldChg chg="addSp delSp modSp add mod modClrScheme chgLayout">
        <pc:chgData name="Nathan Garrett" userId="2e433c4c-36ae-4b16-acdd-ef7227993467" providerId="ADAL" clId="{562172DA-EE60-4D58-8926-CEF203B8C47A}" dt="2022-10-31T21:09:39.145" v="24" actId="255"/>
        <pc:sldMkLst>
          <pc:docMk/>
          <pc:sldMk cId="2968467855" sldId="1870"/>
        </pc:sldMkLst>
        <pc:spChg chg="del">
          <ac:chgData name="Nathan Garrett" userId="2e433c4c-36ae-4b16-acdd-ef7227993467" providerId="ADAL" clId="{562172DA-EE60-4D58-8926-CEF203B8C47A}" dt="2022-10-31T21:08:52.730" v="13" actId="478"/>
          <ac:spMkLst>
            <pc:docMk/>
            <pc:sldMk cId="2968467855" sldId="1870"/>
            <ac:spMk id="2" creationId="{BBE12157-2EA4-8A49-BC73-12D98A3805C7}"/>
          </ac:spMkLst>
        </pc:spChg>
        <pc:spChg chg="mod ord">
          <ac:chgData name="Nathan Garrett" userId="2e433c4c-36ae-4b16-acdd-ef7227993467" providerId="ADAL" clId="{562172DA-EE60-4D58-8926-CEF203B8C47A}" dt="2022-10-31T21:09:39.145" v="24" actId="255"/>
          <ac:spMkLst>
            <pc:docMk/>
            <pc:sldMk cId="2968467855" sldId="1870"/>
            <ac:spMk id="3" creationId="{7AF739C2-3C76-3448-88F8-07E6DBA9383A}"/>
          </ac:spMkLst>
        </pc:spChg>
        <pc:spChg chg="del">
          <ac:chgData name="Nathan Garrett" userId="2e433c4c-36ae-4b16-acdd-ef7227993467" providerId="ADAL" clId="{562172DA-EE60-4D58-8926-CEF203B8C47A}" dt="2022-10-31T21:09:05.329" v="16" actId="700"/>
          <ac:spMkLst>
            <pc:docMk/>
            <pc:sldMk cId="2968467855" sldId="1870"/>
            <ac:spMk id="4" creationId="{57E04267-BA0D-174A-B658-CCC5D87BED79}"/>
          </ac:spMkLst>
        </pc:spChg>
        <pc:spChg chg="add del mod">
          <ac:chgData name="Nathan Garrett" userId="2e433c4c-36ae-4b16-acdd-ef7227993467" providerId="ADAL" clId="{562172DA-EE60-4D58-8926-CEF203B8C47A}" dt="2022-10-31T21:08:59.097" v="15" actId="478"/>
          <ac:spMkLst>
            <pc:docMk/>
            <pc:sldMk cId="2968467855" sldId="1870"/>
            <ac:spMk id="6" creationId="{DFDC3C78-5062-492C-892E-E0AB3716D45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7/22/25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7/22/25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Obtaining an AIS can be done in one of three ways.</a:t>
            </a:r>
          </a:p>
          <a:p>
            <a:pPr marL="0" lvl="0" indent="0" algn="l" rtl="0">
              <a:spcBef>
                <a:spcPts val="0"/>
              </a:spcBef>
              <a:spcAft>
                <a:spcPts val="0"/>
              </a:spcAft>
              <a:buNone/>
            </a:pPr>
            <a:r>
              <a:rPr lang="en-IN" dirty="0"/>
              <a:t>Purchasing software can be a “canned” software solution. A good example of canned software is </a:t>
            </a:r>
            <a:r>
              <a:rPr lang="en-IN" dirty="0" err="1"/>
              <a:t>Quickbooks</a:t>
            </a:r>
            <a:r>
              <a:rPr lang="en-IN" dirty="0"/>
              <a:t>. In addition, a company can also rent software (e.g., </a:t>
            </a:r>
            <a:r>
              <a:rPr lang="en-IN" dirty="0" err="1"/>
              <a:t>Quickbooks</a:t>
            </a:r>
            <a:r>
              <a:rPr lang="en-IN" dirty="0"/>
              <a:t> online essentially allows you to rent the software monthly to use it online).</a:t>
            </a:r>
          </a:p>
          <a:p>
            <a:pPr marL="0" lvl="0" indent="0" algn="l" rtl="0">
              <a:spcBef>
                <a:spcPts val="0"/>
              </a:spcBef>
              <a:spcAft>
                <a:spcPts val="0"/>
              </a:spcAft>
              <a:buNone/>
            </a:pPr>
            <a:r>
              <a:rPr lang="en-IN" dirty="0"/>
              <a:t>The AIS can be developed in-house to meet the end user’s needs or you can hire an organization outside of your company by outsourcing the data processing activities.</a:t>
            </a:r>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820989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An RFP can help you save time and can simplify the decision-making process. It is important that when doing an RFP with software vendors that if any requirement requires specialized programming from the vendor, it should not be considered functionality from the canned software. Many vendors will answer yes, but with constraints or require additional investment to meet the requirement. These “special considerations” should be noted in the RFP.</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Evaluation of software for purchase includes:</a:t>
            </a:r>
          </a:p>
          <a:p>
            <a:pPr marL="0" lvl="0" indent="0" algn="l" rtl="0">
              <a:spcBef>
                <a:spcPts val="0"/>
              </a:spcBef>
              <a:spcAft>
                <a:spcPts val="0"/>
              </a:spcAft>
              <a:buNone/>
            </a:pPr>
            <a:r>
              <a:rPr lang="en-IN" dirty="0"/>
              <a:t>Hardware evaluation</a:t>
            </a:r>
          </a:p>
          <a:p>
            <a:pPr marL="0" lvl="0" indent="0" algn="l" rtl="0">
              <a:spcBef>
                <a:spcPts val="0"/>
              </a:spcBef>
              <a:spcAft>
                <a:spcPts val="0"/>
              </a:spcAft>
              <a:buNone/>
            </a:pPr>
            <a:r>
              <a:rPr lang="en-IN" dirty="0"/>
              <a:t>Software evaluation</a:t>
            </a:r>
          </a:p>
          <a:p>
            <a:pPr marL="0" lvl="0" indent="0" algn="l" rtl="0">
              <a:spcBef>
                <a:spcPts val="0"/>
              </a:spcBef>
              <a:spcAft>
                <a:spcPts val="0"/>
              </a:spcAft>
              <a:buNone/>
            </a:pPr>
            <a:r>
              <a:rPr lang="en-IN" dirty="0"/>
              <a:t>Vendor evaluation</a:t>
            </a:r>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3294095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Compared to the previous slide of purchasing, the major decision in obtaining an AIS is “build or buy.”</a:t>
            </a:r>
          </a:p>
          <a:p>
            <a:pPr marL="0" lvl="0" indent="0" algn="l" rtl="0">
              <a:spcBef>
                <a:spcPts val="0"/>
              </a:spcBef>
              <a:spcAft>
                <a:spcPts val="0"/>
              </a:spcAft>
              <a:buNone/>
            </a:pPr>
            <a:r>
              <a:rPr lang="en-IN" dirty="0"/>
              <a:t>Developing the software in-house means that you plan to build the AIS and be in control of the design, development, and program coding of the AIS.</a:t>
            </a:r>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160318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3553981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Business process management (BPM) is a continuous approach to improving and optimizing business processes. Business processes help the organization get things done (e.g., sell and ship goods to customers). It is understood that information technology can leverage the business process for organizations to achieve their goals and objectives. The fundamental principles for BPM are:</a:t>
            </a:r>
          </a:p>
          <a:p>
            <a:pPr marL="228600" lvl="0" indent="-228600" algn="l" rtl="0">
              <a:spcBef>
                <a:spcPts val="0"/>
              </a:spcBef>
              <a:spcAft>
                <a:spcPts val="0"/>
              </a:spcAft>
              <a:buClr>
                <a:schemeClr val="dk1"/>
              </a:buClr>
              <a:buSzPts val="1200"/>
              <a:buFont typeface="Arial"/>
              <a:buAutoNum type="arabicPeriod"/>
            </a:pPr>
            <a:r>
              <a:rPr lang="en-IN" dirty="0"/>
              <a:t>Business processes can produce competitive advantages.</a:t>
            </a:r>
          </a:p>
          <a:p>
            <a:pPr marL="228600" lvl="0" indent="-228600" algn="l" rtl="0">
              <a:spcBef>
                <a:spcPts val="0"/>
              </a:spcBef>
              <a:spcAft>
                <a:spcPts val="0"/>
              </a:spcAft>
              <a:buClr>
                <a:schemeClr val="dk1"/>
              </a:buClr>
              <a:buSzPts val="1200"/>
              <a:buFont typeface="Arial"/>
              <a:buAutoNum type="arabicPeriod"/>
            </a:pPr>
            <a:r>
              <a:rPr lang="en-IN" dirty="0"/>
              <a:t>Business processes must be managed end to end.</a:t>
            </a:r>
          </a:p>
          <a:p>
            <a:pPr marL="228600" lvl="0" indent="-228600" algn="l" rtl="0">
              <a:spcBef>
                <a:spcPts val="0"/>
              </a:spcBef>
              <a:spcAft>
                <a:spcPts val="0"/>
              </a:spcAft>
              <a:buClr>
                <a:schemeClr val="dk1"/>
              </a:buClr>
              <a:buSzPts val="1200"/>
              <a:buFont typeface="Arial"/>
              <a:buAutoNum type="arabicPeriod"/>
            </a:pPr>
            <a:r>
              <a:rPr lang="en-IN" dirty="0"/>
              <a:t>Business processes should be agile.</a:t>
            </a:r>
          </a:p>
          <a:p>
            <a:pPr marL="228600" lvl="0" indent="-228600" algn="l" rtl="0">
              <a:spcBef>
                <a:spcPts val="0"/>
              </a:spcBef>
              <a:spcAft>
                <a:spcPts val="0"/>
              </a:spcAft>
              <a:buClr>
                <a:schemeClr val="dk1"/>
              </a:buClr>
              <a:buSzPts val="1200"/>
              <a:buFont typeface="Arial"/>
              <a:buAutoNum type="arabicPeriod"/>
            </a:pPr>
            <a:r>
              <a:rPr lang="en-IN" dirty="0"/>
              <a:t>Business processes must be aligned with organizational strategy and needs.</a:t>
            </a:r>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1429597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3166042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effectLst/>
              </a:rPr>
              <a:t>Long Description:</a:t>
            </a:r>
          </a:p>
          <a:p>
            <a:r>
              <a:rPr lang="en-US" dirty="0">
                <a:effectLst/>
              </a:rPr>
              <a:t>The table with common flowcharting symbols for input/output, processing, and storage appears as follows:</a:t>
            </a:r>
            <a:endParaRPr lang="en-IN" dirty="0">
              <a:effectLst/>
            </a:endParaRPr>
          </a:p>
          <a:p>
            <a:r>
              <a:rPr lang="en-US" b="1" dirty="0">
                <a:effectLst/>
              </a:rPr>
              <a:t> </a:t>
            </a:r>
            <a:endParaRPr lang="en-IN" dirty="0">
              <a:effectLst/>
            </a:endParaRPr>
          </a:p>
          <a:p>
            <a:r>
              <a:rPr lang="en-US" dirty="0">
                <a:effectLst/>
              </a:rPr>
              <a:t>Symbol</a:t>
            </a:r>
            <a:endParaRPr lang="en-IN" dirty="0">
              <a:effectLst/>
            </a:endParaRPr>
          </a:p>
          <a:p>
            <a:r>
              <a:rPr lang="en-US" dirty="0">
                <a:effectLst/>
              </a:rPr>
              <a:t>Name</a:t>
            </a:r>
            <a:endParaRPr lang="en-IN" dirty="0">
              <a:effectLst/>
            </a:endParaRPr>
          </a:p>
          <a:p>
            <a:r>
              <a:rPr lang="en-US" dirty="0">
                <a:effectLst/>
              </a:rPr>
              <a:t>Explanation</a:t>
            </a:r>
            <a:endParaRPr lang="en-IN" dirty="0">
              <a:effectLst/>
            </a:endParaRPr>
          </a:p>
          <a:p>
            <a:r>
              <a:rPr lang="en-US" dirty="0" err="1">
                <a:effectLst/>
              </a:rPr>
              <a:t>Input/Output</a:t>
            </a:r>
            <a:r>
              <a:rPr lang="en-US" dirty="0">
                <a:effectLst/>
              </a:rPr>
              <a:t> Symbols</a:t>
            </a:r>
            <a:endParaRPr lang="en-IN" dirty="0">
              <a:effectLst/>
            </a:endParaRPr>
          </a:p>
          <a:p>
            <a:r>
              <a:rPr lang="en-US" dirty="0">
                <a:effectLst/>
              </a:rPr>
              <a:t>A rectangle with a wave-like base</a:t>
            </a:r>
            <a:endParaRPr lang="en-IN" dirty="0">
              <a:effectLst/>
            </a:endParaRPr>
          </a:p>
          <a:p>
            <a:r>
              <a:rPr lang="en-US" dirty="0">
                <a:effectLst/>
              </a:rPr>
              <a:t>Document</a:t>
            </a:r>
            <a:endParaRPr lang="en-IN" dirty="0">
              <a:effectLst/>
            </a:endParaRPr>
          </a:p>
          <a:p>
            <a:r>
              <a:rPr lang="en-US" dirty="0">
                <a:effectLst/>
              </a:rPr>
              <a:t>An electronic or paper document or report</a:t>
            </a:r>
            <a:endParaRPr lang="en-IN" dirty="0">
              <a:effectLst/>
            </a:endParaRPr>
          </a:p>
          <a:p>
            <a:r>
              <a:rPr lang="en-US" dirty="0">
                <a:effectLst/>
              </a:rPr>
              <a:t>Three rectangles numbered 1, 2, and 3, each with a wave-like base</a:t>
            </a:r>
            <a:endParaRPr lang="en-IN" dirty="0">
              <a:effectLst/>
            </a:endParaRPr>
          </a:p>
          <a:p>
            <a:r>
              <a:rPr lang="en-US" dirty="0">
                <a:effectLst/>
              </a:rPr>
              <a:t>Multiple copies of one paper document</a:t>
            </a:r>
            <a:endParaRPr lang="en-IN" dirty="0">
              <a:effectLst/>
            </a:endParaRPr>
          </a:p>
          <a:p>
            <a:r>
              <a:rPr lang="en-US" dirty="0">
                <a:effectLst/>
              </a:rPr>
              <a:t>Illustrated by overlapping the document symbol and printing the document number on the face of the document in the upper right corner</a:t>
            </a:r>
            <a:endParaRPr lang="en-IN" dirty="0">
              <a:effectLst/>
            </a:endParaRPr>
          </a:p>
          <a:p>
            <a:r>
              <a:rPr lang="en-US" dirty="0">
                <a:effectLst/>
              </a:rPr>
              <a:t>A pentagon with one curved side</a:t>
            </a:r>
            <a:endParaRPr lang="en-IN" dirty="0">
              <a:effectLst/>
            </a:endParaRPr>
          </a:p>
          <a:p>
            <a:r>
              <a:rPr lang="en-US" dirty="0">
                <a:effectLst/>
              </a:rPr>
              <a:t>Electronic output</a:t>
            </a:r>
            <a:endParaRPr lang="en-IN" dirty="0">
              <a:effectLst/>
            </a:endParaRPr>
          </a:p>
          <a:p>
            <a:r>
              <a:rPr lang="en-US" dirty="0">
                <a:effectLst/>
              </a:rPr>
              <a:t>Information displayed by an electronic output device such as a terminal, monitor, or screen</a:t>
            </a:r>
            <a:endParaRPr lang="en-IN" dirty="0">
              <a:effectLst/>
            </a:endParaRPr>
          </a:p>
          <a:p>
            <a:r>
              <a:rPr lang="en-US" dirty="0">
                <a:effectLst/>
              </a:rPr>
              <a:t>A trapezoid with non-parallel sides much longer than the parallel sides</a:t>
            </a:r>
            <a:endParaRPr lang="en-IN" dirty="0">
              <a:effectLst/>
            </a:endParaRPr>
          </a:p>
          <a:p>
            <a:r>
              <a:rPr lang="en-US" dirty="0">
                <a:effectLst/>
              </a:rPr>
              <a:t>Electronic data entry</a:t>
            </a:r>
            <a:endParaRPr lang="en-IN" dirty="0">
              <a:effectLst/>
            </a:endParaRPr>
          </a:p>
          <a:p>
            <a:r>
              <a:rPr lang="en-US" dirty="0">
                <a:effectLst/>
              </a:rPr>
              <a:t>Electronic data entry device such as a computer, terminal, tablet, or phone</a:t>
            </a:r>
            <a:endParaRPr lang="en-IN" dirty="0">
              <a:effectLst/>
            </a:endParaRPr>
          </a:p>
          <a:p>
            <a:r>
              <a:rPr lang="en-US" dirty="0">
                <a:effectLst/>
              </a:rPr>
              <a:t>Symbol for electronic output connected to symbol for electronic data entry</a:t>
            </a:r>
            <a:endParaRPr lang="en-IN" dirty="0">
              <a:effectLst/>
            </a:endParaRPr>
          </a:p>
          <a:p>
            <a:r>
              <a:rPr lang="en-US" dirty="0">
                <a:effectLst/>
              </a:rPr>
              <a:t>Electronic input and output device</a:t>
            </a:r>
            <a:endParaRPr lang="en-IN" dirty="0">
              <a:effectLst/>
            </a:endParaRPr>
          </a:p>
          <a:p>
            <a:r>
              <a:rPr lang="en-US" dirty="0">
                <a:effectLst/>
              </a:rPr>
              <a:t>The electronic data entry and output symbols are used together to show a device used for both</a:t>
            </a:r>
            <a:endParaRPr lang="en-IN" dirty="0">
              <a:effectLst/>
            </a:endParaRPr>
          </a:p>
          <a:p>
            <a:r>
              <a:rPr lang="en-US" dirty="0">
                <a:effectLst/>
              </a:rPr>
              <a:t>Processing Symbols</a:t>
            </a:r>
            <a:endParaRPr lang="en-IN" dirty="0">
              <a:effectLst/>
            </a:endParaRPr>
          </a:p>
          <a:p>
            <a:r>
              <a:rPr lang="en-US" dirty="0">
                <a:effectLst/>
              </a:rPr>
              <a:t>Rectangle</a:t>
            </a:r>
            <a:endParaRPr lang="en-IN" dirty="0">
              <a:effectLst/>
            </a:endParaRPr>
          </a:p>
          <a:p>
            <a:r>
              <a:rPr lang="en-US" dirty="0">
                <a:effectLst/>
              </a:rPr>
              <a:t>Computer processing</a:t>
            </a:r>
            <a:endParaRPr lang="en-IN" dirty="0">
              <a:effectLst/>
            </a:endParaRPr>
          </a:p>
          <a:p>
            <a:r>
              <a:rPr lang="en-US" dirty="0">
                <a:effectLst/>
              </a:rPr>
              <a:t>A computer-performed processing function; usually results in a change in data or information</a:t>
            </a:r>
            <a:endParaRPr lang="en-IN" dirty="0">
              <a:effectLst/>
            </a:endParaRPr>
          </a:p>
          <a:p>
            <a:r>
              <a:rPr lang="en-US" dirty="0">
                <a:effectLst/>
              </a:rPr>
              <a:t>Trapezoid</a:t>
            </a:r>
            <a:endParaRPr lang="en-IN" dirty="0">
              <a:effectLst/>
            </a:endParaRPr>
          </a:p>
          <a:p>
            <a:r>
              <a:rPr lang="en-US" dirty="0">
                <a:effectLst/>
              </a:rPr>
              <a:t>Manual operation</a:t>
            </a:r>
            <a:endParaRPr lang="en-IN" dirty="0">
              <a:effectLst/>
            </a:endParaRPr>
          </a:p>
          <a:p>
            <a:r>
              <a:rPr lang="en-US" dirty="0">
                <a:effectLst/>
              </a:rPr>
              <a:t>A processing operation performed manually</a:t>
            </a:r>
            <a:endParaRPr lang="en-IN" dirty="0">
              <a:effectLst/>
            </a:endParaRPr>
          </a:p>
          <a:p>
            <a:r>
              <a:rPr lang="en-US" dirty="0">
                <a:effectLst/>
              </a:rPr>
              <a:t>Storage Symbols</a:t>
            </a:r>
            <a:endParaRPr lang="en-IN" dirty="0">
              <a:effectLst/>
            </a:endParaRPr>
          </a:p>
          <a:p>
            <a:r>
              <a:rPr lang="en-US" dirty="0">
                <a:effectLst/>
              </a:rPr>
              <a:t>Cylinder</a:t>
            </a:r>
            <a:endParaRPr lang="en-IN" dirty="0">
              <a:effectLst/>
            </a:endParaRPr>
          </a:p>
          <a:p>
            <a:r>
              <a:rPr lang="en-US" dirty="0">
                <a:effectLst/>
              </a:rPr>
              <a:t>Database</a:t>
            </a:r>
            <a:endParaRPr lang="en-IN" dirty="0">
              <a:effectLst/>
            </a:endParaRPr>
          </a:p>
          <a:p>
            <a:r>
              <a:rPr lang="en-US" dirty="0">
                <a:effectLst/>
              </a:rPr>
              <a:t>Data stored electronically in a database</a:t>
            </a:r>
            <a:endParaRPr lang="en-IN" dirty="0">
              <a:effectLst/>
            </a:endParaRPr>
          </a:p>
          <a:p>
            <a:r>
              <a:rPr lang="en-US" dirty="0">
                <a:effectLst/>
              </a:rPr>
              <a:t>A circle with a terminal point at the bottom</a:t>
            </a:r>
            <a:endParaRPr lang="en-IN" dirty="0">
              <a:effectLst/>
            </a:endParaRPr>
          </a:p>
          <a:p>
            <a:r>
              <a:rPr lang="en-US" dirty="0">
                <a:effectLst/>
              </a:rPr>
              <a:t>Magnetic tape</a:t>
            </a:r>
            <a:endParaRPr lang="en-IN" dirty="0">
              <a:effectLst/>
            </a:endParaRPr>
          </a:p>
          <a:p>
            <a:r>
              <a:rPr lang="en-US" dirty="0">
                <a:effectLst/>
              </a:rPr>
              <a:t>Data stored on a magnetic tape; tapes are popular back-up storage mediums</a:t>
            </a:r>
            <a:endParaRPr lang="en-IN" dirty="0">
              <a:effectLst/>
            </a:endParaRPr>
          </a:p>
          <a:p>
            <a:r>
              <a:rPr lang="en-US" dirty="0">
                <a:effectLst/>
              </a:rPr>
              <a:t>An inverted triangle with letter N inside it</a:t>
            </a:r>
            <a:endParaRPr lang="en-IN" dirty="0">
              <a:effectLst/>
            </a:endParaRPr>
          </a:p>
          <a:p>
            <a:r>
              <a:rPr lang="en-US" dirty="0">
                <a:effectLst/>
              </a:rPr>
              <a:t>Paper document file</a:t>
            </a:r>
            <a:endParaRPr lang="en-IN" dirty="0">
              <a:effectLst/>
            </a:endParaRPr>
          </a:p>
          <a:p>
            <a:r>
              <a:rPr lang="en-US" dirty="0">
                <a:effectLst/>
              </a:rPr>
              <a:t>File of paper documents; letters indicate file-ordering sequence: N: numerically, A: alphabetically, D: by date</a:t>
            </a:r>
            <a:endParaRPr lang="en-IN" dirty="0">
              <a:effectLst/>
            </a:endParaRPr>
          </a:p>
          <a:p>
            <a:r>
              <a:rPr lang="en-US" dirty="0">
                <a:effectLst/>
              </a:rPr>
              <a:t>Parallelogram</a:t>
            </a:r>
            <a:endParaRPr lang="en-IN" dirty="0">
              <a:effectLst/>
            </a:endParaRPr>
          </a:p>
          <a:p>
            <a:r>
              <a:rPr lang="en-US" dirty="0">
                <a:effectLst/>
              </a:rPr>
              <a:t>Journal/ledger</a:t>
            </a:r>
            <a:endParaRPr lang="en-IN" dirty="0">
              <a:effectLst/>
            </a:endParaRPr>
          </a:p>
          <a:p>
            <a:r>
              <a:rPr lang="en-US" dirty="0">
                <a:effectLst/>
              </a:rPr>
              <a:t>Paper-based accounting journals and ledgers</a:t>
            </a:r>
            <a:endParaRPr lang="en-IN" dirty="0">
              <a:effectLst/>
            </a:endParaRPr>
          </a:p>
          <a:p>
            <a:pPr marL="0" lvl="0" indent="0" algn="l" rtl="0">
              <a:spcBef>
                <a:spcPts val="0"/>
              </a:spcBef>
              <a:spcAft>
                <a:spcPts val="0"/>
              </a:spcAft>
              <a:buNone/>
            </a:pPr>
            <a:endParaRPr lang="en-IN" dirty="0">
              <a:effectLst/>
            </a:endParaRPr>
          </a:p>
          <a:p>
            <a:pPr marL="0" lvl="0" indent="0" algn="l" rtl="0">
              <a:spcBef>
                <a:spcPts val="0"/>
              </a:spcBef>
              <a:spcAft>
                <a:spcPts val="0"/>
              </a:spcAft>
              <a:buNone/>
            </a:pPr>
            <a:r>
              <a:rPr lang="en-IN" dirty="0">
                <a:effectLst/>
              </a:rPr>
              <a:t>Long</a:t>
            </a:r>
            <a:r>
              <a:rPr lang="en-IN" baseline="0" dirty="0">
                <a:effectLst/>
              </a:rPr>
              <a:t> Description:</a:t>
            </a:r>
          </a:p>
          <a:p>
            <a:r>
              <a:rPr lang="en-US" dirty="0">
                <a:effectLst/>
              </a:rPr>
              <a:t>The table with common flow and miscellaneous symbols appears as follows:</a:t>
            </a:r>
            <a:endParaRPr lang="en-IN" dirty="0">
              <a:effectLst/>
            </a:endParaRPr>
          </a:p>
          <a:p>
            <a:r>
              <a:rPr lang="en-US" b="1" dirty="0">
                <a:effectLst/>
              </a:rPr>
              <a:t> </a:t>
            </a:r>
            <a:endParaRPr lang="en-IN" dirty="0">
              <a:effectLst/>
            </a:endParaRPr>
          </a:p>
          <a:p>
            <a:r>
              <a:rPr lang="en-US" dirty="0">
                <a:effectLst/>
              </a:rPr>
              <a:t>Symbol</a:t>
            </a:r>
            <a:endParaRPr lang="en-IN" dirty="0">
              <a:effectLst/>
            </a:endParaRPr>
          </a:p>
          <a:p>
            <a:r>
              <a:rPr lang="en-US" dirty="0">
                <a:effectLst/>
              </a:rPr>
              <a:t>Name</a:t>
            </a:r>
            <a:endParaRPr lang="en-IN" dirty="0">
              <a:effectLst/>
            </a:endParaRPr>
          </a:p>
          <a:p>
            <a:r>
              <a:rPr lang="en-US" dirty="0">
                <a:effectLst/>
              </a:rPr>
              <a:t>Explanation</a:t>
            </a:r>
            <a:endParaRPr lang="en-IN" dirty="0">
              <a:effectLst/>
            </a:endParaRPr>
          </a:p>
          <a:p>
            <a:r>
              <a:rPr lang="en-US" dirty="0">
                <a:effectLst/>
              </a:rPr>
              <a:t>Flow and Miscellaneous Symbols</a:t>
            </a:r>
            <a:endParaRPr lang="en-IN" dirty="0">
              <a:effectLst/>
            </a:endParaRPr>
          </a:p>
          <a:p>
            <a:r>
              <a:rPr lang="en-US" dirty="0">
                <a:effectLst/>
              </a:rPr>
              <a:t>Right arrow</a:t>
            </a:r>
            <a:endParaRPr lang="en-IN" dirty="0">
              <a:effectLst/>
            </a:endParaRPr>
          </a:p>
          <a:p>
            <a:r>
              <a:rPr lang="en-US" dirty="0">
                <a:effectLst/>
              </a:rPr>
              <a:t>Document or processing flow</a:t>
            </a:r>
            <a:endParaRPr lang="en-IN" dirty="0">
              <a:effectLst/>
            </a:endParaRPr>
          </a:p>
          <a:p>
            <a:r>
              <a:rPr lang="en-US" dirty="0">
                <a:effectLst/>
              </a:rPr>
              <a:t>Direction of processing or document flow; normal flow is down and to the right</a:t>
            </a:r>
            <a:endParaRPr lang="en-IN" dirty="0">
              <a:effectLst/>
            </a:endParaRPr>
          </a:p>
          <a:p>
            <a:r>
              <a:rPr lang="en-US" dirty="0">
                <a:effectLst/>
              </a:rPr>
              <a:t>Right arrow with a </a:t>
            </a:r>
            <a:r>
              <a:rPr lang="en-US" dirty="0" err="1">
                <a:effectLst/>
              </a:rPr>
              <a:t>zig-zag</a:t>
            </a:r>
            <a:r>
              <a:rPr lang="en-US" dirty="0">
                <a:effectLst/>
              </a:rPr>
              <a:t> tail</a:t>
            </a:r>
            <a:endParaRPr lang="en-IN" dirty="0">
              <a:effectLst/>
            </a:endParaRPr>
          </a:p>
          <a:p>
            <a:r>
              <a:rPr lang="en-US" dirty="0">
                <a:effectLst/>
              </a:rPr>
              <a:t>Communication link</a:t>
            </a:r>
            <a:endParaRPr lang="en-IN" dirty="0">
              <a:effectLst/>
            </a:endParaRPr>
          </a:p>
          <a:p>
            <a:r>
              <a:rPr lang="en-US" dirty="0">
                <a:effectLst/>
              </a:rPr>
              <a:t>Transmission of data from one geographic location to another via communication lines</a:t>
            </a:r>
            <a:endParaRPr lang="en-IN" dirty="0">
              <a:effectLst/>
            </a:endParaRPr>
          </a:p>
          <a:p>
            <a:r>
              <a:rPr lang="en-US" dirty="0">
                <a:effectLst/>
              </a:rPr>
              <a:t>Circle</a:t>
            </a:r>
            <a:endParaRPr lang="en-IN" dirty="0">
              <a:effectLst/>
            </a:endParaRPr>
          </a:p>
          <a:p>
            <a:r>
              <a:rPr lang="en-US" dirty="0">
                <a:effectLst/>
              </a:rPr>
              <a:t>On-page connector</a:t>
            </a:r>
            <a:endParaRPr lang="en-IN" dirty="0">
              <a:effectLst/>
            </a:endParaRPr>
          </a:p>
          <a:p>
            <a:r>
              <a:rPr lang="en-US" dirty="0">
                <a:effectLst/>
              </a:rPr>
              <a:t>Connects the processing flow on the same page; its usage avoids lines crisscrossing a page</a:t>
            </a:r>
            <a:endParaRPr lang="en-IN" dirty="0">
              <a:effectLst/>
            </a:endParaRPr>
          </a:p>
          <a:p>
            <a:r>
              <a:rPr lang="en-US" dirty="0">
                <a:effectLst/>
              </a:rPr>
              <a:t>Pentagon</a:t>
            </a:r>
            <a:endParaRPr lang="en-IN" dirty="0">
              <a:effectLst/>
            </a:endParaRPr>
          </a:p>
          <a:p>
            <a:r>
              <a:rPr lang="en-US" dirty="0">
                <a:effectLst/>
              </a:rPr>
              <a:t>Off-page connector</a:t>
            </a:r>
            <a:endParaRPr lang="en-IN" dirty="0">
              <a:effectLst/>
            </a:endParaRPr>
          </a:p>
          <a:p>
            <a:r>
              <a:rPr lang="en-US" dirty="0">
                <a:effectLst/>
              </a:rPr>
              <a:t>An entry from, or an exit to, another page</a:t>
            </a:r>
            <a:endParaRPr lang="en-IN" dirty="0">
              <a:effectLst/>
            </a:endParaRPr>
          </a:p>
          <a:p>
            <a:r>
              <a:rPr lang="en-US" dirty="0">
                <a:effectLst/>
              </a:rPr>
              <a:t>Rounded rectangle</a:t>
            </a:r>
            <a:endParaRPr lang="en-IN" dirty="0">
              <a:effectLst/>
            </a:endParaRPr>
          </a:p>
          <a:p>
            <a:r>
              <a:rPr lang="en-US" dirty="0">
                <a:effectLst/>
              </a:rPr>
              <a:t>Terminal</a:t>
            </a:r>
            <a:endParaRPr lang="en-IN" dirty="0">
              <a:effectLst/>
            </a:endParaRPr>
          </a:p>
          <a:p>
            <a:r>
              <a:rPr lang="en-US" dirty="0">
                <a:effectLst/>
              </a:rPr>
              <a:t>A beginning, end, or point of interruption in a process; also used to indicate an external party</a:t>
            </a:r>
            <a:endParaRPr lang="en-IN" dirty="0">
              <a:effectLst/>
            </a:endParaRPr>
          </a:p>
          <a:p>
            <a:r>
              <a:rPr lang="en-US" dirty="0">
                <a:effectLst/>
              </a:rPr>
              <a:t>Rhombus</a:t>
            </a:r>
            <a:endParaRPr lang="en-IN" dirty="0">
              <a:effectLst/>
            </a:endParaRPr>
          </a:p>
          <a:p>
            <a:r>
              <a:rPr lang="en-US" dirty="0">
                <a:effectLst/>
              </a:rPr>
              <a:t>Decision</a:t>
            </a:r>
            <a:endParaRPr lang="en-IN" dirty="0">
              <a:effectLst/>
            </a:endParaRPr>
          </a:p>
          <a:p>
            <a:r>
              <a:rPr lang="en-US" dirty="0">
                <a:effectLst/>
              </a:rPr>
              <a:t>A decision-making step</a:t>
            </a:r>
            <a:endParaRPr lang="en-IN" dirty="0">
              <a:effectLst/>
            </a:endParaRPr>
          </a:p>
          <a:p>
            <a:r>
              <a:rPr lang="en-US" dirty="0">
                <a:effectLst/>
              </a:rPr>
              <a:t>A line connected to a square open on the right</a:t>
            </a:r>
            <a:endParaRPr lang="en-IN" dirty="0">
              <a:effectLst/>
            </a:endParaRPr>
          </a:p>
          <a:p>
            <a:r>
              <a:rPr lang="en-US" dirty="0">
                <a:effectLst/>
              </a:rPr>
              <a:t>Annotation</a:t>
            </a:r>
            <a:endParaRPr lang="en-IN" dirty="0">
              <a:effectLst/>
            </a:endParaRPr>
          </a:p>
          <a:p>
            <a:r>
              <a:rPr lang="en-US" dirty="0">
                <a:effectLst/>
              </a:rPr>
              <a:t>Addition of descriptive comments or explanatory notes as clarification</a:t>
            </a:r>
            <a:endParaRPr lang="en-IN" dirty="0">
              <a:effectLst/>
            </a:endParaRPr>
          </a:p>
          <a:p>
            <a:pPr marL="0" lvl="0" indent="0" algn="l" rtl="0">
              <a:spcBef>
                <a:spcPts val="0"/>
              </a:spcBef>
              <a:spcAft>
                <a:spcPts val="0"/>
              </a:spcAft>
              <a:buNone/>
            </a:pPr>
            <a:endParaRPr lang="en-IN"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2464134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3166042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Prototyping is a way to create a simplified model of an AIS to get feedback from users. It is used sometimes in the development stage when there is uncertainty, meaning that users may be unable to specifically define their needs, the tasks are not well structured, or the inputs and outputs are not known.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3878493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Prototyping is a way to create a simplified model of an AIS to get feedback from users. It is used sometimes in the development stage when there is uncertainty, meaning that users may be unable to specifically define their needs, the tasks are not well structured, or the inputs and outputs are not known.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26</a:t>
            </a:fld>
            <a:endParaRPr lang="en-US" dirty="0"/>
          </a:p>
        </p:txBody>
      </p:sp>
    </p:spTree>
    <p:extLst>
      <p:ext uri="{BB962C8B-B14F-4D97-AF65-F5344CB8AC3E}">
        <p14:creationId xmlns:p14="http://schemas.microsoft.com/office/powerpoint/2010/main" val="1089806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3679667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28</a:t>
            </a:fld>
            <a:endParaRPr lang="en-US" dirty="0"/>
          </a:p>
        </p:txBody>
      </p:sp>
    </p:spTree>
    <p:extLst>
      <p:ext uri="{BB962C8B-B14F-4D97-AF65-F5344CB8AC3E}">
        <p14:creationId xmlns:p14="http://schemas.microsoft.com/office/powerpoint/2010/main" val="2539787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2874288386"/>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a:extLst>
              <a:ext uri="{FF2B5EF4-FFF2-40B4-BE49-F238E27FC236}">
                <a16:creationId xmlns:a16="http://schemas.microsoft.com/office/drawing/2014/main" id="{DDE22CE6-491F-4E22-AB44-4902B9C69DE4}"/>
              </a:ext>
            </a:extLst>
          </p:cNvPr>
          <p:cNvSpPr>
            <a:spLocks noGrp="1"/>
          </p:cNvSpPr>
          <p:nvPr>
            <p:ph sz="quarter" idx="14"/>
          </p:nvPr>
        </p:nvSpPr>
        <p:spPr>
          <a:xfrm>
            <a:off x="838200" y="2667000"/>
            <a:ext cx="8077200" cy="83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6375068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
        <p:nvSpPr>
          <p:cNvPr id="10" name="Picture Placeholder 9"/>
          <p:cNvSpPr>
            <a:spLocks noGrp="1"/>
          </p:cNvSpPr>
          <p:nvPr>
            <p:ph type="pic" sz="quarter" idx="15"/>
          </p:nvPr>
        </p:nvSpPr>
        <p:spPr>
          <a:xfrm>
            <a:off x="457200" y="5562600"/>
            <a:ext cx="8077200" cy="685800"/>
          </a:xfrm>
        </p:spPr>
        <p:txBody>
          <a:bodyPr/>
          <a:lstStyle/>
          <a:p>
            <a:endParaRPr lang="en-IN"/>
          </a:p>
        </p:txBody>
      </p:sp>
      <p:sp>
        <p:nvSpPr>
          <p:cNvPr id="12" name="Picture Placeholder 11"/>
          <p:cNvSpPr>
            <a:spLocks noGrp="1"/>
          </p:cNvSpPr>
          <p:nvPr>
            <p:ph type="pic" sz="quarter" idx="16"/>
          </p:nvPr>
        </p:nvSpPr>
        <p:spPr>
          <a:xfrm>
            <a:off x="533400" y="4191000"/>
            <a:ext cx="8143875" cy="990600"/>
          </a:xfrm>
        </p:spPr>
        <p:txBody>
          <a:bodyPr/>
          <a:lstStyle/>
          <a:p>
            <a:endParaRPr lang="en-IN"/>
          </a:p>
        </p:txBody>
      </p:sp>
    </p:spTree>
    <p:extLst>
      <p:ext uri="{BB962C8B-B14F-4D97-AF65-F5344CB8AC3E}">
        <p14:creationId xmlns:p14="http://schemas.microsoft.com/office/powerpoint/2010/main" val="36599438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45038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em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702"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 id="2147483699" r:id="rId14"/>
    <p:sldLayoutId id="2147483700" r:id="rId15"/>
    <p:sldLayoutId id="2147483701" r:id="rId16"/>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hyperlink" Target="https://www.smartsheet.com/request-for-proposal" TargetMode="External"/><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hyperlink" Target="https://www.spheregen.com/cost-of-software-development/" TargetMode="Externa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hyperlink" Target="https://www.spheregen.com/cost-of-software-development/" TargetMode="Externa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hyperlink" Target="https://www.spheregen.com/cost-of-software-development/" TargetMode="Externa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hyperlink" Target="https://hbr.org/2019/01/its-time-to-stop-treating-rd-as-a-discretionary-expenditure" TargetMode="Externa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7.xml"/><Relationship Id="rId4" Type="http://schemas.openxmlformats.org/officeDocument/2006/relationships/image" Target="../media/image11.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rPr>
              <a:t>Sixteenth </a:t>
            </a:r>
            <a:r>
              <a:rPr lang="en-US" sz="2000" noProof="0" dirty="0">
                <a:solidFill>
                  <a:srgbClr val="007FA3"/>
                </a:solidFill>
                <a:latin typeface="+mn-lt"/>
              </a:rPr>
              <a:t>Edition</a:t>
            </a:r>
            <a:endParaRPr lang="en-US" noProof="0" dirty="0">
              <a:latin typeface="+mn-lt"/>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991762" cy="498016"/>
          </a:xfrm>
        </p:spPr>
        <p:txBody>
          <a:bodyPr wrap="square" lIns="0" tIns="18000" rIns="0" bIns="18000" anchor="ctr" anchorCtr="0">
            <a:spAutoFit/>
          </a:bodyPr>
          <a:lstStyle/>
          <a:p>
            <a:pPr marL="0"/>
            <a:r>
              <a:rPr lang="en-US" noProof="0" dirty="0">
                <a:latin typeface="+mn-lt"/>
              </a:rPr>
              <a:t>Chapter 23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382333"/>
            <a:ext cx="4140200" cy="374906"/>
          </a:xfrm>
        </p:spPr>
        <p:txBody>
          <a:bodyPr wrap="square" lIns="0" tIns="18000" rIns="0" bIns="18000" anchor="ctr" anchorCtr="0">
            <a:spAutoFit/>
          </a:bodyPr>
          <a:lstStyle/>
          <a:p>
            <a:pPr marL="0" lvl="0">
              <a:spcBef>
                <a:spcPts val="0"/>
              </a:spcBef>
              <a:buSzPts val="2200"/>
            </a:pPr>
            <a:r>
              <a:rPr lang="en-US" spc="-300" noProof="0" dirty="0"/>
              <a:t>A I </a:t>
            </a:r>
            <a:r>
              <a:rPr lang="en-US" noProof="0" dirty="0"/>
              <a:t>S Development Strategies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Learning Objectives</a:t>
            </a:r>
          </a:p>
        </p:txBody>
      </p:sp>
      <p:sp>
        <p:nvSpPr>
          <p:cNvPr id="2" name="Content Placeholder 1"/>
          <p:cNvSpPr>
            <a:spLocks noGrp="1"/>
          </p:cNvSpPr>
          <p:nvPr>
            <p:ph idx="13"/>
          </p:nvPr>
        </p:nvSpPr>
        <p:spPr>
          <a:xfrm>
            <a:off x="477115" y="846666"/>
            <a:ext cx="8229600" cy="3323987"/>
          </a:xfrm>
        </p:spPr>
        <p:txBody>
          <a:bodyPr>
            <a:spAutoFit/>
          </a:bodyPr>
          <a:lstStyle/>
          <a:p>
            <a:pPr lvl="0">
              <a:spcBef>
                <a:spcPts val="0"/>
              </a:spcBef>
              <a:buSzPts val="2400"/>
            </a:pPr>
            <a:r>
              <a:rPr lang="en-IN" sz="2400" dirty="0"/>
              <a:t>How do we </a:t>
            </a:r>
          </a:p>
          <a:p>
            <a:pPr lvl="1">
              <a:spcBef>
                <a:spcPts val="0"/>
              </a:spcBef>
              <a:buSzPts val="2400"/>
            </a:pPr>
            <a:r>
              <a:rPr lang="en-IN" sz="2400" dirty="0"/>
              <a:t>Buy software?</a:t>
            </a:r>
          </a:p>
          <a:p>
            <a:pPr lvl="2">
              <a:spcBef>
                <a:spcPts val="0"/>
              </a:spcBef>
              <a:buSzPts val="2400"/>
            </a:pPr>
            <a:r>
              <a:rPr lang="en-IN" sz="2400" dirty="0"/>
              <a:t>RFP</a:t>
            </a:r>
          </a:p>
          <a:p>
            <a:pPr lvl="1">
              <a:spcBef>
                <a:spcPts val="0"/>
              </a:spcBef>
              <a:buSzPts val="2400"/>
            </a:pPr>
            <a:r>
              <a:rPr lang="en-IN" sz="2400" dirty="0"/>
              <a:t>Build software?</a:t>
            </a:r>
          </a:p>
          <a:p>
            <a:pPr lvl="2">
              <a:spcBef>
                <a:spcPts val="0"/>
              </a:spcBef>
              <a:buSzPts val="2400"/>
            </a:pPr>
            <a:r>
              <a:rPr lang="en-IN" sz="2400" dirty="0"/>
              <a:t>Agile process</a:t>
            </a:r>
          </a:p>
          <a:p>
            <a:pPr lvl="2">
              <a:spcBef>
                <a:spcPts val="0"/>
              </a:spcBef>
              <a:buSzPts val="2400"/>
            </a:pPr>
            <a:r>
              <a:rPr lang="en-IN" sz="2400" dirty="0"/>
              <a:t>Prototyping</a:t>
            </a:r>
          </a:p>
          <a:p>
            <a:pPr lvl="2">
              <a:spcBef>
                <a:spcPts val="0"/>
              </a:spcBef>
              <a:buSzPts val="2400"/>
            </a:pPr>
            <a:r>
              <a:rPr lang="en-IN" sz="2400" dirty="0"/>
              <a:t>Cost of </a:t>
            </a:r>
            <a:r>
              <a:rPr lang="en-IN" sz="2400"/>
              <a:t>software development</a:t>
            </a:r>
            <a:endParaRPr lang="en-IN" sz="2400" dirty="0"/>
          </a:p>
          <a:p>
            <a:pPr>
              <a:spcBef>
                <a:spcPts val="0"/>
              </a:spcBef>
              <a:buSzPts val="2400"/>
            </a:pPr>
            <a:r>
              <a:rPr lang="en-IN" sz="2400" dirty="0"/>
              <a:t>Outsource</a:t>
            </a:r>
          </a:p>
          <a:p>
            <a:pPr lvl="0">
              <a:spcBef>
                <a:spcPts val="0"/>
              </a:spcBef>
              <a:buSzPts val="2400"/>
            </a:pPr>
            <a:endParaRPr lang="en-IN" sz="2400" dirty="0"/>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How to Obtain an </a:t>
            </a:r>
            <a:r>
              <a:rPr lang="en-IN" sz="3600" spc="-450" dirty="0">
                <a:latin typeface="+mj-lt"/>
              </a:rPr>
              <a:t>A I </a:t>
            </a:r>
            <a:r>
              <a:rPr lang="en-IN" sz="3600" dirty="0">
                <a:latin typeface="+mj-lt"/>
              </a:rPr>
              <a:t>S</a:t>
            </a:r>
          </a:p>
        </p:txBody>
      </p:sp>
      <p:sp>
        <p:nvSpPr>
          <p:cNvPr id="2" name="Content Placeholder 1"/>
          <p:cNvSpPr>
            <a:spLocks noGrp="1"/>
          </p:cNvSpPr>
          <p:nvPr>
            <p:ph idx="13"/>
          </p:nvPr>
        </p:nvSpPr>
        <p:spPr>
          <a:xfrm>
            <a:off x="477115" y="841180"/>
            <a:ext cx="8229600" cy="1338828"/>
          </a:xfrm>
        </p:spPr>
        <p:txBody>
          <a:bodyPr>
            <a:noAutofit/>
          </a:bodyPr>
          <a:lstStyle/>
          <a:p>
            <a:pPr lvl="0">
              <a:spcBef>
                <a:spcPts val="0"/>
              </a:spcBef>
              <a:buSzPts val="2400"/>
            </a:pPr>
            <a:r>
              <a:rPr lang="en-IN" sz="2400" dirty="0"/>
              <a:t>“Buy versus build?”</a:t>
            </a:r>
          </a:p>
          <a:p>
            <a:pPr lvl="0">
              <a:spcBef>
                <a:spcPts val="0"/>
              </a:spcBef>
              <a:buSzPts val="2400"/>
            </a:pPr>
            <a:endParaRPr lang="en-IN" sz="2400" dirty="0"/>
          </a:p>
          <a:p>
            <a:pPr lvl="0">
              <a:spcBef>
                <a:spcPts val="0"/>
              </a:spcBef>
              <a:buSzPts val="2400"/>
            </a:pPr>
            <a:endParaRPr lang="en-IN" sz="2400" dirty="0"/>
          </a:p>
          <a:p>
            <a:pPr lvl="0">
              <a:spcBef>
                <a:spcPts val="0"/>
              </a:spcBef>
              <a:buSzPts val="2400"/>
            </a:pPr>
            <a:r>
              <a:rPr lang="en-IN" sz="2400" dirty="0"/>
              <a:t>Three primary approaches</a:t>
            </a:r>
          </a:p>
          <a:p>
            <a:pPr lvl="1">
              <a:spcBef>
                <a:spcPts val="0"/>
              </a:spcBef>
              <a:buSzPts val="2400"/>
            </a:pPr>
            <a:r>
              <a:rPr lang="en-IN" sz="2400" dirty="0"/>
              <a:t>Purchase</a:t>
            </a:r>
          </a:p>
          <a:p>
            <a:pPr lvl="1">
              <a:spcBef>
                <a:spcPts val="900"/>
              </a:spcBef>
              <a:buSzPts val="2400"/>
            </a:pPr>
            <a:r>
              <a:rPr lang="en-IN" sz="2400" dirty="0"/>
              <a:t>Develop in-house</a:t>
            </a:r>
          </a:p>
          <a:p>
            <a:pPr lvl="2">
              <a:spcBef>
                <a:spcPts val="900"/>
              </a:spcBef>
              <a:buSzPts val="2400"/>
            </a:pPr>
            <a:r>
              <a:rPr lang="en-IN" sz="2400" dirty="0"/>
              <a:t>End-user computing</a:t>
            </a:r>
          </a:p>
          <a:p>
            <a:pPr lvl="1">
              <a:spcBef>
                <a:spcPts val="900"/>
              </a:spcBef>
              <a:buSzPts val="2400"/>
            </a:pPr>
            <a:r>
              <a:rPr lang="en-IN" sz="2400" dirty="0"/>
              <a:t>Outsource to outside organization</a:t>
            </a:r>
          </a:p>
        </p:txBody>
      </p:sp>
    </p:spTree>
    <p:extLst>
      <p:ext uri="{BB962C8B-B14F-4D97-AF65-F5344CB8AC3E}">
        <p14:creationId xmlns:p14="http://schemas.microsoft.com/office/powerpoint/2010/main" val="3820203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Purchasing</a:t>
            </a:r>
          </a:p>
        </p:txBody>
      </p:sp>
      <p:sp>
        <p:nvSpPr>
          <p:cNvPr id="2" name="Content Placeholder 1"/>
          <p:cNvSpPr>
            <a:spLocks noGrp="1"/>
          </p:cNvSpPr>
          <p:nvPr>
            <p:ph idx="13"/>
          </p:nvPr>
        </p:nvSpPr>
        <p:spPr>
          <a:xfrm>
            <a:off x="477115" y="841180"/>
            <a:ext cx="8229600" cy="2677656"/>
          </a:xfrm>
        </p:spPr>
        <p:txBody>
          <a:bodyPr>
            <a:noAutofit/>
          </a:bodyPr>
          <a:lstStyle/>
          <a:p>
            <a:pPr lvl="0">
              <a:spcBef>
                <a:spcPts val="0"/>
              </a:spcBef>
              <a:buSzPts val="2400"/>
            </a:pPr>
            <a:r>
              <a:rPr lang="en-IN" sz="2400" dirty="0"/>
              <a:t>Select a vendor (from referrals, trade shows, etc.)</a:t>
            </a:r>
          </a:p>
          <a:p>
            <a:pPr lvl="0">
              <a:spcBef>
                <a:spcPts val="900"/>
              </a:spcBef>
              <a:buSzPts val="2400"/>
            </a:pPr>
            <a:r>
              <a:rPr lang="en-IN" sz="2400" dirty="0"/>
              <a:t>Request for proposal (</a:t>
            </a:r>
            <a:r>
              <a:rPr lang="en-IN" sz="2400" spc="-350" dirty="0"/>
              <a:t>R F </a:t>
            </a:r>
            <a:r>
              <a:rPr lang="en-IN" sz="2400" dirty="0"/>
              <a:t>P) that meets needs</a:t>
            </a:r>
          </a:p>
          <a:p>
            <a:pPr lvl="0">
              <a:spcBef>
                <a:spcPts val="900"/>
              </a:spcBef>
              <a:buSzPts val="2400"/>
            </a:pPr>
            <a:r>
              <a:rPr lang="en-IN" sz="2400" dirty="0"/>
              <a:t>Evaluate proposals</a:t>
            </a:r>
          </a:p>
          <a:p>
            <a:pPr lvl="1">
              <a:spcBef>
                <a:spcPts val="900"/>
              </a:spcBef>
              <a:buSzPts val="2000"/>
            </a:pPr>
            <a:r>
              <a:rPr lang="en-IN" sz="2400" dirty="0"/>
              <a:t>Top vendors invited to give demonstrations on how their system will fit your needs</a:t>
            </a:r>
          </a:p>
          <a:p>
            <a:pPr lvl="0">
              <a:spcBef>
                <a:spcPts val="900"/>
              </a:spcBef>
              <a:buSzPts val="2400"/>
            </a:pPr>
            <a:r>
              <a:rPr lang="en-IN" sz="2400" dirty="0"/>
              <a:t>Make a final selection based upon your criteria</a:t>
            </a:r>
          </a:p>
        </p:txBody>
      </p:sp>
    </p:spTree>
    <p:extLst>
      <p:ext uri="{BB962C8B-B14F-4D97-AF65-F5344CB8AC3E}">
        <p14:creationId xmlns:p14="http://schemas.microsoft.com/office/powerpoint/2010/main" val="2239343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C949D20-869A-7544-BFE1-DFDA149DD183}"/>
              </a:ext>
            </a:extLst>
          </p:cNvPr>
          <p:cNvSpPr>
            <a:spLocks noGrp="1"/>
          </p:cNvSpPr>
          <p:nvPr>
            <p:ph type="title"/>
          </p:nvPr>
        </p:nvSpPr>
        <p:spPr>
          <a:xfrm>
            <a:off x="1162844" y="758654"/>
            <a:ext cx="7523956" cy="553998"/>
          </a:xfrm>
        </p:spPr>
        <p:txBody>
          <a:bodyPr/>
          <a:lstStyle/>
          <a:p>
            <a:r>
              <a:rPr lang="en-US" dirty="0"/>
              <a:t>RFP (request for proposal)</a:t>
            </a:r>
          </a:p>
        </p:txBody>
      </p:sp>
      <p:pic>
        <p:nvPicPr>
          <p:cNvPr id="1026" name="Picture 2" descr="Standard Request for proposal process flowchart">
            <a:extLst>
              <a:ext uri="{FF2B5EF4-FFF2-40B4-BE49-F238E27FC236}">
                <a16:creationId xmlns:a16="http://schemas.microsoft.com/office/drawing/2014/main" id="{A5A8E35E-4ADB-7B4C-83CC-BCAB43E88C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0"/>
            <a:ext cx="7523956" cy="670728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F53F460-00CB-6643-A213-B1B7774274CD}"/>
              </a:ext>
            </a:extLst>
          </p:cNvPr>
          <p:cNvSpPr txBox="1"/>
          <p:nvPr/>
        </p:nvSpPr>
        <p:spPr>
          <a:xfrm>
            <a:off x="685800" y="6400800"/>
            <a:ext cx="5334000" cy="369332"/>
          </a:xfrm>
          <a:prstGeom prst="rect">
            <a:avLst/>
          </a:prstGeom>
          <a:noFill/>
        </p:spPr>
        <p:txBody>
          <a:bodyPr wrap="square">
            <a:spAutoFit/>
          </a:bodyPr>
          <a:lstStyle/>
          <a:p>
            <a:r>
              <a:rPr lang="en-US" dirty="0">
                <a:hlinkClick r:id="rId3"/>
              </a:rPr>
              <a:t>https://www.smartsheet.com/request-for-proposal</a:t>
            </a:r>
            <a:r>
              <a:rPr lang="en-US" dirty="0"/>
              <a:t> </a:t>
            </a:r>
          </a:p>
        </p:txBody>
      </p:sp>
    </p:spTree>
    <p:extLst>
      <p:ext uri="{BB962C8B-B14F-4D97-AF65-F5344CB8AC3E}">
        <p14:creationId xmlns:p14="http://schemas.microsoft.com/office/powerpoint/2010/main" val="2899457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5CBDF-AD79-904A-965E-1DD5DD5E7A86}"/>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1DFCB1EB-74D1-CF46-B225-FD0867BC5A51}"/>
              </a:ext>
            </a:extLst>
          </p:cNvPr>
          <p:cNvSpPr txBox="1"/>
          <p:nvPr/>
        </p:nvSpPr>
        <p:spPr>
          <a:xfrm>
            <a:off x="0" y="6099346"/>
            <a:ext cx="6781800" cy="369332"/>
          </a:xfrm>
          <a:prstGeom prst="rect">
            <a:avLst/>
          </a:prstGeom>
          <a:noFill/>
        </p:spPr>
        <p:txBody>
          <a:bodyPr wrap="square">
            <a:spAutoFit/>
          </a:bodyPr>
          <a:lstStyle/>
          <a:p>
            <a:r>
              <a:rPr lang="en-US" dirty="0"/>
              <a:t>https://</a:t>
            </a:r>
            <a:r>
              <a:rPr lang="en-US" dirty="0" err="1"/>
              <a:t>www.smartsheet.com</a:t>
            </a:r>
            <a:r>
              <a:rPr lang="en-US" dirty="0"/>
              <a:t>/request-for-proposal</a:t>
            </a:r>
          </a:p>
        </p:txBody>
      </p:sp>
      <p:pic>
        <p:nvPicPr>
          <p:cNvPr id="2049" name="Picture 1" descr="Request for Proposal Template">
            <a:extLst>
              <a:ext uri="{FF2B5EF4-FFF2-40B4-BE49-F238E27FC236}">
                <a16:creationId xmlns:a16="http://schemas.microsoft.com/office/drawing/2014/main" id="{AB0C2386-1CD5-414B-9C32-6FF523C1C7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386"/>
          <a:stretch/>
        </p:blipFill>
        <p:spPr bwMode="auto">
          <a:xfrm>
            <a:off x="228600" y="0"/>
            <a:ext cx="90424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1837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5CBDF-AD79-904A-965E-1DD5DD5E7A86}"/>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1DFCB1EB-74D1-CF46-B225-FD0867BC5A51}"/>
              </a:ext>
            </a:extLst>
          </p:cNvPr>
          <p:cNvSpPr txBox="1"/>
          <p:nvPr/>
        </p:nvSpPr>
        <p:spPr>
          <a:xfrm>
            <a:off x="0" y="6099346"/>
            <a:ext cx="6781800" cy="369332"/>
          </a:xfrm>
          <a:prstGeom prst="rect">
            <a:avLst/>
          </a:prstGeom>
          <a:noFill/>
        </p:spPr>
        <p:txBody>
          <a:bodyPr wrap="square">
            <a:spAutoFit/>
          </a:bodyPr>
          <a:lstStyle/>
          <a:p>
            <a:r>
              <a:rPr lang="en-US" dirty="0"/>
              <a:t>https://</a:t>
            </a:r>
            <a:r>
              <a:rPr lang="en-US" dirty="0" err="1"/>
              <a:t>www.smartsheet.com</a:t>
            </a:r>
            <a:r>
              <a:rPr lang="en-US" dirty="0"/>
              <a:t>/request-for-proposal</a:t>
            </a:r>
          </a:p>
        </p:txBody>
      </p:sp>
      <p:pic>
        <p:nvPicPr>
          <p:cNvPr id="2049" name="Picture 1" descr="Request for Proposal Template">
            <a:extLst>
              <a:ext uri="{FF2B5EF4-FFF2-40B4-BE49-F238E27FC236}">
                <a16:creationId xmlns:a16="http://schemas.microsoft.com/office/drawing/2014/main" id="{AB0C2386-1CD5-414B-9C32-6FF523C1C7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126"/>
          <a:stretch/>
        </p:blipFill>
        <p:spPr bwMode="auto">
          <a:xfrm>
            <a:off x="50800" y="354394"/>
            <a:ext cx="9042400" cy="5744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026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A04C9-5FB9-A542-B3A6-ADD7F39ACC6F}"/>
              </a:ext>
            </a:extLst>
          </p:cNvPr>
          <p:cNvSpPr>
            <a:spLocks noGrp="1"/>
          </p:cNvSpPr>
          <p:nvPr>
            <p:ph type="title"/>
          </p:nvPr>
        </p:nvSpPr>
        <p:spPr/>
        <p:txBody>
          <a:bodyPr/>
          <a:lstStyle/>
          <a:p>
            <a:r>
              <a:rPr lang="en-US" dirty="0"/>
              <a:t>Example of Point Scoring Evaluation</a:t>
            </a:r>
          </a:p>
        </p:txBody>
      </p:sp>
      <p:pic>
        <p:nvPicPr>
          <p:cNvPr id="4" name="Picture 3" descr="Table&#10;&#10;Description automatically generated with medium confidence">
            <a:extLst>
              <a:ext uri="{FF2B5EF4-FFF2-40B4-BE49-F238E27FC236}">
                <a16:creationId xmlns:a16="http://schemas.microsoft.com/office/drawing/2014/main" id="{046519E2-2B4A-A442-90C0-6B0D7E0E0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32" y="1676400"/>
            <a:ext cx="9144000" cy="4231851"/>
          </a:xfrm>
          <a:prstGeom prst="rect">
            <a:avLst/>
          </a:prstGeom>
        </p:spPr>
      </p:pic>
    </p:spTree>
    <p:extLst>
      <p:ext uri="{BB962C8B-B14F-4D97-AF65-F5344CB8AC3E}">
        <p14:creationId xmlns:p14="http://schemas.microsoft.com/office/powerpoint/2010/main" val="1616424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4A4EE-F28C-F542-9FA6-CF7DB79236FD}"/>
              </a:ext>
            </a:extLst>
          </p:cNvPr>
          <p:cNvSpPr>
            <a:spLocks noGrp="1"/>
          </p:cNvSpPr>
          <p:nvPr>
            <p:ph type="title"/>
          </p:nvPr>
        </p:nvSpPr>
        <p:spPr/>
        <p:txBody>
          <a:bodyPr/>
          <a:lstStyle/>
          <a:p>
            <a:r>
              <a:rPr lang="en-US" dirty="0"/>
              <a:t>When to purchase software?</a:t>
            </a:r>
          </a:p>
        </p:txBody>
      </p:sp>
      <p:sp>
        <p:nvSpPr>
          <p:cNvPr id="3" name="Content Placeholder 2">
            <a:extLst>
              <a:ext uri="{FF2B5EF4-FFF2-40B4-BE49-F238E27FC236}">
                <a16:creationId xmlns:a16="http://schemas.microsoft.com/office/drawing/2014/main" id="{BC72D647-7317-874B-AE56-63041BDEA314}"/>
              </a:ext>
            </a:extLst>
          </p:cNvPr>
          <p:cNvSpPr>
            <a:spLocks noGrp="1"/>
          </p:cNvSpPr>
          <p:nvPr>
            <p:ph idx="1"/>
          </p:nvPr>
        </p:nvSpPr>
        <p:spPr/>
        <p:txBody>
          <a:bodyPr/>
          <a:lstStyle/>
          <a:p>
            <a:pPr marL="0" indent="0">
              <a:spcBef>
                <a:spcPts val="300"/>
              </a:spcBef>
              <a:buNone/>
            </a:pPr>
            <a:r>
              <a:rPr lang="en-US" b="1" dirty="0"/>
              <a:t>Yes</a:t>
            </a:r>
          </a:p>
          <a:p>
            <a:pPr>
              <a:spcBef>
                <a:spcPts val="300"/>
              </a:spcBef>
            </a:pPr>
            <a:r>
              <a:rPr lang="en-US" dirty="0"/>
              <a:t>Task specified by external parties (i.e., bookkeeping, i.e. GAAP)</a:t>
            </a:r>
          </a:p>
          <a:p>
            <a:pPr>
              <a:spcBef>
                <a:spcPts val="300"/>
              </a:spcBef>
            </a:pPr>
            <a:r>
              <a:rPr lang="en-US" dirty="0"/>
              <a:t>Task used by many companies (</a:t>
            </a:r>
            <a:r>
              <a:rPr lang="en-US" dirty="0" err="1"/>
              <a:t>i.e</a:t>
            </a:r>
            <a:r>
              <a:rPr lang="en-US" dirty="0"/>
              <a:t>, A/P)</a:t>
            </a:r>
          </a:p>
          <a:p>
            <a:pPr>
              <a:spcBef>
                <a:spcPts val="300"/>
              </a:spcBef>
            </a:pPr>
            <a:r>
              <a:rPr lang="en-US" dirty="0"/>
              <a:t>Task requires significant complex/inter-related programming (i.e., ERP, Excel)</a:t>
            </a:r>
          </a:p>
          <a:p>
            <a:pPr>
              <a:spcBef>
                <a:spcPts val="300"/>
              </a:spcBef>
            </a:pPr>
            <a:r>
              <a:rPr lang="en-US" i="1" dirty="0"/>
              <a:t>Allows pooling of development resources between many clients</a:t>
            </a:r>
          </a:p>
          <a:p>
            <a:pPr marL="0" indent="0">
              <a:spcBef>
                <a:spcPts val="300"/>
              </a:spcBef>
              <a:buNone/>
            </a:pPr>
            <a:r>
              <a:rPr lang="en-US" b="1" dirty="0"/>
              <a:t>No</a:t>
            </a:r>
          </a:p>
          <a:p>
            <a:pPr>
              <a:spcBef>
                <a:spcPts val="300"/>
              </a:spcBef>
            </a:pPr>
            <a:r>
              <a:rPr lang="en-US" dirty="0"/>
              <a:t>Task part of your company’s differentiating “secret sauce”? (i.e. delivery algorithm for </a:t>
            </a:r>
            <a:r>
              <a:rPr lang="en-US" dirty="0" err="1"/>
              <a:t>UberEats</a:t>
            </a:r>
            <a:r>
              <a:rPr lang="en-US" dirty="0"/>
              <a:t>)</a:t>
            </a:r>
          </a:p>
          <a:p>
            <a:pPr>
              <a:spcBef>
                <a:spcPts val="300"/>
              </a:spcBef>
            </a:pPr>
            <a:r>
              <a:rPr lang="en-US" dirty="0"/>
              <a:t>Task related to idiosyncratic environment? (i.e., expert witness case management)</a:t>
            </a:r>
          </a:p>
          <a:p>
            <a:pPr>
              <a:spcBef>
                <a:spcPts val="300"/>
              </a:spcBef>
            </a:pPr>
            <a:r>
              <a:rPr lang="en-US" dirty="0"/>
              <a:t>Task acts as glue between multiple systems (i.e., RPA, interfaces)</a:t>
            </a:r>
          </a:p>
          <a:p>
            <a:pPr>
              <a:spcBef>
                <a:spcPts val="300"/>
              </a:spcBef>
            </a:pPr>
            <a:r>
              <a:rPr lang="en-US" dirty="0"/>
              <a:t>Customization of larger software package (i.e., </a:t>
            </a:r>
            <a:r>
              <a:rPr lang="en-US" dirty="0" err="1"/>
              <a:t>SalesForce</a:t>
            </a:r>
            <a:r>
              <a:rPr lang="en-US" dirty="0"/>
              <a:t>)</a:t>
            </a:r>
          </a:p>
          <a:p>
            <a:pPr>
              <a:spcBef>
                <a:spcPts val="300"/>
              </a:spcBef>
            </a:pPr>
            <a:r>
              <a:rPr lang="en-US" i="1" dirty="0"/>
              <a:t>Investment leads to efficiency or quality of end-product</a:t>
            </a:r>
          </a:p>
          <a:p>
            <a:pPr>
              <a:spcBef>
                <a:spcPts val="300"/>
              </a:spcBef>
            </a:pPr>
            <a:endParaRPr lang="en-US" dirty="0"/>
          </a:p>
        </p:txBody>
      </p:sp>
    </p:spTree>
    <p:extLst>
      <p:ext uri="{BB962C8B-B14F-4D97-AF65-F5344CB8AC3E}">
        <p14:creationId xmlns:p14="http://schemas.microsoft.com/office/powerpoint/2010/main" val="845397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Develop Software In-House</a:t>
            </a:r>
          </a:p>
        </p:txBody>
      </p:sp>
      <p:sp>
        <p:nvSpPr>
          <p:cNvPr id="2" name="Content Placeholder 1"/>
          <p:cNvSpPr>
            <a:spLocks noGrp="1"/>
          </p:cNvSpPr>
          <p:nvPr>
            <p:ph idx="13"/>
          </p:nvPr>
        </p:nvSpPr>
        <p:spPr>
          <a:xfrm>
            <a:off x="477115" y="841180"/>
            <a:ext cx="8229600" cy="4385816"/>
          </a:xfrm>
        </p:spPr>
        <p:txBody>
          <a:bodyPr>
            <a:noAutofit/>
          </a:bodyPr>
          <a:lstStyle/>
          <a:p>
            <a:pPr lvl="0">
              <a:spcBef>
                <a:spcPts val="0"/>
              </a:spcBef>
              <a:buSzPts val="2400"/>
            </a:pPr>
            <a:r>
              <a:rPr lang="en-IN" sz="2400" dirty="0"/>
              <a:t>Advantages</a:t>
            </a:r>
          </a:p>
          <a:p>
            <a:pPr lvl="1">
              <a:buSzPts val="2000"/>
            </a:pPr>
            <a:r>
              <a:rPr lang="en-IN" sz="2400" dirty="0"/>
              <a:t>Provides a significant competitive advantage</a:t>
            </a:r>
          </a:p>
          <a:p>
            <a:pPr lvl="0">
              <a:spcBef>
                <a:spcPts val="600"/>
              </a:spcBef>
              <a:buSzPts val="2400"/>
            </a:pPr>
            <a:r>
              <a:rPr lang="en-IN" sz="2400" dirty="0"/>
              <a:t>Risks</a:t>
            </a:r>
          </a:p>
          <a:p>
            <a:pPr lvl="1">
              <a:buSzPts val="2000"/>
            </a:pPr>
            <a:r>
              <a:rPr lang="en-IN" sz="2400" dirty="0"/>
              <a:t>Requires significant amounts of time </a:t>
            </a:r>
          </a:p>
          <a:p>
            <a:pPr lvl="1">
              <a:buSzPts val="2000"/>
            </a:pPr>
            <a:r>
              <a:rPr lang="en-IN" sz="2400" dirty="0"/>
              <a:t>Complexity of the system</a:t>
            </a:r>
          </a:p>
          <a:p>
            <a:pPr lvl="1">
              <a:buSzPts val="2000"/>
            </a:pPr>
            <a:r>
              <a:rPr lang="en-IN" sz="2400" dirty="0"/>
              <a:t>Poor requirements defined</a:t>
            </a:r>
          </a:p>
          <a:p>
            <a:pPr lvl="1">
              <a:buSzPts val="2000"/>
            </a:pPr>
            <a:r>
              <a:rPr lang="en-IN" sz="2400" dirty="0"/>
              <a:t>Insufficient planning</a:t>
            </a:r>
          </a:p>
          <a:p>
            <a:pPr lvl="1">
              <a:buSzPts val="2000"/>
            </a:pPr>
            <a:r>
              <a:rPr lang="en-IN" sz="2400" dirty="0"/>
              <a:t>Inadequate communication and cooperation</a:t>
            </a:r>
          </a:p>
          <a:p>
            <a:pPr lvl="1">
              <a:buSzPts val="2000"/>
            </a:pPr>
            <a:r>
              <a:rPr lang="en-IN" sz="2400" dirty="0"/>
              <a:t>Lack of qualified staff</a:t>
            </a:r>
          </a:p>
          <a:p>
            <a:pPr lvl="1">
              <a:buSzPts val="2000"/>
            </a:pPr>
            <a:r>
              <a:rPr lang="en-IN" sz="2400" dirty="0"/>
              <a:t>Poor top management support</a:t>
            </a:r>
          </a:p>
        </p:txBody>
      </p:sp>
    </p:spTree>
    <p:extLst>
      <p:ext uri="{BB962C8B-B14F-4D97-AF65-F5344CB8AC3E}">
        <p14:creationId xmlns:p14="http://schemas.microsoft.com/office/powerpoint/2010/main" val="1216618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44EB-36A4-CD44-B1A9-DD9FCD1240B4}"/>
              </a:ext>
            </a:extLst>
          </p:cNvPr>
          <p:cNvSpPr>
            <a:spLocks noGrp="1"/>
          </p:cNvSpPr>
          <p:nvPr>
            <p:ph type="title"/>
          </p:nvPr>
        </p:nvSpPr>
        <p:spPr>
          <a:xfrm>
            <a:off x="1371600" y="215372"/>
            <a:ext cx="7315200" cy="1097280"/>
          </a:xfrm>
        </p:spPr>
        <p:txBody>
          <a:bodyPr/>
          <a:lstStyle/>
          <a:p>
            <a:r>
              <a:rPr lang="en-US" dirty="0"/>
              <a:t>COCOMO Model </a:t>
            </a:r>
          </a:p>
        </p:txBody>
      </p:sp>
      <p:pic>
        <p:nvPicPr>
          <p:cNvPr id="5" name="Content Placeholder 4" descr="Table&#10;&#10;Description automatically generated">
            <a:extLst>
              <a:ext uri="{FF2B5EF4-FFF2-40B4-BE49-F238E27FC236}">
                <a16:creationId xmlns:a16="http://schemas.microsoft.com/office/drawing/2014/main" id="{75A93A9D-4C2A-1941-BE69-5C4A1E32D3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54142"/>
            <a:ext cx="7543800" cy="5922503"/>
          </a:xfrm>
        </p:spPr>
      </p:pic>
      <p:sp>
        <p:nvSpPr>
          <p:cNvPr id="7" name="TextBox 6">
            <a:extLst>
              <a:ext uri="{FF2B5EF4-FFF2-40B4-BE49-F238E27FC236}">
                <a16:creationId xmlns:a16="http://schemas.microsoft.com/office/drawing/2014/main" id="{BEA85FCF-26FB-424B-A272-32799F3F10D1}"/>
              </a:ext>
            </a:extLst>
          </p:cNvPr>
          <p:cNvSpPr txBox="1"/>
          <p:nvPr/>
        </p:nvSpPr>
        <p:spPr>
          <a:xfrm>
            <a:off x="4926754" y="6076645"/>
            <a:ext cx="4572000" cy="369332"/>
          </a:xfrm>
          <a:prstGeom prst="rect">
            <a:avLst/>
          </a:prstGeom>
          <a:noFill/>
        </p:spPr>
        <p:txBody>
          <a:bodyPr wrap="square">
            <a:spAutoFit/>
          </a:bodyPr>
          <a:lstStyle/>
          <a:p>
            <a:r>
              <a:rPr lang="en-US" dirty="0"/>
              <a:t>https://</a:t>
            </a:r>
            <a:r>
              <a:rPr lang="en-US" dirty="0" err="1"/>
              <a:t>en.wikipedia.org</a:t>
            </a:r>
            <a:r>
              <a:rPr lang="en-US" dirty="0"/>
              <a:t>/wiki/COCOMO</a:t>
            </a:r>
          </a:p>
        </p:txBody>
      </p:sp>
    </p:spTree>
    <p:extLst>
      <p:ext uri="{BB962C8B-B14F-4D97-AF65-F5344CB8AC3E}">
        <p14:creationId xmlns:p14="http://schemas.microsoft.com/office/powerpoint/2010/main" val="3099157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972DD86-99F7-C348-BF73-494F9EB5DD13}"/>
              </a:ext>
            </a:extLst>
          </p:cNvPr>
          <p:cNvSpPr>
            <a:spLocks noGrp="1"/>
          </p:cNvSpPr>
          <p:nvPr>
            <p:ph type="title"/>
          </p:nvPr>
        </p:nvSpPr>
        <p:spPr/>
        <p:txBody>
          <a:bodyPr/>
          <a:lstStyle/>
          <a:p>
            <a:r>
              <a:rPr lang="en-US" dirty="0"/>
              <a:t>How much does it cost to do custom coding?</a:t>
            </a:r>
          </a:p>
        </p:txBody>
      </p:sp>
      <p:sp>
        <p:nvSpPr>
          <p:cNvPr id="10" name="Content Placeholder 9">
            <a:extLst>
              <a:ext uri="{FF2B5EF4-FFF2-40B4-BE49-F238E27FC236}">
                <a16:creationId xmlns:a16="http://schemas.microsoft.com/office/drawing/2014/main" id="{82F6244B-8803-FE47-A0FC-3C75BE8644B9}"/>
              </a:ext>
            </a:extLst>
          </p:cNvPr>
          <p:cNvSpPr>
            <a:spLocks noGrp="1"/>
          </p:cNvSpPr>
          <p:nvPr>
            <p:ph idx="1"/>
          </p:nvPr>
        </p:nvSpPr>
        <p:spPr/>
        <p:txBody>
          <a:bodyPr/>
          <a:lstStyle/>
          <a:p>
            <a:r>
              <a:rPr lang="en-US" dirty="0"/>
              <a:t>Type (web, new/greenfield, software integration, software modification)</a:t>
            </a:r>
          </a:p>
          <a:p>
            <a:r>
              <a:rPr lang="en-US" dirty="0"/>
              <a:t>Size (number screens, tables, reports, integrations)</a:t>
            </a:r>
          </a:p>
          <a:p>
            <a:r>
              <a:rPr lang="en-US" dirty="0"/>
              <a:t>Team (PM, UI/UX, Business Analyst, Architect, DB admin, Developer, QA)</a:t>
            </a:r>
          </a:p>
          <a:p>
            <a:r>
              <a:rPr lang="en-US" dirty="0"/>
              <a:t>Examples from </a:t>
            </a:r>
            <a:r>
              <a:rPr lang="en-US" dirty="0">
                <a:hlinkClick r:id="rId2"/>
              </a:rPr>
              <a:t>https://www.spheregen.com/cost-of-software-development/</a:t>
            </a:r>
            <a:r>
              <a:rPr lang="en-US" dirty="0"/>
              <a:t> </a:t>
            </a:r>
          </a:p>
          <a:p>
            <a:pPr lvl="1"/>
            <a:r>
              <a:rPr lang="en-US" b="1" dirty="0"/>
              <a:t>Bug Fix – known issue</a:t>
            </a:r>
          </a:p>
          <a:p>
            <a:pPr lvl="1"/>
            <a:r>
              <a:rPr lang="en-US" dirty="0"/>
              <a:t>Resolution of a known issue in existing software that we are maintaining. This assumes that the cause of the issue is known, and the issue affects a minimal number of objects.</a:t>
            </a:r>
          </a:p>
          <a:p>
            <a:pPr lvl="1"/>
            <a:r>
              <a:rPr lang="en-US" b="1" dirty="0"/>
              <a:t>Type – Software Modification</a:t>
            </a:r>
            <a:endParaRPr lang="en-US" dirty="0"/>
          </a:p>
          <a:p>
            <a:pPr lvl="1"/>
            <a:r>
              <a:rPr lang="en-US" b="1" dirty="0"/>
              <a:t>Size – Small</a:t>
            </a:r>
            <a:endParaRPr lang="en-US" dirty="0"/>
          </a:p>
          <a:p>
            <a:pPr lvl="1"/>
            <a:r>
              <a:rPr lang="en-US" b="1" dirty="0"/>
              <a:t>Time Frame – 1-2 weeks</a:t>
            </a:r>
            <a:endParaRPr lang="en-US" dirty="0"/>
          </a:p>
          <a:p>
            <a:pPr lvl="1"/>
            <a:r>
              <a:rPr lang="en-US" b="1" dirty="0"/>
              <a:t>Cost – $2k-$10k</a:t>
            </a:r>
            <a:endParaRPr lang="en-US" dirty="0"/>
          </a:p>
          <a:p>
            <a:r>
              <a:rPr lang="en-US" dirty="0"/>
              <a:t> </a:t>
            </a:r>
          </a:p>
        </p:txBody>
      </p:sp>
    </p:spTree>
    <p:extLst>
      <p:ext uri="{BB962C8B-B14F-4D97-AF65-F5344CB8AC3E}">
        <p14:creationId xmlns:p14="http://schemas.microsoft.com/office/powerpoint/2010/main" val="3533746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972DD86-99F7-C348-BF73-494F9EB5DD13}"/>
              </a:ext>
            </a:extLst>
          </p:cNvPr>
          <p:cNvSpPr>
            <a:spLocks noGrp="1"/>
          </p:cNvSpPr>
          <p:nvPr>
            <p:ph type="title"/>
          </p:nvPr>
        </p:nvSpPr>
        <p:spPr/>
        <p:txBody>
          <a:bodyPr/>
          <a:lstStyle/>
          <a:p>
            <a:r>
              <a:rPr lang="en-US" dirty="0"/>
              <a:t>How much does it cost to do custom coding?</a:t>
            </a:r>
          </a:p>
        </p:txBody>
      </p:sp>
      <p:sp>
        <p:nvSpPr>
          <p:cNvPr id="10" name="Content Placeholder 9">
            <a:extLst>
              <a:ext uri="{FF2B5EF4-FFF2-40B4-BE49-F238E27FC236}">
                <a16:creationId xmlns:a16="http://schemas.microsoft.com/office/drawing/2014/main" id="{82F6244B-8803-FE47-A0FC-3C75BE8644B9}"/>
              </a:ext>
            </a:extLst>
          </p:cNvPr>
          <p:cNvSpPr>
            <a:spLocks noGrp="1"/>
          </p:cNvSpPr>
          <p:nvPr>
            <p:ph idx="1"/>
          </p:nvPr>
        </p:nvSpPr>
        <p:spPr/>
        <p:txBody>
          <a:bodyPr/>
          <a:lstStyle/>
          <a:p>
            <a:r>
              <a:rPr lang="en-US" dirty="0"/>
              <a:t>Type (web, new/greenfield, software integration, software modification)</a:t>
            </a:r>
          </a:p>
          <a:p>
            <a:r>
              <a:rPr lang="en-US" dirty="0"/>
              <a:t>Size (number screens, tables, reports, integrations)</a:t>
            </a:r>
          </a:p>
          <a:p>
            <a:r>
              <a:rPr lang="en-US" dirty="0"/>
              <a:t>Team (PM, UI/UX, Business Analyst, Architect, DB admin, Developer, QA)</a:t>
            </a:r>
          </a:p>
          <a:p>
            <a:r>
              <a:rPr lang="en-US" dirty="0"/>
              <a:t>Examples from </a:t>
            </a:r>
            <a:r>
              <a:rPr lang="en-US" dirty="0">
                <a:hlinkClick r:id="rId2"/>
              </a:rPr>
              <a:t>https://www.spheregen.com/cost-of-software-development/</a:t>
            </a:r>
            <a:r>
              <a:rPr lang="en-US" dirty="0"/>
              <a:t> </a:t>
            </a:r>
          </a:p>
          <a:p>
            <a:pPr lvl="1"/>
            <a:r>
              <a:rPr lang="en-US" b="1" dirty="0"/>
              <a:t>Proof of Concept Applications </a:t>
            </a:r>
          </a:p>
          <a:p>
            <a:pPr lvl="1"/>
            <a:r>
              <a:rPr lang="en-US" dirty="0"/>
              <a:t>Often the first step for many startups, these projects tend to focus more on the look and feel of a new application and the possibility of achieving the desired outcome, more than providing functionality.</a:t>
            </a:r>
          </a:p>
          <a:p>
            <a:pPr lvl="1"/>
            <a:r>
              <a:rPr lang="en-US" b="1" dirty="0"/>
              <a:t>Type – New Software</a:t>
            </a:r>
            <a:endParaRPr lang="en-US" dirty="0"/>
          </a:p>
          <a:p>
            <a:pPr lvl="1"/>
            <a:r>
              <a:rPr lang="en-US" b="1" dirty="0"/>
              <a:t>Size – Small</a:t>
            </a:r>
            <a:endParaRPr lang="en-US" dirty="0"/>
          </a:p>
          <a:p>
            <a:pPr lvl="1"/>
            <a:r>
              <a:rPr lang="en-US" b="1" dirty="0"/>
              <a:t>Time Frame – 4-8 weeks</a:t>
            </a:r>
            <a:endParaRPr lang="en-US" dirty="0"/>
          </a:p>
          <a:p>
            <a:pPr lvl="1"/>
            <a:r>
              <a:rPr lang="en-US" b="1" dirty="0"/>
              <a:t>Cost – $25k-$35k</a:t>
            </a:r>
            <a:endParaRPr lang="en-US" dirty="0"/>
          </a:p>
          <a:p>
            <a:r>
              <a:rPr lang="en-US" dirty="0"/>
              <a:t> </a:t>
            </a:r>
          </a:p>
        </p:txBody>
      </p:sp>
    </p:spTree>
    <p:extLst>
      <p:ext uri="{BB962C8B-B14F-4D97-AF65-F5344CB8AC3E}">
        <p14:creationId xmlns:p14="http://schemas.microsoft.com/office/powerpoint/2010/main" val="2678202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972DD86-99F7-C348-BF73-494F9EB5DD13}"/>
              </a:ext>
            </a:extLst>
          </p:cNvPr>
          <p:cNvSpPr>
            <a:spLocks noGrp="1"/>
          </p:cNvSpPr>
          <p:nvPr>
            <p:ph type="title"/>
          </p:nvPr>
        </p:nvSpPr>
        <p:spPr/>
        <p:txBody>
          <a:bodyPr/>
          <a:lstStyle/>
          <a:p>
            <a:r>
              <a:rPr lang="en-US" dirty="0"/>
              <a:t>How much does it cost to do custom coding?</a:t>
            </a:r>
          </a:p>
        </p:txBody>
      </p:sp>
      <p:sp>
        <p:nvSpPr>
          <p:cNvPr id="10" name="Content Placeholder 9">
            <a:extLst>
              <a:ext uri="{FF2B5EF4-FFF2-40B4-BE49-F238E27FC236}">
                <a16:creationId xmlns:a16="http://schemas.microsoft.com/office/drawing/2014/main" id="{82F6244B-8803-FE47-A0FC-3C75BE8644B9}"/>
              </a:ext>
            </a:extLst>
          </p:cNvPr>
          <p:cNvSpPr>
            <a:spLocks noGrp="1"/>
          </p:cNvSpPr>
          <p:nvPr>
            <p:ph idx="1"/>
          </p:nvPr>
        </p:nvSpPr>
        <p:spPr/>
        <p:txBody>
          <a:bodyPr/>
          <a:lstStyle/>
          <a:p>
            <a:r>
              <a:rPr lang="en-US" dirty="0"/>
              <a:t>Type (web, new/greenfield, software integration, software modification)</a:t>
            </a:r>
          </a:p>
          <a:p>
            <a:r>
              <a:rPr lang="en-US" dirty="0"/>
              <a:t>Size (number screens, tables, reports, integrations)</a:t>
            </a:r>
          </a:p>
          <a:p>
            <a:r>
              <a:rPr lang="en-US" dirty="0"/>
              <a:t>Team (PM, UI/UX, Business Analyst, Architect, DB admin, Developer, QA)</a:t>
            </a:r>
          </a:p>
          <a:p>
            <a:r>
              <a:rPr lang="en-US" dirty="0"/>
              <a:t>Examples from </a:t>
            </a:r>
            <a:r>
              <a:rPr lang="en-US" dirty="0">
                <a:hlinkClick r:id="rId2"/>
              </a:rPr>
              <a:t>https://www.spheregen.com/cost-of-software-development/</a:t>
            </a:r>
            <a:r>
              <a:rPr lang="en-US" dirty="0"/>
              <a:t> </a:t>
            </a:r>
          </a:p>
          <a:p>
            <a:pPr lvl="1"/>
            <a:r>
              <a:rPr lang="en-US" b="1" dirty="0"/>
              <a:t>Mobile Applications </a:t>
            </a:r>
          </a:p>
          <a:p>
            <a:pPr lvl="1"/>
            <a:r>
              <a:rPr lang="en-US" dirty="0"/>
              <a:t>Standalone application for iOS and Android. Moderate data collection, location awareness, secure cloud database interaction, push notifications, and administrative portal/functions.</a:t>
            </a:r>
          </a:p>
          <a:p>
            <a:pPr lvl="1"/>
            <a:r>
              <a:rPr lang="en-US" b="1" dirty="0"/>
              <a:t>Type – New Software</a:t>
            </a:r>
            <a:endParaRPr lang="en-US" dirty="0"/>
          </a:p>
          <a:p>
            <a:pPr lvl="1"/>
            <a:r>
              <a:rPr lang="en-US" b="1" dirty="0"/>
              <a:t>Size – Med</a:t>
            </a:r>
            <a:endParaRPr lang="en-US" dirty="0"/>
          </a:p>
          <a:p>
            <a:pPr lvl="1"/>
            <a:r>
              <a:rPr lang="en-US" b="1" dirty="0"/>
              <a:t>Time Frame – 4 Months</a:t>
            </a:r>
            <a:endParaRPr lang="en-US" dirty="0"/>
          </a:p>
          <a:p>
            <a:pPr lvl="1"/>
            <a:r>
              <a:rPr lang="en-US" b="1" dirty="0"/>
              <a:t>Cost – $60k-$70k</a:t>
            </a:r>
            <a:endParaRPr lang="en-US" dirty="0"/>
          </a:p>
          <a:p>
            <a:endParaRPr lang="en-US" dirty="0"/>
          </a:p>
          <a:p>
            <a:endParaRPr lang="en-US" dirty="0"/>
          </a:p>
        </p:txBody>
      </p:sp>
    </p:spTree>
    <p:extLst>
      <p:ext uri="{BB962C8B-B14F-4D97-AF65-F5344CB8AC3E}">
        <p14:creationId xmlns:p14="http://schemas.microsoft.com/office/powerpoint/2010/main" val="3603818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253CA1-CB18-C94A-9231-9498A59C8A94}"/>
              </a:ext>
            </a:extLst>
          </p:cNvPr>
          <p:cNvSpPr txBox="1"/>
          <p:nvPr/>
        </p:nvSpPr>
        <p:spPr>
          <a:xfrm>
            <a:off x="36095" y="5943600"/>
            <a:ext cx="7082589" cy="369332"/>
          </a:xfrm>
          <a:prstGeom prst="rect">
            <a:avLst/>
          </a:prstGeom>
          <a:noFill/>
        </p:spPr>
        <p:txBody>
          <a:bodyPr wrap="square">
            <a:spAutoFit/>
          </a:bodyPr>
          <a:lstStyle/>
          <a:p>
            <a:r>
              <a:rPr lang="en-US" dirty="0"/>
              <a:t>https://</a:t>
            </a:r>
            <a:r>
              <a:rPr lang="en-US" dirty="0" err="1"/>
              <a:t>www.cleveroad.com</a:t>
            </a:r>
            <a:r>
              <a:rPr lang="en-US" dirty="0"/>
              <a:t>/blog/software-development-cost</a:t>
            </a:r>
          </a:p>
        </p:txBody>
      </p:sp>
      <p:pic>
        <p:nvPicPr>
          <p:cNvPr id="7" name="Picture 6" descr="Table&#10;&#10;Description automatically generated">
            <a:extLst>
              <a:ext uri="{FF2B5EF4-FFF2-40B4-BE49-F238E27FC236}">
                <a16:creationId xmlns:a16="http://schemas.microsoft.com/office/drawing/2014/main" id="{6D0F3B45-89BD-0C43-8E05-69CA962A7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0"/>
            <a:ext cx="8105274" cy="5674660"/>
          </a:xfrm>
          <a:prstGeom prst="rect">
            <a:avLst/>
          </a:prstGeom>
        </p:spPr>
      </p:pic>
      <p:sp>
        <p:nvSpPr>
          <p:cNvPr id="2" name="Arrow: Right 1">
            <a:extLst>
              <a:ext uri="{FF2B5EF4-FFF2-40B4-BE49-F238E27FC236}">
                <a16:creationId xmlns:a16="http://schemas.microsoft.com/office/drawing/2014/main" id="{CAB67BDA-C7BD-40CF-A4F8-EE241C232099}"/>
              </a:ext>
            </a:extLst>
          </p:cNvPr>
          <p:cNvSpPr/>
          <p:nvPr/>
        </p:nvSpPr>
        <p:spPr>
          <a:xfrm rot="20187595">
            <a:off x="3943132" y="789943"/>
            <a:ext cx="2286000" cy="11430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Ha!</a:t>
            </a:r>
          </a:p>
        </p:txBody>
      </p:sp>
    </p:spTree>
    <p:extLst>
      <p:ext uri="{BB962C8B-B14F-4D97-AF65-F5344CB8AC3E}">
        <p14:creationId xmlns:p14="http://schemas.microsoft.com/office/powerpoint/2010/main" val="293023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D4A3F8-AD42-D245-833D-97BDEAAAFAEE}"/>
              </a:ext>
            </a:extLst>
          </p:cNvPr>
          <p:cNvSpPr>
            <a:spLocks noGrp="1"/>
          </p:cNvSpPr>
          <p:nvPr>
            <p:ph type="title"/>
          </p:nvPr>
        </p:nvSpPr>
        <p:spPr/>
        <p:txBody>
          <a:bodyPr/>
          <a:lstStyle/>
          <a:p>
            <a:r>
              <a:rPr lang="en-US" dirty="0"/>
              <a:t>R&amp;D Spending</a:t>
            </a:r>
          </a:p>
        </p:txBody>
      </p:sp>
      <p:sp>
        <p:nvSpPr>
          <p:cNvPr id="4" name="Content Placeholder 3">
            <a:extLst>
              <a:ext uri="{FF2B5EF4-FFF2-40B4-BE49-F238E27FC236}">
                <a16:creationId xmlns:a16="http://schemas.microsoft.com/office/drawing/2014/main" id="{EBA6819B-2D3A-C247-BC8A-4BD1756F020C}"/>
              </a:ext>
            </a:extLst>
          </p:cNvPr>
          <p:cNvSpPr>
            <a:spLocks noGrp="1"/>
          </p:cNvSpPr>
          <p:nvPr>
            <p:ph idx="1"/>
          </p:nvPr>
        </p:nvSpPr>
        <p:spPr/>
        <p:txBody>
          <a:bodyPr/>
          <a:lstStyle/>
          <a:p>
            <a:r>
              <a:rPr lang="en-US" dirty="0"/>
              <a:t>Uber R&amp;D 1.5b in 2018 </a:t>
            </a:r>
          </a:p>
          <a:p>
            <a:r>
              <a:rPr lang="en-US" dirty="0"/>
              <a:t>Spotify 10% of revenue</a:t>
            </a:r>
          </a:p>
          <a:p>
            <a:r>
              <a:rPr lang="en-US" dirty="0"/>
              <a:t>Pandora 11% of revenue</a:t>
            </a:r>
          </a:p>
          <a:p>
            <a:r>
              <a:rPr lang="en-US" dirty="0">
                <a:hlinkClick r:id="rId2"/>
              </a:rPr>
              <a:t>https://hbr.org/2019/01/its-time-to-stop-treating-rd-as-a-discretionary-expenditure</a:t>
            </a:r>
            <a:r>
              <a:rPr lang="en-US" dirty="0"/>
              <a:t> </a:t>
            </a:r>
          </a:p>
          <a:p>
            <a:pPr lvl="1"/>
            <a:r>
              <a:rPr lang="en-US" dirty="0"/>
              <a:t>First, R&amp;D is an economically significant expense for digital companies, much larger than for physical product companies. For example, in 2017, established digital companies such as </a:t>
            </a:r>
            <a:r>
              <a:rPr lang="en-US" b="1" dirty="0"/>
              <a:t>Facebook and Alphabet spent 19% and 15% of their sales, respectively, on R&amp;D</a:t>
            </a:r>
            <a:r>
              <a:rPr lang="en-US" dirty="0"/>
              <a:t>. Smaller digital companies might even spend more than 50%. For example, in 2013, Twitter spent 76% of its revenues on R&amp;D. Compare these numbers to 2% for General Motors, zero for Walmart, and 12% for Tesla in 2017.</a:t>
            </a:r>
          </a:p>
        </p:txBody>
      </p:sp>
    </p:spTree>
    <p:extLst>
      <p:ext uri="{BB962C8B-B14F-4D97-AF65-F5344CB8AC3E}">
        <p14:creationId xmlns:p14="http://schemas.microsoft.com/office/powerpoint/2010/main" val="2762224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1AEBC-F20B-1444-94FE-DA2922DB9483}"/>
              </a:ext>
            </a:extLst>
          </p:cNvPr>
          <p:cNvSpPr>
            <a:spLocks noGrp="1"/>
          </p:cNvSpPr>
          <p:nvPr>
            <p:ph type="title"/>
          </p:nvPr>
        </p:nvSpPr>
        <p:spPr>
          <a:xfrm>
            <a:off x="457200" y="215372"/>
            <a:ext cx="8229600" cy="3823228"/>
          </a:xfrm>
        </p:spPr>
        <p:txBody>
          <a:bodyPr/>
          <a:lstStyle/>
          <a:p>
            <a:r>
              <a:rPr lang="en-US" dirty="0"/>
              <a:t>Custom software isn’t a one &amp; done – ongoing maintenance and development</a:t>
            </a:r>
          </a:p>
        </p:txBody>
      </p:sp>
      <p:sp>
        <p:nvSpPr>
          <p:cNvPr id="5" name="Content Placeholder 4">
            <a:extLst>
              <a:ext uri="{FF2B5EF4-FFF2-40B4-BE49-F238E27FC236}">
                <a16:creationId xmlns:a16="http://schemas.microsoft.com/office/drawing/2014/main" id="{60BE9539-624E-F94B-B541-3010E01CA05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5800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63689"/>
            <a:ext cx="8229600" cy="553998"/>
          </a:xfrm>
        </p:spPr>
        <p:txBody>
          <a:bodyPr anchor="ctr">
            <a:noAutofit/>
          </a:bodyPr>
          <a:lstStyle/>
          <a:p>
            <a:r>
              <a:rPr lang="en-IN" sz="3600" dirty="0">
                <a:latin typeface="+mj-lt"/>
              </a:rPr>
              <a:t>Outsourcing</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852312"/>
            <a:ext cx="3962400" cy="307777"/>
          </a:xfrm>
          <a:solidFill>
            <a:schemeClr val="bg2"/>
          </a:solidFill>
        </p:spPr>
        <p:txBody>
          <a:bodyPr>
            <a:noAutofit/>
          </a:bodyPr>
          <a:lstStyle/>
          <a:p>
            <a:pPr marL="0" indent="92075">
              <a:buNone/>
            </a:pPr>
            <a:r>
              <a:rPr lang="en-US" sz="2000" b="1" dirty="0">
                <a:solidFill>
                  <a:schemeClr val="bg1"/>
                </a:solidFill>
              </a:rPr>
              <a:t>Advantages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309987"/>
            <a:ext cx="3962400" cy="4770537"/>
          </a:xfrm>
        </p:spPr>
        <p:txBody>
          <a:bodyPr>
            <a:noAutofit/>
          </a:bodyPr>
          <a:lstStyle/>
          <a:p>
            <a:pPr lvl="0">
              <a:spcBef>
                <a:spcPts val="600"/>
              </a:spcBef>
              <a:buSzPct val="100000"/>
            </a:pPr>
            <a:r>
              <a:rPr lang="en-IN" sz="2000" dirty="0"/>
              <a:t>Allows companies to concentrate on core competencies</a:t>
            </a:r>
          </a:p>
          <a:p>
            <a:pPr lvl="0">
              <a:spcBef>
                <a:spcPts val="600"/>
              </a:spcBef>
              <a:buSzPct val="100000"/>
            </a:pPr>
            <a:r>
              <a:rPr lang="en-IN" sz="2000" dirty="0"/>
              <a:t>Asset utilization</a:t>
            </a:r>
          </a:p>
          <a:p>
            <a:pPr lvl="0">
              <a:spcBef>
                <a:spcPts val="600"/>
              </a:spcBef>
              <a:buSzPct val="100000"/>
            </a:pPr>
            <a:r>
              <a:rPr lang="en-IN" sz="2000" dirty="0"/>
              <a:t>Access to greater expertise and better technology</a:t>
            </a:r>
          </a:p>
          <a:p>
            <a:pPr lvl="0">
              <a:spcBef>
                <a:spcPts val="600"/>
              </a:spcBef>
              <a:buSzPct val="100000"/>
            </a:pPr>
            <a:r>
              <a:rPr lang="en-IN" sz="2000" dirty="0"/>
              <a:t>Lower costs by standardizing user applications and splitting development and maintenance costs between projects</a:t>
            </a:r>
          </a:p>
          <a:p>
            <a:pPr lvl="0">
              <a:spcBef>
                <a:spcPts val="600"/>
              </a:spcBef>
              <a:buSzPct val="100000"/>
            </a:pPr>
            <a:r>
              <a:rPr lang="en-IN" sz="2000" dirty="0"/>
              <a:t>Less development time</a:t>
            </a:r>
          </a:p>
          <a:p>
            <a:pPr lvl="0">
              <a:spcBef>
                <a:spcPts val="600"/>
              </a:spcBef>
              <a:buSzPct val="100000"/>
            </a:pPr>
            <a:r>
              <a:rPr lang="en-IN" sz="2000" dirty="0"/>
              <a:t>Elimination of peaks-and-valleys usage</a:t>
            </a:r>
          </a:p>
          <a:p>
            <a:pPr lvl="0">
              <a:spcBef>
                <a:spcPts val="600"/>
              </a:spcBef>
              <a:buSzPct val="100000"/>
            </a:pPr>
            <a:r>
              <a:rPr lang="en-IN" sz="2000" dirty="0"/>
              <a:t>Facilitates downsizing</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852550"/>
            <a:ext cx="3939540" cy="307777"/>
          </a:xfrm>
          <a:solidFill>
            <a:schemeClr val="bg2"/>
          </a:solidFill>
        </p:spPr>
        <p:txBody>
          <a:bodyPr>
            <a:noAutofit/>
          </a:bodyPr>
          <a:lstStyle/>
          <a:p>
            <a:pPr marL="0" indent="92075">
              <a:spcBef>
                <a:spcPts val="0"/>
              </a:spcBef>
              <a:buSzPts val="2400"/>
              <a:buNone/>
            </a:pPr>
            <a:r>
              <a:rPr lang="en-US" sz="2000" b="1" dirty="0">
                <a:solidFill>
                  <a:schemeClr val="bg1"/>
                </a:solidFill>
              </a:rPr>
              <a:t>Disadvantages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313529"/>
            <a:ext cx="3939540" cy="2616101"/>
          </a:xfrm>
        </p:spPr>
        <p:txBody>
          <a:bodyPr>
            <a:noAutofit/>
          </a:bodyPr>
          <a:lstStyle/>
          <a:p>
            <a:pPr lvl="0">
              <a:spcBef>
                <a:spcPts val="600"/>
              </a:spcBef>
              <a:buSzPct val="100000"/>
            </a:pPr>
            <a:r>
              <a:rPr lang="en-IN" sz="2000" dirty="0"/>
              <a:t>Inflexibility</a:t>
            </a:r>
          </a:p>
          <a:p>
            <a:pPr lvl="0">
              <a:spcBef>
                <a:spcPts val="600"/>
              </a:spcBef>
              <a:buSzPct val="100000"/>
            </a:pPr>
            <a:r>
              <a:rPr lang="en-IN" sz="2000" dirty="0"/>
              <a:t>Loss of control</a:t>
            </a:r>
          </a:p>
          <a:p>
            <a:pPr lvl="0">
              <a:spcBef>
                <a:spcPts val="600"/>
              </a:spcBef>
              <a:buSzPct val="100000"/>
            </a:pPr>
            <a:r>
              <a:rPr lang="en-IN" sz="2000" dirty="0"/>
              <a:t>Reduced competitive advantage</a:t>
            </a:r>
          </a:p>
          <a:p>
            <a:pPr lvl="0">
              <a:spcBef>
                <a:spcPts val="600"/>
              </a:spcBef>
              <a:buSzPct val="100000"/>
            </a:pPr>
            <a:r>
              <a:rPr lang="en-IN" sz="2000" dirty="0"/>
              <a:t>Locked-in system</a:t>
            </a:r>
          </a:p>
          <a:p>
            <a:pPr lvl="0">
              <a:spcBef>
                <a:spcPts val="600"/>
              </a:spcBef>
              <a:buSzPct val="100000"/>
            </a:pPr>
            <a:r>
              <a:rPr lang="en-IN" sz="2000" dirty="0"/>
              <a:t>Unfulfilled goals</a:t>
            </a:r>
          </a:p>
          <a:p>
            <a:pPr lvl="0">
              <a:spcBef>
                <a:spcPts val="600"/>
              </a:spcBef>
              <a:buSzPct val="100000"/>
            </a:pPr>
            <a:r>
              <a:rPr lang="en-IN" sz="2000" dirty="0"/>
              <a:t>Poor service</a:t>
            </a:r>
          </a:p>
          <a:p>
            <a:pPr lvl="0">
              <a:spcBef>
                <a:spcPts val="600"/>
              </a:spcBef>
              <a:buSzPct val="100000"/>
            </a:pPr>
            <a:r>
              <a:rPr lang="en-IN" sz="2000" dirty="0"/>
              <a:t>Increased risk</a:t>
            </a:r>
          </a:p>
        </p:txBody>
      </p:sp>
    </p:spTree>
    <p:extLst>
      <p:ext uri="{BB962C8B-B14F-4D97-AF65-F5344CB8AC3E}">
        <p14:creationId xmlns:p14="http://schemas.microsoft.com/office/powerpoint/2010/main" val="4072293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2AF465-366B-364F-8E9A-540AB6C3CE70}"/>
              </a:ext>
            </a:extLst>
          </p:cNvPr>
          <p:cNvSpPr>
            <a:spLocks noGrp="1"/>
          </p:cNvSpPr>
          <p:nvPr>
            <p:ph type="title"/>
          </p:nvPr>
        </p:nvSpPr>
        <p:spPr/>
        <p:txBody>
          <a:bodyPr/>
          <a:lstStyle/>
          <a:p>
            <a:endParaRPr lang="en-US"/>
          </a:p>
        </p:txBody>
      </p:sp>
      <p:pic>
        <p:nvPicPr>
          <p:cNvPr id="4098" name="Picture 2">
            <a:extLst>
              <a:ext uri="{FF2B5EF4-FFF2-40B4-BE49-F238E27FC236}">
                <a16:creationId xmlns:a16="http://schemas.microsoft.com/office/drawing/2014/main" id="{429AB4F7-C2F5-DF46-98BD-6ECC31E5C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088" y="0"/>
            <a:ext cx="6218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210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64826"/>
            <a:ext cx="8229600" cy="1107996"/>
          </a:xfrm>
        </p:spPr>
        <p:txBody>
          <a:bodyPr anchor="ctr">
            <a:noAutofit/>
          </a:bodyPr>
          <a:lstStyle/>
          <a:p>
            <a:r>
              <a:rPr lang="en-IN" sz="3600" dirty="0">
                <a:latin typeface="+mj-lt"/>
              </a:rPr>
              <a:t>Business </a:t>
            </a:r>
            <a:r>
              <a:rPr lang="en-IN" sz="3600" u="sng" dirty="0">
                <a:latin typeface="+mj-lt"/>
              </a:rPr>
              <a:t>Process</a:t>
            </a:r>
            <a:r>
              <a:rPr lang="en-IN" sz="3600" dirty="0">
                <a:latin typeface="+mj-lt"/>
              </a:rPr>
              <a:t> Management Systems</a:t>
            </a:r>
          </a:p>
        </p:txBody>
      </p:sp>
      <p:sp>
        <p:nvSpPr>
          <p:cNvPr id="2" name="Content Placeholder 1"/>
          <p:cNvSpPr>
            <a:spLocks noGrp="1"/>
          </p:cNvSpPr>
          <p:nvPr>
            <p:ph idx="13"/>
          </p:nvPr>
        </p:nvSpPr>
        <p:spPr>
          <a:xfrm>
            <a:off x="477115" y="1425222"/>
            <a:ext cx="8229600" cy="3785652"/>
          </a:xfrm>
        </p:spPr>
        <p:txBody>
          <a:bodyPr>
            <a:noAutofit/>
          </a:bodyPr>
          <a:lstStyle/>
          <a:p>
            <a:pPr lvl="0">
              <a:spcBef>
                <a:spcPts val="0"/>
              </a:spcBef>
              <a:buSzPts val="2400"/>
            </a:pPr>
            <a:r>
              <a:rPr lang="en-IN" sz="2400" dirty="0"/>
              <a:t>Automate and facilitate business process improvements using:</a:t>
            </a:r>
          </a:p>
          <a:p>
            <a:pPr lvl="1">
              <a:spcBef>
                <a:spcPts val="900"/>
              </a:spcBef>
              <a:buSzPts val="1800"/>
            </a:pPr>
            <a:r>
              <a:rPr lang="en-IN" sz="2400" b="1" dirty="0"/>
              <a:t>Process engine </a:t>
            </a:r>
            <a:r>
              <a:rPr lang="en-IN" sz="2400" dirty="0"/>
              <a:t>to model and execute applications and business rules</a:t>
            </a:r>
          </a:p>
          <a:p>
            <a:pPr lvl="1">
              <a:spcBef>
                <a:spcPts val="900"/>
              </a:spcBef>
              <a:buSzPts val="2000"/>
            </a:pPr>
            <a:r>
              <a:rPr lang="en-IN" sz="2400" b="1" dirty="0"/>
              <a:t>Business analytics </a:t>
            </a:r>
            <a:r>
              <a:rPr lang="en-IN" sz="2400" dirty="0"/>
              <a:t>to identify issues, trends, and opportunities</a:t>
            </a:r>
          </a:p>
          <a:p>
            <a:pPr lvl="1">
              <a:spcBef>
                <a:spcPts val="900"/>
              </a:spcBef>
              <a:buSzPts val="2000"/>
            </a:pPr>
            <a:r>
              <a:rPr lang="en-IN" sz="2400" b="1" dirty="0"/>
              <a:t>Collaboration tools </a:t>
            </a:r>
            <a:r>
              <a:rPr lang="en-IN" sz="2400" dirty="0"/>
              <a:t>to remove communication barriers</a:t>
            </a:r>
          </a:p>
          <a:p>
            <a:pPr lvl="1">
              <a:spcBef>
                <a:spcPts val="900"/>
              </a:spcBef>
              <a:buSzPts val="2000"/>
            </a:pPr>
            <a:r>
              <a:rPr lang="en-IN" sz="2400" b="1" dirty="0"/>
              <a:t>Content manager </a:t>
            </a:r>
            <a:r>
              <a:rPr lang="en-IN" sz="2400" dirty="0"/>
              <a:t>to store electronic documents and images</a:t>
            </a:r>
          </a:p>
        </p:txBody>
      </p:sp>
    </p:spTree>
    <p:extLst>
      <p:ext uri="{BB962C8B-B14F-4D97-AF65-F5344CB8AC3E}">
        <p14:creationId xmlns:p14="http://schemas.microsoft.com/office/powerpoint/2010/main" val="2699296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73911"/>
            <a:ext cx="8229600" cy="511889"/>
          </a:xfrm>
        </p:spPr>
        <p:txBody>
          <a:bodyPr anchor="ctr">
            <a:noAutofit/>
          </a:bodyPr>
          <a:lstStyle/>
          <a:p>
            <a:r>
              <a:rPr lang="en-US" sz="3600" dirty="0">
                <a:latin typeface="+mj-lt"/>
              </a:rPr>
              <a:t>Flowcharts</a:t>
            </a:r>
            <a:endParaRPr lang="en-IN" sz="3600" dirty="0">
              <a:latin typeface="+mj-lt"/>
            </a:endParaRPr>
          </a:p>
        </p:txBody>
      </p:sp>
      <p:sp>
        <p:nvSpPr>
          <p:cNvPr id="2" name="Content Placeholder 1"/>
          <p:cNvSpPr>
            <a:spLocks noGrp="1"/>
          </p:cNvSpPr>
          <p:nvPr>
            <p:ph idx="1"/>
          </p:nvPr>
        </p:nvSpPr>
        <p:spPr>
          <a:xfrm>
            <a:off x="457200" y="989012"/>
            <a:ext cx="8229600" cy="3201988"/>
          </a:xfrm>
        </p:spPr>
        <p:txBody>
          <a:bodyPr/>
          <a:lstStyle/>
          <a:p>
            <a:pPr marL="0" lvl="0" indent="0">
              <a:buSzPts val="2400"/>
              <a:buNone/>
            </a:pPr>
            <a:r>
              <a:rPr lang="en-IN" sz="2400" dirty="0"/>
              <a:t>Describe an information system showing:</a:t>
            </a:r>
          </a:p>
          <a:p>
            <a:pPr>
              <a:buSzPts val="2400"/>
            </a:pPr>
            <a:r>
              <a:rPr lang="en-IN" sz="2400" dirty="0"/>
              <a:t>Inputs and outputs</a:t>
            </a:r>
          </a:p>
          <a:p>
            <a:pPr>
              <a:buSzPts val="2400"/>
            </a:pPr>
            <a:r>
              <a:rPr lang="en-IN" sz="2400" dirty="0"/>
              <a:t>Information activities (processing data)</a:t>
            </a:r>
          </a:p>
          <a:p>
            <a:pPr>
              <a:buSzPts val="2400"/>
            </a:pPr>
            <a:r>
              <a:rPr lang="en-IN" sz="2400" dirty="0"/>
              <a:t>Data storage</a:t>
            </a:r>
          </a:p>
          <a:p>
            <a:pPr>
              <a:buSzPts val="2400"/>
            </a:pPr>
            <a:r>
              <a:rPr lang="en-IN" sz="2400" dirty="0"/>
              <a:t>Data flows</a:t>
            </a:r>
          </a:p>
          <a:p>
            <a:pPr>
              <a:buSzPts val="2400"/>
            </a:pPr>
            <a:r>
              <a:rPr lang="en-IN" sz="2400" dirty="0"/>
              <a:t>Decision steps</a:t>
            </a:r>
          </a:p>
        </p:txBody>
      </p:sp>
      <p:sp>
        <p:nvSpPr>
          <p:cNvPr id="3" name="Content Placeholder 2"/>
          <p:cNvSpPr>
            <a:spLocks noGrp="1"/>
          </p:cNvSpPr>
          <p:nvPr>
            <p:ph idx="13"/>
          </p:nvPr>
        </p:nvSpPr>
        <p:spPr>
          <a:xfrm>
            <a:off x="457200" y="4267200"/>
            <a:ext cx="8229600" cy="1094397"/>
          </a:xfrm>
        </p:spPr>
        <p:txBody>
          <a:bodyPr/>
          <a:lstStyle/>
          <a:p>
            <a:pPr marL="0" indent="0">
              <a:buNone/>
            </a:pPr>
            <a:r>
              <a:rPr lang="en-IN" sz="2400" dirty="0"/>
              <a:t>Key strengths of flowcharts are that they can easily capture control via decision points, show manual </a:t>
            </a:r>
            <a:r>
              <a:rPr lang="en-IN" sz="2400" spc="-100" dirty="0"/>
              <a:t>v</a:t>
            </a:r>
            <a:r>
              <a:rPr lang="en-IN" sz="100" spc="-100" dirty="0"/>
              <a:t>ersu</a:t>
            </a:r>
            <a:r>
              <a:rPr lang="en-IN" sz="2400" dirty="0"/>
              <a:t>s. automated processes.</a:t>
            </a:r>
          </a:p>
        </p:txBody>
      </p:sp>
    </p:spTree>
    <p:extLst>
      <p:ext uri="{BB962C8B-B14F-4D97-AF65-F5344CB8AC3E}">
        <p14:creationId xmlns:p14="http://schemas.microsoft.com/office/powerpoint/2010/main" val="1463315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0452" y="165652"/>
            <a:ext cx="8229600" cy="1084052"/>
          </a:xfrm>
        </p:spPr>
        <p:txBody>
          <a:bodyPr>
            <a:noAutofit/>
          </a:bodyPr>
          <a:lstStyle/>
          <a:p>
            <a:r>
              <a:rPr lang="en-US" dirty="0"/>
              <a:t>Figure 3.3 Common Flowcharts Symbols</a:t>
            </a:r>
            <a:endParaRPr lang="en-IN" dirty="0">
              <a:latin typeface="+mj-lt"/>
            </a:endParaRPr>
          </a:p>
        </p:txBody>
      </p:sp>
      <p:pic>
        <p:nvPicPr>
          <p:cNvPr id="30" name="Picture Placeholder 29" descr="A table shows common flowcharting symbols for input/output, processing, and storage.&#10;Long description is available in notes, press F6"/>
          <p:cNvPicPr>
            <a:picLocks noGrp="1" noChangeAspect="1"/>
          </p:cNvPicPr>
          <p:nvPr>
            <p:ph type="pic" sz="quarter" idx="14"/>
          </p:nvPr>
        </p:nvPicPr>
        <p:blipFill rotWithShape="1">
          <a:blip r:embed="rId3" cstate="print">
            <a:extLst>
              <a:ext uri="{28A0092B-C50C-407E-A947-70E740481C1C}">
                <a14:useLocalDpi xmlns:a14="http://schemas.microsoft.com/office/drawing/2010/main" val="0"/>
              </a:ext>
            </a:extLst>
          </a:blip>
          <a:srcRect b="31514"/>
          <a:stretch/>
        </p:blipFill>
        <p:spPr>
          <a:xfrm>
            <a:off x="775060" y="1386521"/>
            <a:ext cx="3034940" cy="4830907"/>
          </a:xfrm>
          <a:prstGeom prst="rect">
            <a:avLst/>
          </a:prstGeom>
        </p:spPr>
      </p:pic>
      <p:pic>
        <p:nvPicPr>
          <p:cNvPr id="31" name="Picture Placeholder 30" descr="A table shows common flow and miscellaneous symbols.&#10;Long description is available in notes, press F6"/>
          <p:cNvPicPr>
            <a:picLocks noGrp="1" noChangeAspect="1"/>
          </p:cNvPicPr>
          <p:nvPr>
            <p:ph type="pic" sz="quarter" idx="15"/>
          </p:nvPr>
        </p:nvPicPr>
        <p:blipFill>
          <a:blip r:embed="rId4" cstate="print">
            <a:extLst>
              <a:ext uri="{28A0092B-C50C-407E-A947-70E740481C1C}">
                <a14:useLocalDpi xmlns:a14="http://schemas.microsoft.com/office/drawing/2010/main" val="0"/>
              </a:ext>
            </a:extLst>
          </a:blip>
          <a:stretch>
            <a:fillRect/>
          </a:stretch>
        </p:blipFill>
        <p:spPr>
          <a:xfrm>
            <a:off x="4176025" y="1931756"/>
            <a:ext cx="4443454" cy="3576656"/>
          </a:xfrm>
          <a:prstGeom prst="rect">
            <a:avLst/>
          </a:prstGeom>
        </p:spPr>
      </p:pic>
    </p:spTree>
    <p:extLst>
      <p:ext uri="{BB962C8B-B14F-4D97-AF65-F5344CB8AC3E}">
        <p14:creationId xmlns:p14="http://schemas.microsoft.com/office/powerpoint/2010/main" val="203813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97933"/>
            <a:ext cx="8229600" cy="664067"/>
          </a:xfrm>
        </p:spPr>
        <p:txBody>
          <a:bodyPr anchor="ctr">
            <a:noAutofit/>
          </a:bodyPr>
          <a:lstStyle/>
          <a:p>
            <a:r>
              <a:rPr lang="en-US" dirty="0"/>
              <a:t>Guidelines for Drawing Flowcharts</a:t>
            </a:r>
            <a:endParaRPr lang="en-IN" sz="3600" dirty="0">
              <a:latin typeface="+mj-lt"/>
            </a:endParaRPr>
          </a:p>
        </p:txBody>
      </p:sp>
      <p:sp>
        <p:nvSpPr>
          <p:cNvPr id="2" name="Content Placeholder 1"/>
          <p:cNvSpPr>
            <a:spLocks noGrp="1"/>
          </p:cNvSpPr>
          <p:nvPr>
            <p:ph idx="13"/>
          </p:nvPr>
        </p:nvSpPr>
        <p:spPr>
          <a:xfrm>
            <a:off x="447675" y="990600"/>
            <a:ext cx="8229600" cy="3916457"/>
          </a:xfrm>
        </p:spPr>
        <p:txBody>
          <a:bodyPr/>
          <a:lstStyle/>
          <a:p>
            <a:pPr lvl="0">
              <a:buSzPts val="2400"/>
            </a:pPr>
            <a:r>
              <a:rPr lang="en-IN" sz="2400" dirty="0"/>
              <a:t>Understand the system you are trying to represent.</a:t>
            </a:r>
          </a:p>
          <a:p>
            <a:pPr lvl="0">
              <a:buSzPts val="2400"/>
            </a:pPr>
            <a:r>
              <a:rPr lang="en-IN" sz="2400" dirty="0"/>
              <a:t>Identify business processes, documents, data flows, and data processing procedures.</a:t>
            </a:r>
          </a:p>
          <a:p>
            <a:pPr lvl="0">
              <a:buSzPts val="2400"/>
            </a:pPr>
            <a:r>
              <a:rPr lang="en-IN" sz="2400" dirty="0"/>
              <a:t>Organize the flowchart so that it reads from top to bottom and left to right.</a:t>
            </a:r>
          </a:p>
          <a:p>
            <a:pPr lvl="0">
              <a:buSzPts val="2400"/>
            </a:pPr>
            <a:r>
              <a:rPr lang="en-IN" sz="2400" dirty="0"/>
              <a:t>Clearly label all symbols.</a:t>
            </a:r>
          </a:p>
          <a:p>
            <a:pPr lvl="0">
              <a:buSzPts val="2400"/>
            </a:pPr>
            <a:r>
              <a:rPr lang="en-IN" sz="2400" dirty="0"/>
              <a:t>Use page connectors (if it cannot fit on a single page).</a:t>
            </a:r>
          </a:p>
          <a:p>
            <a:pPr lvl="0">
              <a:buSzPts val="2400"/>
            </a:pPr>
            <a:r>
              <a:rPr lang="en-IN" sz="2400" dirty="0"/>
              <a:t>Edit/review/refine to make it easy to read and understand.</a:t>
            </a:r>
          </a:p>
        </p:txBody>
      </p:sp>
    </p:spTree>
    <p:extLst>
      <p:ext uri="{BB962C8B-B14F-4D97-AF65-F5344CB8AC3E}">
        <p14:creationId xmlns:p14="http://schemas.microsoft.com/office/powerpoint/2010/main" val="2927952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7385C82-BC52-464E-9B23-D3253FEEA484}"/>
              </a:ext>
            </a:extLst>
          </p:cNvPr>
          <p:cNvSpPr>
            <a:spLocks noGrp="1"/>
          </p:cNvSpPr>
          <p:nvPr>
            <p:ph type="title"/>
          </p:nvPr>
        </p:nvSpPr>
        <p:spPr/>
        <p:txBody>
          <a:bodyPr/>
          <a:lstStyle/>
          <a:p>
            <a:endParaRPr lang="en-US"/>
          </a:p>
        </p:txBody>
      </p:sp>
      <p:pic>
        <p:nvPicPr>
          <p:cNvPr id="7170" name="Picture 2">
            <a:extLst>
              <a:ext uri="{FF2B5EF4-FFF2-40B4-BE49-F238E27FC236}">
                <a16:creationId xmlns:a16="http://schemas.microsoft.com/office/drawing/2014/main" id="{1406F637-B2B3-2140-99EC-18248560D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08025"/>
            <a:ext cx="9144000" cy="54403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AD7B70A-EEDC-7146-8E2F-FC2A9223FF1E}"/>
              </a:ext>
            </a:extLst>
          </p:cNvPr>
          <p:cNvSpPr txBox="1"/>
          <p:nvPr/>
        </p:nvSpPr>
        <p:spPr>
          <a:xfrm>
            <a:off x="0" y="18393"/>
            <a:ext cx="8229600" cy="369332"/>
          </a:xfrm>
          <a:prstGeom prst="rect">
            <a:avLst/>
          </a:prstGeom>
          <a:noFill/>
        </p:spPr>
        <p:txBody>
          <a:bodyPr wrap="square">
            <a:spAutoFit/>
          </a:bodyPr>
          <a:lstStyle/>
          <a:p>
            <a:r>
              <a:rPr lang="en-US" dirty="0"/>
              <a:t>https://</a:t>
            </a:r>
            <a:r>
              <a:rPr lang="en-US" dirty="0" err="1"/>
              <a:t>www.integrify.com</a:t>
            </a:r>
            <a:r>
              <a:rPr lang="en-US" dirty="0"/>
              <a:t>/site/assets/files/1593/workflow-</a:t>
            </a:r>
            <a:r>
              <a:rPr lang="en-US" dirty="0" err="1"/>
              <a:t>software.jpg</a:t>
            </a:r>
            <a:endParaRPr lang="en-US" dirty="0"/>
          </a:p>
        </p:txBody>
      </p:sp>
    </p:spTree>
    <p:extLst>
      <p:ext uri="{BB962C8B-B14F-4D97-AF65-F5344CB8AC3E}">
        <p14:creationId xmlns:p14="http://schemas.microsoft.com/office/powerpoint/2010/main" val="2079410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63689"/>
            <a:ext cx="8229600" cy="553998"/>
          </a:xfrm>
        </p:spPr>
        <p:txBody>
          <a:bodyPr anchor="ctr">
            <a:noAutofit/>
          </a:bodyPr>
          <a:lstStyle/>
          <a:p>
            <a:r>
              <a:rPr lang="en-IN" sz="3600" dirty="0">
                <a:latin typeface="+mj-lt"/>
              </a:rPr>
              <a:t>Prototyping</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855132"/>
            <a:ext cx="3962400" cy="369332"/>
          </a:xfrm>
          <a:solidFill>
            <a:schemeClr val="bg2"/>
          </a:solidFill>
        </p:spPr>
        <p:txBody>
          <a:bodyPr>
            <a:noAutofit/>
          </a:bodyPr>
          <a:lstStyle/>
          <a:p>
            <a:pPr marL="0" indent="92075">
              <a:buNone/>
            </a:pPr>
            <a:r>
              <a:rPr lang="en-US" sz="2400" b="1" dirty="0">
                <a:solidFill>
                  <a:schemeClr val="bg1"/>
                </a:solidFill>
              </a:rPr>
              <a:t>Advantages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312807"/>
            <a:ext cx="3962400" cy="3580467"/>
          </a:xfrm>
        </p:spPr>
        <p:txBody>
          <a:bodyPr>
            <a:noAutofit/>
          </a:bodyPr>
          <a:lstStyle/>
          <a:p>
            <a:pPr lvl="0">
              <a:spcBef>
                <a:spcPts val="400"/>
              </a:spcBef>
              <a:buSzPts val="2000"/>
            </a:pPr>
            <a:r>
              <a:rPr lang="en-IN" sz="2400" dirty="0"/>
              <a:t>Results in well-defined user needs</a:t>
            </a:r>
          </a:p>
          <a:p>
            <a:pPr lvl="0">
              <a:spcBef>
                <a:spcPts val="400"/>
              </a:spcBef>
              <a:buSzPts val="2000"/>
            </a:pPr>
            <a:r>
              <a:rPr lang="en-IN" sz="2400" dirty="0"/>
              <a:t>Higher user satisfaction and involvement</a:t>
            </a:r>
          </a:p>
          <a:p>
            <a:pPr lvl="0">
              <a:spcBef>
                <a:spcPts val="400"/>
              </a:spcBef>
              <a:buSzPts val="2000"/>
            </a:pPr>
            <a:r>
              <a:rPr lang="en-IN" sz="2400" dirty="0"/>
              <a:t>Faster development time</a:t>
            </a:r>
          </a:p>
          <a:p>
            <a:pPr lvl="0">
              <a:spcBef>
                <a:spcPts val="400"/>
              </a:spcBef>
              <a:buSzPts val="2000"/>
            </a:pPr>
            <a:r>
              <a:rPr lang="en-IN" sz="2400" dirty="0"/>
              <a:t>Fewer errors</a:t>
            </a:r>
          </a:p>
          <a:p>
            <a:pPr lvl="0">
              <a:spcBef>
                <a:spcPts val="400"/>
              </a:spcBef>
              <a:buSzPts val="2000"/>
            </a:pPr>
            <a:r>
              <a:rPr lang="en-IN" sz="2400" dirty="0"/>
              <a:t>Opportunities to suggest changes</a:t>
            </a:r>
          </a:p>
          <a:p>
            <a:pPr lvl="0">
              <a:spcBef>
                <a:spcPts val="400"/>
              </a:spcBef>
              <a:buSzPts val="2000"/>
            </a:pPr>
            <a:r>
              <a:rPr lang="en-IN" sz="2400" dirty="0"/>
              <a:t>Less costly</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855370"/>
            <a:ext cx="3939540" cy="369332"/>
          </a:xfrm>
          <a:solidFill>
            <a:schemeClr val="bg2"/>
          </a:solidFill>
        </p:spPr>
        <p:txBody>
          <a:bodyPr>
            <a:noAutofit/>
          </a:bodyPr>
          <a:lstStyle/>
          <a:p>
            <a:pPr marL="0" indent="92075">
              <a:spcBef>
                <a:spcPts val="0"/>
              </a:spcBef>
              <a:buSzPts val="2400"/>
              <a:buNone/>
            </a:pPr>
            <a:r>
              <a:rPr lang="en-US" sz="2400" b="1" dirty="0">
                <a:solidFill>
                  <a:schemeClr val="bg1"/>
                </a:solidFill>
              </a:rPr>
              <a:t>Disadvantages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316349"/>
            <a:ext cx="3939540" cy="4637167"/>
          </a:xfrm>
        </p:spPr>
        <p:txBody>
          <a:bodyPr>
            <a:noAutofit/>
          </a:bodyPr>
          <a:lstStyle/>
          <a:p>
            <a:pPr lvl="0">
              <a:spcBef>
                <a:spcPts val="400"/>
              </a:spcBef>
              <a:buSzPts val="2000"/>
            </a:pPr>
            <a:r>
              <a:rPr lang="en-IN" sz="2400" dirty="0"/>
              <a:t>Requires significant user time</a:t>
            </a:r>
          </a:p>
          <a:p>
            <a:pPr lvl="0">
              <a:spcBef>
                <a:spcPts val="400"/>
              </a:spcBef>
              <a:buSzPts val="2000"/>
            </a:pPr>
            <a:r>
              <a:rPr lang="en-IN" sz="2400" dirty="0"/>
              <a:t>Resource efficiency may not be achieved</a:t>
            </a:r>
          </a:p>
          <a:p>
            <a:pPr lvl="0">
              <a:spcBef>
                <a:spcPts val="400"/>
              </a:spcBef>
              <a:buSzPts val="2000"/>
            </a:pPr>
            <a:r>
              <a:rPr lang="en-IN" sz="2400" dirty="0"/>
              <a:t>Inadequate testing and documentation</a:t>
            </a:r>
          </a:p>
          <a:p>
            <a:pPr lvl="0">
              <a:spcBef>
                <a:spcPts val="400"/>
              </a:spcBef>
              <a:buSzPts val="2000"/>
            </a:pPr>
            <a:r>
              <a:rPr lang="en-IN" sz="2400" dirty="0"/>
              <a:t>Negative </a:t>
            </a:r>
            <a:r>
              <a:rPr lang="en-IN" sz="2400" dirty="0" err="1"/>
              <a:t>behavioral</a:t>
            </a:r>
            <a:r>
              <a:rPr lang="en-IN" sz="2400" dirty="0"/>
              <a:t> reactions</a:t>
            </a:r>
          </a:p>
          <a:p>
            <a:pPr lvl="0">
              <a:spcBef>
                <a:spcPts val="400"/>
              </a:spcBef>
              <a:buSzPts val="2000"/>
            </a:pPr>
            <a:r>
              <a:rPr lang="en-IN" sz="2400" dirty="0"/>
              <a:t>Continuous development of iterations leaves a feeling of no project completion</a:t>
            </a:r>
          </a:p>
        </p:txBody>
      </p:sp>
    </p:spTree>
    <p:extLst>
      <p:ext uri="{BB962C8B-B14F-4D97-AF65-F5344CB8AC3E}">
        <p14:creationId xmlns:p14="http://schemas.microsoft.com/office/powerpoint/2010/main" val="3149428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67649"/>
            <a:ext cx="8229600" cy="1107996"/>
          </a:xfrm>
        </p:spPr>
        <p:txBody>
          <a:bodyPr anchor="ctr">
            <a:noAutofit/>
          </a:bodyPr>
          <a:lstStyle/>
          <a:p>
            <a:r>
              <a:rPr lang="en-IN" sz="3600" dirty="0">
                <a:latin typeface="+mj-lt"/>
              </a:rPr>
              <a:t>Agile Development Processes</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450623"/>
            <a:ext cx="3962400" cy="369332"/>
          </a:xfrm>
          <a:solidFill>
            <a:schemeClr val="bg2"/>
          </a:solidFill>
        </p:spPr>
        <p:txBody>
          <a:bodyPr>
            <a:noAutofit/>
          </a:bodyPr>
          <a:lstStyle/>
          <a:p>
            <a:pPr marL="0" indent="92075">
              <a:buNone/>
            </a:pPr>
            <a:r>
              <a:rPr lang="en-US" sz="2400" b="1" dirty="0">
                <a:solidFill>
                  <a:schemeClr val="bg1"/>
                </a:solidFill>
              </a:rPr>
              <a:t>More</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908298"/>
            <a:ext cx="3962400" cy="2831544"/>
          </a:xfrm>
        </p:spPr>
        <p:txBody>
          <a:bodyPr>
            <a:noAutofit/>
          </a:bodyPr>
          <a:lstStyle/>
          <a:p>
            <a:pPr lvl="0">
              <a:spcBef>
                <a:spcPts val="0"/>
              </a:spcBef>
              <a:buSzPts val="2000"/>
            </a:pPr>
            <a:r>
              <a:rPr lang="en-IN" sz="2400" dirty="0"/>
              <a:t>Responding to change</a:t>
            </a:r>
          </a:p>
          <a:p>
            <a:pPr lvl="0">
              <a:spcBef>
                <a:spcPts val="0"/>
              </a:spcBef>
              <a:buSzPts val="2000"/>
            </a:pPr>
            <a:r>
              <a:rPr lang="en-IN" sz="2400" dirty="0"/>
              <a:t>Individuals &amp; interactions</a:t>
            </a:r>
          </a:p>
          <a:p>
            <a:pPr lvl="0">
              <a:spcBef>
                <a:spcPts val="0"/>
              </a:spcBef>
              <a:buSzPts val="2000"/>
            </a:pPr>
            <a:r>
              <a:rPr lang="en-IN" sz="2400" dirty="0"/>
              <a:t>Customer collaboration</a:t>
            </a:r>
          </a:p>
          <a:p>
            <a:pPr lvl="0">
              <a:spcBef>
                <a:spcPts val="0"/>
              </a:spcBef>
              <a:buSzPts val="2000"/>
            </a:pPr>
            <a:r>
              <a:rPr lang="en-IN" sz="2400" dirty="0"/>
              <a:t>Quality software</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450861"/>
            <a:ext cx="3939540" cy="369332"/>
          </a:xfrm>
          <a:solidFill>
            <a:schemeClr val="bg2"/>
          </a:solidFill>
        </p:spPr>
        <p:txBody>
          <a:bodyPr>
            <a:noAutofit/>
          </a:bodyPr>
          <a:lstStyle/>
          <a:p>
            <a:pPr marL="0" indent="92075">
              <a:spcBef>
                <a:spcPts val="0"/>
              </a:spcBef>
              <a:buSzPts val="2400"/>
              <a:buNone/>
            </a:pPr>
            <a:r>
              <a:rPr lang="en-US" sz="2400" b="1" dirty="0">
                <a:solidFill>
                  <a:schemeClr val="bg1"/>
                </a:solidFill>
              </a:rPr>
              <a:t>Less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911840"/>
            <a:ext cx="3939540" cy="1261884"/>
          </a:xfrm>
        </p:spPr>
        <p:txBody>
          <a:bodyPr>
            <a:noAutofit/>
          </a:bodyPr>
          <a:lstStyle/>
          <a:p>
            <a:pPr lvl="0">
              <a:spcBef>
                <a:spcPts val="0"/>
              </a:spcBef>
              <a:buSzPts val="2000"/>
            </a:pPr>
            <a:r>
              <a:rPr lang="en-IN" sz="2400" dirty="0"/>
              <a:t>Following plan</a:t>
            </a:r>
          </a:p>
          <a:p>
            <a:pPr lvl="0">
              <a:spcBef>
                <a:spcPts val="0"/>
              </a:spcBef>
              <a:buSzPts val="2000"/>
            </a:pPr>
            <a:r>
              <a:rPr lang="en-IN" sz="2400" dirty="0"/>
              <a:t>Tools, processes, controls</a:t>
            </a:r>
          </a:p>
          <a:p>
            <a:pPr lvl="0">
              <a:spcBef>
                <a:spcPts val="0"/>
              </a:spcBef>
              <a:buSzPts val="2000"/>
            </a:pPr>
            <a:r>
              <a:rPr lang="en-IN" sz="2400" dirty="0"/>
              <a:t>Contract negotiation</a:t>
            </a:r>
          </a:p>
          <a:p>
            <a:pPr lvl="0">
              <a:spcBef>
                <a:spcPts val="0"/>
              </a:spcBef>
              <a:buSzPts val="2000"/>
            </a:pPr>
            <a:r>
              <a:rPr lang="en-IN" sz="2400" dirty="0"/>
              <a:t>Quality documentation</a:t>
            </a:r>
          </a:p>
        </p:txBody>
      </p:sp>
    </p:spTree>
    <p:extLst>
      <p:ext uri="{BB962C8B-B14F-4D97-AF65-F5344CB8AC3E}">
        <p14:creationId xmlns:p14="http://schemas.microsoft.com/office/powerpoint/2010/main" val="1660761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(1 of 2)</a:t>
            </a:r>
            <a:endParaRPr lang="en-IN" sz="3600" dirty="0">
              <a:latin typeface="+mj-lt"/>
            </a:endParaRPr>
          </a:p>
        </p:txBody>
      </p:sp>
      <p:sp>
        <p:nvSpPr>
          <p:cNvPr id="2" name="Content Placeholder 1"/>
          <p:cNvSpPr>
            <a:spLocks noGrp="1"/>
          </p:cNvSpPr>
          <p:nvPr>
            <p:ph idx="1"/>
          </p:nvPr>
        </p:nvSpPr>
        <p:spPr>
          <a:xfrm>
            <a:off x="468922" y="849489"/>
            <a:ext cx="3798278" cy="5270674"/>
          </a:xfrm>
        </p:spPr>
        <p:txBody>
          <a:bodyPr wrap="square">
            <a:noAutofit/>
          </a:bodyPr>
          <a:lstStyle/>
          <a:p>
            <a:pPr lvl="0">
              <a:spcBef>
                <a:spcPts val="0"/>
              </a:spcBef>
              <a:buSzPct val="100000"/>
            </a:pPr>
            <a:r>
              <a:rPr lang="en-US" sz="2000" dirty="0"/>
              <a:t>Commercial software</a:t>
            </a:r>
          </a:p>
          <a:p>
            <a:pPr lvl="0">
              <a:spcBef>
                <a:spcPts val="1200"/>
              </a:spcBef>
              <a:buSzPct val="100000"/>
            </a:pPr>
            <a:r>
              <a:rPr lang="en-US" sz="2000" dirty="0"/>
              <a:t>Turnkey systems</a:t>
            </a:r>
          </a:p>
          <a:p>
            <a:pPr lvl="0">
              <a:spcBef>
                <a:spcPts val="1200"/>
              </a:spcBef>
              <a:buSzPct val="100000"/>
            </a:pPr>
            <a:r>
              <a:rPr lang="en-US" sz="2000" b="1" dirty="0"/>
              <a:t>Software-as-a-Service (SaaS) providers</a:t>
            </a:r>
          </a:p>
          <a:p>
            <a:pPr lvl="0">
              <a:spcBef>
                <a:spcPts val="1200"/>
              </a:spcBef>
              <a:buSzPct val="100000"/>
            </a:pPr>
            <a:r>
              <a:rPr lang="en-US" sz="2000" b="1" dirty="0"/>
              <a:t>Request for proposal (</a:t>
            </a:r>
            <a:r>
              <a:rPr lang="en-US" sz="2000" b="1" spc="-250" dirty="0"/>
              <a:t>R F </a:t>
            </a:r>
            <a:r>
              <a:rPr lang="en-US" sz="2000" b="1" dirty="0"/>
              <a:t>P)</a:t>
            </a:r>
          </a:p>
          <a:p>
            <a:pPr lvl="0">
              <a:spcBef>
                <a:spcPts val="1200"/>
              </a:spcBef>
              <a:buSzPct val="100000"/>
            </a:pPr>
            <a:r>
              <a:rPr lang="en-US" sz="2000" dirty="0"/>
              <a:t>Benchmark problem</a:t>
            </a:r>
          </a:p>
          <a:p>
            <a:pPr lvl="0">
              <a:spcBef>
                <a:spcPts val="1200"/>
              </a:spcBef>
              <a:buSzPct val="100000"/>
            </a:pPr>
            <a:r>
              <a:rPr lang="en-US" sz="2000" dirty="0"/>
              <a:t>Point scoring</a:t>
            </a:r>
          </a:p>
          <a:p>
            <a:pPr lvl="0">
              <a:spcBef>
                <a:spcPts val="1200"/>
              </a:spcBef>
              <a:buSzPct val="100000"/>
            </a:pPr>
            <a:r>
              <a:rPr lang="en-US" sz="2000" dirty="0"/>
              <a:t>Requirement costing</a:t>
            </a:r>
          </a:p>
          <a:p>
            <a:pPr lvl="0">
              <a:spcBef>
                <a:spcPts val="1200"/>
              </a:spcBef>
              <a:buSzPct val="100000"/>
            </a:pPr>
            <a:r>
              <a:rPr lang="en-US" sz="2000" dirty="0"/>
              <a:t>Custom software</a:t>
            </a:r>
          </a:p>
          <a:p>
            <a:pPr lvl="0">
              <a:spcBef>
                <a:spcPts val="1200"/>
              </a:spcBef>
              <a:buSzPct val="100000"/>
            </a:pPr>
            <a:r>
              <a:rPr lang="en-US" sz="2000" dirty="0"/>
              <a:t>End-user computing (</a:t>
            </a:r>
            <a:r>
              <a:rPr lang="en-US" sz="2000" spc="-250" dirty="0"/>
              <a:t>E U </a:t>
            </a:r>
            <a:r>
              <a:rPr lang="en-US" sz="2000" dirty="0"/>
              <a:t>C)</a:t>
            </a:r>
          </a:p>
          <a:p>
            <a:pPr lvl="0">
              <a:spcBef>
                <a:spcPts val="1200"/>
              </a:spcBef>
              <a:buSzPct val="100000"/>
            </a:pPr>
            <a:r>
              <a:rPr lang="en-US" sz="2000" dirty="0"/>
              <a:t>Help desk</a:t>
            </a:r>
          </a:p>
          <a:p>
            <a:pPr lvl="0">
              <a:spcBef>
                <a:spcPts val="1200"/>
              </a:spcBef>
              <a:buSzPct val="100000"/>
            </a:pPr>
            <a:r>
              <a:rPr lang="en-US" sz="2000" dirty="0"/>
              <a:t>Outsourcing</a:t>
            </a:r>
          </a:p>
        </p:txBody>
      </p:sp>
      <p:sp>
        <p:nvSpPr>
          <p:cNvPr id="3" name="Content Placeholder 2"/>
          <p:cNvSpPr>
            <a:spLocks noGrp="1"/>
          </p:cNvSpPr>
          <p:nvPr>
            <p:ph idx="13"/>
          </p:nvPr>
        </p:nvSpPr>
        <p:spPr>
          <a:xfrm>
            <a:off x="4572000" y="855027"/>
            <a:ext cx="4114800" cy="5232202"/>
          </a:xfrm>
        </p:spPr>
        <p:txBody>
          <a:bodyPr>
            <a:noAutofit/>
          </a:bodyPr>
          <a:lstStyle/>
          <a:p>
            <a:pPr lvl="0">
              <a:spcBef>
                <a:spcPts val="0"/>
              </a:spcBef>
              <a:buSzPct val="100000"/>
            </a:pPr>
            <a:r>
              <a:rPr lang="en-US" sz="2000" dirty="0"/>
              <a:t>Business process reengineering (</a:t>
            </a:r>
            <a:r>
              <a:rPr lang="en-US" sz="2000" spc="-250" dirty="0"/>
              <a:t>B P </a:t>
            </a:r>
            <a:r>
              <a:rPr lang="en-US" sz="2000" dirty="0"/>
              <a:t>R)</a:t>
            </a:r>
          </a:p>
          <a:p>
            <a:pPr lvl="0">
              <a:spcBef>
                <a:spcPts val="1200"/>
              </a:spcBef>
              <a:buSzPct val="100000"/>
            </a:pPr>
            <a:r>
              <a:rPr lang="en-US" sz="2000" dirty="0"/>
              <a:t>Business process management  (</a:t>
            </a:r>
            <a:r>
              <a:rPr lang="en-US" sz="2000" spc="-250" dirty="0"/>
              <a:t>B P </a:t>
            </a:r>
            <a:r>
              <a:rPr lang="en-US" sz="2000" dirty="0"/>
              <a:t>M)</a:t>
            </a:r>
          </a:p>
          <a:p>
            <a:pPr lvl="0">
              <a:spcBef>
                <a:spcPts val="1200"/>
              </a:spcBef>
              <a:buSzPct val="100000"/>
            </a:pPr>
            <a:r>
              <a:rPr lang="en-US" sz="2000" dirty="0"/>
              <a:t>Business Process Management System (</a:t>
            </a:r>
            <a:r>
              <a:rPr lang="en-US" sz="2000" spc="-250" dirty="0"/>
              <a:t>B P M </a:t>
            </a:r>
            <a:r>
              <a:rPr lang="en-US" sz="2000" dirty="0"/>
              <a:t>S)</a:t>
            </a:r>
          </a:p>
          <a:p>
            <a:pPr lvl="0">
              <a:spcBef>
                <a:spcPts val="1200"/>
              </a:spcBef>
              <a:buSzPct val="100000"/>
            </a:pPr>
            <a:r>
              <a:rPr lang="en-US" sz="2000" b="1" dirty="0"/>
              <a:t>Prototyping</a:t>
            </a:r>
          </a:p>
          <a:p>
            <a:pPr lvl="0">
              <a:spcBef>
                <a:spcPts val="1200"/>
              </a:spcBef>
              <a:buSzPct val="100000"/>
            </a:pPr>
            <a:r>
              <a:rPr lang="en-US" sz="2000" dirty="0"/>
              <a:t>Operational prototype</a:t>
            </a:r>
          </a:p>
          <a:p>
            <a:pPr lvl="0">
              <a:spcBef>
                <a:spcPts val="1200"/>
              </a:spcBef>
              <a:buSzPct val="100000"/>
            </a:pPr>
            <a:r>
              <a:rPr lang="en-US" sz="2000" dirty="0"/>
              <a:t>Nonoperational (throwaway) prototype</a:t>
            </a:r>
          </a:p>
          <a:p>
            <a:pPr lvl="0">
              <a:spcBef>
                <a:spcPts val="1200"/>
              </a:spcBef>
              <a:buSzPct val="100000"/>
            </a:pPr>
            <a:r>
              <a:rPr lang="en-US" sz="2000" b="1" dirty="0"/>
              <a:t>Agile development</a:t>
            </a:r>
          </a:p>
          <a:p>
            <a:pPr lvl="0">
              <a:spcBef>
                <a:spcPts val="1200"/>
              </a:spcBef>
              <a:buSzPct val="100000"/>
            </a:pPr>
            <a:r>
              <a:rPr lang="en-US" sz="2000" dirty="0"/>
              <a:t>Scrum methodology</a:t>
            </a:r>
          </a:p>
          <a:p>
            <a:pPr lvl="0">
              <a:spcBef>
                <a:spcPts val="1200"/>
              </a:spcBef>
              <a:buSzPct val="100000"/>
            </a:pPr>
            <a:r>
              <a:rPr lang="en-US" sz="2000" dirty="0"/>
              <a:t>Scrum development</a:t>
            </a:r>
          </a:p>
        </p:txBody>
      </p:sp>
    </p:spTree>
    <p:extLst>
      <p:ext uri="{BB962C8B-B14F-4D97-AF65-F5344CB8AC3E}">
        <p14:creationId xmlns:p14="http://schemas.microsoft.com/office/powerpoint/2010/main" val="1770914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(2 of 2)</a:t>
            </a:r>
            <a:endParaRPr lang="en-IN" sz="3600" dirty="0">
              <a:latin typeface="+mj-lt"/>
            </a:endParaRPr>
          </a:p>
        </p:txBody>
      </p:sp>
      <p:sp>
        <p:nvSpPr>
          <p:cNvPr id="2" name="Content Placeholder 1"/>
          <p:cNvSpPr>
            <a:spLocks noGrp="1"/>
          </p:cNvSpPr>
          <p:nvPr>
            <p:ph idx="1"/>
          </p:nvPr>
        </p:nvSpPr>
        <p:spPr>
          <a:xfrm>
            <a:off x="468922" y="849489"/>
            <a:ext cx="3798278" cy="4924425"/>
          </a:xfrm>
        </p:spPr>
        <p:txBody>
          <a:bodyPr wrap="square">
            <a:noAutofit/>
          </a:bodyPr>
          <a:lstStyle/>
          <a:p>
            <a:pPr lvl="0">
              <a:spcBef>
                <a:spcPts val="0"/>
              </a:spcBef>
              <a:buSzPct val="100000"/>
            </a:pPr>
            <a:r>
              <a:rPr lang="en-IN" sz="2000" dirty="0"/>
              <a:t>Product owner</a:t>
            </a:r>
          </a:p>
          <a:p>
            <a:pPr lvl="0">
              <a:spcBef>
                <a:spcPts val="1200"/>
              </a:spcBef>
              <a:buSzPct val="100000"/>
            </a:pPr>
            <a:r>
              <a:rPr lang="en-IN" sz="2000" dirty="0"/>
              <a:t>User stories</a:t>
            </a:r>
          </a:p>
          <a:p>
            <a:pPr lvl="0">
              <a:spcBef>
                <a:spcPts val="1200"/>
              </a:spcBef>
              <a:buSzPct val="100000"/>
            </a:pPr>
            <a:r>
              <a:rPr lang="en-IN" sz="2000" dirty="0"/>
              <a:t>Product backlog</a:t>
            </a:r>
          </a:p>
          <a:p>
            <a:pPr lvl="0">
              <a:spcBef>
                <a:spcPts val="1200"/>
              </a:spcBef>
              <a:buSzPct val="100000"/>
            </a:pPr>
            <a:r>
              <a:rPr lang="en-IN" sz="2000" dirty="0"/>
              <a:t>Scrum team</a:t>
            </a:r>
          </a:p>
          <a:p>
            <a:pPr lvl="0">
              <a:spcBef>
                <a:spcPts val="1200"/>
              </a:spcBef>
              <a:buSzPct val="100000"/>
            </a:pPr>
            <a:r>
              <a:rPr lang="en-IN" sz="2000" dirty="0"/>
              <a:t>Sprint</a:t>
            </a:r>
          </a:p>
          <a:p>
            <a:pPr lvl="0">
              <a:spcBef>
                <a:spcPts val="1200"/>
              </a:spcBef>
              <a:buSzPct val="100000"/>
            </a:pPr>
            <a:r>
              <a:rPr lang="en-IN" sz="2000" dirty="0"/>
              <a:t>Scrum master</a:t>
            </a:r>
          </a:p>
          <a:p>
            <a:pPr lvl="0">
              <a:spcBef>
                <a:spcPts val="1200"/>
              </a:spcBef>
              <a:buSzPct val="100000"/>
            </a:pPr>
            <a:r>
              <a:rPr lang="en-IN" sz="2000" dirty="0"/>
              <a:t>Extreme programming (</a:t>
            </a:r>
            <a:r>
              <a:rPr lang="en-IN" sz="2000" spc="-250" dirty="0"/>
              <a:t>X </a:t>
            </a:r>
            <a:r>
              <a:rPr lang="en-IN" sz="2000" dirty="0"/>
              <a:t>P)</a:t>
            </a:r>
          </a:p>
          <a:p>
            <a:pPr lvl="0">
              <a:spcBef>
                <a:spcPts val="1200"/>
              </a:spcBef>
              <a:buSzPct val="100000"/>
            </a:pPr>
            <a:r>
              <a:rPr lang="en-IN" sz="2000" dirty="0"/>
              <a:t>Unit tests</a:t>
            </a:r>
          </a:p>
          <a:p>
            <a:pPr lvl="0">
              <a:spcBef>
                <a:spcPts val="1200"/>
              </a:spcBef>
              <a:buSzPct val="100000"/>
            </a:pPr>
            <a:r>
              <a:rPr lang="en-IN" sz="2000" dirty="0"/>
              <a:t>Acceptance tests</a:t>
            </a:r>
          </a:p>
          <a:p>
            <a:pPr lvl="0">
              <a:spcBef>
                <a:spcPts val="1200"/>
              </a:spcBef>
              <a:buSzPct val="100000"/>
            </a:pPr>
            <a:r>
              <a:rPr lang="en-IN" sz="2000" dirty="0"/>
              <a:t>Integration tests</a:t>
            </a:r>
          </a:p>
          <a:p>
            <a:pPr lvl="0">
              <a:spcBef>
                <a:spcPts val="1200"/>
              </a:spcBef>
              <a:buSzPct val="100000"/>
            </a:pPr>
            <a:r>
              <a:rPr lang="en-IN" sz="2000" dirty="0"/>
              <a:t>Unified process</a:t>
            </a:r>
          </a:p>
        </p:txBody>
      </p:sp>
      <p:sp>
        <p:nvSpPr>
          <p:cNvPr id="3" name="Content Placeholder 2"/>
          <p:cNvSpPr>
            <a:spLocks noGrp="1"/>
          </p:cNvSpPr>
          <p:nvPr>
            <p:ph idx="13"/>
          </p:nvPr>
        </p:nvSpPr>
        <p:spPr>
          <a:xfrm>
            <a:off x="4572000" y="855027"/>
            <a:ext cx="4114800" cy="1077218"/>
          </a:xfrm>
        </p:spPr>
        <p:txBody>
          <a:bodyPr>
            <a:noAutofit/>
          </a:bodyPr>
          <a:lstStyle/>
          <a:p>
            <a:pPr lvl="0">
              <a:spcBef>
                <a:spcPts val="0"/>
              </a:spcBef>
              <a:buSzPct val="100000"/>
            </a:pPr>
            <a:r>
              <a:rPr lang="en-IN" sz="2000" dirty="0"/>
              <a:t>Executable architecture baseline</a:t>
            </a:r>
          </a:p>
          <a:p>
            <a:pPr lvl="0">
              <a:spcBef>
                <a:spcPts val="1200"/>
              </a:spcBef>
              <a:buSzPct val="100000"/>
            </a:pPr>
            <a:r>
              <a:rPr lang="en-IN" sz="2000" dirty="0"/>
              <a:t>Computer-aided software (or systems) engineering (</a:t>
            </a:r>
            <a:r>
              <a:rPr lang="en-IN" sz="2000" spc="-250" dirty="0"/>
              <a:t>C A S </a:t>
            </a:r>
            <a:r>
              <a:rPr lang="en-IN" sz="2000" dirty="0"/>
              <a:t>E)</a:t>
            </a:r>
          </a:p>
        </p:txBody>
      </p:sp>
    </p:spTree>
    <p:extLst>
      <p:ext uri="{BB962C8B-B14F-4D97-AF65-F5344CB8AC3E}">
        <p14:creationId xmlns:p14="http://schemas.microsoft.com/office/powerpoint/2010/main" val="1560994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12157-2EA4-8A49-BC73-12D98A3805C7}"/>
              </a:ext>
            </a:extLst>
          </p:cNvPr>
          <p:cNvSpPr>
            <a:spLocks noGrp="1"/>
          </p:cNvSpPr>
          <p:nvPr>
            <p:ph type="title"/>
          </p:nvPr>
        </p:nvSpPr>
        <p:spPr/>
        <p:txBody>
          <a:bodyPr/>
          <a:lstStyle/>
          <a:p>
            <a:r>
              <a:rPr lang="en-US" dirty="0"/>
              <a:t>Breakout Problem 23.9 </a:t>
            </a:r>
            <a:r>
              <a:rPr lang="en-US" dirty="0" err="1"/>
              <a:t>Quickflix</a:t>
            </a:r>
            <a:endParaRPr lang="en-US" dirty="0"/>
          </a:p>
        </p:txBody>
      </p:sp>
      <p:sp>
        <p:nvSpPr>
          <p:cNvPr id="4" name="Content Placeholder 3">
            <a:extLst>
              <a:ext uri="{FF2B5EF4-FFF2-40B4-BE49-F238E27FC236}">
                <a16:creationId xmlns:a16="http://schemas.microsoft.com/office/drawing/2014/main" id="{57E04267-BA0D-174A-B658-CCC5D87BED79}"/>
              </a:ext>
            </a:extLst>
          </p:cNvPr>
          <p:cNvSpPr>
            <a:spLocks noGrp="1"/>
          </p:cNvSpPr>
          <p:nvPr>
            <p:ph idx="13"/>
          </p:nvPr>
        </p:nvSpPr>
        <p:spPr/>
        <p:txBody>
          <a:bodyPr/>
          <a:lstStyle/>
          <a:p>
            <a:endParaRPr lang="en-US"/>
          </a:p>
        </p:txBody>
      </p:sp>
      <p:sp>
        <p:nvSpPr>
          <p:cNvPr id="6" name="Content Placeholder 5">
            <a:extLst>
              <a:ext uri="{FF2B5EF4-FFF2-40B4-BE49-F238E27FC236}">
                <a16:creationId xmlns:a16="http://schemas.microsoft.com/office/drawing/2014/main" id="{7AEE5235-0B2B-4725-A0E2-25AF616B9EF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08730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739C2-3C76-3448-88F8-07E6DBA9383A}"/>
              </a:ext>
            </a:extLst>
          </p:cNvPr>
          <p:cNvSpPr>
            <a:spLocks noGrp="1"/>
          </p:cNvSpPr>
          <p:nvPr>
            <p:ph idx="4294967295"/>
          </p:nvPr>
        </p:nvSpPr>
        <p:spPr>
          <a:xfrm>
            <a:off x="76200" y="76200"/>
            <a:ext cx="8991600" cy="2163763"/>
          </a:xfrm>
        </p:spPr>
        <p:txBody>
          <a:bodyPr/>
          <a:lstStyle/>
          <a:p>
            <a:pPr marL="0" indent="0">
              <a:buNone/>
            </a:pPr>
            <a:r>
              <a:rPr lang="en-US" sz="1400" dirty="0" err="1"/>
              <a:t>Quickfix</a:t>
            </a:r>
            <a:r>
              <a:rPr lang="en-US" sz="1400" dirty="0"/>
              <a:t> is rapidly losing business, and management wants to redesign its computer repair processes and procedures to decrease costs and increase customer service. Currently, a customer needing help calls one of five regional service centers. A customer service representative records the relevant customer information, finds the closest qualified technician, and calls the technician’s cell phone to see whether the repair fits into his or her schedule. If not, the representative finds the next closest technician. When a technician is located, customer repair information is texted or e-mailed to the technician. The technician calls the customer and arranges to pick up the computer and replace it with a loaner. Making these arrangements takes one to two days and sometimes more if technicians are not available or do not promptly return calls.</a:t>
            </a:r>
          </a:p>
          <a:p>
            <a:pPr marL="0" indent="0">
              <a:buNone/>
            </a:pPr>
            <a:r>
              <a:rPr lang="en-US" sz="1400" dirty="0"/>
              <a:t>Technicians are not available or do not promptly return calls. If a broken computer cannot be quickly repaired, it is sent to a repair depot. These repairs take another four to seven days. If problems arise, it can take up to two weeks for an item to be repaired. When a customer calls to see whether the computer is ready, the service representative calls the technician to find out the status and calls the customer back. The repair process usually takes five phone calls between the customer, the service representative, and the technician.</a:t>
            </a:r>
          </a:p>
          <a:p>
            <a:pPr marL="0" indent="0">
              <a:buNone/>
            </a:pPr>
            <a:r>
              <a:rPr lang="en-US" sz="1400" dirty="0"/>
              <a:t>Several problems with this process led to a significant drop in business: (1) it is time-consuming; (2) it is inconvenient for a customer to have a computer removed, a new one installed, and then the old one reinstalled; and (3) service representatives do not have immediate access to information about items being repaired. </a:t>
            </a:r>
            <a:r>
              <a:rPr lang="en-US" sz="1400" dirty="0" err="1"/>
              <a:t>Quickfix</a:t>
            </a:r>
            <a:r>
              <a:rPr lang="en-US" sz="1400" dirty="0"/>
              <a:t> decides to use BPM principles to redesign its business processes.</a:t>
            </a:r>
          </a:p>
          <a:p>
            <a:r>
              <a:rPr lang="en-US" sz="1400" dirty="0"/>
              <a:t>a. Identify the repair processes that occur, and decide which should be redesigned. </a:t>
            </a:r>
          </a:p>
          <a:p>
            <a:r>
              <a:rPr lang="en-US" sz="1400" dirty="0"/>
              <a:t>b. Describe how the repair process can be redesigned to solve the problems identified. </a:t>
            </a:r>
          </a:p>
          <a:p>
            <a:r>
              <a:rPr lang="en-US" sz="1400" dirty="0"/>
              <a:t>c. What benefits can </a:t>
            </a:r>
            <a:r>
              <a:rPr lang="en-US" sz="1400" dirty="0" err="1"/>
              <a:t>Quickfix</a:t>
            </a:r>
            <a:r>
              <a:rPr lang="en-US" sz="1400" dirty="0"/>
              <a:t> achieve by redesigning the repair process?</a:t>
            </a:r>
          </a:p>
          <a:p>
            <a:endParaRPr lang="en-US" sz="1400" dirty="0"/>
          </a:p>
        </p:txBody>
      </p:sp>
    </p:spTree>
    <p:extLst>
      <p:ext uri="{BB962C8B-B14F-4D97-AF65-F5344CB8AC3E}">
        <p14:creationId xmlns:p14="http://schemas.microsoft.com/office/powerpoint/2010/main" val="2968467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25679</TotalTime>
  <Words>2729</Words>
  <Application>Microsoft Macintosh PowerPoint</Application>
  <PresentationFormat>On-screen Show (4:3)</PresentationFormat>
  <Paragraphs>320</Paragraphs>
  <Slides>31</Slides>
  <Notes>15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vt:lpstr>
      <vt:lpstr>How to Obtain an A I S</vt:lpstr>
      <vt:lpstr>Purchasing</vt:lpstr>
      <vt:lpstr>RFP (request for proposal)</vt:lpstr>
      <vt:lpstr>PowerPoint Presentation</vt:lpstr>
      <vt:lpstr>PowerPoint Presentation</vt:lpstr>
      <vt:lpstr>Example of Point Scoring Evaluation</vt:lpstr>
      <vt:lpstr>When to purchase software?</vt:lpstr>
      <vt:lpstr>Develop Software In-House</vt:lpstr>
      <vt:lpstr>COCOMO Model </vt:lpstr>
      <vt:lpstr>How much does it cost to do custom coding?</vt:lpstr>
      <vt:lpstr>How much does it cost to do custom coding?</vt:lpstr>
      <vt:lpstr>How much does it cost to do custom coding?</vt:lpstr>
      <vt:lpstr>PowerPoint Presentation</vt:lpstr>
      <vt:lpstr>R&amp;D Spending</vt:lpstr>
      <vt:lpstr>Custom software isn’t a one &amp; done – ongoing maintenance and development</vt:lpstr>
      <vt:lpstr>Outsourcing</vt:lpstr>
      <vt:lpstr>PowerPoint Presentation</vt:lpstr>
      <vt:lpstr>Business Process Management Systems</vt:lpstr>
      <vt:lpstr>Flowcharts</vt:lpstr>
      <vt:lpstr>Figure 3.3 Common Flowcharts Symbols</vt:lpstr>
      <vt:lpstr>Guidelines for Drawing Flowcharts</vt:lpstr>
      <vt:lpstr>PowerPoint Presentation</vt:lpstr>
      <vt:lpstr>Prototyping</vt:lpstr>
      <vt:lpstr>Agile Development Processes</vt:lpstr>
      <vt:lpstr>Key Terms (1 of 2)</vt:lpstr>
      <vt:lpstr>Key Terms (2 of 2)</vt:lpstr>
      <vt:lpstr>Breakout Problem 23.9 Quickflix</vt:lpstr>
      <vt:lpstr>PowerPoint Presentation</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23, AIS Development Strategies</dc:title>
  <dc:subject/>
  <dc:creator>Romney</dc:creator>
  <cp:keywords>Automotive</cp:keywords>
  <cp:lastModifiedBy>Nathan Garrett</cp:lastModifiedBy>
  <cp:revision>5269</cp:revision>
  <dcterms:created xsi:type="dcterms:W3CDTF">2014-07-14T20:04:21Z</dcterms:created>
  <dcterms:modified xsi:type="dcterms:W3CDTF">2025-07-22T13:15:18Z</dcterms:modified>
</cp:coreProperties>
</file>