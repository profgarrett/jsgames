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7" r:id="rId2"/>
  </p:sldMasterIdLst>
  <p:notesMasterIdLst>
    <p:notesMasterId r:id="rId25"/>
  </p:notesMasterIdLst>
  <p:handoutMasterIdLst>
    <p:handoutMasterId r:id="rId26"/>
  </p:handoutMasterIdLst>
  <p:sldIdLst>
    <p:sldId id="330" r:id="rId3"/>
    <p:sldId id="1087" r:id="rId4"/>
    <p:sldId id="1705" r:id="rId5"/>
    <p:sldId id="1706" r:id="rId6"/>
    <p:sldId id="321" r:id="rId7"/>
    <p:sldId id="1099" r:id="rId8"/>
    <p:sldId id="1106" r:id="rId9"/>
    <p:sldId id="1707" r:id="rId10"/>
    <p:sldId id="450" r:id="rId11"/>
    <p:sldId id="448" r:id="rId12"/>
    <p:sldId id="1111" r:id="rId13"/>
    <p:sldId id="1708" r:id="rId14"/>
    <p:sldId id="1107" r:id="rId15"/>
    <p:sldId id="447" r:id="rId16"/>
    <p:sldId id="1709" r:id="rId17"/>
    <p:sldId id="1112" r:id="rId18"/>
    <p:sldId id="1100" r:id="rId19"/>
    <p:sldId id="1101" r:id="rId20"/>
    <p:sldId id="1103" r:id="rId21"/>
    <p:sldId id="1105" r:id="rId22"/>
    <p:sldId id="1108" r:id="rId23"/>
    <p:sldId id="1704"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2880" userDrawn="1">
          <p15:clr>
            <a:srgbClr val="A4A3A4"/>
          </p15:clr>
        </p15:guide>
        <p15:guide id="4" orient="horz" pos="384">
          <p15:clr>
            <a:srgbClr val="A4A3A4"/>
          </p15:clr>
        </p15:guide>
        <p15:guide id="5" orient="horz" pos="144">
          <p15:clr>
            <a:srgbClr val="A4A3A4"/>
          </p15:clr>
        </p15:guide>
        <p15:guide id="7" orient="horz" pos="624">
          <p15:clr>
            <a:srgbClr val="A4A3A4"/>
          </p15:clr>
        </p15:guide>
        <p15:guide id="9" pos="288">
          <p15:clr>
            <a:srgbClr val="A4A3A4"/>
          </p15:clr>
        </p15:guide>
        <p15:guide id="10" pos="5472">
          <p15:clr>
            <a:srgbClr val="A4A3A4"/>
          </p15:clr>
        </p15:guide>
        <p15:guide id="11" orient="horz" pos="3984"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 Mohanapriya" initials="DM" lastIdx="1" clrIdx="0"/>
  <p:cmAuthor id="2" name="Thamizharasan Dhanaseelan" initials="TD"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99008C"/>
    <a:srgbClr val="001581"/>
    <a:srgbClr val="82007C"/>
    <a:srgbClr val="96008F"/>
    <a:srgbClr val="595375"/>
    <a:srgbClr val="6B638B"/>
    <a:srgbClr val="000000"/>
    <a:srgbClr val="FDB9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409" autoAdjust="0"/>
    <p:restoredTop sz="80700" autoAdjust="0"/>
  </p:normalViewPr>
  <p:slideViewPr>
    <p:cSldViewPr>
      <p:cViewPr varScale="1">
        <p:scale>
          <a:sx n="84" d="100"/>
          <a:sy n="84" d="100"/>
        </p:scale>
        <p:origin x="2240" y="176"/>
      </p:cViewPr>
      <p:guideLst>
        <p:guide pos="2880"/>
        <p:guide orient="horz" pos="384"/>
        <p:guide orient="horz" pos="144"/>
        <p:guide orient="horz" pos="624"/>
        <p:guide pos="288"/>
        <p:guide pos="5472"/>
        <p:guide orient="horz" pos="3984"/>
      </p:guideLst>
    </p:cSldViewPr>
  </p:slideViewPr>
  <p:outlineViewPr>
    <p:cViewPr>
      <p:scale>
        <a:sx n="25" d="100"/>
        <a:sy n="25" d="100"/>
      </p:scale>
      <p:origin x="0" y="-1029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79" d="100"/>
          <a:sy n="79" d="100"/>
        </p:scale>
        <p:origin x="2022"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commentAuthors" Target="commentAuthors.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t>9/25/26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t>9/25/26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washingtonpost.com/transportation/2022/12/28/southwest-airlines-flight-cancellations/"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s://www.cnbc.com/2022/12/29/southwest-airlines-flight-cancellations.html"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If this PowerPoint presentation contains mathematical equations, you may need to check that your computer has the following installed:</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1) </a:t>
            </a:r>
            <a:r>
              <a:rPr lang="en-US" sz="1200" b="0" i="0" u="none" strike="noStrike" cap="none" dirty="0" err="1">
                <a:solidFill>
                  <a:schemeClr val="dk1"/>
                </a:solidFill>
                <a:latin typeface="Arial"/>
                <a:ea typeface="Arial"/>
                <a:cs typeface="Arial"/>
                <a:sym typeface="Arial"/>
              </a:rPr>
              <a:t>MathType</a:t>
            </a:r>
            <a:r>
              <a:rPr lang="en-US" sz="1200" b="0" i="0" u="none" strike="noStrike" cap="none" dirty="0">
                <a:solidFill>
                  <a:schemeClr val="dk1"/>
                </a:solidFill>
                <a:latin typeface="Arial"/>
                <a:ea typeface="Arial"/>
                <a:cs typeface="Arial"/>
                <a:sym typeface="Arial"/>
              </a:rPr>
              <a:t> Plugin</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2) Math Player (free versions available)</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251233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2</a:t>
            </a:fld>
            <a:endParaRPr lang="en-US" dirty="0"/>
          </a:p>
        </p:txBody>
      </p:sp>
    </p:spTree>
    <p:extLst>
      <p:ext uri="{BB962C8B-B14F-4D97-AF65-F5344CB8AC3E}">
        <p14:creationId xmlns:p14="http://schemas.microsoft.com/office/powerpoint/2010/main" val="14684218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using a tangible example that is contextualized to your institution to introduce students to how information affects decision making.</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085285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There are six components to an AIS:</a:t>
            </a:r>
          </a:p>
          <a:p>
            <a:pPr marL="0" lvl="0" indent="0" algn="l" rtl="0">
              <a:spcBef>
                <a:spcPts val="0"/>
              </a:spcBef>
              <a:spcAft>
                <a:spcPts val="0"/>
              </a:spcAft>
              <a:buNone/>
            </a:pPr>
            <a:r>
              <a:rPr lang="en-IN" dirty="0"/>
              <a:t>People use the system</a:t>
            </a:r>
          </a:p>
          <a:p>
            <a:pPr marL="0" lvl="0" indent="0" algn="l" rtl="0">
              <a:spcBef>
                <a:spcPts val="0"/>
              </a:spcBef>
              <a:spcAft>
                <a:spcPts val="0"/>
              </a:spcAft>
              <a:buNone/>
            </a:pPr>
            <a:r>
              <a:rPr lang="en-IN" dirty="0"/>
              <a:t>Procedures and instructions used to collect, process, and store the data</a:t>
            </a:r>
          </a:p>
          <a:p>
            <a:pPr marL="0" lvl="0" indent="0" algn="l" rtl="0">
              <a:spcBef>
                <a:spcPts val="0"/>
              </a:spcBef>
              <a:spcAft>
                <a:spcPts val="0"/>
              </a:spcAft>
              <a:buNone/>
            </a:pPr>
            <a:r>
              <a:rPr lang="en-IN" dirty="0"/>
              <a:t>Data</a:t>
            </a:r>
          </a:p>
          <a:p>
            <a:pPr marL="0" lvl="0" indent="0" algn="l" rtl="0">
              <a:spcBef>
                <a:spcPts val="0"/>
              </a:spcBef>
              <a:spcAft>
                <a:spcPts val="0"/>
              </a:spcAft>
              <a:buNone/>
            </a:pPr>
            <a:r>
              <a:rPr lang="en-IN" dirty="0"/>
              <a:t>Software used to process the data</a:t>
            </a:r>
          </a:p>
          <a:p>
            <a:pPr marL="0" lvl="0" indent="0" algn="l" rtl="0">
              <a:spcBef>
                <a:spcPts val="0"/>
              </a:spcBef>
              <a:spcAft>
                <a:spcPts val="0"/>
              </a:spcAft>
              <a:buNone/>
            </a:pPr>
            <a:r>
              <a:rPr lang="en-IN" dirty="0"/>
              <a:t>Information technology (i.e., computers)</a:t>
            </a:r>
          </a:p>
          <a:p>
            <a:pPr marL="0" lvl="0" indent="0" algn="l" rtl="0">
              <a:spcBef>
                <a:spcPts val="0"/>
              </a:spcBef>
              <a:spcAft>
                <a:spcPts val="0"/>
              </a:spcAft>
              <a:buNone/>
            </a:pPr>
            <a:r>
              <a:rPr lang="en-IN" dirty="0"/>
              <a:t>Internal controls and security</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These six components help the AIS </a:t>
            </a:r>
            <a:r>
              <a:rPr lang="en-IN" dirty="0" err="1"/>
              <a:t>fulfill</a:t>
            </a:r>
            <a:r>
              <a:rPr lang="en-IN" dirty="0"/>
              <a:t> three important business functions:</a:t>
            </a:r>
          </a:p>
          <a:p>
            <a:pPr marL="228600" lvl="0" indent="-228600" algn="l" rtl="0">
              <a:spcBef>
                <a:spcPts val="0"/>
              </a:spcBef>
              <a:spcAft>
                <a:spcPts val="0"/>
              </a:spcAft>
              <a:buClr>
                <a:schemeClr val="dk1"/>
              </a:buClr>
              <a:buSzPts val="1200"/>
              <a:buFont typeface="Arial"/>
              <a:buAutoNum type="arabicPeriod"/>
            </a:pPr>
            <a:r>
              <a:rPr lang="en-IN" dirty="0"/>
              <a:t>Collect and store data about organizational activities (through business processes).</a:t>
            </a:r>
          </a:p>
          <a:p>
            <a:pPr marL="228600" lvl="0" indent="-228600" algn="l" rtl="0">
              <a:spcBef>
                <a:spcPts val="0"/>
              </a:spcBef>
              <a:spcAft>
                <a:spcPts val="0"/>
              </a:spcAft>
              <a:buClr>
                <a:schemeClr val="dk1"/>
              </a:buClr>
              <a:buSzPts val="1200"/>
              <a:buFont typeface="Arial"/>
              <a:buAutoNum type="arabicPeriod"/>
            </a:pPr>
            <a:r>
              <a:rPr lang="en-IN" dirty="0"/>
              <a:t>Transform data into information so management can make decisions (plan, execute, control and evaluate activities, resources, and personnel).</a:t>
            </a:r>
          </a:p>
          <a:p>
            <a:pPr marL="228600" lvl="0" indent="-228600" algn="l" rtl="0">
              <a:spcBef>
                <a:spcPts val="0"/>
              </a:spcBef>
              <a:spcAft>
                <a:spcPts val="0"/>
              </a:spcAft>
              <a:buClr>
                <a:schemeClr val="dk1"/>
              </a:buClr>
              <a:buSzPts val="1200"/>
              <a:buFont typeface="Arial"/>
              <a:buAutoNum type="arabicPeriod"/>
            </a:pPr>
            <a:r>
              <a:rPr lang="en-IN" dirty="0"/>
              <a:t>Provide adequate controls to safeguard the organization’s assets and data.</a:t>
            </a:r>
          </a:p>
        </p:txBody>
      </p:sp>
      <p:sp>
        <p:nvSpPr>
          <p:cNvPr id="4" name="Slide Number Placeholder 3"/>
          <p:cNvSpPr>
            <a:spLocks noGrp="1"/>
          </p:cNvSpPr>
          <p:nvPr>
            <p:ph type="sldNum" sz="quarter" idx="10"/>
          </p:nvPr>
        </p:nvSpPr>
        <p:spPr/>
        <p:txBody>
          <a:bodyPr/>
          <a:lstStyle/>
          <a:p>
            <a:fld id="{A73D6722-9B4D-4E29-B226-C325925A8118}" type="slidenum">
              <a:rPr lang="en-US" smtClean="0"/>
              <a:t>6</a:t>
            </a:fld>
            <a:endParaRPr lang="en-US" dirty="0"/>
          </a:p>
        </p:txBody>
      </p:sp>
    </p:spTree>
    <p:extLst>
      <p:ext uri="{BB962C8B-B14F-4D97-AF65-F5344CB8AC3E}">
        <p14:creationId xmlns:p14="http://schemas.microsoft.com/office/powerpoint/2010/main" val="12169265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For example, if the strategy is </a:t>
            </a:r>
            <a:r>
              <a:rPr lang="en-IN" i="1" dirty="0"/>
              <a:t>increase profitability, </a:t>
            </a:r>
            <a:r>
              <a:rPr lang="en-IN" dirty="0"/>
              <a:t>an organization can increase sales revenue and decrease manufacturing costs. Each of these actions will have different informational needs to measure progress. To increase sales revenue, the company can increase prices, increase volume, or change the product mix. To decrease manufacturing costs, the company can reduce the cost of the inputs into the manufacturing process or improve the process.</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Technological developments and advances have an effect on corporate strategy. Data analytics is becoming more widespread in organizations as they continue to take advantage of the technological advancements. An example is the use of predictive analysis.</a:t>
            </a:r>
          </a:p>
        </p:txBody>
      </p:sp>
      <p:sp>
        <p:nvSpPr>
          <p:cNvPr id="4" name="Slide Number Placeholder 3"/>
          <p:cNvSpPr>
            <a:spLocks noGrp="1"/>
          </p:cNvSpPr>
          <p:nvPr>
            <p:ph type="sldNum" sz="quarter" idx="10"/>
          </p:nvPr>
        </p:nvSpPr>
        <p:spPr/>
        <p:txBody>
          <a:bodyPr/>
          <a:lstStyle/>
          <a:p>
            <a:fld id="{A73D6722-9B4D-4E29-B226-C325925A8118}" type="slidenum">
              <a:rPr lang="en-US" smtClean="0"/>
              <a:t>7</a:t>
            </a:fld>
            <a:endParaRPr lang="en-US" dirty="0"/>
          </a:p>
        </p:txBody>
      </p:sp>
    </p:spTree>
    <p:extLst>
      <p:ext uri="{BB962C8B-B14F-4D97-AF65-F5344CB8AC3E}">
        <p14:creationId xmlns:p14="http://schemas.microsoft.com/office/powerpoint/2010/main" val="25967391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Bob Jordan, the airline’s CEO, in a statement released on the company’s website, said the airline, the largest carrier in the country, operates a highly complex network that requires all aircraft and crews to “remain in motion” to their destination to keep scheduled flights operational. However, that didn’t happen due to weather-related flight cancellations during one of the busiest travel seasons of the year.</a:t>
            </a:r>
          </a:p>
          <a:p>
            <a:r>
              <a:rPr lang="en-US" dirty="0"/>
              <a:t>Those conditions forced an “unprecedented” number of daily schedule changes that overwhelmed the airline’s flight scheduling tools and ability to recover. While public statements don’t dive much into details, Jordan says the airline needs to upgrade its systems.</a:t>
            </a:r>
          </a:p>
          <a:p>
            <a:endParaRPr lang="en-US" dirty="0"/>
          </a:p>
          <a:p>
            <a:r>
              <a:rPr lang="en-US" dirty="0"/>
              <a:t>“The tools we use to recover from disruption serve us well, 99% of the time; but clearly, we need to double down on our already existing plans to upgrade systems for these extreme circumstances so that we never again face what’s happening right now,” the airline executive says in a statement.</a:t>
            </a:r>
          </a:p>
          <a:p>
            <a:endParaRPr lang="en-US" dirty="0"/>
          </a:p>
          <a:p>
            <a:r>
              <a:rPr lang="en-US" dirty="0"/>
              <a:t>According to statements from the Southwest Airlines Pilot Association (</a:t>
            </a:r>
            <a:r>
              <a:rPr lang="en-US" dirty="0" err="1"/>
              <a:t>SWAPA</a:t>
            </a:r>
            <a:r>
              <a:rPr lang="en-US" dirty="0"/>
              <a:t>) and social media comments, the airline’s IT challenges were a long time coming.</a:t>
            </a:r>
          </a:p>
          <a:p>
            <a:r>
              <a:rPr lang="en-US" dirty="0" err="1"/>
              <a:t>SWAPA</a:t>
            </a:r>
            <a:r>
              <a:rPr lang="en-US" dirty="0"/>
              <a:t>, the union representing the airline’s pilots, says the operational collapse was not a surprise to anyone but the airline’s leadership.</a:t>
            </a:r>
          </a:p>
          <a:p>
            <a:r>
              <a:rPr lang="en-US" dirty="0"/>
              <a:t>“A systemic failure of Southwest Airlines leaders to modernize, support, and staff its operation leaves every frontline employee, Pilots included, tired of apologizing to our passengers,” the statement reads. “For more than a decade, leadership shortcomings in adapting, innovating, and safeguarding our operations have led to repeated system disruptions, countless disappointed passengers, and millions in lost profits.”</a:t>
            </a:r>
          </a:p>
          <a:p>
            <a:endParaRPr lang="en-US" dirty="0"/>
          </a:p>
          <a:p>
            <a:r>
              <a:rPr lang="en-US" dirty="0"/>
              <a:t>The airline’s network has grown increasingly complex and has essentially outgrown the airline’s ability to withstand weather and technology-related disruptions, the union says, adding that it has called on leadership to fix those technical issues.</a:t>
            </a:r>
          </a:p>
          <a:p>
            <a:r>
              <a:rPr lang="en-US" dirty="0"/>
              <a:t>“Once again, we call for investing in infrastructure that will improve conditions for both our passengers and pilots. Infrastructure in the forms of crew scheduling software that takes into account our point-to-point network, a modern collective bargaining agreement that reflects best practices in today’s demanding operation, and communication tools that would have allowed for displaced crews to remain in constant contact with our Company.”</a:t>
            </a:r>
          </a:p>
          <a:p>
            <a:endParaRPr lang="en-US" dirty="0"/>
          </a:p>
          <a:p>
            <a:r>
              <a:rPr lang="en-US" dirty="0"/>
              <a:t>The union also detailed how these concerns have been brought to leadership for many years, but the issues remained.</a:t>
            </a:r>
          </a:p>
          <a:p>
            <a:endParaRPr lang="en-US" dirty="0"/>
          </a:p>
          <a:p>
            <a:r>
              <a:rPr lang="en-US" dirty="0"/>
              <a:t>In an </a:t>
            </a:r>
            <a:r>
              <a:rPr lang="en-US" dirty="0">
                <a:hlinkClick r:id="rId3"/>
              </a:rPr>
              <a:t>article</a:t>
            </a:r>
            <a:r>
              <a:rPr lang="en-US" dirty="0"/>
              <a:t> about the fiasco</a:t>
            </a:r>
            <a:r>
              <a:rPr lang="en-US" i="1" dirty="0"/>
              <a:t>, The Washington Post</a:t>
            </a:r>
            <a:r>
              <a:rPr lang="en-US" dirty="0"/>
              <a:t> also cited </a:t>
            </a:r>
            <a:r>
              <a:rPr lang="en-US" dirty="0" err="1"/>
              <a:t>SWAPA</a:t>
            </a:r>
            <a:r>
              <a:rPr lang="en-US" dirty="0"/>
              <a:t> and other unions who have long raised concerns about the airline’s scheduling systems.</a:t>
            </a:r>
          </a:p>
          <a:p>
            <a:r>
              <a:rPr lang="en-US" dirty="0"/>
              <a:t>The Transport Workers Union, whose Local 556 represents flight attendants at Southwest, likewise said on Twitter on Wednesday that the meltdown was avoidable, and said that the airline should have invested in passengers and workers, rather than paying dividends to shareholders.</a:t>
            </a:r>
          </a:p>
          <a:p>
            <a:endParaRPr lang="en-US" dirty="0"/>
          </a:p>
          <a:p>
            <a:r>
              <a:rPr lang="en-US" dirty="0"/>
              <a:t>Southwest declined to answer questions about its technology investments and didn’t share new information about its recovery efforts Wednesday. Its scheduling system relies on manual reports that crew members give of their locations and available time remaining to work within a period.</a:t>
            </a:r>
          </a:p>
          <a:p>
            <a:r>
              <a:rPr lang="en-US" dirty="0"/>
              <a:t>In short, the moral of the story here is that viewing IT systems and technology as a cost center rather than a department of highly skilled technologists who can help make the organization more efficient and resilient will likely lead to disastrous consequences.</a:t>
            </a:r>
          </a:p>
          <a:p>
            <a:r>
              <a:rPr lang="en-US" dirty="0"/>
              <a:t>Those consequences include an anticipated significant impact on fourth-quarter revenues. According to </a:t>
            </a:r>
            <a:r>
              <a:rPr lang="en-US" i="1" dirty="0"/>
              <a:t>CNBC</a:t>
            </a:r>
            <a:r>
              <a:rPr lang="en-US" dirty="0"/>
              <a:t>, a </a:t>
            </a:r>
            <a:r>
              <a:rPr lang="en-US" dirty="0">
                <a:hlinkClick r:id="rId4"/>
              </a:rPr>
              <a:t>similar incident</a:t>
            </a:r>
            <a:r>
              <a:rPr lang="en-US" dirty="0"/>
              <a:t> in October 2021 cost the airline about $75 million, but this event has lasted longer and impacted more travelers.</a:t>
            </a:r>
          </a:p>
          <a:p>
            <a:r>
              <a:rPr lang="en-US" dirty="0"/>
              <a:t>Imagine what operating at a third of your organizations normal capacity for several days would do to your bottom line, not to mention what it would do to your relationship with customers. On top of that, your communications staff is sent into emergency mode to deal with the barrage of bad press.</a:t>
            </a:r>
          </a:p>
          <a:p>
            <a:r>
              <a:rPr lang="en-US" dirty="0"/>
              <a:t>If there is an IT system that is holding the operation together with toothpicks and bubble gum, have those conversations with leadership before it is too late</a:t>
            </a:r>
          </a:p>
          <a:p>
            <a:endParaRPr lang="en-US" dirty="0"/>
          </a:p>
        </p:txBody>
      </p:sp>
      <p:sp>
        <p:nvSpPr>
          <p:cNvPr id="4" name="Slide Number Placeholder 3"/>
          <p:cNvSpPr>
            <a:spLocks noGrp="1"/>
          </p:cNvSpPr>
          <p:nvPr>
            <p:ph type="sldNum" sz="quarter" idx="5"/>
          </p:nvPr>
        </p:nvSpPr>
        <p:spPr/>
        <p:txBody>
          <a:bodyPr/>
          <a:lstStyle/>
          <a:p>
            <a:fld id="{A73D6722-9B4D-4E29-B226-C325925A8118}" type="slidenum">
              <a:rPr lang="en-US" smtClean="0"/>
              <a:t>8</a:t>
            </a:fld>
            <a:endParaRPr lang="en-US" dirty="0"/>
          </a:p>
        </p:txBody>
      </p:sp>
    </p:spTree>
    <p:extLst>
      <p:ext uri="{BB962C8B-B14F-4D97-AF65-F5344CB8AC3E}">
        <p14:creationId xmlns:p14="http://schemas.microsoft.com/office/powerpoint/2010/main" val="27612668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EBBE0-03E5-6DDC-9688-FB9C85B5F3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DD01E-D6CA-7FB0-814E-B9ECC44D00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422127-BC3B-C2A8-65BB-1F73C2829B19}"/>
              </a:ext>
            </a:extLst>
          </p:cNvPr>
          <p:cNvSpPr>
            <a:spLocks noGrp="1"/>
          </p:cNvSpPr>
          <p:nvPr>
            <p:ph type="body" idx="1"/>
          </p:nvPr>
        </p:nvSpPr>
        <p:spPr/>
        <p:txBody>
          <a:bodyPr/>
          <a:lstStyle/>
          <a:p>
            <a:pPr marL="0" marR="0" lvl="0" indent="0" algn="l" rtl="0">
              <a:lnSpc>
                <a:spcPct val="100000"/>
              </a:lnSpc>
              <a:spcBef>
                <a:spcPts val="0"/>
              </a:spcBef>
              <a:spcAft>
                <a:spcPts val="0"/>
              </a:spcAft>
              <a:buClr>
                <a:schemeClr val="dk1"/>
              </a:buClr>
              <a:buSzPts val="1200"/>
              <a:buFont typeface="Arial"/>
              <a:buNone/>
            </a:pPr>
            <a:r>
              <a:rPr lang="en-US" dirty="0"/>
              <a:t>Examining Figure 1.2 provides a great amount of detail and insights as to the flow of information going from the internal and external stakeholders for business processes. Note that this information can be easily mapped to Figure 1.3 which shows the transactional activity “give</a:t>
            </a:r>
            <a:r>
              <a:rPr lang="en-US" sz="1200" dirty="0">
                <a:solidFill>
                  <a:schemeClr val="dk1"/>
                </a:solidFill>
                <a:latin typeface="Arial"/>
                <a:ea typeface="Arial"/>
                <a:cs typeface="Arial"/>
                <a:sym typeface="Arial"/>
              </a:rPr>
              <a:t>–</a:t>
            </a:r>
            <a:r>
              <a:rPr lang="en-US" dirty="0"/>
              <a:t>get” exchange.</a:t>
            </a:r>
          </a:p>
        </p:txBody>
      </p:sp>
      <p:sp>
        <p:nvSpPr>
          <p:cNvPr id="4" name="Slide Number Placeholder 3">
            <a:extLst>
              <a:ext uri="{FF2B5EF4-FFF2-40B4-BE49-F238E27FC236}">
                <a16:creationId xmlns:a16="http://schemas.microsoft.com/office/drawing/2014/main" id="{3F34A6B5-AF90-D789-0C80-05A0CF1F0D2A}"/>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151392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ED6E4-E25A-3C76-2E34-414BF14DCC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C3C840-1953-69CA-CFD1-379371FF94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5A395C-54BF-5ADB-5B20-1DD23FFE8F56}"/>
              </a:ext>
            </a:extLst>
          </p:cNvPr>
          <p:cNvSpPr>
            <a:spLocks noGrp="1"/>
          </p:cNvSpPr>
          <p:nvPr>
            <p:ph type="body" idx="1"/>
          </p:nvPr>
        </p:nvSpPr>
        <p:spPr/>
        <p:txBody>
          <a:bodyPr/>
          <a:lstStyle/>
          <a:p>
            <a:pPr marL="0" marR="0" lvl="0" indent="0" algn="l" rtl="0">
              <a:lnSpc>
                <a:spcPct val="100000"/>
              </a:lnSpc>
              <a:spcBef>
                <a:spcPts val="0"/>
              </a:spcBef>
              <a:spcAft>
                <a:spcPts val="0"/>
              </a:spcAft>
              <a:buClr>
                <a:schemeClr val="dk1"/>
              </a:buClr>
              <a:buSzPts val="1200"/>
              <a:buFont typeface="Arial"/>
              <a:buNone/>
            </a:pPr>
            <a:r>
              <a:rPr lang="en-US" sz="1200" dirty="0">
                <a:latin typeface="Arial" panose="020B0604020202020204" pitchFamily="34" charset="0"/>
                <a:cs typeface="Arial" panose="020B0604020202020204" pitchFamily="34" charset="0"/>
              </a:rPr>
              <a:t>Examining Figure 1.2 provides a great amount of detail and insights as to the flow of information going from the internal and external stakeholders for business processes. Note that this information can be easily mapped to Figure 1.3 which shows the transactional activity “give</a:t>
            </a:r>
            <a:r>
              <a:rPr lang="en-US" sz="1200" dirty="0">
                <a:solidFill>
                  <a:schemeClr val="dk1"/>
                </a:solidFill>
                <a:latin typeface="Arial" panose="020B0604020202020204" pitchFamily="34" charset="0"/>
                <a:ea typeface="Arial"/>
                <a:cs typeface="Arial" panose="020B0604020202020204" pitchFamily="34" charset="0"/>
                <a:sym typeface="Arial"/>
              </a:rPr>
              <a:t>–</a:t>
            </a:r>
            <a:r>
              <a:rPr lang="en-US" sz="1200" dirty="0">
                <a:latin typeface="Arial" panose="020B0604020202020204" pitchFamily="34" charset="0"/>
                <a:cs typeface="Arial" panose="020B0604020202020204" pitchFamily="34" charset="0"/>
              </a:rPr>
              <a:t>get” exchange.</a:t>
            </a:r>
          </a:p>
          <a:p>
            <a:pPr marL="0" marR="0" lvl="0" indent="0" algn="l" rtl="0">
              <a:lnSpc>
                <a:spcPct val="100000"/>
              </a:lnSpc>
              <a:spcBef>
                <a:spcPts val="0"/>
              </a:spcBef>
              <a:spcAft>
                <a:spcPts val="0"/>
              </a:spcAft>
              <a:buClr>
                <a:schemeClr val="dk1"/>
              </a:buClr>
              <a:buSzPts val="1200"/>
              <a:buFont typeface="Arial"/>
              <a:buNone/>
            </a:pPr>
            <a:endParaRPr lang="en-US" sz="1200" dirty="0">
              <a:latin typeface="Arial" panose="020B0604020202020204" pitchFamily="34" charset="0"/>
              <a:cs typeface="Arial" panose="020B0604020202020204" pitchFamily="34" charset="0"/>
            </a:endParaRPr>
          </a:p>
          <a:p>
            <a:pPr marL="0" marR="0" lvl="0" indent="0" algn="l" rtl="0">
              <a:lnSpc>
                <a:spcPct val="100000"/>
              </a:lnSpc>
              <a:spcBef>
                <a:spcPts val="0"/>
              </a:spcBef>
              <a:spcAft>
                <a:spcPts val="0"/>
              </a:spcAft>
              <a:buClr>
                <a:schemeClr val="dk1"/>
              </a:buClr>
              <a:buSzPts val="1200"/>
              <a:buFont typeface="Arial"/>
              <a:buNone/>
            </a:pPr>
            <a:r>
              <a:rPr lang="en-US" sz="1200" dirty="0">
                <a:latin typeface="Arial" panose="020B0604020202020204" pitchFamily="34" charset="0"/>
                <a:cs typeface="Arial" panose="020B0604020202020204" pitchFamily="34" charset="0"/>
              </a:rPr>
              <a:t>Long Description:</a:t>
            </a:r>
          </a:p>
          <a:p>
            <a:pPr marL="0" marR="0" lvl="0" indent="0" algn="l" rtl="0">
              <a:lnSpc>
                <a:spcPct val="100000"/>
              </a:lnSpc>
              <a:spcBef>
                <a:spcPts val="0"/>
              </a:spcBef>
              <a:spcAft>
                <a:spcPts val="0"/>
              </a:spcAft>
              <a:buClr>
                <a:schemeClr val="dk1"/>
              </a:buClr>
              <a:buSzPts val="1200"/>
              <a:buFont typeface="Arial"/>
              <a:buNone/>
            </a:pPr>
            <a:r>
              <a:rPr lang="en-US" sz="1200" b="0" i="0" u="none" strike="noStrike" dirty="0">
                <a:solidFill>
                  <a:srgbClr val="000000"/>
                </a:solidFill>
                <a:effectLst/>
                <a:latin typeface="Arial" panose="020B0604020202020204" pitchFamily="34" charset="0"/>
                <a:cs typeface="Arial" panose="020B0604020202020204" pitchFamily="34" charset="0"/>
              </a:rPr>
              <a:t>Financing cycle: give cash points to the get cash; financing cycle points to the human resources or payroll cycle via funds; human resources or payroll cycle: give cash points to the get labor; financing cycle points to the general ledger and reporting system via data; general ledger and reporting system point to the information for both internal and external users; financing cycle points to the expenditure cycle via funds; expenditure cycle: give cash points to the get goods or raw materials. Human resources or payroll cycle points to the general ledger and reporting system via data and production cycle via labor. The expenditure cycle points to the following: the general ledger and reporting system via data; the production cycle via raw materials; and the revenue cycle via purchased goods. Production cycle: give labor and give raw materials points to the get finished goods; the production cycle points to the general ledger and reporting system via data and revenue cycle via finished goods. Revenue cycle: give goods points to get cash; the revenue cycle points to the financing cycle via funds.</a:t>
            </a:r>
            <a:r>
              <a:rPr lang="en-US" sz="1200" dirty="0">
                <a:latin typeface="Arial" panose="020B0604020202020204" pitchFamily="34" charset="0"/>
                <a:cs typeface="Arial" panose="020B0604020202020204" pitchFamily="34" charset="0"/>
              </a:rPr>
              <a:t> </a:t>
            </a:r>
            <a:endParaRPr lang="en-US" sz="1200" b="1"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C9ADE7C-EBBD-FF7F-F5A9-B50400ED62B9}"/>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9991166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Long Description:</a:t>
            </a:r>
          </a:p>
          <a:p>
            <a:pPr>
              <a:spcAft>
                <a:spcPts val="0"/>
              </a:spcAft>
            </a:pPr>
            <a:r>
              <a:rPr lang="en-US" sz="1200" dirty="0">
                <a:effectLst/>
                <a:latin typeface="Times New Roman" panose="02020603050405020304" pitchFamily="18" charset="0"/>
              </a:rPr>
              <a:t>The value chain for “Primary activities” appears as follows:</a:t>
            </a:r>
            <a:endParaRPr lang="en-IN" dirty="0">
              <a:effectLst/>
            </a:endParaRPr>
          </a:p>
          <a:p>
            <a:pPr marL="342900" marR="0" lvl="0" indent="-342900">
              <a:lnSpc>
                <a:spcPct val="115000"/>
              </a:lnSpc>
              <a:spcBef>
                <a:spcPts val="0"/>
              </a:spcBef>
              <a:spcAft>
                <a:spcPts val="0"/>
              </a:spcAft>
              <a:buFont typeface="Symbol" panose="05050102010706020507" pitchFamily="18" charset="2"/>
              <a:buChar char=""/>
            </a:pPr>
            <a:r>
              <a:rPr lang="en-US" sz="1200" dirty="0">
                <a:solidFill>
                  <a:srgbClr val="000000"/>
                </a:solidFill>
                <a:effectLst/>
                <a:latin typeface="Times New Roman" panose="02020603050405020304" pitchFamily="18" charset="0"/>
                <a:ea typeface="Times New Roman" panose="02020603050405020304" pitchFamily="18" charset="0"/>
              </a:rPr>
              <a:t>Step 1. Inbound Logistics</a:t>
            </a:r>
            <a:endParaRPr lang="en-IN" sz="1100" dirty="0">
              <a:solidFill>
                <a:srgbClr val="000000"/>
              </a:solidFill>
              <a:effectLst/>
              <a:latin typeface="Calibri" panose="020F0502020204030204" pitchFamily="34" charset="0"/>
              <a:ea typeface="Times New Roman" panose="02020603050405020304" pitchFamily="18" charset="0"/>
            </a:endParaRPr>
          </a:p>
          <a:p>
            <a:pPr marL="342900" marR="0" lvl="0" indent="-342900">
              <a:lnSpc>
                <a:spcPct val="115000"/>
              </a:lnSpc>
              <a:spcBef>
                <a:spcPts val="0"/>
              </a:spcBef>
              <a:spcAft>
                <a:spcPts val="0"/>
              </a:spcAft>
              <a:buFont typeface="Symbol" panose="05050102010706020507" pitchFamily="18" charset="2"/>
              <a:buChar char=""/>
            </a:pPr>
            <a:r>
              <a:rPr lang="en-US" sz="1200" dirty="0">
                <a:solidFill>
                  <a:srgbClr val="000000"/>
                </a:solidFill>
                <a:effectLst/>
                <a:latin typeface="Times New Roman" panose="02020603050405020304" pitchFamily="18" charset="0"/>
                <a:ea typeface="Times New Roman" panose="02020603050405020304" pitchFamily="18" charset="0"/>
              </a:rPr>
              <a:t>Step 2. Operations</a:t>
            </a:r>
            <a:endParaRPr lang="en-IN" sz="1100" dirty="0">
              <a:solidFill>
                <a:srgbClr val="000000"/>
              </a:solidFill>
              <a:effectLst/>
              <a:latin typeface="Calibri" panose="020F0502020204030204" pitchFamily="34" charset="0"/>
              <a:ea typeface="Times New Roman" panose="02020603050405020304" pitchFamily="18" charset="0"/>
            </a:endParaRPr>
          </a:p>
          <a:p>
            <a:pPr marL="342900" marR="0" lvl="0" indent="-342900">
              <a:lnSpc>
                <a:spcPct val="115000"/>
              </a:lnSpc>
              <a:spcBef>
                <a:spcPts val="0"/>
              </a:spcBef>
              <a:spcAft>
                <a:spcPts val="0"/>
              </a:spcAft>
              <a:buFont typeface="Symbol" panose="05050102010706020507" pitchFamily="18" charset="2"/>
              <a:buChar char=""/>
            </a:pPr>
            <a:r>
              <a:rPr lang="en-US" sz="1200" dirty="0">
                <a:solidFill>
                  <a:srgbClr val="000000"/>
                </a:solidFill>
                <a:effectLst/>
                <a:latin typeface="Times New Roman" panose="02020603050405020304" pitchFamily="18" charset="0"/>
                <a:ea typeface="Times New Roman" panose="02020603050405020304" pitchFamily="18" charset="0"/>
              </a:rPr>
              <a:t>Step 3. Outbound Logistics</a:t>
            </a:r>
            <a:endParaRPr lang="en-IN" sz="1100" dirty="0">
              <a:solidFill>
                <a:srgbClr val="000000"/>
              </a:solidFill>
              <a:effectLst/>
              <a:latin typeface="Calibri" panose="020F0502020204030204" pitchFamily="34" charset="0"/>
              <a:ea typeface="Times New Roman" panose="02020603050405020304" pitchFamily="18" charset="0"/>
            </a:endParaRPr>
          </a:p>
          <a:p>
            <a:pPr marL="342900" marR="0" lvl="0" indent="-342900">
              <a:lnSpc>
                <a:spcPct val="115000"/>
              </a:lnSpc>
              <a:spcBef>
                <a:spcPts val="0"/>
              </a:spcBef>
              <a:spcAft>
                <a:spcPts val="0"/>
              </a:spcAft>
              <a:buFont typeface="Symbol" panose="05050102010706020507" pitchFamily="18" charset="2"/>
              <a:buChar char=""/>
            </a:pPr>
            <a:r>
              <a:rPr lang="en-US" sz="1200" dirty="0">
                <a:solidFill>
                  <a:srgbClr val="000000"/>
                </a:solidFill>
                <a:effectLst/>
                <a:latin typeface="Times New Roman" panose="02020603050405020304" pitchFamily="18" charset="0"/>
                <a:ea typeface="Times New Roman" panose="02020603050405020304" pitchFamily="18" charset="0"/>
              </a:rPr>
              <a:t>Step 4. Marketing and Sales</a:t>
            </a:r>
            <a:endParaRPr lang="en-IN" sz="1100" dirty="0">
              <a:solidFill>
                <a:srgbClr val="000000"/>
              </a:solidFill>
              <a:effectLst/>
              <a:latin typeface="Calibri" panose="020F0502020204030204" pitchFamily="34" charset="0"/>
              <a:ea typeface="Times New Roman" panose="02020603050405020304" pitchFamily="18" charset="0"/>
            </a:endParaRPr>
          </a:p>
          <a:p>
            <a:pPr marL="342900" marR="0" lvl="0" indent="-342900">
              <a:lnSpc>
                <a:spcPct val="115000"/>
              </a:lnSpc>
              <a:spcBef>
                <a:spcPts val="0"/>
              </a:spcBef>
              <a:spcAft>
                <a:spcPts val="0"/>
              </a:spcAft>
              <a:buFont typeface="Symbol" panose="05050102010706020507" pitchFamily="18" charset="2"/>
              <a:buChar char=""/>
            </a:pPr>
            <a:r>
              <a:rPr lang="en-US" sz="1200" dirty="0">
                <a:solidFill>
                  <a:srgbClr val="000000"/>
                </a:solidFill>
                <a:effectLst/>
                <a:latin typeface="Times New Roman" panose="02020603050405020304" pitchFamily="18" charset="0"/>
                <a:ea typeface="Times New Roman" panose="02020603050405020304" pitchFamily="18" charset="0"/>
              </a:rPr>
              <a:t>Step 5. Service</a:t>
            </a:r>
            <a:endParaRPr lang="en-IN" dirty="0">
              <a:effectLst/>
            </a:endParaRPr>
          </a:p>
          <a:p>
            <a:pPr>
              <a:spcAft>
                <a:spcPts val="0"/>
              </a:spcAft>
            </a:pPr>
            <a:r>
              <a:rPr lang="en-US" sz="1200" dirty="0">
                <a:effectLst/>
                <a:latin typeface="Times New Roman" panose="02020603050405020304" pitchFamily="18" charset="0"/>
              </a:rPr>
              <a:t>The “Secondary activities” that influence the primary activities are as follows:</a:t>
            </a:r>
            <a:endParaRPr lang="en-IN" dirty="0">
              <a:effectLst/>
            </a:endParaRPr>
          </a:p>
          <a:p>
            <a:pPr marL="342900" marR="0" lvl="0" indent="-342900">
              <a:lnSpc>
                <a:spcPct val="115000"/>
              </a:lnSpc>
              <a:spcBef>
                <a:spcPts val="0"/>
              </a:spcBef>
              <a:spcAft>
                <a:spcPts val="0"/>
              </a:spcAft>
              <a:buFont typeface="Symbol" panose="05050102010706020507" pitchFamily="18" charset="2"/>
              <a:buChar char=""/>
            </a:pPr>
            <a:r>
              <a:rPr lang="en-US" sz="1200" dirty="0">
                <a:solidFill>
                  <a:srgbClr val="000000"/>
                </a:solidFill>
                <a:effectLst/>
                <a:latin typeface="Times New Roman" panose="02020603050405020304" pitchFamily="18" charset="0"/>
                <a:ea typeface="Times New Roman" panose="02020603050405020304" pitchFamily="18" charset="0"/>
              </a:rPr>
              <a:t>Firm Infrastructure</a:t>
            </a:r>
            <a:endParaRPr lang="en-IN" sz="1100" dirty="0">
              <a:solidFill>
                <a:srgbClr val="000000"/>
              </a:solidFill>
              <a:effectLst/>
              <a:latin typeface="Calibri" panose="020F0502020204030204" pitchFamily="34" charset="0"/>
              <a:ea typeface="Times New Roman" panose="02020603050405020304" pitchFamily="18" charset="0"/>
            </a:endParaRPr>
          </a:p>
          <a:p>
            <a:pPr marL="342900" marR="0" lvl="0" indent="-342900">
              <a:lnSpc>
                <a:spcPct val="115000"/>
              </a:lnSpc>
              <a:spcBef>
                <a:spcPts val="0"/>
              </a:spcBef>
              <a:spcAft>
                <a:spcPts val="0"/>
              </a:spcAft>
              <a:buFont typeface="Symbol" panose="05050102010706020507" pitchFamily="18" charset="2"/>
              <a:buChar char=""/>
            </a:pPr>
            <a:r>
              <a:rPr lang="en-US" sz="1200" dirty="0">
                <a:solidFill>
                  <a:srgbClr val="000000"/>
                </a:solidFill>
                <a:effectLst/>
                <a:latin typeface="Times New Roman" panose="02020603050405020304" pitchFamily="18" charset="0"/>
                <a:ea typeface="Times New Roman" panose="02020603050405020304" pitchFamily="18" charset="0"/>
              </a:rPr>
              <a:t>Human Resources</a:t>
            </a:r>
            <a:endParaRPr lang="en-IN" sz="1100" dirty="0">
              <a:solidFill>
                <a:srgbClr val="000000"/>
              </a:solidFill>
              <a:effectLst/>
              <a:latin typeface="Calibri" panose="020F0502020204030204" pitchFamily="34" charset="0"/>
              <a:ea typeface="Times New Roman" panose="02020603050405020304" pitchFamily="18" charset="0"/>
            </a:endParaRPr>
          </a:p>
          <a:p>
            <a:pPr marL="342900" marR="0" lvl="0" indent="-342900">
              <a:lnSpc>
                <a:spcPct val="115000"/>
              </a:lnSpc>
              <a:spcBef>
                <a:spcPts val="0"/>
              </a:spcBef>
              <a:spcAft>
                <a:spcPts val="0"/>
              </a:spcAft>
              <a:buFont typeface="Symbol" panose="05050102010706020507" pitchFamily="18" charset="2"/>
              <a:buChar char=""/>
            </a:pPr>
            <a:r>
              <a:rPr lang="en-US" sz="1200" dirty="0">
                <a:solidFill>
                  <a:srgbClr val="000000"/>
                </a:solidFill>
                <a:effectLst/>
                <a:latin typeface="Times New Roman" panose="02020603050405020304" pitchFamily="18" charset="0"/>
                <a:ea typeface="Times New Roman" panose="02020603050405020304" pitchFamily="18" charset="0"/>
              </a:rPr>
              <a:t>Technology</a:t>
            </a:r>
            <a:endParaRPr lang="en-IN" sz="1100" dirty="0">
              <a:solidFill>
                <a:srgbClr val="000000"/>
              </a:solidFill>
              <a:effectLst/>
              <a:latin typeface="Calibri" panose="020F0502020204030204" pitchFamily="34" charset="0"/>
              <a:ea typeface="Times New Roman" panose="02020603050405020304" pitchFamily="18" charset="0"/>
            </a:endParaRPr>
          </a:p>
          <a:p>
            <a:pPr marL="342900" marR="0" lvl="0" indent="-342900">
              <a:lnSpc>
                <a:spcPct val="115000"/>
              </a:lnSpc>
              <a:spcBef>
                <a:spcPts val="0"/>
              </a:spcBef>
              <a:spcAft>
                <a:spcPts val="0"/>
              </a:spcAft>
              <a:buFont typeface="Symbol" panose="05050102010706020507" pitchFamily="18" charset="2"/>
              <a:buChar char=""/>
            </a:pPr>
            <a:r>
              <a:rPr lang="en-US" sz="1200" dirty="0">
                <a:solidFill>
                  <a:srgbClr val="000000"/>
                </a:solidFill>
                <a:effectLst/>
                <a:latin typeface="Times New Roman" panose="02020603050405020304" pitchFamily="18" charset="0"/>
                <a:ea typeface="Times New Roman" panose="02020603050405020304" pitchFamily="18" charset="0"/>
              </a:rPr>
              <a:t>Purchasing</a:t>
            </a:r>
            <a:endParaRPr lang="en-IN" sz="1100" dirty="0">
              <a:solidFill>
                <a:srgbClr val="000000"/>
              </a:solidFill>
              <a:effectLst/>
              <a:latin typeface="Calibri" panose="020F0502020204030204" pitchFamily="34" charset="0"/>
              <a:ea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11</a:t>
            </a:fld>
            <a:endParaRPr lang="en-US" dirty="0"/>
          </a:p>
        </p:txBody>
      </p:sp>
    </p:spTree>
    <p:extLst>
      <p:ext uri="{BB962C8B-B14F-4D97-AF65-F5344CB8AC3E}">
        <p14:creationId xmlns:p14="http://schemas.microsoft.com/office/powerpoint/2010/main" val="22796360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Please note that students may see primary and then assume secondary is next. This is a common mistake and using the visual from Figure 1-5 in the book also as an example can help mitigate this common misperception.</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A basic example involves buying a textbook. Ask the students how they generally buy a textbook (usually they buy it online or go to the bookstore); either way you can walk through the primary and support activities that are needed for them to get their textbook in time for the first day of class!</a:t>
            </a:r>
          </a:p>
        </p:txBody>
      </p:sp>
      <p:sp>
        <p:nvSpPr>
          <p:cNvPr id="4" name="Slide Number Placeholder 3"/>
          <p:cNvSpPr>
            <a:spLocks noGrp="1"/>
          </p:cNvSpPr>
          <p:nvPr>
            <p:ph type="sldNum" sz="quarter" idx="10"/>
          </p:nvPr>
        </p:nvSpPr>
        <p:spPr/>
        <p:txBody>
          <a:bodyPr/>
          <a:lstStyle/>
          <a:p>
            <a:fld id="{A73D6722-9B4D-4E29-B226-C325925A8118}" type="slidenum">
              <a:rPr lang="en-US" smtClean="0"/>
              <a:t>13</a:t>
            </a:fld>
            <a:endParaRPr lang="en-US" dirty="0"/>
          </a:p>
        </p:txBody>
      </p:sp>
    </p:spTree>
    <p:extLst>
      <p:ext uri="{BB962C8B-B14F-4D97-AF65-F5344CB8AC3E}">
        <p14:creationId xmlns:p14="http://schemas.microsoft.com/office/powerpoint/2010/main" val="16184414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BEB9D-64CD-7FF5-C62F-821008E738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3F892E-4797-DA35-D4CC-2B2735BEA2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5A8D12-DA34-C392-92CF-A5B99E0F4EB8}"/>
              </a:ext>
            </a:extLst>
          </p:cNvPr>
          <p:cNvSpPr>
            <a:spLocks noGrp="1"/>
          </p:cNvSpPr>
          <p:nvPr>
            <p:ph type="body" idx="1"/>
          </p:nvPr>
        </p:nvSpPr>
        <p:spPr/>
        <p:txBody>
          <a:bodyPr/>
          <a:lstStyle/>
          <a:p>
            <a:pPr marL="0" lvl="0" indent="0" algn="l" rtl="0">
              <a:spcBef>
                <a:spcPts val="0"/>
              </a:spcBef>
              <a:spcAft>
                <a:spcPts val="0"/>
              </a:spcAft>
              <a:buClr>
                <a:schemeClr val="dk1"/>
              </a:buClr>
              <a:buSzPts val="1200"/>
              <a:buFont typeface="Arial"/>
              <a:buNone/>
            </a:pPr>
            <a:r>
              <a:rPr lang="en-US" dirty="0"/>
              <a:t>It seems odd that the financing cycle is give cash—get cash; what does this really mean?</a:t>
            </a:r>
          </a:p>
          <a:p>
            <a:pPr marL="0" lvl="0" indent="0" algn="l" rtl="0">
              <a:spcBef>
                <a:spcPts val="0"/>
              </a:spcBef>
              <a:spcAft>
                <a:spcPts val="0"/>
              </a:spcAft>
              <a:buClr>
                <a:schemeClr val="dk1"/>
              </a:buClr>
              <a:buSzPts val="1200"/>
              <a:buFont typeface="Arial"/>
              <a:buNone/>
            </a:pPr>
            <a:endParaRPr lang="en-US" dirty="0"/>
          </a:p>
          <a:p>
            <a:pPr marL="0" lvl="0" indent="0" algn="l" rtl="0">
              <a:spcBef>
                <a:spcPts val="0"/>
              </a:spcBef>
              <a:spcAft>
                <a:spcPts val="0"/>
              </a:spcAft>
              <a:buClr>
                <a:schemeClr val="dk1"/>
              </a:buClr>
              <a:buSzPts val="1200"/>
              <a:buFont typeface="Arial"/>
              <a:buNone/>
            </a:pPr>
            <a:r>
              <a:rPr lang="en-US" dirty="0"/>
              <a:t>It basically means that a business organization can get cash in the form of a bank loan but will need to give that cash back over time in the form of monthly payments to the bank.</a:t>
            </a:r>
          </a:p>
          <a:p>
            <a:pPr marL="0" lvl="0" indent="0" algn="l" rtl="0">
              <a:spcBef>
                <a:spcPts val="0"/>
              </a:spcBef>
              <a:spcAft>
                <a:spcPts val="0"/>
              </a:spcAft>
              <a:buClr>
                <a:schemeClr val="dk1"/>
              </a:buClr>
              <a:buSzPts val="1200"/>
              <a:buFont typeface="Arial"/>
              <a:buNone/>
            </a:pPr>
            <a:endParaRPr lang="en-US" dirty="0"/>
          </a:p>
          <a:p>
            <a:pPr marL="0" lvl="0" indent="0" algn="l" rtl="0">
              <a:spcBef>
                <a:spcPts val="0"/>
              </a:spcBef>
              <a:spcAft>
                <a:spcPts val="0"/>
              </a:spcAft>
              <a:buClr>
                <a:schemeClr val="dk1"/>
              </a:buClr>
              <a:buSzPts val="1200"/>
              <a:buFont typeface="Arial"/>
              <a:buNone/>
            </a:pPr>
            <a:r>
              <a:rPr lang="en-US" dirty="0"/>
              <a:t>Or it may mean that the company can get cash from investors and give equity (which eventually turns into cash in the form of dividend payments).</a:t>
            </a:r>
          </a:p>
        </p:txBody>
      </p:sp>
      <p:sp>
        <p:nvSpPr>
          <p:cNvPr id="4" name="Slide Number Placeholder 3">
            <a:extLst>
              <a:ext uri="{FF2B5EF4-FFF2-40B4-BE49-F238E27FC236}">
                <a16:creationId xmlns:a16="http://schemas.microsoft.com/office/drawing/2014/main" id="{6B6F808C-9A02-8952-8A8D-B730CC830ECE}"/>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9282289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Examining Figure 1-2 provides a great amount of detail and insights as to the flow of information going from the internal and external stakeholders for business processes. Note that this information can be easily mapped to Figure 1-3 which shows the transactional activity “give</a:t>
            </a:r>
            <a:r>
              <a:rPr lang="en-IN" sz="1200" dirty="0">
                <a:solidFill>
                  <a:schemeClr val="dk1"/>
                </a:solidFill>
                <a:latin typeface="+mn-lt"/>
                <a:ea typeface="Arial"/>
                <a:cs typeface="Arial"/>
                <a:sym typeface="Arial"/>
              </a:rPr>
              <a:t>–</a:t>
            </a:r>
            <a:r>
              <a:rPr lang="en-IN" dirty="0"/>
              <a:t>get” exchange.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Long Description:</a:t>
            </a:r>
          </a:p>
          <a:p>
            <a:pPr fontAlgn="auto">
              <a:spcAft>
                <a:spcPts val="0"/>
              </a:spcAft>
            </a:pPr>
            <a:r>
              <a:rPr lang="en-US" sz="1200" dirty="0">
                <a:effectLst/>
                <a:latin typeface="Times New Roman" panose="02020603050405020304" pitchFamily="18" charset="0"/>
                <a:ea typeface="Times New Roman" panose="02020603050405020304" pitchFamily="18" charset="0"/>
              </a:rPr>
              <a:t>The interaction of the system with various parties appears in the diagram as follows.</a:t>
            </a:r>
            <a:endParaRPr lang="en-IN" dirty="0">
              <a:effectLst/>
            </a:endParaRPr>
          </a:p>
          <a:p>
            <a:pPr algn="l" fontAlgn="auto">
              <a:spcAft>
                <a:spcPts val="0"/>
              </a:spcAft>
            </a:pPr>
            <a:r>
              <a:rPr lang="en-US" sz="1200" dirty="0">
                <a:effectLst/>
                <a:latin typeface="Times New Roman" panose="02020603050405020304" pitchFamily="18" charset="0"/>
                <a:ea typeface="Times New Roman" panose="02020603050405020304" pitchFamily="18" charset="0"/>
              </a:rPr>
              <a:t>Parties</a:t>
            </a:r>
            <a:endParaRPr lang="en-IN" dirty="0">
              <a:effectLst/>
            </a:endParaRPr>
          </a:p>
          <a:p>
            <a:pPr algn="l" fontAlgn="auto">
              <a:spcAft>
                <a:spcPts val="0"/>
              </a:spcAft>
            </a:pPr>
            <a:r>
              <a:rPr lang="en-US" sz="1200" dirty="0">
                <a:effectLst/>
                <a:latin typeface="Times New Roman" panose="02020603050405020304" pitchFamily="18" charset="0"/>
                <a:ea typeface="Times New Roman" panose="02020603050405020304" pitchFamily="18" charset="0"/>
              </a:rPr>
              <a:t>From S and S to the parties</a:t>
            </a:r>
            <a:endParaRPr lang="en-IN" dirty="0">
              <a:effectLst/>
            </a:endParaRPr>
          </a:p>
          <a:p>
            <a:pPr algn="l" fontAlgn="auto">
              <a:spcAft>
                <a:spcPts val="0"/>
              </a:spcAft>
            </a:pPr>
            <a:r>
              <a:rPr lang="en-US" sz="1200" dirty="0">
                <a:effectLst/>
                <a:latin typeface="Times New Roman" panose="02020603050405020304" pitchFamily="18" charset="0"/>
                <a:ea typeface="Times New Roman" panose="02020603050405020304" pitchFamily="18" charset="0"/>
              </a:rPr>
              <a:t>From Parties to S and S</a:t>
            </a:r>
            <a:endParaRPr lang="en-IN" dirty="0">
              <a:effectLst/>
            </a:endParaRPr>
          </a:p>
          <a:p>
            <a:pPr algn="l" fontAlgn="auto">
              <a:spcAft>
                <a:spcPts val="0"/>
              </a:spcAft>
            </a:pPr>
            <a:r>
              <a:rPr lang="en-US" sz="1200" dirty="0">
                <a:effectLst/>
                <a:latin typeface="Times New Roman" panose="02020603050405020304" pitchFamily="18" charset="0"/>
                <a:ea typeface="Times New Roman" panose="02020603050405020304" pitchFamily="18" charset="0"/>
              </a:rPr>
              <a:t>Vendors</a:t>
            </a:r>
            <a:endParaRPr lang="en-IN" dirty="0">
              <a:effectLst/>
            </a:endParaRPr>
          </a:p>
          <a:p>
            <a:pPr marL="342900" marR="0" lvl="0" indent="-342900" algn="l" fontAlgn="auto">
              <a:lnSpc>
                <a:spcPct val="115000"/>
              </a:lnSpc>
              <a:spcBef>
                <a:spcPts val="0"/>
              </a:spcBef>
              <a:spcAft>
                <a:spcPts val="0"/>
              </a:spcAft>
              <a:buFont typeface="Symbol" panose="05050102010706020507" pitchFamily="18" charset="2"/>
              <a:buChar char=""/>
            </a:pPr>
            <a:r>
              <a:rPr lang="en-US" sz="1200" dirty="0">
                <a:solidFill>
                  <a:srgbClr val="000000"/>
                </a:solidFill>
                <a:effectLst/>
                <a:latin typeface="Times New Roman" panose="02020603050405020304" pitchFamily="18" charset="0"/>
                <a:ea typeface="Times New Roman" panose="02020603050405020304" pitchFamily="18" charset="0"/>
              </a:rPr>
              <a:t>Purchase orders</a:t>
            </a:r>
            <a:endParaRPr lang="en-IN" sz="1100" dirty="0">
              <a:solidFill>
                <a:srgbClr val="000000"/>
              </a:solidFill>
              <a:effectLst/>
              <a:latin typeface="Calibri" panose="020F0502020204030204" pitchFamily="34" charset="0"/>
              <a:ea typeface="Times New Roman" panose="02020603050405020304" pitchFamily="18" charset="0"/>
            </a:endParaRPr>
          </a:p>
          <a:p>
            <a:pPr marL="342900" marR="0" lvl="0" indent="-342900" algn="l" fontAlgn="auto">
              <a:lnSpc>
                <a:spcPct val="115000"/>
              </a:lnSpc>
              <a:spcBef>
                <a:spcPts val="0"/>
              </a:spcBef>
              <a:spcAft>
                <a:spcPts val="0"/>
              </a:spcAft>
              <a:buFont typeface="Symbol" panose="05050102010706020507" pitchFamily="18" charset="2"/>
              <a:buChar char=""/>
            </a:pPr>
            <a:r>
              <a:rPr lang="en-US" sz="1200" dirty="0">
                <a:solidFill>
                  <a:srgbClr val="000000"/>
                </a:solidFill>
                <a:effectLst/>
                <a:latin typeface="Times New Roman" panose="02020603050405020304" pitchFamily="18" charset="0"/>
                <a:ea typeface="Times New Roman" panose="02020603050405020304" pitchFamily="18" charset="0"/>
              </a:rPr>
              <a:t>Vendor payments</a:t>
            </a:r>
            <a:endParaRPr lang="en-IN" sz="1100" dirty="0">
              <a:solidFill>
                <a:srgbClr val="000000"/>
              </a:solidFill>
              <a:effectLst/>
              <a:latin typeface="Calibri" panose="020F0502020204030204" pitchFamily="34" charset="0"/>
              <a:ea typeface="Times New Roman" panose="02020603050405020304" pitchFamily="18" charset="0"/>
            </a:endParaRPr>
          </a:p>
          <a:p>
            <a:pPr marL="342900" marR="0" lvl="0" indent="-342900" algn="l" fontAlgn="auto">
              <a:lnSpc>
                <a:spcPct val="115000"/>
              </a:lnSpc>
              <a:spcBef>
                <a:spcPts val="0"/>
              </a:spcBef>
              <a:spcAft>
                <a:spcPts val="0"/>
              </a:spcAft>
              <a:buFont typeface="Symbol" panose="05050102010706020507" pitchFamily="18" charset="2"/>
              <a:buChar char=""/>
            </a:pPr>
            <a:r>
              <a:rPr lang="en-US" sz="1200" dirty="0">
                <a:solidFill>
                  <a:srgbClr val="000000"/>
                </a:solidFill>
                <a:effectLst/>
                <a:latin typeface="Times New Roman" panose="02020603050405020304" pitchFamily="18" charset="0"/>
                <a:ea typeface="Times New Roman" panose="02020603050405020304" pitchFamily="18" charset="0"/>
              </a:rPr>
              <a:t>Goods and services</a:t>
            </a:r>
            <a:endParaRPr lang="en-IN" sz="1100" dirty="0">
              <a:solidFill>
                <a:srgbClr val="000000"/>
              </a:solidFill>
              <a:effectLst/>
              <a:latin typeface="Calibri" panose="020F0502020204030204" pitchFamily="34" charset="0"/>
              <a:ea typeface="Times New Roman" panose="02020603050405020304" pitchFamily="18" charset="0"/>
            </a:endParaRPr>
          </a:p>
          <a:p>
            <a:pPr marL="342900" marR="0" lvl="0" indent="-342900" algn="l" fontAlgn="auto">
              <a:lnSpc>
                <a:spcPct val="115000"/>
              </a:lnSpc>
              <a:spcBef>
                <a:spcPts val="0"/>
              </a:spcBef>
              <a:spcAft>
                <a:spcPts val="0"/>
              </a:spcAft>
              <a:buFont typeface="Symbol" panose="05050102010706020507" pitchFamily="18" charset="2"/>
              <a:buChar char=""/>
            </a:pPr>
            <a:r>
              <a:rPr lang="en-US" sz="1200" dirty="0">
                <a:solidFill>
                  <a:srgbClr val="000000"/>
                </a:solidFill>
                <a:effectLst/>
                <a:latin typeface="Times New Roman" panose="02020603050405020304" pitchFamily="18" charset="0"/>
                <a:ea typeface="Times New Roman" panose="02020603050405020304" pitchFamily="18" charset="0"/>
              </a:rPr>
              <a:t>Vendor invoices</a:t>
            </a:r>
            <a:endParaRPr lang="en-IN" sz="1100" dirty="0">
              <a:solidFill>
                <a:srgbClr val="000000"/>
              </a:solidFill>
              <a:effectLst/>
              <a:latin typeface="Calibri" panose="020F0502020204030204" pitchFamily="34" charset="0"/>
              <a:ea typeface="Times New Roman" panose="02020603050405020304" pitchFamily="18" charset="0"/>
            </a:endParaRPr>
          </a:p>
          <a:p>
            <a:pPr algn="l" fontAlgn="auto">
              <a:spcAft>
                <a:spcPts val="0"/>
              </a:spcAft>
            </a:pPr>
            <a:r>
              <a:rPr lang="en-US" sz="1200" dirty="0">
                <a:effectLst/>
                <a:latin typeface="Times New Roman" panose="02020603050405020304" pitchFamily="18" charset="0"/>
                <a:ea typeface="Times New Roman" panose="02020603050405020304" pitchFamily="18" charset="0"/>
              </a:rPr>
              <a:t>Investors</a:t>
            </a:r>
            <a:endParaRPr lang="en-IN" dirty="0">
              <a:effectLst/>
            </a:endParaRPr>
          </a:p>
          <a:p>
            <a:pPr marL="342900" marR="0" lvl="0" indent="-342900" algn="l" fontAlgn="auto">
              <a:lnSpc>
                <a:spcPct val="115000"/>
              </a:lnSpc>
              <a:spcBef>
                <a:spcPts val="0"/>
              </a:spcBef>
              <a:spcAft>
                <a:spcPts val="0"/>
              </a:spcAft>
              <a:buFont typeface="Symbol" panose="05050102010706020507" pitchFamily="18" charset="2"/>
              <a:buChar char=""/>
            </a:pPr>
            <a:r>
              <a:rPr lang="en-US" sz="1200" dirty="0">
                <a:solidFill>
                  <a:srgbClr val="000000"/>
                </a:solidFill>
                <a:effectLst/>
                <a:latin typeface="Times New Roman" panose="02020603050405020304" pitchFamily="18" charset="0"/>
                <a:ea typeface="Times New Roman" panose="02020603050405020304" pitchFamily="18" charset="0"/>
              </a:rPr>
              <a:t>Dividends</a:t>
            </a:r>
            <a:endParaRPr lang="en-IN" sz="1100" dirty="0">
              <a:solidFill>
                <a:srgbClr val="000000"/>
              </a:solidFill>
              <a:effectLst/>
              <a:latin typeface="Calibri" panose="020F0502020204030204" pitchFamily="34" charset="0"/>
              <a:ea typeface="Times New Roman" panose="02020603050405020304" pitchFamily="18" charset="0"/>
            </a:endParaRPr>
          </a:p>
          <a:p>
            <a:pPr marL="342900" marR="0" lvl="0" indent="-342900" algn="l" fontAlgn="auto">
              <a:lnSpc>
                <a:spcPct val="115000"/>
              </a:lnSpc>
              <a:spcBef>
                <a:spcPts val="0"/>
              </a:spcBef>
              <a:spcAft>
                <a:spcPts val="0"/>
              </a:spcAft>
              <a:buFont typeface="Symbol" panose="05050102010706020507" pitchFamily="18" charset="2"/>
              <a:buChar char=""/>
            </a:pPr>
            <a:r>
              <a:rPr lang="en-US" sz="1200" dirty="0">
                <a:solidFill>
                  <a:srgbClr val="000000"/>
                </a:solidFill>
                <a:effectLst/>
                <a:latin typeface="Times New Roman" panose="02020603050405020304" pitchFamily="18" charset="0"/>
                <a:ea typeface="Times New Roman" panose="02020603050405020304" pitchFamily="18" charset="0"/>
              </a:rPr>
              <a:t>Financial statements</a:t>
            </a:r>
            <a:endParaRPr lang="en-IN" sz="1100" dirty="0">
              <a:solidFill>
                <a:srgbClr val="000000"/>
              </a:solidFill>
              <a:effectLst/>
              <a:latin typeface="Calibri" panose="020F0502020204030204" pitchFamily="34" charset="0"/>
              <a:ea typeface="Times New Roman" panose="02020603050405020304" pitchFamily="18" charset="0"/>
            </a:endParaRPr>
          </a:p>
          <a:p>
            <a:pPr marL="342900" marR="0" lvl="0" indent="-342900" algn="l" fontAlgn="auto">
              <a:lnSpc>
                <a:spcPct val="115000"/>
              </a:lnSpc>
              <a:spcBef>
                <a:spcPts val="0"/>
              </a:spcBef>
              <a:spcAft>
                <a:spcPts val="0"/>
              </a:spcAft>
              <a:buFont typeface="Symbol" panose="05050102010706020507" pitchFamily="18" charset="2"/>
              <a:buChar char=""/>
            </a:pPr>
            <a:r>
              <a:rPr lang="en-US" sz="1200" dirty="0">
                <a:solidFill>
                  <a:srgbClr val="000000"/>
                </a:solidFill>
                <a:effectLst/>
                <a:latin typeface="Times New Roman" panose="02020603050405020304" pitchFamily="18" charset="0"/>
                <a:ea typeface="Times New Roman" panose="02020603050405020304" pitchFamily="18" charset="0"/>
              </a:rPr>
              <a:t>Invest funds</a:t>
            </a:r>
            <a:endParaRPr lang="en-IN" sz="1100" dirty="0">
              <a:solidFill>
                <a:srgbClr val="000000"/>
              </a:solidFill>
              <a:effectLst/>
              <a:latin typeface="Calibri" panose="020F0502020204030204" pitchFamily="34" charset="0"/>
              <a:ea typeface="Times New Roman" panose="02020603050405020304" pitchFamily="18" charset="0"/>
            </a:endParaRPr>
          </a:p>
          <a:p>
            <a:pPr algn="l" fontAlgn="auto">
              <a:spcAft>
                <a:spcPts val="0"/>
              </a:spcAft>
            </a:pPr>
            <a:r>
              <a:rPr lang="en-US" sz="1200" dirty="0">
                <a:effectLst/>
                <a:latin typeface="Times New Roman" panose="02020603050405020304" pitchFamily="18" charset="0"/>
                <a:ea typeface="Times New Roman" panose="02020603050405020304" pitchFamily="18" charset="0"/>
              </a:rPr>
              <a:t>Creditors</a:t>
            </a:r>
            <a:endParaRPr lang="en-IN" dirty="0">
              <a:effectLst/>
            </a:endParaRPr>
          </a:p>
          <a:p>
            <a:pPr marL="342900" marR="0" lvl="0" indent="-342900" algn="l" fontAlgn="auto">
              <a:lnSpc>
                <a:spcPct val="115000"/>
              </a:lnSpc>
              <a:spcBef>
                <a:spcPts val="0"/>
              </a:spcBef>
              <a:spcAft>
                <a:spcPts val="0"/>
              </a:spcAft>
              <a:buFont typeface="Symbol" panose="05050102010706020507" pitchFamily="18" charset="2"/>
              <a:buChar char=""/>
            </a:pPr>
            <a:r>
              <a:rPr lang="en-US" sz="1200" dirty="0">
                <a:solidFill>
                  <a:srgbClr val="000000"/>
                </a:solidFill>
                <a:effectLst/>
                <a:latin typeface="Times New Roman" panose="02020603050405020304" pitchFamily="18" charset="0"/>
                <a:ea typeface="Times New Roman" panose="02020603050405020304" pitchFamily="18" charset="0"/>
              </a:rPr>
              <a:t>Loan payments</a:t>
            </a:r>
            <a:endParaRPr lang="en-IN" sz="1100" dirty="0">
              <a:solidFill>
                <a:srgbClr val="000000"/>
              </a:solidFill>
              <a:effectLst/>
              <a:latin typeface="Calibri" panose="020F0502020204030204" pitchFamily="34" charset="0"/>
              <a:ea typeface="Times New Roman" panose="02020603050405020304" pitchFamily="18" charset="0"/>
            </a:endParaRPr>
          </a:p>
          <a:p>
            <a:pPr marL="342900" marR="0" lvl="0" indent="-342900" algn="l" fontAlgn="auto">
              <a:lnSpc>
                <a:spcPct val="115000"/>
              </a:lnSpc>
              <a:spcBef>
                <a:spcPts val="0"/>
              </a:spcBef>
              <a:spcAft>
                <a:spcPts val="0"/>
              </a:spcAft>
              <a:buFont typeface="Symbol" panose="05050102010706020507" pitchFamily="18" charset="2"/>
              <a:buChar char=""/>
            </a:pPr>
            <a:r>
              <a:rPr lang="en-US" sz="1200" dirty="0">
                <a:solidFill>
                  <a:srgbClr val="000000"/>
                </a:solidFill>
                <a:effectLst/>
                <a:latin typeface="Times New Roman" panose="02020603050405020304" pitchFamily="18" charset="0"/>
                <a:ea typeface="Times New Roman" panose="02020603050405020304" pitchFamily="18" charset="0"/>
              </a:rPr>
              <a:t>Financial statements</a:t>
            </a:r>
            <a:endParaRPr lang="en-IN" sz="1100" dirty="0">
              <a:solidFill>
                <a:srgbClr val="000000"/>
              </a:solidFill>
              <a:effectLst/>
              <a:latin typeface="Calibri" panose="020F0502020204030204" pitchFamily="34" charset="0"/>
              <a:ea typeface="Times New Roman" panose="02020603050405020304" pitchFamily="18" charset="0"/>
            </a:endParaRPr>
          </a:p>
          <a:p>
            <a:pPr marL="342900" marR="0" lvl="0" indent="-342900" algn="l" fontAlgn="auto">
              <a:lnSpc>
                <a:spcPct val="115000"/>
              </a:lnSpc>
              <a:spcBef>
                <a:spcPts val="0"/>
              </a:spcBef>
              <a:spcAft>
                <a:spcPts val="0"/>
              </a:spcAft>
              <a:buFont typeface="Symbol" panose="05050102010706020507" pitchFamily="18" charset="2"/>
              <a:buChar char=""/>
            </a:pPr>
            <a:r>
              <a:rPr lang="en-US" sz="1200" dirty="0">
                <a:solidFill>
                  <a:srgbClr val="000000"/>
                </a:solidFill>
                <a:effectLst/>
                <a:latin typeface="Times New Roman" panose="02020603050405020304" pitchFamily="18" charset="0"/>
                <a:ea typeface="Times New Roman" panose="02020603050405020304" pitchFamily="18" charset="0"/>
              </a:rPr>
              <a:t>Loans</a:t>
            </a:r>
            <a:endParaRPr lang="en-IN" sz="1100" dirty="0">
              <a:solidFill>
                <a:srgbClr val="000000"/>
              </a:solidFill>
              <a:effectLst/>
              <a:latin typeface="Calibri" panose="020F0502020204030204" pitchFamily="34" charset="0"/>
              <a:ea typeface="Times New Roman" panose="02020603050405020304" pitchFamily="18" charset="0"/>
            </a:endParaRPr>
          </a:p>
          <a:p>
            <a:pPr algn="l" fontAlgn="auto">
              <a:spcAft>
                <a:spcPts val="0"/>
              </a:spcAft>
            </a:pPr>
            <a:r>
              <a:rPr lang="en-US" sz="1200" dirty="0">
                <a:effectLst/>
                <a:latin typeface="Times New Roman" panose="02020603050405020304" pitchFamily="18" charset="0"/>
                <a:ea typeface="Times New Roman" panose="02020603050405020304" pitchFamily="18" charset="0"/>
              </a:rPr>
              <a:t>Banks</a:t>
            </a:r>
            <a:endParaRPr lang="en-IN" dirty="0">
              <a:effectLst/>
            </a:endParaRPr>
          </a:p>
          <a:p>
            <a:pPr marL="342900" marR="0" lvl="0" indent="-342900" algn="l" fontAlgn="auto">
              <a:lnSpc>
                <a:spcPct val="115000"/>
              </a:lnSpc>
              <a:spcBef>
                <a:spcPts val="0"/>
              </a:spcBef>
              <a:spcAft>
                <a:spcPts val="0"/>
              </a:spcAft>
              <a:buFont typeface="Symbol" panose="05050102010706020507" pitchFamily="18" charset="2"/>
              <a:buChar char=""/>
            </a:pPr>
            <a:r>
              <a:rPr lang="en-US" sz="1200" dirty="0">
                <a:solidFill>
                  <a:srgbClr val="000000"/>
                </a:solidFill>
                <a:effectLst/>
                <a:latin typeface="Times New Roman" panose="02020603050405020304" pitchFamily="18" charset="0"/>
                <a:ea typeface="Times New Roman" panose="02020603050405020304" pitchFamily="18" charset="0"/>
              </a:rPr>
              <a:t>Deposits</a:t>
            </a:r>
            <a:endParaRPr lang="en-IN" sz="1100" dirty="0">
              <a:solidFill>
                <a:srgbClr val="000000"/>
              </a:solidFill>
              <a:effectLst/>
              <a:latin typeface="Calibri" panose="020F0502020204030204" pitchFamily="34" charset="0"/>
              <a:ea typeface="Times New Roman" panose="02020603050405020304" pitchFamily="18" charset="0"/>
            </a:endParaRPr>
          </a:p>
          <a:p>
            <a:pPr marL="342900" marR="0" lvl="0" indent="-342900" algn="l" fontAlgn="auto">
              <a:lnSpc>
                <a:spcPct val="115000"/>
              </a:lnSpc>
              <a:spcBef>
                <a:spcPts val="0"/>
              </a:spcBef>
              <a:spcAft>
                <a:spcPts val="0"/>
              </a:spcAft>
              <a:buFont typeface="Symbol" panose="05050102010706020507" pitchFamily="18" charset="2"/>
              <a:buChar char=""/>
            </a:pPr>
            <a:r>
              <a:rPr lang="en-US" sz="1200" dirty="0">
                <a:solidFill>
                  <a:srgbClr val="000000"/>
                </a:solidFill>
                <a:effectLst/>
                <a:latin typeface="Times New Roman" panose="02020603050405020304" pitchFamily="18" charset="0"/>
                <a:ea typeface="Times New Roman" panose="02020603050405020304" pitchFamily="18" charset="0"/>
              </a:rPr>
              <a:t>Withdrawals</a:t>
            </a:r>
            <a:endParaRPr lang="en-IN" sz="1100" dirty="0">
              <a:solidFill>
                <a:srgbClr val="000000"/>
              </a:solidFill>
              <a:effectLst/>
              <a:latin typeface="Calibri" panose="020F0502020204030204" pitchFamily="34" charset="0"/>
              <a:ea typeface="Times New Roman" panose="02020603050405020304" pitchFamily="18" charset="0"/>
            </a:endParaRPr>
          </a:p>
          <a:p>
            <a:pPr marL="342900" marR="0" lvl="0" indent="-342900" algn="l" fontAlgn="auto">
              <a:lnSpc>
                <a:spcPct val="115000"/>
              </a:lnSpc>
              <a:spcBef>
                <a:spcPts val="0"/>
              </a:spcBef>
              <a:spcAft>
                <a:spcPts val="0"/>
              </a:spcAft>
              <a:buFont typeface="Symbol" panose="05050102010706020507" pitchFamily="18" charset="2"/>
              <a:buChar char=""/>
            </a:pPr>
            <a:r>
              <a:rPr lang="en-US" sz="1200" dirty="0">
                <a:solidFill>
                  <a:srgbClr val="000000"/>
                </a:solidFill>
                <a:effectLst/>
                <a:latin typeface="Times New Roman" panose="02020603050405020304" pitchFamily="18" charset="0"/>
                <a:ea typeface="Times New Roman" panose="02020603050405020304" pitchFamily="18" charset="0"/>
              </a:rPr>
              <a:t>Bank statements</a:t>
            </a:r>
            <a:endParaRPr lang="en-IN" sz="1100" dirty="0">
              <a:solidFill>
                <a:srgbClr val="000000"/>
              </a:solidFill>
              <a:effectLst/>
              <a:latin typeface="Calibri" panose="020F0502020204030204" pitchFamily="34" charset="0"/>
              <a:ea typeface="Times New Roman" panose="02020603050405020304" pitchFamily="18" charset="0"/>
            </a:endParaRPr>
          </a:p>
          <a:p>
            <a:pPr algn="l" fontAlgn="auto">
              <a:spcAft>
                <a:spcPts val="0"/>
              </a:spcAft>
            </a:pPr>
            <a:r>
              <a:rPr lang="en-US" sz="1200" dirty="0">
                <a:effectLst/>
                <a:latin typeface="Times New Roman" panose="02020603050405020304" pitchFamily="18" charset="0"/>
                <a:ea typeface="Times New Roman" panose="02020603050405020304" pitchFamily="18" charset="0"/>
              </a:rPr>
              <a:t>Customers</a:t>
            </a:r>
            <a:endParaRPr lang="en-IN" dirty="0">
              <a:effectLst/>
            </a:endParaRPr>
          </a:p>
          <a:p>
            <a:pPr marL="342900" marR="0" lvl="0" indent="-342900" algn="l" fontAlgn="auto">
              <a:lnSpc>
                <a:spcPct val="115000"/>
              </a:lnSpc>
              <a:spcBef>
                <a:spcPts val="0"/>
              </a:spcBef>
              <a:spcAft>
                <a:spcPts val="0"/>
              </a:spcAft>
              <a:buFont typeface="Symbol" panose="05050102010706020507" pitchFamily="18" charset="2"/>
              <a:buChar char=""/>
            </a:pPr>
            <a:r>
              <a:rPr lang="en-US" sz="1200" dirty="0">
                <a:solidFill>
                  <a:srgbClr val="000000"/>
                </a:solidFill>
                <a:effectLst/>
                <a:latin typeface="Times New Roman" panose="02020603050405020304" pitchFamily="18" charset="0"/>
                <a:ea typeface="Times New Roman" panose="02020603050405020304" pitchFamily="18" charset="0"/>
              </a:rPr>
              <a:t>Goods and services</a:t>
            </a:r>
            <a:endParaRPr lang="en-IN" sz="1100" dirty="0">
              <a:solidFill>
                <a:srgbClr val="000000"/>
              </a:solidFill>
              <a:effectLst/>
              <a:latin typeface="Calibri" panose="020F0502020204030204" pitchFamily="34" charset="0"/>
              <a:ea typeface="Times New Roman" panose="02020603050405020304" pitchFamily="18" charset="0"/>
            </a:endParaRPr>
          </a:p>
          <a:p>
            <a:pPr marL="342900" marR="0" lvl="0" indent="-342900" algn="l" fontAlgn="auto">
              <a:lnSpc>
                <a:spcPct val="115000"/>
              </a:lnSpc>
              <a:spcBef>
                <a:spcPts val="0"/>
              </a:spcBef>
              <a:spcAft>
                <a:spcPts val="0"/>
              </a:spcAft>
              <a:buFont typeface="Symbol" panose="05050102010706020507" pitchFamily="18" charset="2"/>
              <a:buChar char=""/>
            </a:pPr>
            <a:r>
              <a:rPr lang="en-US" sz="1200" dirty="0">
                <a:solidFill>
                  <a:srgbClr val="000000"/>
                </a:solidFill>
                <a:effectLst/>
                <a:latin typeface="Times New Roman" panose="02020603050405020304" pitchFamily="18" charset="0"/>
                <a:ea typeface="Times New Roman" panose="02020603050405020304" pitchFamily="18" charset="0"/>
              </a:rPr>
              <a:t>Customer invoices</a:t>
            </a:r>
            <a:endParaRPr lang="en-IN" sz="1100" dirty="0">
              <a:solidFill>
                <a:srgbClr val="000000"/>
              </a:solidFill>
              <a:effectLst/>
              <a:latin typeface="Calibri" panose="020F0502020204030204" pitchFamily="34" charset="0"/>
              <a:ea typeface="Times New Roman" panose="02020603050405020304" pitchFamily="18" charset="0"/>
            </a:endParaRPr>
          </a:p>
          <a:p>
            <a:pPr marL="342900" marR="0" lvl="0" indent="-342900" algn="l" fontAlgn="auto">
              <a:lnSpc>
                <a:spcPct val="115000"/>
              </a:lnSpc>
              <a:spcBef>
                <a:spcPts val="0"/>
              </a:spcBef>
              <a:spcAft>
                <a:spcPts val="0"/>
              </a:spcAft>
              <a:buFont typeface="Symbol" panose="05050102010706020507" pitchFamily="18" charset="2"/>
              <a:buChar char=""/>
            </a:pPr>
            <a:r>
              <a:rPr lang="en-US" sz="1200" dirty="0">
                <a:solidFill>
                  <a:srgbClr val="000000"/>
                </a:solidFill>
                <a:effectLst/>
                <a:latin typeface="Times New Roman" panose="02020603050405020304" pitchFamily="18" charset="0"/>
                <a:ea typeface="Times New Roman" panose="02020603050405020304" pitchFamily="18" charset="0"/>
              </a:rPr>
              <a:t>Customer orders</a:t>
            </a:r>
            <a:endParaRPr lang="en-IN" sz="1100" dirty="0">
              <a:solidFill>
                <a:srgbClr val="000000"/>
              </a:solidFill>
              <a:effectLst/>
              <a:latin typeface="Calibri" panose="020F0502020204030204" pitchFamily="34" charset="0"/>
              <a:ea typeface="Times New Roman" panose="02020603050405020304" pitchFamily="18" charset="0"/>
            </a:endParaRPr>
          </a:p>
          <a:p>
            <a:pPr marL="342900" marR="0" lvl="0" indent="-342900" algn="l" fontAlgn="auto">
              <a:lnSpc>
                <a:spcPct val="115000"/>
              </a:lnSpc>
              <a:spcBef>
                <a:spcPts val="0"/>
              </a:spcBef>
              <a:spcAft>
                <a:spcPts val="0"/>
              </a:spcAft>
              <a:buFont typeface="Symbol" panose="05050102010706020507" pitchFamily="18" charset="2"/>
              <a:buChar char=""/>
            </a:pPr>
            <a:r>
              <a:rPr lang="en-US" sz="1200" dirty="0">
                <a:solidFill>
                  <a:srgbClr val="000000"/>
                </a:solidFill>
                <a:effectLst/>
                <a:latin typeface="Times New Roman" panose="02020603050405020304" pitchFamily="18" charset="0"/>
                <a:ea typeface="Times New Roman" panose="02020603050405020304" pitchFamily="18" charset="0"/>
              </a:rPr>
              <a:t>Customer payments</a:t>
            </a:r>
            <a:endParaRPr lang="en-IN" sz="1100" dirty="0">
              <a:solidFill>
                <a:srgbClr val="000000"/>
              </a:solidFill>
              <a:effectLst/>
              <a:latin typeface="Calibri" panose="020F0502020204030204" pitchFamily="34" charset="0"/>
              <a:ea typeface="Times New Roman" panose="02020603050405020304" pitchFamily="18" charset="0"/>
            </a:endParaRPr>
          </a:p>
          <a:p>
            <a:pPr algn="l" fontAlgn="auto">
              <a:spcAft>
                <a:spcPts val="0"/>
              </a:spcAft>
            </a:pPr>
            <a:r>
              <a:rPr lang="en-US" sz="1200" dirty="0">
                <a:effectLst/>
                <a:latin typeface="Times New Roman" panose="02020603050405020304" pitchFamily="18" charset="0"/>
                <a:ea typeface="Times New Roman" panose="02020603050405020304" pitchFamily="18" charset="0"/>
              </a:rPr>
              <a:t>Employees</a:t>
            </a:r>
            <a:endParaRPr lang="en-IN" dirty="0">
              <a:effectLst/>
            </a:endParaRPr>
          </a:p>
          <a:p>
            <a:pPr marL="342900" marR="0" lvl="0" indent="-342900" algn="l" fontAlgn="auto">
              <a:lnSpc>
                <a:spcPct val="115000"/>
              </a:lnSpc>
              <a:spcBef>
                <a:spcPts val="0"/>
              </a:spcBef>
              <a:spcAft>
                <a:spcPts val="0"/>
              </a:spcAft>
              <a:buFont typeface="Symbol" panose="05050102010706020507" pitchFamily="18" charset="2"/>
              <a:buChar char=""/>
            </a:pPr>
            <a:r>
              <a:rPr lang="en-US" sz="1200" dirty="0">
                <a:solidFill>
                  <a:srgbClr val="000000"/>
                </a:solidFill>
                <a:effectLst/>
                <a:latin typeface="Times New Roman" panose="02020603050405020304" pitchFamily="18" charset="0"/>
                <a:ea typeface="Times New Roman" panose="02020603050405020304" pitchFamily="18" charset="0"/>
              </a:rPr>
              <a:t>Wages, salaries and commissions</a:t>
            </a:r>
            <a:endParaRPr lang="en-IN" sz="1100" dirty="0">
              <a:solidFill>
                <a:srgbClr val="000000"/>
              </a:solidFill>
              <a:effectLst/>
              <a:latin typeface="Calibri" panose="020F0502020204030204" pitchFamily="34" charset="0"/>
              <a:ea typeface="Times New Roman" panose="02020603050405020304" pitchFamily="18" charset="0"/>
            </a:endParaRPr>
          </a:p>
          <a:p>
            <a:pPr marL="342900" marR="0" lvl="0" indent="-342900" algn="l" fontAlgn="auto">
              <a:lnSpc>
                <a:spcPct val="115000"/>
              </a:lnSpc>
              <a:spcBef>
                <a:spcPts val="0"/>
              </a:spcBef>
              <a:spcAft>
                <a:spcPts val="0"/>
              </a:spcAft>
              <a:buFont typeface="Symbol" panose="05050102010706020507" pitchFamily="18" charset="2"/>
              <a:buChar char=""/>
            </a:pPr>
            <a:r>
              <a:rPr lang="en-US" sz="1200" dirty="0">
                <a:solidFill>
                  <a:srgbClr val="000000"/>
                </a:solidFill>
                <a:effectLst/>
                <a:latin typeface="Times New Roman" panose="02020603050405020304" pitchFamily="18" charset="0"/>
                <a:ea typeface="Times New Roman" panose="02020603050405020304" pitchFamily="18" charset="0"/>
              </a:rPr>
              <a:t>Labor and services</a:t>
            </a:r>
            <a:endParaRPr lang="en-IN" sz="1100" dirty="0">
              <a:solidFill>
                <a:srgbClr val="000000"/>
              </a:solidFill>
              <a:effectLst/>
              <a:latin typeface="Calibri" panose="020F0502020204030204" pitchFamily="34" charset="0"/>
              <a:ea typeface="Times New Roman" panose="02020603050405020304" pitchFamily="18" charset="0"/>
            </a:endParaRPr>
          </a:p>
          <a:p>
            <a:pPr algn="l" fontAlgn="auto">
              <a:spcAft>
                <a:spcPts val="0"/>
              </a:spcAft>
            </a:pPr>
            <a:r>
              <a:rPr lang="en-US" sz="1200" dirty="0">
                <a:effectLst/>
                <a:latin typeface="Times New Roman" panose="02020603050405020304" pitchFamily="18" charset="0"/>
                <a:ea typeface="Times New Roman" panose="02020603050405020304" pitchFamily="18" charset="0"/>
              </a:rPr>
              <a:t>Management</a:t>
            </a:r>
            <a:endParaRPr lang="en-IN" dirty="0">
              <a:effectLst/>
            </a:endParaRPr>
          </a:p>
          <a:p>
            <a:pPr marL="342900" marR="0" lvl="0" indent="-342900" algn="l" fontAlgn="auto">
              <a:lnSpc>
                <a:spcPct val="115000"/>
              </a:lnSpc>
              <a:spcBef>
                <a:spcPts val="0"/>
              </a:spcBef>
              <a:spcAft>
                <a:spcPts val="0"/>
              </a:spcAft>
              <a:buFont typeface="Symbol" panose="05050102010706020507" pitchFamily="18" charset="2"/>
              <a:buChar char=""/>
            </a:pPr>
            <a:r>
              <a:rPr lang="en-US" sz="1200" dirty="0">
                <a:solidFill>
                  <a:srgbClr val="000000"/>
                </a:solidFill>
                <a:effectLst/>
                <a:latin typeface="Times New Roman" panose="02020603050405020304" pitchFamily="18" charset="0"/>
                <a:ea typeface="Times New Roman" panose="02020603050405020304" pitchFamily="18" charset="0"/>
              </a:rPr>
              <a:t>Managerial reports</a:t>
            </a:r>
            <a:endParaRPr lang="en-IN" sz="1100" dirty="0">
              <a:solidFill>
                <a:srgbClr val="000000"/>
              </a:solidFill>
              <a:effectLst/>
              <a:latin typeface="Calibri" panose="020F0502020204030204" pitchFamily="34" charset="0"/>
              <a:ea typeface="Times New Roman" panose="02020603050405020304" pitchFamily="18" charset="0"/>
            </a:endParaRPr>
          </a:p>
          <a:p>
            <a:pPr marL="342900" marR="0" lvl="0" indent="-342900" algn="l" fontAlgn="auto">
              <a:lnSpc>
                <a:spcPct val="115000"/>
              </a:lnSpc>
              <a:spcBef>
                <a:spcPts val="0"/>
              </a:spcBef>
              <a:spcAft>
                <a:spcPts val="0"/>
              </a:spcAft>
              <a:buFont typeface="Symbol" panose="05050102010706020507" pitchFamily="18" charset="2"/>
              <a:buChar char=""/>
            </a:pPr>
            <a:r>
              <a:rPr lang="en-US" sz="1200" dirty="0">
                <a:solidFill>
                  <a:srgbClr val="000000"/>
                </a:solidFill>
                <a:effectLst/>
                <a:latin typeface="Times New Roman" panose="02020603050405020304" pitchFamily="18" charset="0"/>
                <a:ea typeface="Times New Roman" panose="02020603050405020304" pitchFamily="18" charset="0"/>
              </a:rPr>
              <a:t>Financial statements</a:t>
            </a:r>
            <a:endParaRPr lang="en-IN" sz="1100" dirty="0">
              <a:solidFill>
                <a:srgbClr val="000000"/>
              </a:solidFill>
              <a:effectLst/>
              <a:latin typeface="Calibri" panose="020F0502020204030204" pitchFamily="34" charset="0"/>
              <a:ea typeface="Times New Roman" panose="02020603050405020304" pitchFamily="18" charset="0"/>
            </a:endParaRPr>
          </a:p>
          <a:p>
            <a:pPr marL="342900" marR="0" lvl="0" indent="-342900" algn="l" fontAlgn="auto">
              <a:lnSpc>
                <a:spcPct val="115000"/>
              </a:lnSpc>
              <a:spcBef>
                <a:spcPts val="0"/>
              </a:spcBef>
              <a:spcAft>
                <a:spcPts val="0"/>
              </a:spcAft>
              <a:buFont typeface="Symbol" panose="05050102010706020507" pitchFamily="18" charset="2"/>
              <a:buChar char=""/>
            </a:pPr>
            <a:r>
              <a:rPr lang="en-US" sz="1200" dirty="0">
                <a:solidFill>
                  <a:srgbClr val="000000"/>
                </a:solidFill>
                <a:effectLst/>
                <a:latin typeface="Times New Roman" panose="02020603050405020304" pitchFamily="18" charset="0"/>
                <a:ea typeface="Times New Roman" panose="02020603050405020304" pitchFamily="18" charset="0"/>
              </a:rPr>
              <a:t>Budgets</a:t>
            </a:r>
            <a:endParaRPr lang="en-IN" sz="1100" dirty="0">
              <a:solidFill>
                <a:srgbClr val="000000"/>
              </a:solidFill>
              <a:effectLst/>
              <a:latin typeface="Calibri" panose="020F0502020204030204" pitchFamily="34" charset="0"/>
              <a:ea typeface="Times New Roman" panose="02020603050405020304" pitchFamily="18" charset="0"/>
            </a:endParaRPr>
          </a:p>
          <a:p>
            <a:pPr marL="342900" marR="0" lvl="0" indent="-342900" algn="l" fontAlgn="auto">
              <a:lnSpc>
                <a:spcPct val="115000"/>
              </a:lnSpc>
              <a:spcBef>
                <a:spcPts val="0"/>
              </a:spcBef>
              <a:spcAft>
                <a:spcPts val="0"/>
              </a:spcAft>
              <a:buFont typeface="Symbol" panose="05050102010706020507" pitchFamily="18" charset="2"/>
              <a:buChar char=""/>
            </a:pPr>
            <a:r>
              <a:rPr lang="en-US" sz="1200" dirty="0">
                <a:solidFill>
                  <a:srgbClr val="000000"/>
                </a:solidFill>
                <a:effectLst/>
                <a:latin typeface="Times New Roman" panose="02020603050405020304" pitchFamily="18" charset="0"/>
                <a:ea typeface="Times New Roman" panose="02020603050405020304" pitchFamily="18" charset="0"/>
              </a:rPr>
              <a:t>Accounting entries</a:t>
            </a:r>
            <a:endParaRPr lang="en-IN" sz="1100" dirty="0">
              <a:solidFill>
                <a:srgbClr val="000000"/>
              </a:solidFill>
              <a:effectLst/>
              <a:latin typeface="Calibri" panose="020F0502020204030204" pitchFamily="34" charset="0"/>
              <a:ea typeface="Times New Roman" panose="02020603050405020304" pitchFamily="18" charset="0"/>
            </a:endParaRPr>
          </a:p>
          <a:p>
            <a:pPr algn="l" fontAlgn="auto">
              <a:spcAft>
                <a:spcPts val="0"/>
              </a:spcAft>
            </a:pPr>
            <a:r>
              <a:rPr lang="en-US" sz="1200" dirty="0">
                <a:effectLst/>
                <a:latin typeface="Times New Roman" panose="02020603050405020304" pitchFamily="18" charset="0"/>
                <a:ea typeface="Times New Roman" panose="02020603050405020304" pitchFamily="18" charset="0"/>
              </a:rPr>
              <a:t>Government agencies</a:t>
            </a:r>
            <a:endParaRPr lang="en-IN" dirty="0">
              <a:effectLst/>
            </a:endParaRPr>
          </a:p>
          <a:p>
            <a:pPr marL="342900" marR="0" lvl="0" indent="-342900" algn="l" fontAlgn="auto">
              <a:lnSpc>
                <a:spcPct val="115000"/>
              </a:lnSpc>
              <a:spcBef>
                <a:spcPts val="0"/>
              </a:spcBef>
              <a:spcAft>
                <a:spcPts val="0"/>
              </a:spcAft>
              <a:buFont typeface="Symbol" panose="05050102010706020507" pitchFamily="18" charset="2"/>
              <a:buChar char=""/>
            </a:pPr>
            <a:r>
              <a:rPr lang="en-US" sz="1200" dirty="0">
                <a:solidFill>
                  <a:srgbClr val="000000"/>
                </a:solidFill>
                <a:effectLst/>
                <a:latin typeface="Times New Roman" panose="02020603050405020304" pitchFamily="18" charset="0"/>
                <a:ea typeface="Times New Roman" panose="02020603050405020304" pitchFamily="18" charset="0"/>
              </a:rPr>
              <a:t>Taxes and Reports</a:t>
            </a:r>
            <a:endParaRPr lang="en-IN" sz="1100" dirty="0">
              <a:solidFill>
                <a:srgbClr val="000000"/>
              </a:solidFill>
              <a:effectLst/>
              <a:latin typeface="Calibri" panose="020F0502020204030204" pitchFamily="34" charset="0"/>
              <a:ea typeface="Times New Roman" panose="02020603050405020304" pitchFamily="18" charset="0"/>
            </a:endParaRPr>
          </a:p>
          <a:p>
            <a:pPr marL="342900" marR="0" lvl="0" indent="-342900" algn="l" fontAlgn="auto">
              <a:lnSpc>
                <a:spcPct val="115000"/>
              </a:lnSpc>
              <a:spcBef>
                <a:spcPts val="0"/>
              </a:spcBef>
              <a:spcAft>
                <a:spcPts val="0"/>
              </a:spcAft>
              <a:buFont typeface="Symbol" panose="05050102010706020507" pitchFamily="18" charset="2"/>
              <a:buChar char=""/>
            </a:pPr>
            <a:r>
              <a:rPr lang="en-US" sz="1200" dirty="0">
                <a:solidFill>
                  <a:srgbClr val="000000"/>
                </a:solidFill>
                <a:effectLst/>
                <a:latin typeface="Times New Roman" panose="02020603050405020304" pitchFamily="18" charset="0"/>
                <a:ea typeface="Times New Roman" panose="02020603050405020304" pitchFamily="18" charset="0"/>
              </a:rPr>
              <a:t>Regulations and tax forms</a:t>
            </a:r>
            <a:endParaRPr lang="en-IN" sz="1100" dirty="0">
              <a:solidFill>
                <a:srgbClr val="000000"/>
              </a:solidFill>
              <a:effectLst/>
              <a:latin typeface="Calibri" panose="020F0502020204030204" pitchFamily="34" charset="0"/>
              <a:ea typeface="Times New Roman" panose="02020603050405020304" pitchFamily="18" charset="0"/>
            </a:endParaRPr>
          </a:p>
          <a:p>
            <a:pPr lvl="0" fontAlgn="auto"/>
            <a:endParaRPr lang="en-IN"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16</a:t>
            </a:fld>
            <a:endParaRPr lang="en-US" dirty="0"/>
          </a:p>
        </p:txBody>
      </p:sp>
    </p:spTree>
    <p:extLst>
      <p:ext uri="{BB962C8B-B14F-4D97-AF65-F5344CB8AC3E}">
        <p14:creationId xmlns:p14="http://schemas.microsoft.com/office/powerpoint/2010/main" val="3745372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A good example here is thinking back to the pizza restaurant example in the earlier slides. The owner uses an AIS to determine which pizzas are the most popular. The sales information in the AIS is used to help answer this question and provides the owner with information to know how much of certain ingredients should be on hand to make those popular pizza pies. If ingredients were to run out, then the quality of this decision would be considered poor as there would be many dissatisfied customers. In addition, this information helps the owner not to buy too much of an ingredient to have on hand to where there may be waste if the ingredients go stale.</a:t>
            </a:r>
          </a:p>
          <a:p>
            <a:pPr marL="0" lvl="0" indent="0" algn="l" rtl="0">
              <a:spcBef>
                <a:spcPts val="0"/>
              </a:spcBef>
              <a:spcAft>
                <a:spcPts val="0"/>
              </a:spcAft>
              <a:buNone/>
            </a:pPr>
            <a:r>
              <a:rPr lang="en-IN" dirty="0"/>
              <a:t>Taking this example further to each bullet point made above can help students begin to think more about how transactional data provides information for better decision making in an organization.</a:t>
            </a:r>
          </a:p>
        </p:txBody>
      </p:sp>
      <p:sp>
        <p:nvSpPr>
          <p:cNvPr id="4" name="Slide Number Placeholder 3"/>
          <p:cNvSpPr>
            <a:spLocks noGrp="1"/>
          </p:cNvSpPr>
          <p:nvPr>
            <p:ph type="sldNum" sz="quarter" idx="10"/>
          </p:nvPr>
        </p:nvSpPr>
        <p:spPr/>
        <p:txBody>
          <a:bodyPr/>
          <a:lstStyle/>
          <a:p>
            <a:fld id="{A73D6722-9B4D-4E29-B226-C325925A8118}" type="slidenum">
              <a:rPr lang="en-US" smtClean="0"/>
              <a:t>17</a:t>
            </a:fld>
            <a:endParaRPr lang="en-US" dirty="0"/>
          </a:p>
        </p:txBody>
      </p:sp>
    </p:spTree>
    <p:extLst>
      <p:ext uri="{BB962C8B-B14F-4D97-AF65-F5344CB8AC3E}">
        <p14:creationId xmlns:p14="http://schemas.microsoft.com/office/powerpoint/2010/main" val="24809252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10"/>
          </p:nvPr>
        </p:nvSpPr>
        <p:spPr/>
        <p:txBody>
          <a:bodyPr/>
          <a:lstStyle/>
          <a:p>
            <a:fld id="{A73D6722-9B4D-4E29-B226-C325925A8118}" type="slidenum">
              <a:rPr lang="en-US" smtClean="0"/>
              <a:t>18</a:t>
            </a:fld>
            <a:endParaRPr lang="en-US" dirty="0"/>
          </a:p>
        </p:txBody>
      </p:sp>
    </p:spTree>
    <p:extLst>
      <p:ext uri="{BB962C8B-B14F-4D97-AF65-F5344CB8AC3E}">
        <p14:creationId xmlns:p14="http://schemas.microsoft.com/office/powerpoint/2010/main" val="4125899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19</a:t>
            </a:fld>
            <a:endParaRPr lang="en-US" dirty="0"/>
          </a:p>
        </p:txBody>
      </p:sp>
    </p:spTree>
    <p:extLst>
      <p:ext uri="{BB962C8B-B14F-4D97-AF65-F5344CB8AC3E}">
        <p14:creationId xmlns:p14="http://schemas.microsoft.com/office/powerpoint/2010/main" val="30764133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20</a:t>
            </a:fld>
            <a:endParaRPr lang="en-US" dirty="0"/>
          </a:p>
        </p:txBody>
      </p:sp>
    </p:spTree>
    <p:extLst>
      <p:ext uri="{BB962C8B-B14F-4D97-AF65-F5344CB8AC3E}">
        <p14:creationId xmlns:p14="http://schemas.microsoft.com/office/powerpoint/2010/main" val="30752837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10"/>
          </p:nvPr>
        </p:nvSpPr>
        <p:spPr/>
        <p:txBody>
          <a:bodyPr/>
          <a:lstStyle/>
          <a:p>
            <a:fld id="{A73D6722-9B4D-4E29-B226-C325925A8118}" type="slidenum">
              <a:rPr lang="en-US" smtClean="0"/>
              <a:t>21</a:t>
            </a:fld>
            <a:endParaRPr lang="en-US" dirty="0"/>
          </a:p>
        </p:txBody>
      </p:sp>
    </p:spTree>
    <p:extLst>
      <p:ext uri="{BB962C8B-B14F-4D97-AF65-F5344CB8AC3E}">
        <p14:creationId xmlns:p14="http://schemas.microsoft.com/office/powerpoint/2010/main" val="20886595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10"/>
          </p:nvPr>
        </p:nvSpPr>
        <p:spPr/>
        <p:txBody>
          <a:bodyPr/>
          <a:lstStyle/>
          <a:p>
            <a:fld id="{A73D6722-9B4D-4E29-B226-C325925A8118}" type="slidenum">
              <a:rPr lang="en-US" smtClean="0"/>
              <a:t>22</a:t>
            </a:fld>
            <a:endParaRPr lang="en-US" dirty="0"/>
          </a:p>
        </p:txBody>
      </p:sp>
    </p:spTree>
    <p:extLst>
      <p:ext uri="{BB962C8B-B14F-4D97-AF65-F5344CB8AC3E}">
        <p14:creationId xmlns:p14="http://schemas.microsoft.com/office/powerpoint/2010/main" val="18907887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3046453"/>
            <a:ext cx="7772400" cy="553998"/>
          </a:xfrm>
        </p:spPr>
        <p:txBody>
          <a:bodyPr anchor="b">
            <a:sp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276999"/>
          </a:xfrm>
        </p:spPr>
        <p:txBody>
          <a:bodyPr>
            <a:sp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A9DF6EFB-3F44-496C-A842-1E0B3D3B975A}" type="datetimeFigureOut">
              <a:rPr lang="en-US" smtClean="0"/>
              <a:t>9/25/26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spAutoFit/>
          </a:bodyPr>
          <a:lstStyle>
            <a:lvl1pPr>
              <a:defRPr sz="3600">
                <a:latin typeface="+mj-lt"/>
              </a:defRPr>
            </a:lvl1pPr>
          </a:lstStyle>
          <a:p>
            <a:r>
              <a:rPr lang="en-US" dirty="0"/>
              <a:t>Click to edit Master title style</a:t>
            </a:r>
          </a:p>
        </p:txBody>
      </p:sp>
      <p:sp>
        <p:nvSpPr>
          <p:cNvPr id="3" name="Content Placeholder 2"/>
          <p:cNvSpPr>
            <a:spLocks noGrp="1"/>
          </p:cNvSpPr>
          <p:nvPr>
            <p:ph idx="1"/>
          </p:nvPr>
        </p:nvSpPr>
        <p:spPr/>
        <p:txBody>
          <a:bodyPr>
            <a:spAutoFit/>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9/25/26</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spAutoFit/>
          </a:bodyPr>
          <a:lstStyle/>
          <a:p>
            <a:r>
              <a:rPr lang="en-US" dirty="0"/>
              <a:t>Click to edit Master title style</a:t>
            </a:r>
          </a:p>
        </p:txBody>
      </p:sp>
      <p:sp>
        <p:nvSpPr>
          <p:cNvPr id="3" name="Content Placeholder 2"/>
          <p:cNvSpPr>
            <a:spLocks noGrp="1"/>
          </p:cNvSpPr>
          <p:nvPr>
            <p:ph idx="1"/>
          </p:nvPr>
        </p:nvSpPr>
        <p:spPr/>
        <p:txBody>
          <a:bodyPr>
            <a:spAutoFit/>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10"/>
          </p:nvPr>
        </p:nvSpPr>
        <p:spPr/>
        <p:txBody>
          <a:bodyPr/>
          <a:lstStyle/>
          <a:p>
            <a:fld id="{A9DF6EFB-3F44-496C-A842-1E0B3D3B975A}" type="datetimeFigureOut">
              <a:rPr lang="en-US" smtClean="0"/>
              <a:t>9/25/26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spAutoFit/>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9/25/26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54799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9/25/26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8"/>
          </p:nvPr>
        </p:nvSpPr>
        <p:spPr>
          <a:xfrm>
            <a:off x="762000" y="4953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914400" y="51054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1066800" y="52578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1219200" y="5410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idx="22"/>
          </p:nvPr>
        </p:nvSpPr>
        <p:spPr>
          <a:xfrm>
            <a:off x="1371600" y="5562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p:cNvSpPr>
            <a:spLocks noGrp="1"/>
          </p:cNvSpPr>
          <p:nvPr>
            <p:ph idx="23"/>
          </p:nvPr>
        </p:nvSpPr>
        <p:spPr>
          <a:xfrm>
            <a:off x="1524000" y="5715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25967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9/25/26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Footer Placeholder 4"/>
          <p:cNvSpPr txBox="1">
            <a:spLocks/>
          </p:cNvSpPr>
          <p:nvPr userDrawn="1"/>
        </p:nvSpPr>
        <p:spPr>
          <a:xfrm>
            <a:off x="2819401" y="6424902"/>
            <a:ext cx="5857188" cy="204498"/>
          </a:xfrm>
          <a:prstGeom prst="rect">
            <a:avLst/>
          </a:prstGeom>
        </p:spPr>
        <p:txBody>
          <a:bodyPr vert="horz" lIns="0" tIns="0" rIns="0" bIns="0" rtlCol="0" anchor="b">
            <a:noAutofit/>
          </a:bodyPr>
          <a:lstStyle>
            <a:defPPr>
              <a:defRPr lang="en-US"/>
            </a:defPPr>
            <a:lvl1pPr marL="0" indent="0" algn="r" defTabSz="914400" rtl="0" eaLnBrk="1" latinLnBrk="0" hangingPunct="1">
              <a:buNone/>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latin typeface="Verdana" panose="020B0604030504040204" pitchFamily="34" charset="0"/>
                <a:ea typeface="Verdana" panose="020B0604030504040204" pitchFamily="34" charset="0"/>
                <a:cs typeface="Verdana" panose="020B0604030504040204" pitchFamily="34" charset="0"/>
              </a:rPr>
              <a:t>Copyright © </a:t>
            </a:r>
            <a:r>
              <a:rPr lang="en-US" dirty="0">
                <a:latin typeface="Verdana" panose="020B0604030504040204" pitchFamily="34" charset="0"/>
                <a:ea typeface="Verdana" panose="020B0604030504040204" pitchFamily="34" charset="0"/>
                <a:cs typeface="Verdana" panose="020B0604030504040204" pitchFamily="34" charset="0"/>
              </a:rPr>
              <a:t>2021, 2018, 2015 </a:t>
            </a:r>
            <a:r>
              <a:rPr lang="en-IN"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2302139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9/25/26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609600" y="41148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txBox="1">
            <a:spLocks/>
          </p:cNvSpPr>
          <p:nvPr userDrawn="1"/>
        </p:nvSpPr>
        <p:spPr>
          <a:xfrm>
            <a:off x="2819401" y="6424902"/>
            <a:ext cx="5857188" cy="204498"/>
          </a:xfrm>
          <a:prstGeom prst="rect">
            <a:avLst/>
          </a:prstGeom>
        </p:spPr>
        <p:txBody>
          <a:bodyPr vert="horz" lIns="0" tIns="0" rIns="0" bIns="0" rtlCol="0" anchor="b">
            <a:noAutofit/>
          </a:bodyPr>
          <a:lstStyle>
            <a:defPPr>
              <a:defRPr lang="en-US"/>
            </a:defPPr>
            <a:lvl1pPr marL="0" indent="0" algn="r" defTabSz="914400" rtl="0" eaLnBrk="1" latinLnBrk="0" hangingPunct="1">
              <a:buNone/>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latin typeface="Verdana" panose="020B0604030504040204" pitchFamily="34" charset="0"/>
                <a:ea typeface="Verdana" panose="020B0604030504040204" pitchFamily="34" charset="0"/>
                <a:cs typeface="Verdana" panose="020B0604030504040204" pitchFamily="34" charset="0"/>
              </a:rPr>
              <a:t>Copyright © </a:t>
            </a:r>
            <a:r>
              <a:rPr lang="en-US" dirty="0">
                <a:latin typeface="Verdana" panose="020B0604030504040204" pitchFamily="34" charset="0"/>
                <a:ea typeface="Verdana" panose="020B0604030504040204" pitchFamily="34" charset="0"/>
                <a:cs typeface="Verdana" panose="020B0604030504040204" pitchFamily="34" charset="0"/>
              </a:rPr>
              <a:t>2021, 2018, 2015 </a:t>
            </a:r>
            <a:r>
              <a:rPr lang="en-IN"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183790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3077231"/>
            <a:ext cx="7772400" cy="523220"/>
          </a:xfrm>
        </p:spPr>
        <p:txBody>
          <a:bodyPr anchor="b">
            <a:sp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A9DF6EFB-3F44-496C-A842-1E0B3D3B975A}" type="datetimeFigureOut">
              <a:rPr lang="en-US" smtClean="0"/>
              <a:t>9/25/26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A9DF6EFB-3F44-496C-A842-1E0B3D3B975A}" type="datetimeFigureOut">
              <a:rPr lang="en-US" smtClean="0"/>
              <a:t>9/25/26</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9/25/26</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371113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r>
              <a:rPr lang="en-US" sz="900" dirty="0"/>
              <a:t>1-2</a:t>
            </a:r>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94731774"/>
      </p:ext>
    </p:extLst>
  </p:cSld>
  <p:clrMapOvr>
    <a:masterClrMapping/>
  </p:clrMapOvr>
  <p:extLst>
    <p:ext uri="{DCECCB84-F9BA-43D5-87BE-67443E8EF086}">
      <p15:sldGuideLst xmlns:p15="http://schemas.microsoft.com/office/powerpoint/2012/main">
        <p15:guide id="1" orient="horz" pos="4176">
          <p15:clr>
            <a:srgbClr val="FBAE40"/>
          </p15:clr>
        </p15:guide>
        <p15:guide id="2" pos="288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1515365"/>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1515365"/>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1515365"/>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1515365"/>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3" name="Content Placeholder 2">
            <a:extLst>
              <a:ext uri="{FF2B5EF4-FFF2-40B4-BE49-F238E27FC236}">
                <a16:creationId xmlns:a16="http://schemas.microsoft.com/office/drawing/2014/main" id="{AD19FA98-5D9F-6EC8-112E-FD2FE15D19C5}"/>
              </a:ext>
            </a:extLst>
          </p:cNvPr>
          <p:cNvSpPr>
            <a:spLocks noGrp="1"/>
          </p:cNvSpPr>
          <p:nvPr>
            <p:ph sz="quarter" idx="17"/>
          </p:nvPr>
        </p:nvSpPr>
        <p:spPr>
          <a:xfrm>
            <a:off x="457200" y="3429000"/>
            <a:ext cx="1773238" cy="1876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E4E12C76-6770-8928-20FC-7F4AC5E12D87}"/>
              </a:ext>
            </a:extLst>
          </p:cNvPr>
          <p:cNvSpPr>
            <a:spLocks noGrp="1"/>
          </p:cNvSpPr>
          <p:nvPr>
            <p:ph sz="quarter" idx="18"/>
          </p:nvPr>
        </p:nvSpPr>
        <p:spPr>
          <a:xfrm>
            <a:off x="2573338" y="3429000"/>
            <a:ext cx="1773237" cy="1876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6">
            <a:extLst>
              <a:ext uri="{FF2B5EF4-FFF2-40B4-BE49-F238E27FC236}">
                <a16:creationId xmlns:a16="http://schemas.microsoft.com/office/drawing/2014/main" id="{E0D5824A-D726-2965-9D32-37E2C5579D52}"/>
              </a:ext>
            </a:extLst>
          </p:cNvPr>
          <p:cNvSpPr>
            <a:spLocks noGrp="1"/>
          </p:cNvSpPr>
          <p:nvPr>
            <p:ph sz="quarter" idx="19"/>
          </p:nvPr>
        </p:nvSpPr>
        <p:spPr>
          <a:xfrm>
            <a:off x="4794250" y="3429000"/>
            <a:ext cx="1779588" cy="1971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9F6C5988-742D-DB64-A67B-D4B60FCDA128}"/>
              </a:ext>
            </a:extLst>
          </p:cNvPr>
          <p:cNvSpPr>
            <a:spLocks noGrp="1"/>
          </p:cNvSpPr>
          <p:nvPr>
            <p:ph sz="quarter" idx="20"/>
          </p:nvPr>
        </p:nvSpPr>
        <p:spPr>
          <a:xfrm>
            <a:off x="6804025" y="3308350"/>
            <a:ext cx="1882775" cy="249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643545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4" name="Date Placeholder 3"/>
          <p:cNvSpPr>
            <a:spLocks noGrp="1"/>
          </p:cNvSpPr>
          <p:nvPr>
            <p:ph type="dt" sz="half" idx="11"/>
          </p:nvPr>
        </p:nvSpPr>
        <p:spPr/>
        <p:txBody>
          <a:bodyPr/>
          <a:lstStyle/>
          <a:p>
            <a:fld id="{A9DF6EFB-3F44-496C-A842-1E0B3D3B975A}" type="datetimeFigureOut">
              <a:rPr lang="en-US" smtClean="0"/>
              <a:pPr/>
              <a:t>9/25/26</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6558436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11"/>
          </p:nvPr>
        </p:nvSpPr>
        <p:spPr/>
        <p:txBody>
          <a:bodyPr/>
          <a:lstStyle/>
          <a:p>
            <a:fld id="{A9DF6EFB-3F44-496C-A842-1E0B3D3B975A}" type="datetimeFigureOut">
              <a:rPr lang="en-US" smtClean="0"/>
              <a:pPr/>
              <a:t>9/25/26</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8187741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sz="3600">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9/25/26</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6481892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10"/>
          </p:nvPr>
        </p:nvSpPr>
        <p:spPr/>
        <p:txBody>
          <a:bodyPr/>
          <a:lstStyle/>
          <a:p>
            <a:fld id="{A9DF6EFB-3F44-496C-A842-1E0B3D3B975A}" type="datetimeFigureOut">
              <a:rPr lang="en-US" smtClean="0"/>
              <a:t>9/25/26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4101757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9/25/26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678795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9/25/26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8"/>
          </p:nvPr>
        </p:nvSpPr>
        <p:spPr>
          <a:xfrm>
            <a:off x="762000" y="4953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914400" y="51054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1066800" y="52578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1219200" y="5410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idx="22"/>
          </p:nvPr>
        </p:nvSpPr>
        <p:spPr>
          <a:xfrm>
            <a:off x="1371600" y="5562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p:cNvSpPr>
            <a:spLocks noGrp="1"/>
          </p:cNvSpPr>
          <p:nvPr>
            <p:ph idx="23"/>
          </p:nvPr>
        </p:nvSpPr>
        <p:spPr>
          <a:xfrm>
            <a:off x="1524000" y="5715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99993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9/25/26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0258967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a:latin typeface="+mj-lt"/>
              </a:defRPr>
            </a:lvl1pPr>
          </a:lstStyle>
          <a:p>
            <a:r>
              <a:rPr lang="en-US" dirty="0"/>
              <a:t>Click to edit Master title style</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4"/>
          </p:nvPr>
        </p:nvSpPr>
        <p:spPr>
          <a:xfrm>
            <a:off x="1066800" y="2209800"/>
            <a:ext cx="6705600" cy="144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3" name="Content Placeholder 12"/>
          <p:cNvSpPr>
            <a:spLocks noGrp="1"/>
          </p:cNvSpPr>
          <p:nvPr>
            <p:ph sz="quarter" idx="15"/>
          </p:nvPr>
        </p:nvSpPr>
        <p:spPr>
          <a:xfrm>
            <a:off x="1066800" y="1447800"/>
            <a:ext cx="7010400" cy="762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3051578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A9DF6EFB-3F44-496C-A842-1E0B3D3B975A}" type="datetimeFigureOut">
              <a:rPr lang="en-US" smtClean="0"/>
              <a:t>9/25/26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5157198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lvl1pPr>
              <a:defRPr sz="3600">
                <a:latin typeface="+mj-lt"/>
              </a:defRPr>
            </a:lvl1pPr>
          </a:lstStyle>
          <a:p>
            <a:r>
              <a:rPr lang="en-US" dirty="0"/>
              <a:t>Click to edit Master title style</a:t>
            </a:r>
          </a:p>
        </p:txBody>
      </p:sp>
      <p:sp>
        <p:nvSpPr>
          <p:cNvPr id="12" name="Picture Placeholder 11"/>
          <p:cNvSpPr>
            <a:spLocks noGrp="1"/>
          </p:cNvSpPr>
          <p:nvPr>
            <p:ph type="pic" sz="quarter" idx="13"/>
          </p:nvPr>
        </p:nvSpPr>
        <p:spPr>
          <a:xfrm>
            <a:off x="533400" y="2514600"/>
            <a:ext cx="8153400" cy="1066800"/>
          </a:xfrm>
        </p:spPr>
        <p:txBody>
          <a:bodyPr/>
          <a:lstStyle/>
          <a:p>
            <a:endParaRPr lang="en-IN"/>
          </a:p>
        </p:txBody>
      </p:sp>
      <p:sp>
        <p:nvSpPr>
          <p:cNvPr id="16" name="Content Placeholder 15"/>
          <p:cNvSpPr>
            <a:spLocks noGrp="1"/>
          </p:cNvSpPr>
          <p:nvPr>
            <p:ph sz="quarter" idx="15"/>
          </p:nvPr>
        </p:nvSpPr>
        <p:spPr>
          <a:xfrm>
            <a:off x="1143000" y="5257800"/>
            <a:ext cx="4648200" cy="6096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Text Placeholder 5"/>
          <p:cNvSpPr>
            <a:spLocks noGrp="1"/>
          </p:cNvSpPr>
          <p:nvPr>
            <p:ph type="body" sz="quarter" idx="16"/>
          </p:nvPr>
        </p:nvSpPr>
        <p:spPr>
          <a:xfrm>
            <a:off x="1600200" y="4114800"/>
            <a:ext cx="6553200" cy="1295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8578532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9/25/26</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39387441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98_Learning Objectives">
    <p:spTree>
      <p:nvGrpSpPr>
        <p:cNvPr id="1" name="Shape 47"/>
        <p:cNvGrpSpPr/>
        <p:nvPr/>
      </p:nvGrpSpPr>
      <p:grpSpPr>
        <a:xfrm>
          <a:off x="0" y="0"/>
          <a:ext cx="0" cy="0"/>
          <a:chOff x="0" y="0"/>
          <a:chExt cx="0" cy="0"/>
        </a:xfrm>
      </p:grpSpPr>
      <p:sp>
        <p:nvSpPr>
          <p:cNvPr id="48" name="Shape 48"/>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9" name="Shape 49"/>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118871" marR="0" lvl="0" indent="-93471" algn="l" rtl="0">
              <a:spcBef>
                <a:spcPts val="1500"/>
              </a:spcBef>
              <a:buClr>
                <a:srgbClr val="007FA3"/>
              </a:buClr>
              <a:buSzPct val="25000"/>
              <a:buFont typeface="Arial"/>
              <a:buChar char="•"/>
              <a:defRPr sz="1600" b="0" i="0" u="none" strike="noStrike" cap="none">
                <a:solidFill>
                  <a:schemeClr val="dk1"/>
                </a:solidFill>
                <a:latin typeface="Arial(Body)"/>
                <a:ea typeface="Arial(Body)"/>
                <a:cs typeface="Arial"/>
                <a:sym typeface="Arial"/>
              </a:defRPr>
            </a:lvl1pPr>
            <a:lvl2pPr marL="569913" marR="0" lvl="1" indent="-188912"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51" name="Shape 51"/>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Body)"/>
                <a:ea typeface="Arial(Body)"/>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IN" dirty="0"/>
          </a:p>
        </p:txBody>
      </p:sp>
      <p:sp>
        <p:nvSpPr>
          <p:cNvPr id="52" name="Shape 52"/>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latin typeface="Arial(Body)"/>
              </a:defRPr>
            </a:lvl1pPr>
          </a:lstStyle>
          <a:p>
            <a:pPr algn="r">
              <a:buSzPct val="25000"/>
            </a:pPr>
            <a:fld id="{00000000-1234-1234-1234-123412341234}" type="slidenum">
              <a:rPr lang="en-US" sz="900" smtClean="0">
                <a:solidFill>
                  <a:schemeClr val="lt1"/>
                </a:solidFill>
              </a:rPr>
              <a:pPr algn="r">
                <a:buSzPct val="25000"/>
              </a:pPr>
              <a:t>‹#›</a:t>
            </a:fld>
            <a:endParaRPr lang="en-US" sz="900" dirty="0">
              <a:solidFill>
                <a:schemeClr val="lt1"/>
              </a:solidFill>
            </a:endParaRPr>
          </a:p>
        </p:txBody>
      </p:sp>
    </p:spTree>
    <p:extLst>
      <p:ext uri="{BB962C8B-B14F-4D97-AF65-F5344CB8AC3E}">
        <p14:creationId xmlns:p14="http://schemas.microsoft.com/office/powerpoint/2010/main" val="21705162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9/25/26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4"/>
          </p:nvPr>
        </p:nvSpPr>
        <p:spPr>
          <a:xfrm>
            <a:off x="457200" y="5181600"/>
            <a:ext cx="8229600" cy="1066800"/>
          </a:xfrm>
        </p:spPr>
        <p:txBody>
          <a:bodyPr/>
          <a:lstStyle/>
          <a:p>
            <a:endParaRPr lang="en-IN"/>
          </a:p>
        </p:txBody>
      </p:sp>
    </p:spTree>
    <p:extLst>
      <p:ext uri="{BB962C8B-B14F-4D97-AF65-F5344CB8AC3E}">
        <p14:creationId xmlns:p14="http://schemas.microsoft.com/office/powerpoint/2010/main" val="28850143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2_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28800" cy="763905"/>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28800" cy="687705"/>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28800" cy="687705"/>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28800" cy="619125"/>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3" name="Content Placeholder 2">
            <a:extLst>
              <a:ext uri="{FF2B5EF4-FFF2-40B4-BE49-F238E27FC236}">
                <a16:creationId xmlns:a16="http://schemas.microsoft.com/office/drawing/2014/main" id="{AD19FA98-5D9F-6EC8-112E-FD2FE15D19C5}"/>
              </a:ext>
            </a:extLst>
          </p:cNvPr>
          <p:cNvSpPr>
            <a:spLocks noGrp="1"/>
          </p:cNvSpPr>
          <p:nvPr>
            <p:ph sz="quarter" idx="17"/>
          </p:nvPr>
        </p:nvSpPr>
        <p:spPr>
          <a:xfrm>
            <a:off x="457200" y="2461261"/>
            <a:ext cx="1773237" cy="6324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a:extLst>
              <a:ext uri="{FF2B5EF4-FFF2-40B4-BE49-F238E27FC236}">
                <a16:creationId xmlns:a16="http://schemas.microsoft.com/office/drawing/2014/main" id="{E4E12C76-6770-8928-20FC-7F4AC5E12D87}"/>
              </a:ext>
            </a:extLst>
          </p:cNvPr>
          <p:cNvSpPr>
            <a:spLocks noGrp="1"/>
          </p:cNvSpPr>
          <p:nvPr>
            <p:ph sz="quarter" idx="18"/>
          </p:nvPr>
        </p:nvSpPr>
        <p:spPr>
          <a:xfrm>
            <a:off x="2572593" y="2461261"/>
            <a:ext cx="1749377" cy="563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6">
            <a:extLst>
              <a:ext uri="{FF2B5EF4-FFF2-40B4-BE49-F238E27FC236}">
                <a16:creationId xmlns:a16="http://schemas.microsoft.com/office/drawing/2014/main" id="{E0D5824A-D726-2965-9D32-37E2C5579D52}"/>
              </a:ext>
            </a:extLst>
          </p:cNvPr>
          <p:cNvSpPr>
            <a:spLocks noGrp="1"/>
          </p:cNvSpPr>
          <p:nvPr>
            <p:ph sz="quarter" idx="19"/>
          </p:nvPr>
        </p:nvSpPr>
        <p:spPr>
          <a:xfrm>
            <a:off x="4664126" y="2369821"/>
            <a:ext cx="1852660" cy="68770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9F6C5988-742D-DB64-A67B-D4B60FCDA128}"/>
              </a:ext>
            </a:extLst>
          </p:cNvPr>
          <p:cNvSpPr>
            <a:spLocks noGrp="1"/>
          </p:cNvSpPr>
          <p:nvPr>
            <p:ph sz="quarter" idx="20"/>
          </p:nvPr>
        </p:nvSpPr>
        <p:spPr>
          <a:xfrm>
            <a:off x="6858647" y="2316480"/>
            <a:ext cx="1828153" cy="61912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3E52047A-34B0-B956-AD76-DABE165D0777}"/>
              </a:ext>
            </a:extLst>
          </p:cNvPr>
          <p:cNvSpPr>
            <a:spLocks noGrp="1"/>
          </p:cNvSpPr>
          <p:nvPr>
            <p:ph sz="quarter" idx="21"/>
          </p:nvPr>
        </p:nvSpPr>
        <p:spPr>
          <a:xfrm>
            <a:off x="457200" y="3314700"/>
            <a:ext cx="1773238" cy="7540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91E79D87-C71A-80C2-8558-006A71964F6A}"/>
              </a:ext>
            </a:extLst>
          </p:cNvPr>
          <p:cNvSpPr>
            <a:spLocks noGrp="1"/>
          </p:cNvSpPr>
          <p:nvPr>
            <p:ph sz="quarter" idx="22"/>
          </p:nvPr>
        </p:nvSpPr>
        <p:spPr>
          <a:xfrm>
            <a:off x="2573338" y="3375025"/>
            <a:ext cx="1749425" cy="45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1C0C8765-95C2-0DB5-D607-849AFFBA8C51}"/>
              </a:ext>
            </a:extLst>
          </p:cNvPr>
          <p:cNvSpPr>
            <a:spLocks noGrp="1"/>
          </p:cNvSpPr>
          <p:nvPr>
            <p:ph sz="quarter" idx="23"/>
          </p:nvPr>
        </p:nvSpPr>
        <p:spPr>
          <a:xfrm>
            <a:off x="4687888" y="3268663"/>
            <a:ext cx="1828800" cy="5635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46CE01F6-0743-38E9-AF87-DAA5777F8F4F}"/>
              </a:ext>
            </a:extLst>
          </p:cNvPr>
          <p:cNvSpPr>
            <a:spLocks noGrp="1"/>
          </p:cNvSpPr>
          <p:nvPr>
            <p:ph sz="quarter" idx="24"/>
          </p:nvPr>
        </p:nvSpPr>
        <p:spPr>
          <a:xfrm>
            <a:off x="6881813" y="3187700"/>
            <a:ext cx="1773237" cy="7524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a:extLst>
              <a:ext uri="{FF2B5EF4-FFF2-40B4-BE49-F238E27FC236}">
                <a16:creationId xmlns:a16="http://schemas.microsoft.com/office/drawing/2014/main" id="{6FA160C5-C2B6-646A-24C2-497BDD85C78E}"/>
              </a:ext>
            </a:extLst>
          </p:cNvPr>
          <p:cNvSpPr>
            <a:spLocks noGrp="1"/>
          </p:cNvSpPr>
          <p:nvPr>
            <p:ph sz="quarter" idx="25"/>
          </p:nvPr>
        </p:nvSpPr>
        <p:spPr>
          <a:xfrm>
            <a:off x="488950" y="4192588"/>
            <a:ext cx="1741488" cy="1263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20">
            <a:extLst>
              <a:ext uri="{FF2B5EF4-FFF2-40B4-BE49-F238E27FC236}">
                <a16:creationId xmlns:a16="http://schemas.microsoft.com/office/drawing/2014/main" id="{354DFDB5-A5D7-D3C2-9EF8-F8AE304C5236}"/>
              </a:ext>
            </a:extLst>
          </p:cNvPr>
          <p:cNvSpPr>
            <a:spLocks noGrp="1"/>
          </p:cNvSpPr>
          <p:nvPr>
            <p:ph sz="quarter" idx="26"/>
          </p:nvPr>
        </p:nvSpPr>
        <p:spPr>
          <a:xfrm>
            <a:off x="2735263" y="4192588"/>
            <a:ext cx="1666875" cy="12017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22">
            <a:extLst>
              <a:ext uri="{FF2B5EF4-FFF2-40B4-BE49-F238E27FC236}">
                <a16:creationId xmlns:a16="http://schemas.microsoft.com/office/drawing/2014/main" id="{1A7D73FA-E2BD-CDFE-F443-0BF08320DEB5}"/>
              </a:ext>
            </a:extLst>
          </p:cNvPr>
          <p:cNvSpPr>
            <a:spLocks noGrp="1"/>
          </p:cNvSpPr>
          <p:nvPr>
            <p:ph sz="quarter" idx="27"/>
          </p:nvPr>
        </p:nvSpPr>
        <p:spPr>
          <a:xfrm>
            <a:off x="4770438" y="4297363"/>
            <a:ext cx="1565275" cy="12017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24">
            <a:extLst>
              <a:ext uri="{FF2B5EF4-FFF2-40B4-BE49-F238E27FC236}">
                <a16:creationId xmlns:a16="http://schemas.microsoft.com/office/drawing/2014/main" id="{2DE9E79D-3862-0315-17F8-2EE3AE3C8C5B}"/>
              </a:ext>
            </a:extLst>
          </p:cNvPr>
          <p:cNvSpPr>
            <a:spLocks noGrp="1"/>
          </p:cNvSpPr>
          <p:nvPr>
            <p:ph type="body" sz="quarter" idx="28"/>
          </p:nvPr>
        </p:nvSpPr>
        <p:spPr>
          <a:xfrm>
            <a:off x="7086600" y="4297363"/>
            <a:ext cx="1600200" cy="1158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72715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1.emf"/><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2.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758654"/>
            <a:ext cx="8229600" cy="553998"/>
          </a:xfrm>
          <a:prstGeom prst="rect">
            <a:avLst/>
          </a:prstGeom>
        </p:spPr>
        <p:txBody>
          <a:bodyPr vert="horz" lIns="0" tIns="0" rIns="0" bIns="0" rtlCol="0" anchor="b">
            <a:spAutoFit/>
          </a:bodyPr>
          <a:lstStyle/>
          <a:p>
            <a:r>
              <a:rPr lang="en-US" dirty="0"/>
              <a:t>Click to edit Master title style</a:t>
            </a:r>
          </a:p>
        </p:txBody>
      </p:sp>
      <p:sp>
        <p:nvSpPr>
          <p:cNvPr id="3" name="Text Placeholder 2"/>
          <p:cNvSpPr>
            <a:spLocks noGrp="1"/>
          </p:cNvSpPr>
          <p:nvPr>
            <p:ph type="body" idx="1"/>
          </p:nvPr>
        </p:nvSpPr>
        <p:spPr>
          <a:xfrm>
            <a:off x="457200" y="1600200"/>
            <a:ext cx="8229600" cy="2677656"/>
          </a:xfrm>
          <a:prstGeom prst="rect">
            <a:avLst/>
          </a:prstGeom>
        </p:spPr>
        <p:txBody>
          <a:bodyPr vert="horz"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9/25/26</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10" name="Picture 9" descr="Pearson Logo"/>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9" r:id="rId3"/>
    <p:sldLayoutId id="2147483660" r:id="rId4"/>
    <p:sldLayoutId id="2147483662" r:id="rId5"/>
    <p:sldLayoutId id="2147483661" r:id="rId6"/>
    <p:sldLayoutId id="2147483663" r:id="rId7"/>
    <p:sldLayoutId id="2147483651" r:id="rId8"/>
    <p:sldLayoutId id="2147483654" r:id="rId9"/>
    <p:sldLayoutId id="2147483655" r:id="rId10"/>
    <p:sldLayoutId id="2147483700" r:id="rId11"/>
    <p:sldLayoutId id="2147483702" r:id="rId12"/>
  </p:sldLayoutIdLst>
  <p:txStyles>
    <p:titleStyle>
      <a:lvl1pPr algn="l" defTabSz="914400" rtl="0" eaLnBrk="1" latinLnBrk="0" hangingPunct="1">
        <a:lnSpc>
          <a:spcPct val="100000"/>
        </a:lnSpc>
        <a:spcBef>
          <a:spcPct val="0"/>
        </a:spcBef>
        <a:buNone/>
        <a:defRPr sz="3600" b="1" kern="1200">
          <a:solidFill>
            <a:srgbClr val="007FA3"/>
          </a:solidFill>
          <a:latin typeface="+mj-lt"/>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9/25/26</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10" name="Picture 9" descr="Pearson Logo"/>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9" name="Footer Placeholder 4"/>
          <p:cNvSpPr txBox="1">
            <a:spLocks/>
          </p:cNvSpPr>
          <p:nvPr userDrawn="1"/>
        </p:nvSpPr>
        <p:spPr>
          <a:xfrm>
            <a:off x="2819401" y="6424902"/>
            <a:ext cx="5857188" cy="204498"/>
          </a:xfrm>
          <a:prstGeom prst="rect">
            <a:avLst/>
          </a:prstGeom>
        </p:spPr>
        <p:txBody>
          <a:bodyPr vert="horz" lIns="0" tIns="0" rIns="0" bIns="0" rtlCol="0" anchor="b">
            <a:noAutofit/>
          </a:bodyPr>
          <a:lstStyle>
            <a:defPPr>
              <a:defRPr lang="en-US"/>
            </a:defPPr>
            <a:lvl1pPr marL="0" indent="0" algn="r" defTabSz="914400" rtl="0" eaLnBrk="1" latinLnBrk="0" hangingPunct="1">
              <a:buNone/>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latin typeface="Verdana" panose="020B0604030504040204" pitchFamily="34" charset="0"/>
                <a:ea typeface="Verdana" panose="020B0604030504040204" pitchFamily="34" charset="0"/>
                <a:cs typeface="Verdana" panose="020B0604030504040204" pitchFamily="34" charset="0"/>
              </a:rPr>
              <a:t>Copyright © </a:t>
            </a:r>
            <a:r>
              <a:rPr lang="en-US" dirty="0">
                <a:latin typeface="Verdana" panose="020B0604030504040204" pitchFamily="34" charset="0"/>
                <a:ea typeface="Verdana" panose="020B0604030504040204" pitchFamily="34" charset="0"/>
                <a:cs typeface="Verdana" panose="020B0604030504040204" pitchFamily="34" charset="0"/>
              </a:rPr>
              <a:t>2021, 2018, 2015 </a:t>
            </a:r>
            <a:r>
              <a:rPr lang="en-IN"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547644696"/>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99" r:id="rId13"/>
    <p:sldLayoutId id="2147483701" r:id="rId14"/>
  </p:sldLayoutIdLst>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xml"/><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3" Type="http://schemas.openxmlformats.org/officeDocument/2006/relationships/hyperlink" Target="https://quizlet.com/653888163/ais-chapter-1-terms-flash-cards/" TargetMode="External"/><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18.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361934" y="117302"/>
            <a:ext cx="8272730" cy="590349"/>
          </a:xfrm>
        </p:spPr>
        <p:txBody>
          <a:bodyPr wrap="square" lIns="0" tIns="18000" rIns="0" bIns="18000" anchor="ctr" anchorCtr="0">
            <a:spAutoFit/>
          </a:bodyPr>
          <a:lstStyle/>
          <a:p>
            <a:r>
              <a:rPr lang="en-US" noProof="0" dirty="0"/>
              <a:t>Accounting Information Systems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364643" y="932927"/>
            <a:ext cx="1958194" cy="344128"/>
          </a:xfrm>
        </p:spPr>
        <p:txBody>
          <a:bodyPr wrap="square" lIns="0" tIns="18000" rIns="0" bIns="18000" anchor="ctr" anchorCtr="0">
            <a:spAutoFit/>
          </a:bodyPr>
          <a:lstStyle/>
          <a:p>
            <a:r>
              <a:rPr lang="en-US" sz="2000" noProof="0" dirty="0">
                <a:solidFill>
                  <a:srgbClr val="007FA3"/>
                </a:solidFill>
                <a:latin typeface="Arial" panose="020B0604020202020204" pitchFamily="34" charset="0"/>
                <a:cs typeface="Arial" panose="020B0604020202020204" pitchFamily="34" charset="0"/>
              </a:rPr>
              <a:t>Sixteenth Edition</a:t>
            </a:r>
            <a:endParaRPr lang="en-US" noProof="0" dirty="0">
              <a:latin typeface="Arial" panose="020B0604020202020204" pitchFamily="34" charset="0"/>
              <a:cs typeface="Arial" panose="020B0604020202020204" pitchFamily="34" charset="0"/>
            </a:endParaRPr>
          </a:p>
        </p:txBody>
      </p:sp>
      <p:pic>
        <p:nvPicPr>
          <p:cNvPr id="9" name="Picture 8" descr="Front Cover: Accounting Information Systems, Sixteenth Edition by Romney, Steinbart, Summers and Wood.">
            <a:extLst>
              <a:ext uri="{FF2B5EF4-FFF2-40B4-BE49-F238E27FC236}">
                <a16:creationId xmlns:a16="http://schemas.microsoft.com/office/drawing/2014/main" id="{474D169D-DDD8-4DAB-92C6-0DAC8CD369D1}"/>
              </a:ext>
            </a:extLst>
          </p:cNvPr>
          <p:cNvPicPr>
            <a:picLocks noChangeAspect="1"/>
          </p:cNvPicPr>
          <p:nvPr/>
        </p:nvPicPr>
        <p:blipFill>
          <a:blip r:embed="rId3"/>
          <a:stretch>
            <a:fillRect/>
          </a:stretch>
        </p:blipFill>
        <p:spPr>
          <a:xfrm>
            <a:off x="384200" y="1386673"/>
            <a:ext cx="3892191" cy="4978953"/>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2000" y="2430301"/>
            <a:ext cx="1874982" cy="498016"/>
          </a:xfrm>
        </p:spPr>
        <p:txBody>
          <a:bodyPr wrap="square" lIns="0" tIns="18000" rIns="0" bIns="18000" anchor="ctr" anchorCtr="0">
            <a:spAutoFit/>
          </a:bodyPr>
          <a:lstStyle/>
          <a:p>
            <a:pPr marL="0"/>
            <a:r>
              <a:rPr lang="en-US" noProof="0" dirty="0">
                <a:latin typeface="Arial" panose="020B0604020202020204" pitchFamily="34" charset="0"/>
                <a:cs typeface="Arial" panose="020B0604020202020204" pitchFamily="34" charset="0"/>
              </a:rPr>
              <a:t>Chapter 1</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72000" y="3155469"/>
            <a:ext cx="4140200" cy="713460"/>
          </a:xfrm>
        </p:spPr>
        <p:txBody>
          <a:bodyPr wrap="square" lIns="0" tIns="18000" rIns="0" bIns="18000" anchor="ctr" anchorCtr="0">
            <a:spAutoFit/>
          </a:bodyPr>
          <a:lstStyle/>
          <a:p>
            <a:pPr marL="0"/>
            <a:r>
              <a:rPr lang="en-US" noProof="0" dirty="0">
                <a:latin typeface="Arial" panose="020B0604020202020204" pitchFamily="34" charset="0"/>
                <a:cs typeface="Arial" panose="020B0604020202020204" pitchFamily="34" charset="0"/>
              </a:rPr>
              <a:t>Accounting Information Systems: An Overview</a:t>
            </a: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32508" y="6431973"/>
            <a:ext cx="1153391" cy="290602"/>
          </a:xfr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169825" y="6425373"/>
            <a:ext cx="6589712" cy="221018"/>
          </a:xfrm>
        </p:spPr>
        <p:txBody>
          <a:bodyPr lIns="0" tIns="18000" rIns="0" bIns="18000" anchor="ctr" anchorCtr="0">
            <a:spAutoFit/>
          </a:bodyPr>
          <a:lstStyle/>
          <a:p>
            <a:r>
              <a:rPr lang="en-US" altLang="en-US" sz="1200" b="0" noProof="0" dirty="0">
                <a:latin typeface="Verdana"/>
                <a:ea typeface="Verdana" panose="020B0604030504040204" pitchFamily="34" charset="0"/>
                <a:cs typeface="Verdana" panose="020B0604030504040204" pitchFamily="34" charset="0"/>
              </a:rPr>
              <a:t>Copyright © 2024, 2021, 2018 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57200" y="142686"/>
            <a:ext cx="8229600" cy="553998"/>
          </a:xfrm>
        </p:spPr>
        <p:txBody>
          <a:bodyPr>
            <a:spAutoFit/>
          </a:bodyPr>
          <a:lstStyle/>
          <a:p>
            <a:r>
              <a:rPr lang="en-IN" dirty="0">
                <a:latin typeface="+mj-lt"/>
              </a:rPr>
              <a:t>Learning Objectives</a:t>
            </a:r>
          </a:p>
        </p:txBody>
      </p:sp>
      <p:sp>
        <p:nvSpPr>
          <p:cNvPr id="5" name="Content Placeholder 4"/>
          <p:cNvSpPr>
            <a:spLocks noGrp="1"/>
          </p:cNvSpPr>
          <p:nvPr>
            <p:ph idx="13"/>
          </p:nvPr>
        </p:nvSpPr>
        <p:spPr>
          <a:xfrm>
            <a:off x="472190" y="925286"/>
            <a:ext cx="8229600" cy="3724096"/>
          </a:xfrm>
        </p:spPr>
        <p:txBody>
          <a:bodyPr/>
          <a:lstStyle/>
          <a:p>
            <a:pPr>
              <a:buSzPts val="2000"/>
            </a:pPr>
            <a:r>
              <a:rPr lang="en-IN" sz="2400" dirty="0"/>
              <a:t>Why do we care about IT?</a:t>
            </a:r>
          </a:p>
          <a:p>
            <a:pPr lvl="1">
              <a:buSzPts val="2000"/>
            </a:pPr>
            <a:r>
              <a:rPr lang="en-IN" sz="2400" dirty="0"/>
              <a:t>What is a system?</a:t>
            </a:r>
          </a:p>
          <a:p>
            <a:pPr lvl="1">
              <a:buSzPts val="2000"/>
            </a:pPr>
            <a:r>
              <a:rPr lang="en-IN" sz="2400" dirty="0"/>
              <a:t>What is an AIS?</a:t>
            </a:r>
          </a:p>
          <a:p>
            <a:pPr>
              <a:buSzPts val="2000"/>
            </a:pPr>
            <a:endParaRPr lang="en-IN" sz="2400" dirty="0"/>
          </a:p>
          <a:p>
            <a:pPr>
              <a:buSzPts val="2000"/>
            </a:pPr>
            <a:r>
              <a:rPr lang="en-IN" sz="2400" dirty="0"/>
              <a:t>Understand business processes</a:t>
            </a:r>
          </a:p>
          <a:p>
            <a:pPr lvl="1">
              <a:buSzPts val="2000"/>
            </a:pPr>
            <a:r>
              <a:rPr lang="en-IN" sz="2400" dirty="0"/>
              <a:t>Describe a business value chain</a:t>
            </a:r>
          </a:p>
          <a:p>
            <a:pPr lvl="1">
              <a:buSzPts val="2000"/>
            </a:pPr>
            <a:r>
              <a:rPr lang="en-IN" sz="2400" dirty="0"/>
              <a:t>Describe the cycles in accounting</a:t>
            </a:r>
          </a:p>
          <a:p>
            <a:pPr lvl="1">
              <a:buSzPts val="2000"/>
            </a:pPr>
            <a:r>
              <a:rPr lang="en-IN" sz="2400" dirty="0"/>
              <a:t>Explain IT’s role in the value chain</a:t>
            </a:r>
          </a:p>
        </p:txBody>
      </p:sp>
    </p:spTree>
    <p:extLst>
      <p:ext uri="{BB962C8B-B14F-4D97-AF65-F5344CB8AC3E}">
        <p14:creationId xmlns:p14="http://schemas.microsoft.com/office/powerpoint/2010/main" val="3668168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Chart, bar chart&#10;&#10;Description automatically generated">
            <a:extLst>
              <a:ext uri="{FF2B5EF4-FFF2-40B4-BE49-F238E27FC236}">
                <a16:creationId xmlns:a16="http://schemas.microsoft.com/office/drawing/2014/main" id="{4847A7CA-5ECD-40BE-AFCE-5BCEF034E5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410068"/>
            <a:ext cx="6192287" cy="3276600"/>
          </a:xfrm>
          <a:prstGeom prst="rect">
            <a:avLst/>
          </a:prstGeom>
        </p:spPr>
      </p:pic>
      <p:sp>
        <p:nvSpPr>
          <p:cNvPr id="11" name="Rectangle 10">
            <a:extLst>
              <a:ext uri="{FF2B5EF4-FFF2-40B4-BE49-F238E27FC236}">
                <a16:creationId xmlns:a16="http://schemas.microsoft.com/office/drawing/2014/main" id="{C6B1AAC4-450E-402C-AC9B-DC1905DEEA55}"/>
              </a:ext>
            </a:extLst>
          </p:cNvPr>
          <p:cNvSpPr/>
          <p:nvPr/>
        </p:nvSpPr>
        <p:spPr>
          <a:xfrm>
            <a:off x="3505200" y="2514600"/>
            <a:ext cx="5334000" cy="3124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
        <p:nvSpPr>
          <p:cNvPr id="8" name="TextBox 7">
            <a:extLst>
              <a:ext uri="{FF2B5EF4-FFF2-40B4-BE49-F238E27FC236}">
                <a16:creationId xmlns:a16="http://schemas.microsoft.com/office/drawing/2014/main" id="{2C409D28-652D-477A-80C3-B1BD63884F37}"/>
              </a:ext>
            </a:extLst>
          </p:cNvPr>
          <p:cNvSpPr txBox="1"/>
          <p:nvPr/>
        </p:nvSpPr>
        <p:spPr>
          <a:xfrm>
            <a:off x="3810000" y="6596390"/>
            <a:ext cx="6463168" cy="261610"/>
          </a:xfrm>
          <a:prstGeom prst="rect">
            <a:avLst/>
          </a:prstGeom>
          <a:noFill/>
        </p:spPr>
        <p:txBody>
          <a:bodyPr wrap="square">
            <a:spAutoFit/>
          </a:bodyPr>
          <a:lstStyle/>
          <a:p>
            <a:r>
              <a:rPr lang="en-US" sz="1100" dirty="0"/>
              <a:t>https://www.flexera.com/blog/technology-value-optimization/it-spending-by-industry/</a:t>
            </a:r>
          </a:p>
        </p:txBody>
      </p:sp>
      <p:pic>
        <p:nvPicPr>
          <p:cNvPr id="10" name="Picture 9" descr="Chart&#10;&#10;Description automatically generated with medium confidence">
            <a:extLst>
              <a:ext uri="{FF2B5EF4-FFF2-40B4-BE49-F238E27FC236}">
                <a16:creationId xmlns:a16="http://schemas.microsoft.com/office/drawing/2014/main" id="{4AA25D5F-42C3-4D6A-9C3C-802E8727B2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19256" y="2514600"/>
            <a:ext cx="6192287" cy="3276600"/>
          </a:xfrm>
          <a:prstGeom prst="rect">
            <a:avLst/>
          </a:prstGeom>
        </p:spPr>
      </p:pic>
    </p:spTree>
    <p:extLst>
      <p:ext uri="{BB962C8B-B14F-4D97-AF65-F5344CB8AC3E}">
        <p14:creationId xmlns:p14="http://schemas.microsoft.com/office/powerpoint/2010/main" val="19113060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funnel chart&#10;&#10;Description automatically generated">
            <a:extLst>
              <a:ext uri="{FF2B5EF4-FFF2-40B4-BE49-F238E27FC236}">
                <a16:creationId xmlns:a16="http://schemas.microsoft.com/office/drawing/2014/main" id="{498E175E-CCFB-4FC2-9E17-9C2577C9AB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18391"/>
            <a:ext cx="9144000" cy="4821218"/>
          </a:xfrm>
          <a:prstGeom prst="rect">
            <a:avLst/>
          </a:prstGeom>
        </p:spPr>
      </p:pic>
    </p:spTree>
    <p:extLst>
      <p:ext uri="{BB962C8B-B14F-4D97-AF65-F5344CB8AC3E}">
        <p14:creationId xmlns:p14="http://schemas.microsoft.com/office/powerpoint/2010/main" val="14272268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62890" y="106533"/>
            <a:ext cx="8271774" cy="590349"/>
          </a:xfrm>
        </p:spPr>
        <p:txBody>
          <a:bodyPr wrap="square" lIns="0" tIns="18000" rIns="0" bIns="18000" anchor="ctr" anchorCtr="0">
            <a:spAutoFit/>
          </a:bodyPr>
          <a:lstStyle/>
          <a:p>
            <a:r>
              <a:rPr lang="en-US" sz="3600" noProof="0" dirty="0"/>
              <a:t>Defining an Information System</a:t>
            </a:r>
            <a:endParaRPr lang="en-US" sz="1800" b="0" noProof="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64542" y="878195"/>
            <a:ext cx="8272252" cy="2329287"/>
          </a:xfrm>
        </p:spPr>
        <p:txBody>
          <a:bodyPr wrap="square" lIns="0" tIns="18000" rIns="0" bIns="18000" anchor="ctr" anchorCtr="0">
            <a:spAutoFit/>
          </a:bodyPr>
          <a:lstStyle/>
          <a:p>
            <a:pPr marL="342900" indent="-342900">
              <a:spcBef>
                <a:spcPts val="600"/>
              </a:spcBef>
            </a:pPr>
            <a:r>
              <a:rPr lang="en-US" sz="2400" noProof="0" dirty="0">
                <a:solidFill>
                  <a:schemeClr val="tx1"/>
                </a:solidFill>
                <a:latin typeface="Arial" panose="020B0604020202020204" pitchFamily="34" charset="0"/>
                <a:cs typeface="Arial" panose="020B0604020202020204" pitchFamily="34" charset="0"/>
              </a:rPr>
              <a:t>A </a:t>
            </a:r>
            <a:r>
              <a:rPr lang="en-US" sz="2400" b="1" noProof="0" dirty="0">
                <a:solidFill>
                  <a:schemeClr val="tx1"/>
                </a:solidFill>
                <a:latin typeface="Arial" panose="020B0604020202020204" pitchFamily="34" charset="0"/>
                <a:cs typeface="Arial" panose="020B0604020202020204" pitchFamily="34" charset="0"/>
              </a:rPr>
              <a:t>system</a:t>
            </a:r>
            <a:r>
              <a:rPr lang="en-US" sz="2400" noProof="0" dirty="0">
                <a:solidFill>
                  <a:schemeClr val="tx1"/>
                </a:solidFill>
                <a:latin typeface="Arial" panose="020B0604020202020204" pitchFamily="34" charset="0"/>
                <a:cs typeface="Arial" panose="020B0604020202020204" pitchFamily="34" charset="0"/>
              </a:rPr>
              <a:t> is a set of detailed methods, procedures, and routines that carry out specific activities, perform a duty, achieve goals or objectives, or solve one or more problems.</a:t>
            </a:r>
          </a:p>
          <a:p>
            <a:pPr marL="829818" lvl="1" indent="-342900"/>
            <a:r>
              <a:rPr lang="en-US" sz="2400" noProof="0" dirty="0">
                <a:solidFill>
                  <a:schemeClr val="tx1"/>
                </a:solidFill>
                <a:latin typeface="Arial" panose="020B0604020202020204" pitchFamily="34" charset="0"/>
                <a:cs typeface="Arial" panose="020B0604020202020204" pitchFamily="34" charset="0"/>
              </a:rPr>
              <a:t>Most systems are composed of smaller subsystems (e.g., department within a college of business)</a:t>
            </a:r>
          </a:p>
        </p:txBody>
      </p:sp>
    </p:spTree>
    <p:extLst>
      <p:ext uri="{BB962C8B-B14F-4D97-AF65-F5344CB8AC3E}">
        <p14:creationId xmlns:p14="http://schemas.microsoft.com/office/powerpoint/2010/main" val="15062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086" y="163286"/>
            <a:ext cx="8229600" cy="1046440"/>
          </a:xfrm>
        </p:spPr>
        <p:txBody>
          <a:bodyPr>
            <a:spAutoFit/>
          </a:bodyPr>
          <a:lstStyle/>
          <a:p>
            <a:r>
              <a:rPr lang="en-US" dirty="0">
                <a:latin typeface="+mj-lt"/>
              </a:rPr>
              <a:t>What Is an Accounting Information System (</a:t>
            </a:r>
            <a:r>
              <a:rPr lang="en-US" spc="-400" dirty="0">
                <a:latin typeface="+mj-lt"/>
              </a:rPr>
              <a:t>A I </a:t>
            </a:r>
            <a:r>
              <a:rPr lang="en-US" dirty="0">
                <a:latin typeface="+mj-lt"/>
              </a:rPr>
              <a:t>S)?</a:t>
            </a:r>
            <a:endParaRPr lang="en-IN" spc="-400" dirty="0">
              <a:latin typeface="+mj-lt"/>
            </a:endParaRPr>
          </a:p>
        </p:txBody>
      </p:sp>
      <p:sp>
        <p:nvSpPr>
          <p:cNvPr id="2" name="Content Placeholder 1"/>
          <p:cNvSpPr>
            <a:spLocks noGrp="1"/>
          </p:cNvSpPr>
          <p:nvPr>
            <p:ph idx="13"/>
          </p:nvPr>
        </p:nvSpPr>
        <p:spPr>
          <a:xfrm>
            <a:off x="457200" y="1447800"/>
            <a:ext cx="5181600" cy="4540356"/>
          </a:xfrm>
        </p:spPr>
        <p:txBody>
          <a:bodyPr/>
          <a:lstStyle/>
          <a:p>
            <a:pPr lvl="0">
              <a:spcBef>
                <a:spcPts val="600"/>
              </a:spcBef>
              <a:buSzPts val="2400"/>
            </a:pPr>
            <a:r>
              <a:rPr lang="en-IN" sz="2400" dirty="0"/>
              <a:t>Acts to:</a:t>
            </a:r>
          </a:p>
          <a:p>
            <a:pPr lvl="1">
              <a:buSzPts val="2400"/>
            </a:pPr>
            <a:r>
              <a:rPr lang="en-IN" sz="2400" b="1" dirty="0"/>
              <a:t>Collect </a:t>
            </a:r>
            <a:r>
              <a:rPr lang="en-IN" sz="2400" dirty="0"/>
              <a:t>data</a:t>
            </a:r>
          </a:p>
          <a:p>
            <a:pPr lvl="1">
              <a:buSzPts val="2400"/>
            </a:pPr>
            <a:r>
              <a:rPr lang="en-IN" sz="2400" dirty="0"/>
              <a:t>Safely </a:t>
            </a:r>
            <a:r>
              <a:rPr lang="en-IN" sz="2400" b="1" dirty="0"/>
              <a:t>store</a:t>
            </a:r>
            <a:r>
              <a:rPr lang="en-IN" sz="2400" dirty="0"/>
              <a:t> data</a:t>
            </a:r>
          </a:p>
          <a:p>
            <a:pPr lvl="1">
              <a:buSzPts val="2400"/>
            </a:pPr>
            <a:r>
              <a:rPr lang="en-IN" sz="2400" b="1" dirty="0"/>
              <a:t>Processes </a:t>
            </a:r>
            <a:r>
              <a:rPr lang="en-IN" sz="2400" dirty="0"/>
              <a:t>data into information</a:t>
            </a:r>
          </a:p>
          <a:p>
            <a:pPr lvl="0">
              <a:spcBef>
                <a:spcPts val="600"/>
              </a:spcBef>
              <a:buSzPts val="2400"/>
            </a:pPr>
            <a:endParaRPr lang="en-IN" sz="2400" dirty="0"/>
          </a:p>
          <a:p>
            <a:pPr lvl="0">
              <a:spcBef>
                <a:spcPts val="600"/>
              </a:spcBef>
              <a:buSzPts val="2400"/>
            </a:pPr>
            <a:r>
              <a:rPr lang="en-IN" sz="2400" dirty="0"/>
              <a:t>Consists of:</a:t>
            </a:r>
          </a:p>
          <a:p>
            <a:pPr lvl="1">
              <a:buSzPts val="2000"/>
            </a:pPr>
            <a:r>
              <a:rPr lang="en-IN" sz="2400" b="1" dirty="0"/>
              <a:t>People</a:t>
            </a:r>
            <a:r>
              <a:rPr lang="en-IN" sz="2400" dirty="0"/>
              <a:t> who use the system</a:t>
            </a:r>
          </a:p>
          <a:p>
            <a:pPr lvl="1">
              <a:buSzPts val="2000"/>
            </a:pPr>
            <a:r>
              <a:rPr lang="en-IN" sz="2400" b="1" dirty="0"/>
              <a:t>Processes</a:t>
            </a:r>
          </a:p>
          <a:p>
            <a:pPr lvl="1">
              <a:buSzPts val="2000"/>
            </a:pPr>
            <a:r>
              <a:rPr lang="en-IN" sz="2400" b="1" dirty="0"/>
              <a:t>Technology</a:t>
            </a:r>
            <a:r>
              <a:rPr lang="en-IN" sz="2400" dirty="0"/>
              <a:t> (data &amp; software) </a:t>
            </a:r>
          </a:p>
          <a:p>
            <a:pPr lvl="1">
              <a:buSzPts val="2000"/>
            </a:pPr>
            <a:r>
              <a:rPr lang="en-IN" sz="2400" b="1" dirty="0"/>
              <a:t>Controls</a:t>
            </a:r>
          </a:p>
        </p:txBody>
      </p:sp>
      <p:pic>
        <p:nvPicPr>
          <p:cNvPr id="4" name="Picture 3" descr="CCTV camera">
            <a:extLst>
              <a:ext uri="{FF2B5EF4-FFF2-40B4-BE49-F238E27FC236}">
                <a16:creationId xmlns:a16="http://schemas.microsoft.com/office/drawing/2014/main" id="{5498F5A1-048A-4E70-9240-A1B9B998CD4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9999" r="47533"/>
          <a:stretch/>
        </p:blipFill>
        <p:spPr>
          <a:xfrm>
            <a:off x="6553200" y="4194488"/>
            <a:ext cx="1359725" cy="1371601"/>
          </a:xfrm>
          <a:prstGeom prst="rect">
            <a:avLst/>
          </a:prstGeom>
        </p:spPr>
      </p:pic>
      <p:sp>
        <p:nvSpPr>
          <p:cNvPr id="5" name="TextBox 4">
            <a:extLst>
              <a:ext uri="{FF2B5EF4-FFF2-40B4-BE49-F238E27FC236}">
                <a16:creationId xmlns:a16="http://schemas.microsoft.com/office/drawing/2014/main" id="{C0EA64E8-BE8F-405A-9CBA-32CA253D34C3}"/>
              </a:ext>
            </a:extLst>
          </p:cNvPr>
          <p:cNvSpPr txBox="1"/>
          <p:nvPr/>
        </p:nvSpPr>
        <p:spPr>
          <a:xfrm>
            <a:off x="6537702" y="5566090"/>
            <a:ext cx="1140056" cy="400110"/>
          </a:xfrm>
          <a:prstGeom prst="rect">
            <a:avLst/>
          </a:prstGeom>
          <a:noFill/>
        </p:spPr>
        <p:txBody>
          <a:bodyPr wrap="none" rtlCol="0">
            <a:spAutoFit/>
          </a:bodyPr>
          <a:lstStyle/>
          <a:p>
            <a:r>
              <a:rPr lang="en-US" sz="2000" dirty="0"/>
              <a:t>Controls</a:t>
            </a:r>
          </a:p>
        </p:txBody>
      </p:sp>
    </p:spTree>
    <p:extLst>
      <p:ext uri="{BB962C8B-B14F-4D97-AF65-F5344CB8AC3E}">
        <p14:creationId xmlns:p14="http://schemas.microsoft.com/office/powerpoint/2010/main" val="909759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57200" y="167390"/>
            <a:ext cx="8229600" cy="550652"/>
          </a:xfrm>
        </p:spPr>
        <p:txBody>
          <a:bodyPr>
            <a:noAutofit/>
          </a:bodyPr>
          <a:lstStyle/>
          <a:p>
            <a:r>
              <a:rPr lang="en-US" sz="3600" spc="-400" dirty="0"/>
              <a:t>A I </a:t>
            </a:r>
            <a:r>
              <a:rPr lang="en-US" sz="3600" dirty="0"/>
              <a:t>S and Corporate Strategy</a:t>
            </a:r>
            <a:endParaRPr lang="en-IN" sz="3600" spc="-400" dirty="0"/>
          </a:p>
        </p:txBody>
      </p:sp>
      <p:sp>
        <p:nvSpPr>
          <p:cNvPr id="3" name="Content Placeholder 2"/>
          <p:cNvSpPr>
            <a:spLocks noGrp="1"/>
          </p:cNvSpPr>
          <p:nvPr>
            <p:ph sz="quarter" idx="15"/>
          </p:nvPr>
        </p:nvSpPr>
        <p:spPr>
          <a:xfrm>
            <a:off x="457200" y="930640"/>
            <a:ext cx="8229600" cy="3276600"/>
          </a:xfrm>
        </p:spPr>
        <p:txBody>
          <a:bodyPr/>
          <a:lstStyle/>
          <a:p>
            <a:pPr lvl="0">
              <a:spcBef>
                <a:spcPts val="600"/>
              </a:spcBef>
              <a:buSzPts val="2400"/>
            </a:pPr>
            <a:r>
              <a:rPr lang="en-IN" sz="2400" dirty="0"/>
              <a:t>Strategy drives </a:t>
            </a:r>
            <a:r>
              <a:rPr lang="en-IN" sz="2400" spc="-300" dirty="0"/>
              <a:t>A I </a:t>
            </a:r>
            <a:r>
              <a:rPr lang="en-IN" sz="2400" dirty="0"/>
              <a:t>S (and vice versa)</a:t>
            </a:r>
          </a:p>
          <a:p>
            <a:pPr lvl="1">
              <a:buSzPts val="2400"/>
            </a:pPr>
            <a:r>
              <a:rPr lang="en-IN" sz="2400" dirty="0"/>
              <a:t>AIS limits strategic opportunities</a:t>
            </a:r>
          </a:p>
          <a:p>
            <a:pPr lvl="1">
              <a:buSzPts val="2400"/>
            </a:pPr>
            <a:r>
              <a:rPr lang="en-IN" sz="2400" dirty="0"/>
              <a:t>AIS supports strategic goals by providing data/monitoring</a:t>
            </a:r>
          </a:p>
        </p:txBody>
      </p:sp>
    </p:spTree>
    <p:extLst>
      <p:ext uri="{BB962C8B-B14F-4D97-AF65-F5344CB8AC3E}">
        <p14:creationId xmlns:p14="http://schemas.microsoft.com/office/powerpoint/2010/main" val="2433872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C8C12A3-BBCA-44B2-9569-88C533D254A7}"/>
              </a:ext>
            </a:extLst>
          </p:cNvPr>
          <p:cNvPicPr>
            <a:picLocks noChangeAspect="1"/>
          </p:cNvPicPr>
          <p:nvPr/>
        </p:nvPicPr>
        <p:blipFill>
          <a:blip r:embed="rId3"/>
          <a:stretch>
            <a:fillRect/>
          </a:stretch>
        </p:blipFill>
        <p:spPr>
          <a:xfrm>
            <a:off x="304800" y="228600"/>
            <a:ext cx="7790155" cy="5403080"/>
          </a:xfrm>
          <a:prstGeom prst="rect">
            <a:avLst/>
          </a:prstGeom>
        </p:spPr>
      </p:pic>
      <p:sp>
        <p:nvSpPr>
          <p:cNvPr id="9" name="TextBox 8">
            <a:extLst>
              <a:ext uri="{FF2B5EF4-FFF2-40B4-BE49-F238E27FC236}">
                <a16:creationId xmlns:a16="http://schemas.microsoft.com/office/drawing/2014/main" id="{4EE6732A-61AC-48A8-8ED8-7C0794ECB4AF}"/>
              </a:ext>
            </a:extLst>
          </p:cNvPr>
          <p:cNvSpPr txBox="1"/>
          <p:nvPr/>
        </p:nvSpPr>
        <p:spPr>
          <a:xfrm>
            <a:off x="319596" y="5640558"/>
            <a:ext cx="8291004" cy="276999"/>
          </a:xfrm>
          <a:prstGeom prst="rect">
            <a:avLst/>
          </a:prstGeom>
          <a:noFill/>
        </p:spPr>
        <p:txBody>
          <a:bodyPr wrap="square">
            <a:spAutoFit/>
          </a:bodyPr>
          <a:lstStyle/>
          <a:p>
            <a:r>
              <a:rPr lang="en-US" sz="1200" dirty="0"/>
              <a:t>https://mytechdecisions.com/it-infrastructure/southwest-airlines-holiday-collapse-due-in-part-to-outdated-it-systems</a:t>
            </a:r>
          </a:p>
        </p:txBody>
      </p:sp>
    </p:spTree>
    <p:extLst>
      <p:ext uri="{BB962C8B-B14F-4D97-AF65-F5344CB8AC3E}">
        <p14:creationId xmlns:p14="http://schemas.microsoft.com/office/powerpoint/2010/main" val="26219349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41696-E5E0-5899-3731-C101BFD87F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99EC21-1251-9C87-318A-35C41B58A503}"/>
              </a:ext>
            </a:extLst>
          </p:cNvPr>
          <p:cNvSpPr>
            <a:spLocks noGrp="1"/>
          </p:cNvSpPr>
          <p:nvPr>
            <p:ph type="title"/>
          </p:nvPr>
        </p:nvSpPr>
        <p:spPr>
          <a:xfrm>
            <a:off x="364642" y="115157"/>
            <a:ext cx="8272252" cy="590349"/>
          </a:xfrm>
        </p:spPr>
        <p:txBody>
          <a:bodyPr wrap="square" lIns="0" tIns="18000" rIns="0" bIns="18000" anchor="ctr" anchorCtr="0">
            <a:spAutoFit/>
          </a:bodyPr>
          <a:lstStyle/>
          <a:p>
            <a:r>
              <a:rPr lang="en-US" sz="3600" noProof="0" dirty="0"/>
              <a:t>Figure 1.4</a:t>
            </a:r>
            <a:endParaRPr lang="en-US" sz="2800" b="0" noProof="0" dirty="0"/>
          </a:p>
        </p:txBody>
      </p:sp>
      <p:sp>
        <p:nvSpPr>
          <p:cNvPr id="5" name="Content Placeholder 4">
            <a:extLst>
              <a:ext uri="{FF2B5EF4-FFF2-40B4-BE49-F238E27FC236}">
                <a16:creationId xmlns:a16="http://schemas.microsoft.com/office/drawing/2014/main" id="{26853D1B-8043-DD15-2F75-EE887D7ABD9C}"/>
              </a:ext>
            </a:extLst>
          </p:cNvPr>
          <p:cNvSpPr>
            <a:spLocks noGrp="1"/>
          </p:cNvSpPr>
          <p:nvPr>
            <p:ph sz="quarter" idx="13"/>
          </p:nvPr>
        </p:nvSpPr>
        <p:spPr>
          <a:xfrm>
            <a:off x="363069" y="877804"/>
            <a:ext cx="8270240" cy="775015"/>
          </a:xfrm>
        </p:spPr>
        <p:txBody>
          <a:bodyPr wrap="square" lIns="0" tIns="18000" rIns="0" bIns="18000" anchor="ctr" anchorCtr="0">
            <a:spAutoFit/>
          </a:bodyPr>
          <a:lstStyle/>
          <a:p>
            <a:pPr marL="0" indent="0">
              <a:buNone/>
            </a:pPr>
            <a:r>
              <a:rPr lang="en-US" sz="2400" noProof="0" dirty="0">
                <a:latin typeface="Arial" panose="020B0604020202020204" pitchFamily="34" charset="0"/>
                <a:cs typeface="Arial" panose="020B0604020202020204" pitchFamily="34" charset="0"/>
              </a:rPr>
              <a:t>An </a:t>
            </a:r>
            <a:r>
              <a:rPr lang="en-US" sz="2400" spc="-300" noProof="0" dirty="0">
                <a:latin typeface="Arial" panose="020B0604020202020204" pitchFamily="34" charset="0"/>
                <a:cs typeface="Arial" panose="020B0604020202020204" pitchFamily="34" charset="0"/>
              </a:rPr>
              <a:t>A I </a:t>
            </a:r>
            <a:r>
              <a:rPr lang="en-US" sz="2400" noProof="0" dirty="0">
                <a:latin typeface="Arial" panose="020B0604020202020204" pitchFamily="34" charset="0"/>
                <a:cs typeface="Arial" panose="020B0604020202020204" pitchFamily="34" charset="0"/>
              </a:rPr>
              <a:t>S Processes Data to Produce Information for Decision Makers</a:t>
            </a:r>
            <a:endParaRPr lang="en-US" sz="2400" noProof="0" dirty="0">
              <a:solidFill>
                <a:schemeClr val="tx1"/>
              </a:solidFill>
              <a:latin typeface="Arial" panose="020B0604020202020204" pitchFamily="34" charset="0"/>
              <a:cs typeface="Arial" panose="020B0604020202020204" pitchFamily="34" charset="0"/>
            </a:endParaRPr>
          </a:p>
        </p:txBody>
      </p:sp>
      <p:pic>
        <p:nvPicPr>
          <p:cNvPr id="7" name="Picture 6" descr="A process diagram illustrates the functions of an A I S. It shows A I S collecting “Data” which produces “Information.” The “User” using A I S makes a “Decision” with the help of the information. ">
            <a:extLst>
              <a:ext uri="{FF2B5EF4-FFF2-40B4-BE49-F238E27FC236}">
                <a16:creationId xmlns:a16="http://schemas.microsoft.com/office/drawing/2014/main" id="{B6795725-963D-B8A4-E77A-DDE77DDCBDAC}"/>
              </a:ext>
            </a:extLst>
          </p:cNvPr>
          <p:cNvPicPr>
            <a:picLocks noChangeAspect="1"/>
          </p:cNvPicPr>
          <p:nvPr/>
        </p:nvPicPr>
        <p:blipFill>
          <a:blip r:embed="rId3"/>
          <a:stretch>
            <a:fillRect/>
          </a:stretch>
        </p:blipFill>
        <p:spPr>
          <a:xfrm>
            <a:off x="418028" y="2142157"/>
            <a:ext cx="8269071" cy="1202484"/>
          </a:xfrm>
          <a:prstGeom prst="rect">
            <a:avLst/>
          </a:prstGeom>
        </p:spPr>
      </p:pic>
    </p:spTree>
    <p:extLst>
      <p:ext uri="{BB962C8B-B14F-4D97-AF65-F5344CB8AC3E}">
        <p14:creationId xmlns:p14="http://schemas.microsoft.com/office/powerpoint/2010/main" val="37591358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FA225-9081-908A-BC9C-2A00EE2F5F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631FB5-F57E-C1BE-702C-7BBAC0488CD9}"/>
              </a:ext>
            </a:extLst>
          </p:cNvPr>
          <p:cNvSpPr>
            <a:spLocks noGrp="1"/>
          </p:cNvSpPr>
          <p:nvPr>
            <p:ph type="title"/>
          </p:nvPr>
        </p:nvSpPr>
        <p:spPr>
          <a:xfrm>
            <a:off x="364642" y="115157"/>
            <a:ext cx="8272252" cy="590349"/>
          </a:xfrm>
        </p:spPr>
        <p:txBody>
          <a:bodyPr wrap="square" lIns="0" tIns="18000" rIns="0" bIns="18000" anchor="ctr" anchorCtr="0">
            <a:spAutoFit/>
          </a:bodyPr>
          <a:lstStyle/>
          <a:p>
            <a:r>
              <a:rPr lang="en-US" sz="3600" noProof="0" dirty="0"/>
              <a:t>Figure 1.3</a:t>
            </a:r>
            <a:endParaRPr lang="en-US" sz="2800" b="0" noProof="0" dirty="0"/>
          </a:p>
        </p:txBody>
      </p:sp>
      <p:sp>
        <p:nvSpPr>
          <p:cNvPr id="5" name="Content Placeholder 4">
            <a:extLst>
              <a:ext uri="{FF2B5EF4-FFF2-40B4-BE49-F238E27FC236}">
                <a16:creationId xmlns:a16="http://schemas.microsoft.com/office/drawing/2014/main" id="{A32D6472-27DA-017E-A5BF-E38A857B6785}"/>
              </a:ext>
            </a:extLst>
          </p:cNvPr>
          <p:cNvSpPr>
            <a:spLocks noGrp="1"/>
          </p:cNvSpPr>
          <p:nvPr>
            <p:ph sz="quarter" idx="13"/>
          </p:nvPr>
        </p:nvSpPr>
        <p:spPr>
          <a:xfrm>
            <a:off x="363069" y="883176"/>
            <a:ext cx="8270240" cy="405683"/>
          </a:xfrm>
        </p:spPr>
        <p:txBody>
          <a:bodyPr wrap="square" lIns="0" tIns="18000" rIns="0" bIns="18000" anchor="ctr" anchorCtr="0">
            <a:spAutoFit/>
          </a:bodyPr>
          <a:lstStyle/>
          <a:p>
            <a:pPr marL="0" indent="0">
              <a:buNone/>
            </a:pPr>
            <a:r>
              <a:rPr lang="en-US" sz="2400" noProof="0" dirty="0">
                <a:latin typeface="Arial" panose="020B0604020202020204" pitchFamily="34" charset="0"/>
                <a:cs typeface="Arial" panose="020B0604020202020204" pitchFamily="34" charset="0"/>
              </a:rPr>
              <a:t>The </a:t>
            </a:r>
            <a:r>
              <a:rPr lang="en-US" sz="2400" spc="-300" noProof="0" dirty="0">
                <a:latin typeface="Arial" panose="020B0604020202020204" pitchFamily="34" charset="0"/>
                <a:cs typeface="Arial" panose="020B0604020202020204" pitchFamily="34" charset="0"/>
              </a:rPr>
              <a:t>A I </a:t>
            </a:r>
            <a:r>
              <a:rPr lang="en-US" sz="2400" noProof="0" dirty="0">
                <a:latin typeface="Arial" panose="020B0604020202020204" pitchFamily="34" charset="0"/>
                <a:cs typeface="Arial" panose="020B0604020202020204" pitchFamily="34" charset="0"/>
              </a:rPr>
              <a:t>S and Its Subsystems</a:t>
            </a:r>
            <a:endParaRPr lang="en-US" sz="2400" noProof="0" dirty="0">
              <a:solidFill>
                <a:schemeClr val="tx1"/>
              </a:solidFill>
              <a:latin typeface="Arial" panose="020B0604020202020204" pitchFamily="34" charset="0"/>
              <a:cs typeface="Arial" panose="020B0604020202020204" pitchFamily="34" charset="0"/>
            </a:endParaRPr>
          </a:p>
        </p:txBody>
      </p:sp>
      <p:pic>
        <p:nvPicPr>
          <p:cNvPr id="7" name="Picture 6" descr="A flow chart represents the various transaction cycles of the A I S.&#10;Long description is available in notes, press F6">
            <a:extLst>
              <a:ext uri="{FF2B5EF4-FFF2-40B4-BE49-F238E27FC236}">
                <a16:creationId xmlns:a16="http://schemas.microsoft.com/office/drawing/2014/main" id="{0FD204D7-323A-C77E-AECE-0BCFEE4AF6F9}"/>
              </a:ext>
            </a:extLst>
          </p:cNvPr>
          <p:cNvPicPr>
            <a:picLocks noChangeAspect="1"/>
          </p:cNvPicPr>
          <p:nvPr/>
        </p:nvPicPr>
        <p:blipFill>
          <a:blip r:embed="rId3"/>
          <a:stretch>
            <a:fillRect/>
          </a:stretch>
        </p:blipFill>
        <p:spPr>
          <a:xfrm>
            <a:off x="2292724" y="1552264"/>
            <a:ext cx="4570655" cy="4742215"/>
          </a:xfrm>
          <a:prstGeom prst="rect">
            <a:avLst/>
          </a:prstGeom>
        </p:spPr>
      </p:pic>
    </p:spTree>
    <p:extLst>
      <p:ext uri="{BB962C8B-B14F-4D97-AF65-F5344CB8AC3E}">
        <p14:creationId xmlns:p14="http://schemas.microsoft.com/office/powerpoint/2010/main" val="1004350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57200" y="152400"/>
            <a:ext cx="8229600" cy="553998"/>
          </a:xfrm>
        </p:spPr>
        <p:txBody>
          <a:bodyPr>
            <a:spAutoFit/>
          </a:bodyPr>
          <a:lstStyle/>
          <a:p>
            <a:r>
              <a:rPr lang="en-US" dirty="0"/>
              <a:t>Figure 1.6 The Value Chain</a:t>
            </a:r>
            <a:endParaRPr lang="en-IN" spc="-400" dirty="0"/>
          </a:p>
        </p:txBody>
      </p:sp>
      <p:pic>
        <p:nvPicPr>
          <p:cNvPr id="6" name="Picture Placeholder 5" descr="A diagram shows the value chain made up of primary and secondary activities.&#10;Long description is available in notes, press F6&#10;"/>
          <p:cNvPicPr>
            <a:picLocks noGrp="1" noChangeAspect="1"/>
          </p:cNvPicPr>
          <p:nvPr>
            <p:ph type="pic" sz="quarter" idx="13"/>
          </p:nvPr>
        </p:nvPicPr>
        <p:blipFill>
          <a:blip r:embed="rId3">
            <a:extLst>
              <a:ext uri="{28A0092B-C50C-407E-A947-70E740481C1C}">
                <a14:useLocalDpi xmlns:a14="http://schemas.microsoft.com/office/drawing/2010/main" val="0"/>
              </a:ext>
            </a:extLst>
          </a:blip>
          <a:stretch>
            <a:fillRect/>
          </a:stretch>
        </p:blipFill>
        <p:spPr>
          <a:xfrm>
            <a:off x="1661914" y="944412"/>
            <a:ext cx="5820172" cy="5227788"/>
          </a:xfrm>
          <a:prstGeom prst="rect">
            <a:avLst/>
          </a:prstGeom>
        </p:spPr>
      </p:pic>
    </p:spTree>
    <p:extLst>
      <p:ext uri="{BB962C8B-B14F-4D97-AF65-F5344CB8AC3E}">
        <p14:creationId xmlns:p14="http://schemas.microsoft.com/office/powerpoint/2010/main" val="38396410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BA893-8CF9-43FB-A837-2BB0423F952F}"/>
              </a:ext>
            </a:extLst>
          </p:cNvPr>
          <p:cNvSpPr>
            <a:spLocks noGrp="1"/>
          </p:cNvSpPr>
          <p:nvPr>
            <p:ph type="title"/>
          </p:nvPr>
        </p:nvSpPr>
        <p:spPr/>
        <p:txBody>
          <a:bodyPr/>
          <a:lstStyle/>
          <a:p>
            <a:r>
              <a:rPr lang="en-US" dirty="0"/>
              <a:t>Breakout Task</a:t>
            </a:r>
          </a:p>
        </p:txBody>
      </p:sp>
      <p:sp>
        <p:nvSpPr>
          <p:cNvPr id="5" name="Text Placeholder 4">
            <a:extLst>
              <a:ext uri="{FF2B5EF4-FFF2-40B4-BE49-F238E27FC236}">
                <a16:creationId xmlns:a16="http://schemas.microsoft.com/office/drawing/2014/main" id="{04B880F6-5F07-48BF-9797-6A3A599D9537}"/>
              </a:ext>
            </a:extLst>
          </p:cNvPr>
          <p:cNvSpPr>
            <a:spLocks noGrp="1"/>
          </p:cNvSpPr>
          <p:nvPr>
            <p:ph type="body" sz="quarter" idx="16"/>
          </p:nvPr>
        </p:nvSpPr>
        <p:spPr>
          <a:xfrm>
            <a:off x="533400" y="1828800"/>
            <a:ext cx="6553200" cy="1295400"/>
          </a:xfrm>
        </p:spPr>
        <p:txBody>
          <a:bodyPr/>
          <a:lstStyle/>
          <a:p>
            <a:r>
              <a:rPr lang="en-US" dirty="0"/>
              <a:t>By group, identify the value chain for the following industries:</a:t>
            </a:r>
          </a:p>
          <a:p>
            <a:pPr lvl="1"/>
            <a:r>
              <a:rPr lang="en-US" dirty="0"/>
              <a:t>A: Small private college</a:t>
            </a:r>
          </a:p>
          <a:p>
            <a:pPr lvl="1"/>
            <a:r>
              <a:rPr lang="en-US" dirty="0"/>
              <a:t>B: Town Newspaper</a:t>
            </a:r>
          </a:p>
          <a:p>
            <a:pPr lvl="1"/>
            <a:r>
              <a:rPr lang="en-US" dirty="0"/>
              <a:t>C: Package delivery</a:t>
            </a:r>
          </a:p>
          <a:p>
            <a:pPr lvl="1"/>
            <a:r>
              <a:rPr lang="en-US" dirty="0"/>
              <a:t>D: Furniture maker</a:t>
            </a:r>
          </a:p>
          <a:p>
            <a:pPr lvl="1"/>
            <a:r>
              <a:rPr lang="en-US" dirty="0"/>
              <a:t>E: Hobby retail store</a:t>
            </a:r>
          </a:p>
          <a:p>
            <a:pPr lvl="1"/>
            <a:r>
              <a:rPr lang="en-US" dirty="0"/>
              <a:t>F: House cleaning</a:t>
            </a:r>
          </a:p>
          <a:p>
            <a:pPr lvl="1"/>
            <a:r>
              <a:rPr lang="en-US" dirty="0"/>
              <a:t>G: Book author</a:t>
            </a:r>
          </a:p>
          <a:p>
            <a:pPr lvl="1"/>
            <a:r>
              <a:rPr lang="en-US" dirty="0"/>
              <a:t>H: Website design</a:t>
            </a:r>
          </a:p>
          <a:p>
            <a:pPr lvl="1"/>
            <a:r>
              <a:rPr lang="en-US" dirty="0"/>
              <a:t>I: YouTube “unboxing” video creator </a:t>
            </a:r>
          </a:p>
          <a:p>
            <a:pPr lvl="1"/>
            <a:r>
              <a:rPr lang="en-US" dirty="0"/>
              <a:t>J: CPA firm specializing in tax</a:t>
            </a:r>
          </a:p>
          <a:p>
            <a:pPr lvl="1"/>
            <a:r>
              <a:rPr lang="en-US" dirty="0"/>
              <a:t>K: Consulting company</a:t>
            </a:r>
          </a:p>
        </p:txBody>
      </p:sp>
    </p:spTree>
    <p:extLst>
      <p:ext uri="{BB962C8B-B14F-4D97-AF65-F5344CB8AC3E}">
        <p14:creationId xmlns:p14="http://schemas.microsoft.com/office/powerpoint/2010/main" val="23949539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57200" y="167390"/>
            <a:ext cx="8229600" cy="550652"/>
          </a:xfrm>
        </p:spPr>
        <p:txBody>
          <a:bodyPr>
            <a:noAutofit/>
          </a:bodyPr>
          <a:lstStyle/>
          <a:p>
            <a:r>
              <a:rPr lang="en-US" sz="3600" spc="-400" dirty="0"/>
              <a:t>A I </a:t>
            </a:r>
            <a:r>
              <a:rPr lang="en-US" sz="3600" dirty="0"/>
              <a:t>S in the Value Chain</a:t>
            </a:r>
            <a:endParaRPr lang="en-IN" sz="3600" spc="-400" dirty="0"/>
          </a:p>
        </p:txBody>
      </p:sp>
      <p:sp>
        <p:nvSpPr>
          <p:cNvPr id="3" name="Content Placeholder 2"/>
          <p:cNvSpPr>
            <a:spLocks noGrp="1"/>
          </p:cNvSpPr>
          <p:nvPr>
            <p:ph sz="quarter" idx="15"/>
          </p:nvPr>
        </p:nvSpPr>
        <p:spPr>
          <a:xfrm>
            <a:off x="457200" y="929390"/>
            <a:ext cx="8229600" cy="4557010"/>
          </a:xfrm>
        </p:spPr>
        <p:txBody>
          <a:bodyPr/>
          <a:lstStyle/>
          <a:p>
            <a:pPr>
              <a:spcBef>
                <a:spcPts val="600"/>
              </a:spcBef>
              <a:buSzPts val="2400"/>
            </a:pPr>
            <a:r>
              <a:rPr lang="en-IN" sz="2400" dirty="0"/>
              <a:t>The </a:t>
            </a:r>
            <a:r>
              <a:rPr lang="en-IN" sz="2400" b="1" dirty="0"/>
              <a:t>value chain </a:t>
            </a:r>
            <a:r>
              <a:rPr lang="en-IN" sz="2400" dirty="0"/>
              <a:t>links together the different activities within an organization that provide value to the customer.</a:t>
            </a:r>
          </a:p>
          <a:p>
            <a:pPr lvl="1">
              <a:buSzPts val="2000"/>
            </a:pPr>
            <a:r>
              <a:rPr lang="en-IN" sz="2400" dirty="0"/>
              <a:t>Value chain activities are primary and support activities. </a:t>
            </a:r>
          </a:p>
          <a:p>
            <a:pPr lvl="2">
              <a:buSzPts val="1600"/>
            </a:pPr>
            <a:r>
              <a:rPr lang="en-IN" sz="2400" b="1" dirty="0"/>
              <a:t>Primary activities </a:t>
            </a:r>
            <a:r>
              <a:rPr lang="en-IN" sz="2400" dirty="0"/>
              <a:t>provide direct value to the customer.</a:t>
            </a:r>
          </a:p>
          <a:p>
            <a:pPr lvl="2">
              <a:buSzPts val="1600"/>
            </a:pPr>
            <a:r>
              <a:rPr lang="en-IN" sz="2400" b="1" dirty="0"/>
              <a:t>Support activities </a:t>
            </a:r>
            <a:r>
              <a:rPr lang="en-IN" sz="2400" dirty="0"/>
              <a:t>enable primary activities to be efficient and effective. </a:t>
            </a:r>
          </a:p>
          <a:p>
            <a:pPr>
              <a:spcBef>
                <a:spcPts val="600"/>
              </a:spcBef>
              <a:buSzPts val="2400"/>
            </a:pPr>
            <a:r>
              <a:rPr lang="en-IN" sz="2400" dirty="0"/>
              <a:t>A </a:t>
            </a:r>
            <a:r>
              <a:rPr lang="en-IN" sz="2400" b="1" dirty="0"/>
              <a:t>supply chain </a:t>
            </a:r>
            <a:r>
              <a:rPr lang="en-IN" sz="2400" dirty="0"/>
              <a:t>is an extended system that includes the organization’s value chain as well as its suppliers, distributors, and customers.</a:t>
            </a:r>
          </a:p>
        </p:txBody>
      </p:sp>
    </p:spTree>
    <p:extLst>
      <p:ext uri="{BB962C8B-B14F-4D97-AF65-F5344CB8AC3E}">
        <p14:creationId xmlns:p14="http://schemas.microsoft.com/office/powerpoint/2010/main" val="40176669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20CCC-2D68-7874-C228-55E91FC2AD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6DF653-D920-7BE6-2CD0-2E0662BB201B}"/>
              </a:ext>
            </a:extLst>
          </p:cNvPr>
          <p:cNvSpPr>
            <a:spLocks noGrp="1"/>
          </p:cNvSpPr>
          <p:nvPr>
            <p:ph type="title"/>
          </p:nvPr>
        </p:nvSpPr>
        <p:spPr>
          <a:xfrm>
            <a:off x="361056" y="104328"/>
            <a:ext cx="8272252" cy="590349"/>
          </a:xfrm>
        </p:spPr>
        <p:txBody>
          <a:bodyPr wrap="square" lIns="0" tIns="18000" rIns="0" bIns="18000" anchor="ctr" anchorCtr="0">
            <a:spAutoFit/>
          </a:bodyPr>
          <a:lstStyle/>
          <a:p>
            <a:r>
              <a:rPr lang="en-US" noProof="0" dirty="0"/>
              <a:t>Basic Business Processes</a:t>
            </a:r>
            <a:endParaRPr lang="en-US" b="0" noProof="0" dirty="0"/>
          </a:p>
        </p:txBody>
      </p:sp>
      <p:sp>
        <p:nvSpPr>
          <p:cNvPr id="3" name="Content Placeholder 2">
            <a:extLst>
              <a:ext uri="{FF2B5EF4-FFF2-40B4-BE49-F238E27FC236}">
                <a16:creationId xmlns:a16="http://schemas.microsoft.com/office/drawing/2014/main" id="{C0DE370B-F689-B3F3-E463-CFAC08159AD7}"/>
              </a:ext>
            </a:extLst>
          </p:cNvPr>
          <p:cNvSpPr>
            <a:spLocks noGrp="1"/>
          </p:cNvSpPr>
          <p:nvPr>
            <p:ph sz="quarter" idx="14"/>
          </p:nvPr>
        </p:nvSpPr>
        <p:spPr>
          <a:xfrm>
            <a:off x="369488" y="859079"/>
            <a:ext cx="8281670" cy="3745059"/>
          </a:xfrm>
        </p:spPr>
        <p:txBody>
          <a:bodyPr wrap="square" lIns="0" tIns="18000" rIns="0" bIns="18000" anchor="ctr" anchorCtr="0">
            <a:spAutoFit/>
          </a:bodyPr>
          <a:lstStyle/>
          <a:p>
            <a:pPr marL="342900" indent="-342900">
              <a:spcBef>
                <a:spcPts val="600"/>
              </a:spcBef>
            </a:pPr>
            <a:r>
              <a:rPr lang="en-US" sz="2400" noProof="0" dirty="0">
                <a:solidFill>
                  <a:schemeClr val="tx1"/>
                </a:solidFill>
                <a:latin typeface="Arial" panose="020B0604020202020204" pitchFamily="34" charset="0"/>
                <a:cs typeface="Arial" panose="020B0604020202020204" pitchFamily="34" charset="0"/>
              </a:rPr>
              <a:t>Transactions between the business organization and external parties fundamentally involve a “give–get” exchange. These basic business processes are:</a:t>
            </a:r>
          </a:p>
          <a:p>
            <a:pPr marL="829818" lvl="1" indent="-342900"/>
            <a:r>
              <a:rPr lang="en-US" sz="2400" b="1" u="sng" noProof="0" dirty="0">
                <a:solidFill>
                  <a:schemeClr val="tx1"/>
                </a:solidFill>
                <a:latin typeface="Arial" panose="020B0604020202020204" pitchFamily="34" charset="0"/>
                <a:cs typeface="Arial" panose="020B0604020202020204" pitchFamily="34" charset="0"/>
              </a:rPr>
              <a:t>Revenue cycle</a:t>
            </a:r>
            <a:r>
              <a:rPr lang="en-US" sz="2400" noProof="0" dirty="0">
                <a:solidFill>
                  <a:schemeClr val="tx1"/>
                </a:solidFill>
                <a:latin typeface="Arial" panose="020B0604020202020204" pitchFamily="34" charset="0"/>
                <a:cs typeface="Arial" panose="020B0604020202020204" pitchFamily="34" charset="0"/>
              </a:rPr>
              <a:t>: give goods / give service—get cash</a:t>
            </a:r>
          </a:p>
          <a:p>
            <a:pPr marL="829818" lvl="1" indent="-342900"/>
            <a:r>
              <a:rPr lang="en-US" sz="2400" b="1" u="sng" noProof="0" dirty="0">
                <a:solidFill>
                  <a:schemeClr val="tx1"/>
                </a:solidFill>
                <a:latin typeface="Arial" panose="020B0604020202020204" pitchFamily="34" charset="0"/>
                <a:cs typeface="Arial" panose="020B0604020202020204" pitchFamily="34" charset="0"/>
              </a:rPr>
              <a:t>Expenditure cycle</a:t>
            </a:r>
            <a:r>
              <a:rPr lang="en-US" sz="2400" noProof="0" dirty="0">
                <a:solidFill>
                  <a:schemeClr val="tx1"/>
                </a:solidFill>
                <a:latin typeface="Arial" panose="020B0604020202020204" pitchFamily="34" charset="0"/>
                <a:cs typeface="Arial" panose="020B0604020202020204" pitchFamily="34" charset="0"/>
              </a:rPr>
              <a:t>: get goods / get service—give cash</a:t>
            </a:r>
          </a:p>
          <a:p>
            <a:pPr marL="829818" lvl="1" indent="-342900"/>
            <a:r>
              <a:rPr lang="en-US" sz="2400" b="1" u="sng" noProof="0" dirty="0">
                <a:solidFill>
                  <a:schemeClr val="tx1"/>
                </a:solidFill>
                <a:latin typeface="Arial" panose="020B0604020202020204" pitchFamily="34" charset="0"/>
                <a:cs typeface="Arial" panose="020B0604020202020204" pitchFamily="34" charset="0"/>
              </a:rPr>
              <a:t>Production cycle</a:t>
            </a:r>
            <a:r>
              <a:rPr lang="en-US" sz="2400" noProof="0" dirty="0">
                <a:solidFill>
                  <a:schemeClr val="tx1"/>
                </a:solidFill>
                <a:latin typeface="Arial" panose="020B0604020202020204" pitchFamily="34" charset="0"/>
                <a:cs typeface="Arial" panose="020B0604020202020204" pitchFamily="34" charset="0"/>
              </a:rPr>
              <a:t>: give labor and give raw materials—get finished goods</a:t>
            </a:r>
          </a:p>
          <a:p>
            <a:pPr marL="829818" lvl="1" indent="-342900"/>
            <a:r>
              <a:rPr lang="en-US" sz="2400" b="1" u="sng" spc="-300" noProof="0" dirty="0">
                <a:solidFill>
                  <a:schemeClr val="tx1"/>
                </a:solidFill>
                <a:latin typeface="Arial" panose="020B0604020202020204" pitchFamily="34" charset="0"/>
                <a:cs typeface="Arial" panose="020B0604020202020204" pitchFamily="34" charset="0"/>
              </a:rPr>
              <a:t>H </a:t>
            </a:r>
            <a:r>
              <a:rPr lang="en-US" sz="2400" b="1" u="sng" noProof="0" dirty="0">
                <a:solidFill>
                  <a:schemeClr val="tx1"/>
                </a:solidFill>
                <a:latin typeface="Arial" panose="020B0604020202020204" pitchFamily="34" charset="0"/>
                <a:cs typeface="Arial" panose="020B0604020202020204" pitchFamily="34" charset="0"/>
              </a:rPr>
              <a:t>R / Payroll cycle</a:t>
            </a:r>
            <a:r>
              <a:rPr lang="en-US" sz="2400" noProof="0" dirty="0">
                <a:solidFill>
                  <a:schemeClr val="tx1"/>
                </a:solidFill>
                <a:latin typeface="Arial" panose="020B0604020202020204" pitchFamily="34" charset="0"/>
                <a:cs typeface="Arial" panose="020B0604020202020204" pitchFamily="34" charset="0"/>
              </a:rPr>
              <a:t>: give cash—get labor</a:t>
            </a:r>
          </a:p>
          <a:p>
            <a:pPr marL="829818" lvl="1" indent="-342900"/>
            <a:r>
              <a:rPr lang="en-US" sz="2400" b="1" u="sng" noProof="0" dirty="0">
                <a:solidFill>
                  <a:schemeClr val="tx1"/>
                </a:solidFill>
                <a:latin typeface="Arial" panose="020B0604020202020204" pitchFamily="34" charset="0"/>
                <a:cs typeface="Arial" panose="020B0604020202020204" pitchFamily="34" charset="0"/>
              </a:rPr>
              <a:t>Financing cycle</a:t>
            </a:r>
            <a:r>
              <a:rPr lang="en-US" sz="2400" noProof="0" dirty="0">
                <a:solidFill>
                  <a:schemeClr val="tx1"/>
                </a:solidFill>
                <a:latin typeface="Arial" panose="020B0604020202020204" pitchFamily="34" charset="0"/>
                <a:cs typeface="Arial" panose="020B0604020202020204" pitchFamily="34" charset="0"/>
              </a:rPr>
              <a:t>: give cash—get cash</a:t>
            </a:r>
          </a:p>
        </p:txBody>
      </p:sp>
    </p:spTree>
    <p:extLst>
      <p:ext uri="{BB962C8B-B14F-4D97-AF65-F5344CB8AC3E}">
        <p14:creationId xmlns:p14="http://schemas.microsoft.com/office/powerpoint/2010/main" val="11422621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26018-ACBD-F7F6-A28D-4DBD850FC747}"/>
              </a:ext>
            </a:extLst>
          </p:cNvPr>
          <p:cNvSpPr>
            <a:spLocks noGrp="1"/>
          </p:cNvSpPr>
          <p:nvPr>
            <p:ph type="title"/>
          </p:nvPr>
        </p:nvSpPr>
        <p:spPr/>
        <p:txBody>
          <a:bodyPr/>
          <a:lstStyle/>
          <a:p>
            <a:r>
              <a:rPr lang="en-US" dirty="0"/>
              <a:t>Stopped 9/25</a:t>
            </a:r>
          </a:p>
        </p:txBody>
      </p:sp>
      <p:sp>
        <p:nvSpPr>
          <p:cNvPr id="3" name="Content Placeholder 2">
            <a:extLst>
              <a:ext uri="{FF2B5EF4-FFF2-40B4-BE49-F238E27FC236}">
                <a16:creationId xmlns:a16="http://schemas.microsoft.com/office/drawing/2014/main" id="{A8264ADA-227C-E793-8282-23A83582F932}"/>
              </a:ext>
            </a:extLst>
          </p:cNvPr>
          <p:cNvSpPr>
            <a:spLocks noGrp="1"/>
          </p:cNvSpPr>
          <p:nvPr>
            <p:ph sz="quarter" idx="13"/>
          </p:nvPr>
        </p:nvSpPr>
        <p:spPr/>
        <p:txBody>
          <a:bodyPr/>
          <a:lstStyle/>
          <a:p>
            <a:endParaRPr lang="en-US"/>
          </a:p>
        </p:txBody>
      </p:sp>
      <p:sp>
        <p:nvSpPr>
          <p:cNvPr id="4" name="Content Placeholder 3">
            <a:extLst>
              <a:ext uri="{FF2B5EF4-FFF2-40B4-BE49-F238E27FC236}">
                <a16:creationId xmlns:a16="http://schemas.microsoft.com/office/drawing/2014/main" id="{478F92F4-6F5D-A5F8-3BBC-4EBDE0E35BBA}"/>
              </a:ext>
            </a:extLst>
          </p:cNvPr>
          <p:cNvSpPr>
            <a:spLocks noGrp="1"/>
          </p:cNvSpPr>
          <p:nvPr>
            <p:ph sz="quarter" idx="14"/>
          </p:nvPr>
        </p:nvSpPr>
        <p:spPr/>
        <p:txBody>
          <a:bodyPr/>
          <a:lstStyle/>
          <a:p>
            <a:endParaRPr lang="en-US"/>
          </a:p>
        </p:txBody>
      </p:sp>
      <p:sp>
        <p:nvSpPr>
          <p:cNvPr id="5" name="Content Placeholder 4">
            <a:extLst>
              <a:ext uri="{FF2B5EF4-FFF2-40B4-BE49-F238E27FC236}">
                <a16:creationId xmlns:a16="http://schemas.microsoft.com/office/drawing/2014/main" id="{2B5ED969-A211-7F3D-B2A1-17F78169B2C8}"/>
              </a:ext>
            </a:extLst>
          </p:cNvPr>
          <p:cNvSpPr>
            <a:spLocks noGrp="1"/>
          </p:cNvSpPr>
          <p:nvPr>
            <p:ph sz="quarter" idx="15"/>
          </p:nvPr>
        </p:nvSpPr>
        <p:spPr/>
        <p:txBody>
          <a:bodyPr/>
          <a:lstStyle/>
          <a:p>
            <a:endParaRPr lang="en-US"/>
          </a:p>
        </p:txBody>
      </p:sp>
      <p:sp>
        <p:nvSpPr>
          <p:cNvPr id="6" name="Content Placeholder 5">
            <a:extLst>
              <a:ext uri="{FF2B5EF4-FFF2-40B4-BE49-F238E27FC236}">
                <a16:creationId xmlns:a16="http://schemas.microsoft.com/office/drawing/2014/main" id="{B1AB7543-D1A7-875D-94C1-71CBF84C5041}"/>
              </a:ext>
            </a:extLst>
          </p:cNvPr>
          <p:cNvSpPr>
            <a:spLocks noGrp="1"/>
          </p:cNvSpPr>
          <p:nvPr>
            <p:ph sz="quarter" idx="16"/>
          </p:nvPr>
        </p:nvSpPr>
        <p:spPr/>
        <p:txBody>
          <a:bodyPr/>
          <a:lstStyle/>
          <a:p>
            <a:endParaRPr lang="en-US"/>
          </a:p>
        </p:txBody>
      </p:sp>
      <p:sp>
        <p:nvSpPr>
          <p:cNvPr id="7" name="Content Placeholder 6">
            <a:extLst>
              <a:ext uri="{FF2B5EF4-FFF2-40B4-BE49-F238E27FC236}">
                <a16:creationId xmlns:a16="http://schemas.microsoft.com/office/drawing/2014/main" id="{E0823152-3A82-4714-CFD3-857348669852}"/>
              </a:ext>
            </a:extLst>
          </p:cNvPr>
          <p:cNvSpPr>
            <a:spLocks noGrp="1"/>
          </p:cNvSpPr>
          <p:nvPr>
            <p:ph sz="quarter" idx="17"/>
          </p:nvPr>
        </p:nvSpPr>
        <p:spPr/>
        <p:txBody>
          <a:bodyPr/>
          <a:lstStyle/>
          <a:p>
            <a:endParaRPr lang="en-US"/>
          </a:p>
        </p:txBody>
      </p:sp>
      <p:sp>
        <p:nvSpPr>
          <p:cNvPr id="8" name="Content Placeholder 7">
            <a:extLst>
              <a:ext uri="{FF2B5EF4-FFF2-40B4-BE49-F238E27FC236}">
                <a16:creationId xmlns:a16="http://schemas.microsoft.com/office/drawing/2014/main" id="{458246EB-D151-DF56-7D95-A454B8CF8033}"/>
              </a:ext>
            </a:extLst>
          </p:cNvPr>
          <p:cNvSpPr>
            <a:spLocks noGrp="1"/>
          </p:cNvSpPr>
          <p:nvPr>
            <p:ph sz="quarter" idx="18"/>
          </p:nvPr>
        </p:nvSpPr>
        <p:spPr/>
        <p:txBody>
          <a:bodyPr/>
          <a:lstStyle/>
          <a:p>
            <a:endParaRPr lang="en-US"/>
          </a:p>
        </p:txBody>
      </p:sp>
      <p:sp>
        <p:nvSpPr>
          <p:cNvPr id="9" name="Content Placeholder 8">
            <a:extLst>
              <a:ext uri="{FF2B5EF4-FFF2-40B4-BE49-F238E27FC236}">
                <a16:creationId xmlns:a16="http://schemas.microsoft.com/office/drawing/2014/main" id="{A46ADA14-1050-7E5E-681B-A7609A2BCD83}"/>
              </a:ext>
            </a:extLst>
          </p:cNvPr>
          <p:cNvSpPr>
            <a:spLocks noGrp="1"/>
          </p:cNvSpPr>
          <p:nvPr>
            <p:ph sz="quarter" idx="19"/>
          </p:nvPr>
        </p:nvSpPr>
        <p:spPr/>
        <p:txBody>
          <a:bodyPr/>
          <a:lstStyle/>
          <a:p>
            <a:endParaRPr lang="en-US"/>
          </a:p>
        </p:txBody>
      </p:sp>
      <p:sp>
        <p:nvSpPr>
          <p:cNvPr id="10" name="Content Placeholder 9">
            <a:extLst>
              <a:ext uri="{FF2B5EF4-FFF2-40B4-BE49-F238E27FC236}">
                <a16:creationId xmlns:a16="http://schemas.microsoft.com/office/drawing/2014/main" id="{1A29E58F-72AB-E0F8-AD90-0E7088867DF8}"/>
              </a:ext>
            </a:extLst>
          </p:cNvPr>
          <p:cNvSpPr>
            <a:spLocks noGrp="1"/>
          </p:cNvSpPr>
          <p:nvPr>
            <p:ph sz="quarter" idx="20"/>
          </p:nvPr>
        </p:nvSpPr>
        <p:spPr/>
        <p:txBody>
          <a:bodyPr/>
          <a:lstStyle/>
          <a:p>
            <a:endParaRPr lang="en-US"/>
          </a:p>
        </p:txBody>
      </p:sp>
      <p:sp>
        <p:nvSpPr>
          <p:cNvPr id="11" name="Content Placeholder 10">
            <a:extLst>
              <a:ext uri="{FF2B5EF4-FFF2-40B4-BE49-F238E27FC236}">
                <a16:creationId xmlns:a16="http://schemas.microsoft.com/office/drawing/2014/main" id="{ED3C3814-FC5A-FDC1-9E16-9D7210B10EA2}"/>
              </a:ext>
            </a:extLst>
          </p:cNvPr>
          <p:cNvSpPr>
            <a:spLocks noGrp="1"/>
          </p:cNvSpPr>
          <p:nvPr>
            <p:ph sz="quarter" idx="21"/>
          </p:nvPr>
        </p:nvSpPr>
        <p:spPr/>
        <p:txBody>
          <a:bodyPr/>
          <a:lstStyle/>
          <a:p>
            <a:endParaRPr lang="en-US"/>
          </a:p>
        </p:txBody>
      </p:sp>
      <p:sp>
        <p:nvSpPr>
          <p:cNvPr id="12" name="Content Placeholder 11">
            <a:extLst>
              <a:ext uri="{FF2B5EF4-FFF2-40B4-BE49-F238E27FC236}">
                <a16:creationId xmlns:a16="http://schemas.microsoft.com/office/drawing/2014/main" id="{4079DE96-5EAC-A78A-3E2E-94DC2FDF261D}"/>
              </a:ext>
            </a:extLst>
          </p:cNvPr>
          <p:cNvSpPr>
            <a:spLocks noGrp="1"/>
          </p:cNvSpPr>
          <p:nvPr>
            <p:ph sz="quarter" idx="22"/>
          </p:nvPr>
        </p:nvSpPr>
        <p:spPr/>
        <p:txBody>
          <a:bodyPr/>
          <a:lstStyle/>
          <a:p>
            <a:endParaRPr lang="en-US"/>
          </a:p>
        </p:txBody>
      </p:sp>
      <p:sp>
        <p:nvSpPr>
          <p:cNvPr id="13" name="Content Placeholder 12">
            <a:extLst>
              <a:ext uri="{FF2B5EF4-FFF2-40B4-BE49-F238E27FC236}">
                <a16:creationId xmlns:a16="http://schemas.microsoft.com/office/drawing/2014/main" id="{F29698CD-751B-461E-CC58-CD5F8841229A}"/>
              </a:ext>
            </a:extLst>
          </p:cNvPr>
          <p:cNvSpPr>
            <a:spLocks noGrp="1"/>
          </p:cNvSpPr>
          <p:nvPr>
            <p:ph sz="quarter" idx="23"/>
          </p:nvPr>
        </p:nvSpPr>
        <p:spPr/>
        <p:txBody>
          <a:bodyPr/>
          <a:lstStyle/>
          <a:p>
            <a:endParaRPr lang="en-US"/>
          </a:p>
        </p:txBody>
      </p:sp>
      <p:sp>
        <p:nvSpPr>
          <p:cNvPr id="14" name="Content Placeholder 13">
            <a:extLst>
              <a:ext uri="{FF2B5EF4-FFF2-40B4-BE49-F238E27FC236}">
                <a16:creationId xmlns:a16="http://schemas.microsoft.com/office/drawing/2014/main" id="{B70F5DB4-EE1B-31E5-8B4D-3059E6BF2E6B}"/>
              </a:ext>
            </a:extLst>
          </p:cNvPr>
          <p:cNvSpPr>
            <a:spLocks noGrp="1"/>
          </p:cNvSpPr>
          <p:nvPr>
            <p:ph sz="quarter" idx="24"/>
          </p:nvPr>
        </p:nvSpPr>
        <p:spPr/>
        <p:txBody>
          <a:bodyPr/>
          <a:lstStyle/>
          <a:p>
            <a:endParaRPr lang="en-US"/>
          </a:p>
        </p:txBody>
      </p:sp>
      <p:sp>
        <p:nvSpPr>
          <p:cNvPr id="15" name="Content Placeholder 14">
            <a:extLst>
              <a:ext uri="{FF2B5EF4-FFF2-40B4-BE49-F238E27FC236}">
                <a16:creationId xmlns:a16="http://schemas.microsoft.com/office/drawing/2014/main" id="{DD1B53F8-8F81-3459-16B4-EAE1396999C8}"/>
              </a:ext>
            </a:extLst>
          </p:cNvPr>
          <p:cNvSpPr>
            <a:spLocks noGrp="1"/>
          </p:cNvSpPr>
          <p:nvPr>
            <p:ph sz="quarter" idx="25"/>
          </p:nvPr>
        </p:nvSpPr>
        <p:spPr/>
        <p:txBody>
          <a:bodyPr/>
          <a:lstStyle/>
          <a:p>
            <a:endParaRPr lang="en-US"/>
          </a:p>
        </p:txBody>
      </p:sp>
      <p:sp>
        <p:nvSpPr>
          <p:cNvPr id="16" name="Content Placeholder 15">
            <a:extLst>
              <a:ext uri="{FF2B5EF4-FFF2-40B4-BE49-F238E27FC236}">
                <a16:creationId xmlns:a16="http://schemas.microsoft.com/office/drawing/2014/main" id="{216CB07E-4BDD-DAA5-E4BB-9E9FC7388AFE}"/>
              </a:ext>
            </a:extLst>
          </p:cNvPr>
          <p:cNvSpPr>
            <a:spLocks noGrp="1"/>
          </p:cNvSpPr>
          <p:nvPr>
            <p:ph sz="quarter" idx="26"/>
          </p:nvPr>
        </p:nvSpPr>
        <p:spPr/>
        <p:txBody>
          <a:bodyPr/>
          <a:lstStyle/>
          <a:p>
            <a:endParaRPr lang="en-US"/>
          </a:p>
        </p:txBody>
      </p:sp>
      <p:sp>
        <p:nvSpPr>
          <p:cNvPr id="17" name="Content Placeholder 16">
            <a:extLst>
              <a:ext uri="{FF2B5EF4-FFF2-40B4-BE49-F238E27FC236}">
                <a16:creationId xmlns:a16="http://schemas.microsoft.com/office/drawing/2014/main" id="{44B66EDA-D9E6-D150-188D-2FD7C455EEA1}"/>
              </a:ext>
            </a:extLst>
          </p:cNvPr>
          <p:cNvSpPr>
            <a:spLocks noGrp="1"/>
          </p:cNvSpPr>
          <p:nvPr>
            <p:ph sz="quarter" idx="27"/>
          </p:nvPr>
        </p:nvSpPr>
        <p:spPr/>
        <p:txBody>
          <a:bodyPr/>
          <a:lstStyle/>
          <a:p>
            <a:endParaRPr lang="en-US"/>
          </a:p>
        </p:txBody>
      </p:sp>
      <p:sp>
        <p:nvSpPr>
          <p:cNvPr id="18" name="Text Placeholder 17">
            <a:extLst>
              <a:ext uri="{FF2B5EF4-FFF2-40B4-BE49-F238E27FC236}">
                <a16:creationId xmlns:a16="http://schemas.microsoft.com/office/drawing/2014/main" id="{9B2A8441-9FB2-82DE-EEA9-87B46FD5AEC8}"/>
              </a:ext>
            </a:extLst>
          </p:cNvPr>
          <p:cNvSpPr>
            <a:spLocks noGrp="1"/>
          </p:cNvSpPr>
          <p:nvPr>
            <p:ph type="body" sz="quarter" idx="28"/>
          </p:nvPr>
        </p:nvSpPr>
        <p:spPr/>
        <p:txBody>
          <a:bodyPr/>
          <a:lstStyle/>
          <a:p>
            <a:endParaRPr lang="en-US"/>
          </a:p>
        </p:txBody>
      </p:sp>
    </p:spTree>
    <p:extLst>
      <p:ext uri="{BB962C8B-B14F-4D97-AF65-F5344CB8AC3E}">
        <p14:creationId xmlns:p14="http://schemas.microsoft.com/office/powerpoint/2010/main" val="34513725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9075" y="162495"/>
            <a:ext cx="8229600" cy="1097280"/>
          </a:xfrm>
        </p:spPr>
        <p:txBody>
          <a:bodyPr>
            <a:spAutoFit/>
          </a:bodyPr>
          <a:lstStyle/>
          <a:p>
            <a:r>
              <a:rPr lang="en-IN" dirty="0"/>
              <a:t>Figure 1.2 </a:t>
            </a:r>
            <a:r>
              <a:rPr lang="en-US" dirty="0"/>
              <a:t>Interactions Between S&amp;S and External and Internal Parties</a:t>
            </a:r>
            <a:endParaRPr lang="en-IN" dirty="0">
              <a:latin typeface="+mj-lt"/>
            </a:endParaRPr>
          </a:p>
        </p:txBody>
      </p:sp>
      <p:pic>
        <p:nvPicPr>
          <p:cNvPr id="3" name="Picture Placeholder 2" descr="A diagram shows interactions between accounting information system at S and S and external and internal parties.&#10;Long description is available in notes, press F6"/>
          <p:cNvPicPr>
            <a:picLocks noGrp="1" noChangeAspect="1"/>
          </p:cNvPicPr>
          <p:nvPr>
            <p:ph type="pic" sz="quarter" idx="13"/>
          </p:nvPr>
        </p:nvPicPr>
        <p:blipFill>
          <a:blip r:embed="rId3">
            <a:extLst>
              <a:ext uri="{28A0092B-C50C-407E-A947-70E740481C1C}">
                <a14:useLocalDpi xmlns:a14="http://schemas.microsoft.com/office/drawing/2010/main" val="0"/>
              </a:ext>
            </a:extLst>
          </a:blip>
          <a:stretch>
            <a:fillRect/>
          </a:stretch>
        </p:blipFill>
        <p:spPr>
          <a:xfrm>
            <a:off x="1517515" y="1552880"/>
            <a:ext cx="6115185" cy="4495952"/>
          </a:xfrm>
          <a:prstGeom prst="rect">
            <a:avLst/>
          </a:prstGeom>
        </p:spPr>
      </p:pic>
    </p:spTree>
    <p:extLst>
      <p:ext uri="{BB962C8B-B14F-4D97-AF65-F5344CB8AC3E}">
        <p14:creationId xmlns:p14="http://schemas.microsoft.com/office/powerpoint/2010/main" val="4876860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086" y="163288"/>
            <a:ext cx="8229600" cy="1046440"/>
          </a:xfrm>
        </p:spPr>
        <p:txBody>
          <a:bodyPr>
            <a:spAutoFit/>
          </a:bodyPr>
          <a:lstStyle/>
          <a:p>
            <a:r>
              <a:rPr lang="en-US" dirty="0">
                <a:latin typeface="+mj-lt"/>
              </a:rPr>
              <a:t>How Does an </a:t>
            </a:r>
            <a:r>
              <a:rPr lang="en-US" spc="-400" dirty="0">
                <a:latin typeface="+mj-lt"/>
              </a:rPr>
              <a:t>A I </a:t>
            </a:r>
            <a:r>
              <a:rPr lang="en-US" dirty="0">
                <a:latin typeface="+mj-lt"/>
              </a:rPr>
              <a:t>S Add Value to an Organization?</a:t>
            </a:r>
            <a:endParaRPr lang="en-IN" spc="-400" dirty="0">
              <a:latin typeface="+mj-lt"/>
            </a:endParaRPr>
          </a:p>
        </p:txBody>
      </p:sp>
      <p:sp>
        <p:nvSpPr>
          <p:cNvPr id="2" name="Content Placeholder 1"/>
          <p:cNvSpPr>
            <a:spLocks noGrp="1"/>
          </p:cNvSpPr>
          <p:nvPr>
            <p:ph idx="13"/>
          </p:nvPr>
        </p:nvSpPr>
        <p:spPr>
          <a:xfrm>
            <a:off x="468086" y="1524000"/>
            <a:ext cx="8229600" cy="3886200"/>
          </a:xfrm>
        </p:spPr>
        <p:txBody>
          <a:bodyPr/>
          <a:lstStyle/>
          <a:p>
            <a:pPr lvl="0">
              <a:spcBef>
                <a:spcPts val="600"/>
              </a:spcBef>
              <a:buSzPts val="2400"/>
            </a:pPr>
            <a:r>
              <a:rPr lang="en-IN" sz="2400" dirty="0"/>
              <a:t>A well thought out </a:t>
            </a:r>
            <a:r>
              <a:rPr lang="en-IN" sz="2400" spc="-300" dirty="0"/>
              <a:t>A I </a:t>
            </a:r>
            <a:r>
              <a:rPr lang="en-IN" sz="2400" dirty="0"/>
              <a:t>S can add value by:</a:t>
            </a:r>
          </a:p>
          <a:p>
            <a:pPr lvl="1">
              <a:buSzPts val="2000"/>
            </a:pPr>
            <a:r>
              <a:rPr lang="en-IN" sz="2400" dirty="0"/>
              <a:t>Improving the quality and reducing the costs of products or services</a:t>
            </a:r>
          </a:p>
          <a:p>
            <a:pPr lvl="1">
              <a:buSzPts val="2000"/>
            </a:pPr>
            <a:r>
              <a:rPr lang="en-IN" sz="2400" dirty="0"/>
              <a:t>Improving efficiency</a:t>
            </a:r>
          </a:p>
          <a:p>
            <a:pPr lvl="1">
              <a:buSzPts val="2000"/>
            </a:pPr>
            <a:r>
              <a:rPr lang="en-IN" sz="2400" dirty="0"/>
              <a:t>Sharing knowledge</a:t>
            </a:r>
          </a:p>
          <a:p>
            <a:pPr lvl="1">
              <a:buSzPts val="2000"/>
            </a:pPr>
            <a:r>
              <a:rPr lang="en-IN" sz="2400" dirty="0"/>
              <a:t>Improving efficiency and effectiveness of its supply chain</a:t>
            </a:r>
          </a:p>
          <a:p>
            <a:pPr lvl="1">
              <a:buSzPts val="2000"/>
            </a:pPr>
            <a:r>
              <a:rPr lang="en-IN" sz="2400" dirty="0"/>
              <a:t>Improving the internal control structure</a:t>
            </a:r>
          </a:p>
          <a:p>
            <a:pPr lvl="1">
              <a:buSzPts val="2000"/>
            </a:pPr>
            <a:r>
              <a:rPr lang="en-IN" sz="2400" dirty="0"/>
              <a:t>Improving decision making</a:t>
            </a:r>
          </a:p>
        </p:txBody>
      </p:sp>
    </p:spTree>
    <p:extLst>
      <p:ext uri="{BB962C8B-B14F-4D97-AF65-F5344CB8AC3E}">
        <p14:creationId xmlns:p14="http://schemas.microsoft.com/office/powerpoint/2010/main" val="32947671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57200" y="167390"/>
            <a:ext cx="8229600" cy="523220"/>
          </a:xfrm>
        </p:spPr>
        <p:txBody>
          <a:bodyPr>
            <a:spAutoFit/>
          </a:bodyPr>
          <a:lstStyle/>
          <a:p>
            <a:r>
              <a:rPr lang="en-US" dirty="0"/>
              <a:t>Artificial Intelligence</a:t>
            </a:r>
            <a:endParaRPr lang="en-IN" spc="-400" dirty="0"/>
          </a:p>
        </p:txBody>
      </p:sp>
      <p:sp>
        <p:nvSpPr>
          <p:cNvPr id="3" name="Content Placeholder 2"/>
          <p:cNvSpPr>
            <a:spLocks noGrp="1"/>
          </p:cNvSpPr>
          <p:nvPr>
            <p:ph sz="quarter" idx="15"/>
          </p:nvPr>
        </p:nvSpPr>
        <p:spPr>
          <a:xfrm>
            <a:off x="472190" y="929390"/>
            <a:ext cx="8229600" cy="3429000"/>
          </a:xfrm>
        </p:spPr>
        <p:txBody>
          <a:bodyPr/>
          <a:lstStyle/>
          <a:p>
            <a:pPr lvl="0">
              <a:spcBef>
                <a:spcPts val="600"/>
              </a:spcBef>
            </a:pPr>
            <a:r>
              <a:rPr lang="en-US" sz="2400" b="1" dirty="0"/>
              <a:t>Artificial intelligence </a:t>
            </a:r>
            <a:r>
              <a:rPr lang="en-US" sz="2400" dirty="0"/>
              <a:t>(</a:t>
            </a:r>
            <a:r>
              <a:rPr lang="en-US" sz="2400" spc="-300" dirty="0"/>
              <a:t>A </a:t>
            </a:r>
            <a:r>
              <a:rPr lang="en-US" sz="2400" dirty="0"/>
              <a:t>I) is the use of computer systems to simulate human intelligence processes such as learning, reasoning, and self-improvement.</a:t>
            </a:r>
          </a:p>
          <a:p>
            <a:pPr lvl="0">
              <a:spcBef>
                <a:spcPts val="600"/>
              </a:spcBef>
            </a:pPr>
            <a:r>
              <a:rPr lang="en-US" sz="2400" spc="-300" dirty="0"/>
              <a:t>A </a:t>
            </a:r>
            <a:r>
              <a:rPr lang="en-US" sz="2400" dirty="0"/>
              <a:t>I can be used in the following fields</a:t>
            </a:r>
          </a:p>
          <a:p>
            <a:pPr marL="713232" lvl="1" indent="-256032"/>
            <a:r>
              <a:rPr lang="en-US" sz="2400" dirty="0"/>
              <a:t>Business</a:t>
            </a:r>
          </a:p>
          <a:p>
            <a:pPr marL="713232" lvl="1" indent="-256032"/>
            <a:r>
              <a:rPr lang="en-US" sz="2400" dirty="0"/>
              <a:t>Education</a:t>
            </a:r>
          </a:p>
          <a:p>
            <a:pPr marL="713232" lvl="1" indent="-256032"/>
            <a:r>
              <a:rPr lang="en-US" sz="2400" dirty="0"/>
              <a:t>Finance</a:t>
            </a:r>
          </a:p>
          <a:p>
            <a:pPr marL="713232" lvl="1" indent="-256032"/>
            <a:r>
              <a:rPr lang="en-US" sz="2400" dirty="0"/>
              <a:t>Healthcare</a:t>
            </a:r>
          </a:p>
        </p:txBody>
      </p:sp>
    </p:spTree>
    <p:extLst>
      <p:ext uri="{BB962C8B-B14F-4D97-AF65-F5344CB8AC3E}">
        <p14:creationId xmlns:p14="http://schemas.microsoft.com/office/powerpoint/2010/main" val="42471781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57200" y="182380"/>
            <a:ext cx="8229600" cy="523220"/>
          </a:xfrm>
        </p:spPr>
        <p:txBody>
          <a:bodyPr>
            <a:spAutoFit/>
          </a:bodyPr>
          <a:lstStyle/>
          <a:p>
            <a:r>
              <a:rPr lang="en-US" dirty="0"/>
              <a:t>Data Analytics</a:t>
            </a:r>
            <a:endParaRPr lang="en-IN" spc="-400" dirty="0"/>
          </a:p>
        </p:txBody>
      </p:sp>
      <p:sp>
        <p:nvSpPr>
          <p:cNvPr id="3" name="Content Placeholder 2"/>
          <p:cNvSpPr>
            <a:spLocks noGrp="1"/>
          </p:cNvSpPr>
          <p:nvPr>
            <p:ph sz="quarter" idx="15"/>
          </p:nvPr>
        </p:nvSpPr>
        <p:spPr>
          <a:xfrm>
            <a:off x="487180" y="1026826"/>
            <a:ext cx="8199620" cy="4078574"/>
          </a:xfrm>
        </p:spPr>
        <p:txBody>
          <a:bodyPr/>
          <a:lstStyle/>
          <a:p>
            <a:pPr lvl="0">
              <a:spcBef>
                <a:spcPts val="600"/>
              </a:spcBef>
            </a:pPr>
            <a:r>
              <a:rPr lang="en-US" sz="2400" b="1" dirty="0"/>
              <a:t>Data analytics </a:t>
            </a:r>
            <a:r>
              <a:rPr lang="en-US" sz="2400" dirty="0"/>
              <a:t>is the use of software and algorithms to find and solve problems and improve business performance.</a:t>
            </a:r>
          </a:p>
          <a:p>
            <a:pPr lvl="0">
              <a:spcBef>
                <a:spcPts val="600"/>
              </a:spcBef>
            </a:pPr>
            <a:r>
              <a:rPr lang="en-US" sz="2400" dirty="0"/>
              <a:t>Analytics can help improve decision making by</a:t>
            </a:r>
          </a:p>
          <a:p>
            <a:pPr marL="713232" lvl="1" indent="-256032"/>
            <a:r>
              <a:rPr lang="en-US" sz="2400" dirty="0"/>
              <a:t>Identifying a problem/issue for management to resolve.</a:t>
            </a:r>
          </a:p>
          <a:p>
            <a:pPr marL="713232" lvl="1" indent="-256032"/>
            <a:r>
              <a:rPr lang="en-US" sz="2400" dirty="0"/>
              <a:t>Collecting the data needed to solve the problem, analyze it, and make recommendations to management on how to resolve it. </a:t>
            </a:r>
          </a:p>
          <a:p>
            <a:pPr marL="713232" lvl="1" indent="-256032"/>
            <a:r>
              <a:rPr lang="en-US" sz="2400" dirty="0"/>
              <a:t>Integrating actionable insights into the systems used to make decisions.</a:t>
            </a:r>
          </a:p>
        </p:txBody>
      </p:sp>
    </p:spTree>
    <p:extLst>
      <p:ext uri="{BB962C8B-B14F-4D97-AF65-F5344CB8AC3E}">
        <p14:creationId xmlns:p14="http://schemas.microsoft.com/office/powerpoint/2010/main" val="23862163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57200" y="711422"/>
            <a:ext cx="8229600" cy="553998"/>
          </a:xfrm>
        </p:spPr>
        <p:txBody>
          <a:bodyPr>
            <a:spAutoFit/>
          </a:bodyPr>
          <a:lstStyle/>
          <a:p>
            <a:r>
              <a:rPr lang="en-US" sz="3600" dirty="0"/>
              <a:t>Cloud Computing</a:t>
            </a:r>
            <a:endParaRPr lang="en-IN" sz="3600" spc="-400" dirty="0"/>
          </a:p>
        </p:txBody>
      </p:sp>
      <p:sp>
        <p:nvSpPr>
          <p:cNvPr id="3" name="Content Placeholder 2"/>
          <p:cNvSpPr>
            <a:spLocks noGrp="1"/>
          </p:cNvSpPr>
          <p:nvPr>
            <p:ph sz="quarter" idx="15"/>
          </p:nvPr>
        </p:nvSpPr>
        <p:spPr>
          <a:xfrm>
            <a:off x="457200" y="1447800"/>
            <a:ext cx="8229600" cy="3276600"/>
          </a:xfrm>
        </p:spPr>
        <p:txBody>
          <a:bodyPr/>
          <a:lstStyle/>
          <a:p>
            <a:pPr lvl="0">
              <a:spcBef>
                <a:spcPts val="600"/>
              </a:spcBef>
            </a:pPr>
            <a:r>
              <a:rPr lang="en-US" sz="2400" b="1" dirty="0"/>
              <a:t>Cloud computing</a:t>
            </a:r>
            <a:r>
              <a:rPr lang="en-US" sz="2400" dirty="0"/>
              <a:t> is the use of a browser to remotely access software, data storage, hardware, and applications.</a:t>
            </a:r>
          </a:p>
        </p:txBody>
      </p:sp>
    </p:spTree>
    <p:extLst>
      <p:ext uri="{BB962C8B-B14F-4D97-AF65-F5344CB8AC3E}">
        <p14:creationId xmlns:p14="http://schemas.microsoft.com/office/powerpoint/2010/main" val="35373944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72190" y="182380"/>
            <a:ext cx="8229600" cy="523220"/>
          </a:xfrm>
        </p:spPr>
        <p:txBody>
          <a:bodyPr>
            <a:spAutoFit/>
          </a:bodyPr>
          <a:lstStyle/>
          <a:p>
            <a:pPr>
              <a:spcBef>
                <a:spcPts val="600"/>
              </a:spcBef>
            </a:pPr>
            <a:r>
              <a:rPr lang="en-IN" dirty="0"/>
              <a:t>Key Terms</a:t>
            </a:r>
            <a:endParaRPr lang="en-IN" sz="2800" dirty="0"/>
          </a:p>
        </p:txBody>
      </p:sp>
      <p:sp>
        <p:nvSpPr>
          <p:cNvPr id="3" name="Content Placeholder 2">
            <a:extLst>
              <a:ext uri="{FF2B5EF4-FFF2-40B4-BE49-F238E27FC236}">
                <a16:creationId xmlns:a16="http://schemas.microsoft.com/office/drawing/2014/main" id="{1E09BFED-2653-4D42-A255-07B74602A06C}"/>
              </a:ext>
            </a:extLst>
          </p:cNvPr>
          <p:cNvSpPr>
            <a:spLocks noGrp="1"/>
          </p:cNvSpPr>
          <p:nvPr>
            <p:ph sz="quarter" idx="15"/>
          </p:nvPr>
        </p:nvSpPr>
        <p:spPr/>
        <p:txBody>
          <a:bodyPr/>
          <a:lstStyle/>
          <a:p>
            <a:endParaRPr lang="en-US" dirty="0"/>
          </a:p>
        </p:txBody>
      </p:sp>
      <p:sp>
        <p:nvSpPr>
          <p:cNvPr id="7" name="Content Placeholder 6">
            <a:extLst>
              <a:ext uri="{FF2B5EF4-FFF2-40B4-BE49-F238E27FC236}">
                <a16:creationId xmlns:a16="http://schemas.microsoft.com/office/drawing/2014/main" id="{678B8CE8-4127-42D7-B947-155C4A4BD9C9}"/>
              </a:ext>
            </a:extLst>
          </p:cNvPr>
          <p:cNvSpPr>
            <a:spLocks noGrp="1"/>
          </p:cNvSpPr>
          <p:nvPr>
            <p:ph idx="13"/>
          </p:nvPr>
        </p:nvSpPr>
        <p:spPr/>
        <p:txBody>
          <a:bodyPr/>
          <a:lstStyle/>
          <a:p>
            <a:endParaRPr lang="en-US"/>
          </a:p>
        </p:txBody>
      </p:sp>
      <p:sp>
        <p:nvSpPr>
          <p:cNvPr id="10" name="TextBox 9">
            <a:extLst>
              <a:ext uri="{FF2B5EF4-FFF2-40B4-BE49-F238E27FC236}">
                <a16:creationId xmlns:a16="http://schemas.microsoft.com/office/drawing/2014/main" id="{52C512B5-21EC-43E2-BCF7-CE2D5CC0D4D4}"/>
              </a:ext>
            </a:extLst>
          </p:cNvPr>
          <p:cNvSpPr txBox="1"/>
          <p:nvPr/>
        </p:nvSpPr>
        <p:spPr>
          <a:xfrm>
            <a:off x="472190" y="3109709"/>
            <a:ext cx="8214610" cy="369332"/>
          </a:xfrm>
          <a:prstGeom prst="rect">
            <a:avLst/>
          </a:prstGeom>
          <a:noFill/>
        </p:spPr>
        <p:txBody>
          <a:bodyPr wrap="square">
            <a:spAutoFit/>
          </a:bodyPr>
          <a:lstStyle/>
          <a:p>
            <a:r>
              <a:rPr lang="en-US" dirty="0">
                <a:hlinkClick r:id="rId3"/>
              </a:rPr>
              <a:t>https://quizlet.com/653888163/ais-chapter-1-terms-flash-cards/</a:t>
            </a:r>
            <a:r>
              <a:rPr lang="en-US" dirty="0"/>
              <a:t> </a:t>
            </a:r>
          </a:p>
        </p:txBody>
      </p:sp>
    </p:spTree>
    <p:extLst>
      <p:ext uri="{BB962C8B-B14F-4D97-AF65-F5344CB8AC3E}">
        <p14:creationId xmlns:p14="http://schemas.microsoft.com/office/powerpoint/2010/main" val="15525988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9732"/>
            <a:ext cx="8229600" cy="553998"/>
          </a:xfrm>
        </p:spPr>
        <p:txBody>
          <a:bodyPr wrap="square">
            <a:spAutoFit/>
          </a:bodyPr>
          <a:lstStyle/>
          <a:p>
            <a:r>
              <a:rPr lang="en-US" sz="3600" dirty="0">
                <a:latin typeface="+mj-lt"/>
              </a:rPr>
              <a:t>Copyright</a:t>
            </a:r>
            <a:endParaRPr lang="en-US" sz="3600" b="0" dirty="0">
              <a:latin typeface="+mj-lt"/>
            </a:endParaRPr>
          </a:p>
        </p:txBody>
      </p:sp>
      <p:pic>
        <p:nvPicPr>
          <p:cNvPr id="10" name="Picture Placeholder 9" descr="Warning">
            <a:extLst>
              <a:ext uri="{FF2B5EF4-FFF2-40B4-BE49-F238E27FC236}">
                <a16:creationId xmlns:a16="http://schemas.microsoft.com/office/drawing/2014/main" id="{916ED080-4A7D-4795-B4C6-665358BE6EAE}"/>
              </a:ext>
            </a:extLst>
          </p:cNvPr>
          <p:cNvPicPr>
            <a:picLocks noGrp="1" noChangeAspect="1"/>
          </p:cNvPicPr>
          <p:nvPr>
            <p:ph type="pic" sz="quarter" idx="14"/>
          </p:nvPr>
        </p:nvPicPr>
        <p:blipFill>
          <a:blip>
            <a:extLst>
              <a:ext uri="{96DAC541-7B7A-43D3-8B79-37D633B846F1}">
                <asvg:svgBlip xmlns:asvg="http://schemas.microsoft.com/office/drawing/2016/SVG/main" r:embed="rId3"/>
              </a:ext>
            </a:extLst>
          </a:blip>
          <a:stretch>
            <a:fillRect/>
          </a:stretch>
        </p:blipFill>
        <p:spPr>
          <a:xfrm>
            <a:off x="557060" y="2286000"/>
            <a:ext cx="1347940" cy="1347940"/>
          </a:xfrm>
          <a:prstGeom prst="rect">
            <a:avLst/>
          </a:prstGeom>
        </p:spPr>
      </p:pic>
      <p:sp>
        <p:nvSpPr>
          <p:cNvPr id="3" name="Content Placeholder 2">
            <a:extLst>
              <a:ext uri="{FF2B5EF4-FFF2-40B4-BE49-F238E27FC236}">
                <a16:creationId xmlns:a16="http://schemas.microsoft.com/office/drawing/2014/main" id="{DF9C7A11-9888-4F7B-B711-91904077BD8C}"/>
              </a:ext>
            </a:extLst>
          </p:cNvPr>
          <p:cNvSpPr>
            <a:spLocks noGrp="1"/>
          </p:cNvSpPr>
          <p:nvPr>
            <p:ph idx="1"/>
          </p:nvPr>
        </p:nvSpPr>
        <p:spPr>
          <a:xfrm>
            <a:off x="2277035" y="1609165"/>
            <a:ext cx="6400800" cy="3262432"/>
          </a:xfrm>
          <a:ln w="28575">
            <a:solidFill>
              <a:schemeClr val="tx1"/>
            </a:solidFill>
          </a:ln>
        </p:spPr>
        <p:txBody>
          <a:bodyPr lIns="274320" tIns="274320" rIns="274320" bIns="274320"/>
          <a:lstStyle/>
          <a:p>
            <a:pPr marL="0" indent="0">
              <a:buNone/>
            </a:pPr>
            <a:r>
              <a:rPr lang="en-US" b="1" dirty="0"/>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3651771386"/>
      </p:ext>
    </p:extLst>
  </p:cSld>
  <p:clrMapOvr>
    <a:masterClrMapping/>
  </p:clrMapOvr>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1_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25313</TotalTime>
  <Words>2664</Words>
  <Application>Microsoft Macintosh PowerPoint</Application>
  <PresentationFormat>On-screen Show (4:3)</PresentationFormat>
  <Paragraphs>222</Paragraphs>
  <Slides>22</Slides>
  <Notes>18</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22</vt:i4>
      </vt:variant>
    </vt:vector>
  </HeadingPairs>
  <TitlesOfParts>
    <vt:vector size="32" baseType="lpstr">
      <vt:lpstr>Arial</vt:lpstr>
      <vt:lpstr>Arial(Body)</vt:lpstr>
      <vt:lpstr>Calibri</vt:lpstr>
      <vt:lpstr>Noto Sans Symbols</vt:lpstr>
      <vt:lpstr>Symbol</vt:lpstr>
      <vt:lpstr>Times New Roman</vt:lpstr>
      <vt:lpstr>Verdana</vt:lpstr>
      <vt:lpstr>Wingdings</vt:lpstr>
      <vt:lpstr>508 Lecture</vt:lpstr>
      <vt:lpstr>1_508 Lecture</vt:lpstr>
      <vt:lpstr>Accounting Information Systems</vt:lpstr>
      <vt:lpstr>Learning Objectives</vt:lpstr>
      <vt:lpstr>PowerPoint Presentation</vt:lpstr>
      <vt:lpstr>PowerPoint Presentation</vt:lpstr>
      <vt:lpstr>Defining an Information System</vt:lpstr>
      <vt:lpstr>What Is an Accounting Information System (A I S)?</vt:lpstr>
      <vt:lpstr>A I S and Corporate Strategy</vt:lpstr>
      <vt:lpstr>PowerPoint Presentation</vt:lpstr>
      <vt:lpstr>Figure 1.4</vt:lpstr>
      <vt:lpstr>Figure 1.3</vt:lpstr>
      <vt:lpstr>Figure 1.6 The Value Chain</vt:lpstr>
      <vt:lpstr>Breakout Task</vt:lpstr>
      <vt:lpstr>A I S in the Value Chain</vt:lpstr>
      <vt:lpstr>Basic Business Processes</vt:lpstr>
      <vt:lpstr>Stopped 9/25</vt:lpstr>
      <vt:lpstr>Figure 1.2 Interactions Between S&amp;S and External and Internal Parties</vt:lpstr>
      <vt:lpstr>How Does an A I S Add Value to an Organization?</vt:lpstr>
      <vt:lpstr>Artificial Intelligence</vt:lpstr>
      <vt:lpstr>Data Analytics</vt:lpstr>
      <vt:lpstr>Cloud Computing</vt:lpstr>
      <vt:lpstr>Key Terms</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Accounting Information Systems, Fifteenth Edition, Chapter 1, Accounting Information Systems: An Overview</dc:title>
  <dc:subject/>
  <dc:creator>Romney</dc:creator>
  <cp:keywords>Automotive</cp:keywords>
  <cp:lastModifiedBy>Nathan Garrett</cp:lastModifiedBy>
  <cp:revision>4929</cp:revision>
  <dcterms:created xsi:type="dcterms:W3CDTF">2014-07-14T20:04:21Z</dcterms:created>
  <dcterms:modified xsi:type="dcterms:W3CDTF">2026-09-25T19:29:40Z</dcterms:modified>
</cp:coreProperties>
</file>