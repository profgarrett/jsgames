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7" r:id="rId2"/>
  </p:sldMasterIdLst>
  <p:notesMasterIdLst>
    <p:notesMasterId r:id="rId27"/>
  </p:notesMasterIdLst>
  <p:handoutMasterIdLst>
    <p:handoutMasterId r:id="rId28"/>
  </p:handoutMasterIdLst>
  <p:sldIdLst>
    <p:sldId id="330" r:id="rId3"/>
    <p:sldId id="1718" r:id="rId4"/>
    <p:sldId id="1755" r:id="rId5"/>
    <p:sldId id="1756" r:id="rId6"/>
    <p:sldId id="1757" r:id="rId7"/>
    <p:sldId id="1758" r:id="rId8"/>
    <p:sldId id="1759" r:id="rId9"/>
    <p:sldId id="1761" r:id="rId10"/>
    <p:sldId id="1762" r:id="rId11"/>
    <p:sldId id="1763" r:id="rId12"/>
    <p:sldId id="1764" r:id="rId13"/>
    <p:sldId id="1765" r:id="rId14"/>
    <p:sldId id="1766" r:id="rId15"/>
    <p:sldId id="1717" r:id="rId16"/>
    <p:sldId id="1768" r:id="rId17"/>
    <p:sldId id="1769" r:id="rId18"/>
    <p:sldId id="1770" r:id="rId19"/>
    <p:sldId id="1771" r:id="rId20"/>
    <p:sldId id="1772" r:id="rId21"/>
    <p:sldId id="1776" r:id="rId22"/>
    <p:sldId id="1774" r:id="rId23"/>
    <p:sldId id="1775" r:id="rId24"/>
    <p:sldId id="1773" r:id="rId25"/>
    <p:sldId id="1704"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2880" userDrawn="1">
          <p15:clr>
            <a:srgbClr val="A4A3A4"/>
          </p15:clr>
        </p15:guide>
        <p15:guide id="4" orient="horz" pos="384">
          <p15:clr>
            <a:srgbClr val="A4A3A4"/>
          </p15:clr>
        </p15:guide>
        <p15:guide id="5" orient="horz" pos="144">
          <p15:clr>
            <a:srgbClr val="A4A3A4"/>
          </p15:clr>
        </p15:guide>
        <p15:guide id="7" orient="horz" pos="624">
          <p15:clr>
            <a:srgbClr val="A4A3A4"/>
          </p15:clr>
        </p15:guide>
        <p15:guide id="9" pos="288">
          <p15:clr>
            <a:srgbClr val="A4A3A4"/>
          </p15:clr>
        </p15:guide>
        <p15:guide id="10" pos="5472">
          <p15:clr>
            <a:srgbClr val="A4A3A4"/>
          </p15:clr>
        </p15:guide>
        <p15:guide id="11" orient="horz" pos="3984" userDrawn="1">
          <p15:clr>
            <a:srgbClr val="A4A3A4"/>
          </p15:clr>
        </p15:guide>
        <p15:guide id="12"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 Mohanapriya" initials="DM" lastIdx="1" clrIdx="0"/>
  <p:cmAuthor id="2" name="Thamizharasan Dhanaseelan" initials="TD"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99008C"/>
    <a:srgbClr val="001581"/>
    <a:srgbClr val="82007C"/>
    <a:srgbClr val="96008F"/>
    <a:srgbClr val="595375"/>
    <a:srgbClr val="6B638B"/>
    <a:srgbClr val="000000"/>
    <a:srgbClr val="FDB9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489" autoAdjust="0"/>
    <p:restoredTop sz="95556" autoAdjust="0"/>
  </p:normalViewPr>
  <p:slideViewPr>
    <p:cSldViewPr>
      <p:cViewPr varScale="1">
        <p:scale>
          <a:sx n="134" d="100"/>
          <a:sy n="134" d="100"/>
        </p:scale>
        <p:origin x="192" y="2088"/>
      </p:cViewPr>
      <p:guideLst>
        <p:guide pos="2880"/>
        <p:guide orient="horz" pos="384"/>
        <p:guide orient="horz" pos="144"/>
        <p:guide orient="horz" pos="624"/>
        <p:guide pos="288"/>
        <p:guide pos="5472"/>
        <p:guide orient="horz" pos="3984"/>
        <p:guide orient="horz" pos="2160"/>
      </p:guideLst>
    </p:cSldViewPr>
  </p:slideViewPr>
  <p:outlineViewPr>
    <p:cViewPr>
      <p:scale>
        <a:sx n="25" d="100"/>
        <a:sy n="25" d="100"/>
      </p:scale>
      <p:origin x="0" y="-13728"/>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microsoft.com/office/2016/11/relationships/changesInfo" Target="changesInfos/changesInfo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than Garrett" userId="2e433c4c-36ae-4b16-acdd-ef7227993467" providerId="ADAL" clId="{8A27C851-3E74-4A60-820E-CD188BA9B33C}"/>
    <pc:docChg chg="delSld">
      <pc:chgData name="Nathan Garrett" userId="2e433c4c-36ae-4b16-acdd-ef7227993467" providerId="ADAL" clId="{8A27C851-3E74-4A60-820E-CD188BA9B33C}" dt="2022-09-26T20:51:12.746" v="0" actId="47"/>
      <pc:docMkLst>
        <pc:docMk/>
      </pc:docMkLst>
      <pc:sldChg chg="del">
        <pc:chgData name="Nathan Garrett" userId="2e433c4c-36ae-4b16-acdd-ef7227993467" providerId="ADAL" clId="{8A27C851-3E74-4A60-820E-CD188BA9B33C}" dt="2022-09-26T20:51:12.746" v="0" actId="47"/>
        <pc:sldMkLst>
          <pc:docMk/>
          <pc:sldMk cId="4272979751" sldId="177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t>7/22/25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t>7/22/25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If this PowerPoint presentation contains mathematical equations, you may need to check that your computer has the following installed:</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1) </a:t>
            </a:r>
            <a:r>
              <a:rPr lang="en-US" sz="1200" b="0" i="0" u="none" strike="noStrike" cap="none" dirty="0" err="1">
                <a:solidFill>
                  <a:schemeClr val="dk1"/>
                </a:solidFill>
                <a:latin typeface="Arial"/>
                <a:ea typeface="Arial"/>
                <a:cs typeface="Arial"/>
                <a:sym typeface="Arial"/>
              </a:rPr>
              <a:t>MathType</a:t>
            </a:r>
            <a:r>
              <a:rPr lang="en-US" sz="1200" b="0" i="0" u="none" strike="noStrike" cap="none" dirty="0">
                <a:solidFill>
                  <a:schemeClr val="dk1"/>
                </a:solidFill>
                <a:latin typeface="Arial"/>
                <a:ea typeface="Arial"/>
                <a:cs typeface="Arial"/>
                <a:sym typeface="Arial"/>
              </a:rPr>
              <a:t> Plugin</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2) Math Player (free versions available)</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251233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2</a:t>
            </a:fld>
            <a:endParaRPr lang="en-US" dirty="0"/>
          </a:p>
        </p:txBody>
      </p:sp>
    </p:spTree>
    <p:extLst>
      <p:ext uri="{BB962C8B-B14F-4D97-AF65-F5344CB8AC3E}">
        <p14:creationId xmlns:p14="http://schemas.microsoft.com/office/powerpoint/2010/main" val="14684218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3</a:t>
            </a:fld>
            <a:endParaRPr lang="en-US" dirty="0"/>
          </a:p>
        </p:txBody>
      </p:sp>
    </p:spTree>
    <p:extLst>
      <p:ext uri="{BB962C8B-B14F-4D97-AF65-F5344CB8AC3E}">
        <p14:creationId xmlns:p14="http://schemas.microsoft.com/office/powerpoint/2010/main" val="12744558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Table 9.1 provides an extensive list of these different types of attacks.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4</a:t>
            </a:fld>
            <a:endParaRPr lang="en-US" dirty="0"/>
          </a:p>
        </p:txBody>
      </p:sp>
    </p:spTree>
    <p:extLst>
      <p:ext uri="{BB962C8B-B14F-4D97-AF65-F5344CB8AC3E}">
        <p14:creationId xmlns:p14="http://schemas.microsoft.com/office/powerpoint/2010/main" val="22092167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5</a:t>
            </a:fld>
            <a:endParaRPr lang="en-US" dirty="0"/>
          </a:p>
        </p:txBody>
      </p:sp>
    </p:spTree>
    <p:extLst>
      <p:ext uri="{BB962C8B-B14F-4D97-AF65-F5344CB8AC3E}">
        <p14:creationId xmlns:p14="http://schemas.microsoft.com/office/powerpoint/2010/main" val="36266009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Why is there spoofing? Well, it’s because the perpetrator of the fraud wants you to think that they are someone else that you’d trust. For example:</a:t>
            </a:r>
          </a:p>
          <a:p>
            <a:pPr marL="0" lvl="0" indent="0" algn="l" rtl="0">
              <a:spcBef>
                <a:spcPts val="0"/>
              </a:spcBef>
              <a:spcAft>
                <a:spcPts val="0"/>
              </a:spcAft>
              <a:buNone/>
            </a:pPr>
            <a:r>
              <a:rPr lang="en-IN" dirty="0"/>
              <a:t>E-mail spoofing allows you to think that the e-mail you received is from someone you know. This type of attack is often combined with a social engineering technique called phishing. For example, perpetrators will send an e-mail, spoofing the sender’s address from your bank. Inside the e-mail they will embed a link, which they hope you will click on and use your login and password, basically giving them access to your bank account.</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Caller ID spoofing will display the wrong number on your phone, hoping that you think it’s from a trusted source (e.g., bank).</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IP address spoofing is used to conceal the identity of a sender of DoS attacks.</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SMS spoofing is falsifying the sender of a text message (it can also be used in phishing scams).</a:t>
            </a:r>
          </a:p>
        </p:txBody>
      </p:sp>
      <p:sp>
        <p:nvSpPr>
          <p:cNvPr id="4" name="Slide Number Placeholder 3"/>
          <p:cNvSpPr>
            <a:spLocks noGrp="1"/>
          </p:cNvSpPr>
          <p:nvPr>
            <p:ph type="sldNum" sz="quarter" idx="10"/>
          </p:nvPr>
        </p:nvSpPr>
        <p:spPr/>
        <p:txBody>
          <a:bodyPr/>
          <a:lstStyle/>
          <a:p>
            <a:fld id="{A73D6722-9B4D-4E29-B226-C325925A8118}" type="slidenum">
              <a:rPr lang="en-US" smtClean="0"/>
              <a:t>6</a:t>
            </a:fld>
            <a:endParaRPr lang="en-US" dirty="0"/>
          </a:p>
        </p:txBody>
      </p:sp>
    </p:spTree>
    <p:extLst>
      <p:ext uri="{BB962C8B-B14F-4D97-AF65-F5344CB8AC3E}">
        <p14:creationId xmlns:p14="http://schemas.microsoft.com/office/powerpoint/2010/main" val="14346581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7</a:t>
            </a:fld>
            <a:endParaRPr lang="en-US" dirty="0"/>
          </a:p>
        </p:txBody>
      </p:sp>
    </p:spTree>
    <p:extLst>
      <p:ext uri="{BB962C8B-B14F-4D97-AF65-F5344CB8AC3E}">
        <p14:creationId xmlns:p14="http://schemas.microsoft.com/office/powerpoint/2010/main" val="9517681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8</a:t>
            </a:fld>
            <a:endParaRPr lang="en-US" dirty="0"/>
          </a:p>
        </p:txBody>
      </p:sp>
    </p:spTree>
    <p:extLst>
      <p:ext uri="{BB962C8B-B14F-4D97-AF65-F5344CB8AC3E}">
        <p14:creationId xmlns:p14="http://schemas.microsoft.com/office/powerpoint/2010/main" val="38799277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dirty="0"/>
              <a:t>Internet misinformation is used to spread false or misleading information.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E-mail threats that require an action by the victim causing them great expense.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Internet auction fraud can unfairly bid up the price, deliver inferior products, or not deliver anything at all, or the buyer fails to make a payment.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Internet pump and dump uses the Internet to inflate the price of the stock and then sell it. Usually occurs with penny stocks buying large volumes of the stock, then posts false information to drive up the stock, and sells shares to pocket profit before the price falls back down.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Click fraud uses botnets to click on ads to get Web click-through commissions.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Cryptocurrency fraud involves </a:t>
            </a:r>
            <a:r>
              <a:rPr lang="en-US" sz="1200" b="0" i="0" u="none" strike="noStrike" cap="none" baseline="0" dirty="0">
                <a:solidFill>
                  <a:schemeClr val="dk1"/>
                </a:solidFill>
                <a:latin typeface="+mn-lt"/>
                <a:ea typeface="Arial"/>
                <a:cs typeface="Arial"/>
                <a:sym typeface="Arial"/>
              </a:rPr>
              <a:t>defrauding investors in a variety of cryptocurrency-related fraud schemes, such as fake initial coin offerings and fake exchanges and wallets.</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Software piracy is unauthorized copying or distribution of copyrighted software. This can occur by:</a:t>
            </a:r>
          </a:p>
          <a:p>
            <a:pPr marL="0" lvl="0" indent="0" algn="l" rtl="0">
              <a:spcBef>
                <a:spcPts val="0"/>
              </a:spcBef>
              <a:spcAft>
                <a:spcPts val="0"/>
              </a:spcAft>
              <a:buNone/>
            </a:pPr>
            <a:r>
              <a:rPr lang="en-US" dirty="0"/>
              <a:t>selling a computer preloaded with unauthorized software, installing single license software on more than one computer, and loading software on a server allowing unrestricted access.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9</a:t>
            </a:fld>
            <a:endParaRPr lang="en-US" dirty="0"/>
          </a:p>
        </p:txBody>
      </p:sp>
    </p:spTree>
    <p:extLst>
      <p:ext uri="{BB962C8B-B14F-4D97-AF65-F5344CB8AC3E}">
        <p14:creationId xmlns:p14="http://schemas.microsoft.com/office/powerpoint/2010/main" val="28649421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10</a:t>
            </a:fld>
            <a:endParaRPr lang="en-US" dirty="0"/>
          </a:p>
        </p:txBody>
      </p:sp>
    </p:spTree>
    <p:extLst>
      <p:ext uri="{BB962C8B-B14F-4D97-AF65-F5344CB8AC3E}">
        <p14:creationId xmlns:p14="http://schemas.microsoft.com/office/powerpoint/2010/main" val="27919695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11</a:t>
            </a:fld>
            <a:endParaRPr lang="en-US" dirty="0"/>
          </a:p>
        </p:txBody>
      </p:sp>
    </p:spTree>
    <p:extLst>
      <p:ext uri="{BB962C8B-B14F-4D97-AF65-F5344CB8AC3E}">
        <p14:creationId xmlns:p14="http://schemas.microsoft.com/office/powerpoint/2010/main" val="6411148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12</a:t>
            </a:fld>
            <a:endParaRPr lang="en-US" dirty="0"/>
          </a:p>
        </p:txBody>
      </p:sp>
    </p:spTree>
    <p:extLst>
      <p:ext uri="{BB962C8B-B14F-4D97-AF65-F5344CB8AC3E}">
        <p14:creationId xmlns:p14="http://schemas.microsoft.com/office/powerpoint/2010/main" val="12523876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13</a:t>
            </a:fld>
            <a:endParaRPr lang="en-US" dirty="0"/>
          </a:p>
        </p:txBody>
      </p:sp>
    </p:spTree>
    <p:extLst>
      <p:ext uri="{BB962C8B-B14F-4D97-AF65-F5344CB8AC3E}">
        <p14:creationId xmlns:p14="http://schemas.microsoft.com/office/powerpoint/2010/main" val="23928847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14</a:t>
            </a:fld>
            <a:endParaRPr lang="en-US" dirty="0"/>
          </a:p>
        </p:txBody>
      </p:sp>
    </p:spTree>
    <p:extLst>
      <p:ext uri="{BB962C8B-B14F-4D97-AF65-F5344CB8AC3E}">
        <p14:creationId xmlns:p14="http://schemas.microsoft.com/office/powerpoint/2010/main" val="22893639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15</a:t>
            </a:fld>
            <a:endParaRPr lang="en-US" dirty="0"/>
          </a:p>
        </p:txBody>
      </p:sp>
    </p:spTree>
    <p:extLst>
      <p:ext uri="{BB962C8B-B14F-4D97-AF65-F5344CB8AC3E}">
        <p14:creationId xmlns:p14="http://schemas.microsoft.com/office/powerpoint/2010/main" val="9696091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16</a:t>
            </a:fld>
            <a:endParaRPr lang="en-US" dirty="0"/>
          </a:p>
        </p:txBody>
      </p:sp>
    </p:spTree>
    <p:extLst>
      <p:ext uri="{BB962C8B-B14F-4D97-AF65-F5344CB8AC3E}">
        <p14:creationId xmlns:p14="http://schemas.microsoft.com/office/powerpoint/2010/main" val="13968856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10"/>
          </p:nvPr>
        </p:nvSpPr>
        <p:spPr/>
        <p:txBody>
          <a:bodyPr/>
          <a:lstStyle/>
          <a:p>
            <a:fld id="{A73D6722-9B4D-4E29-B226-C325925A8118}" type="slidenum">
              <a:rPr lang="en-US" smtClean="0"/>
              <a:t>24</a:t>
            </a:fld>
            <a:endParaRPr lang="en-US" dirty="0"/>
          </a:p>
        </p:txBody>
      </p:sp>
    </p:spTree>
    <p:extLst>
      <p:ext uri="{BB962C8B-B14F-4D97-AF65-F5344CB8AC3E}">
        <p14:creationId xmlns:p14="http://schemas.microsoft.com/office/powerpoint/2010/main" val="189078876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3046453"/>
            <a:ext cx="7772400" cy="553998"/>
          </a:xfrm>
        </p:spPr>
        <p:txBody>
          <a:bodyPr anchor="b">
            <a:sp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276999"/>
          </a:xfrm>
        </p:spPr>
        <p:txBody>
          <a:bodyPr>
            <a:sp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TextBox 8"/>
          <p:cNvSpPr txBox="1"/>
          <p:nvPr userDrawn="1"/>
        </p:nvSpPr>
        <p:spPr>
          <a:xfrm>
            <a:off x="1533525" y="6374626"/>
            <a:ext cx="7162800" cy="276999"/>
          </a:xfrm>
          <a:prstGeom prst="rect">
            <a:avLst/>
          </a:prstGeom>
          <a:noFill/>
        </p:spPr>
        <p:txBody>
          <a:bodyPr wrap="square" rtlCol="0">
            <a:spAutoFit/>
          </a:bodyPr>
          <a:lstStyle/>
          <a:p>
            <a:pPr marL="0" indent="0" algn="r">
              <a:buNone/>
            </a:pPr>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spAutoFit/>
          </a:bodyPr>
          <a:lstStyle>
            <a:lvl1pPr>
              <a:defRPr sz="3600">
                <a:latin typeface="+mj-lt"/>
              </a:defRPr>
            </a:lvl1pPr>
          </a:lstStyle>
          <a:p>
            <a:r>
              <a:rPr lang="en-US" dirty="0"/>
              <a:t>Click to edit Master title style</a:t>
            </a:r>
          </a:p>
        </p:txBody>
      </p:sp>
      <p:sp>
        <p:nvSpPr>
          <p:cNvPr id="3" name="Content Placeholder 2"/>
          <p:cNvSpPr>
            <a:spLocks noGrp="1"/>
          </p:cNvSpPr>
          <p:nvPr>
            <p:ph idx="1"/>
          </p:nvPr>
        </p:nvSpPr>
        <p:spPr/>
        <p:txBody>
          <a:bodyPr>
            <a:spAutoFit/>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7/22/25</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spAutoFit/>
          </a:bodyPr>
          <a:lstStyle/>
          <a:p>
            <a:r>
              <a:rPr lang="en-US" dirty="0"/>
              <a:t>Click to edit Master title style</a:t>
            </a:r>
          </a:p>
        </p:txBody>
      </p:sp>
      <p:sp>
        <p:nvSpPr>
          <p:cNvPr id="3" name="Content Placeholder 2"/>
          <p:cNvSpPr>
            <a:spLocks noGrp="1"/>
          </p:cNvSpPr>
          <p:nvPr>
            <p:ph idx="1"/>
          </p:nvPr>
        </p:nvSpPr>
        <p:spPr/>
        <p:txBody>
          <a:bodyPr>
            <a:spAutoFit/>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spAutoFit/>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547999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8"/>
          </p:nvPr>
        </p:nvSpPr>
        <p:spPr>
          <a:xfrm>
            <a:off x="762000" y="4953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914400" y="51054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1066800" y="52578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1219200" y="5410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idx="22"/>
          </p:nvPr>
        </p:nvSpPr>
        <p:spPr>
          <a:xfrm>
            <a:off x="1371600" y="5562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p:cNvSpPr>
            <a:spLocks noGrp="1"/>
          </p:cNvSpPr>
          <p:nvPr>
            <p:ph idx="23"/>
          </p:nvPr>
        </p:nvSpPr>
        <p:spPr>
          <a:xfrm>
            <a:off x="1524000" y="5715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259676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Picture Placeholder 4"/>
          <p:cNvSpPr>
            <a:spLocks noGrp="1"/>
          </p:cNvSpPr>
          <p:nvPr>
            <p:ph type="pic" sz="quarter" idx="14"/>
          </p:nvPr>
        </p:nvSpPr>
        <p:spPr>
          <a:xfrm>
            <a:off x="457200" y="5181600"/>
            <a:ext cx="8229600" cy="1066800"/>
          </a:xfrm>
        </p:spPr>
        <p:txBody>
          <a:bodyPr/>
          <a:lstStyle/>
          <a:p>
            <a:endParaRPr lang="en-IN"/>
          </a:p>
        </p:txBody>
      </p:sp>
    </p:spTree>
    <p:extLst>
      <p:ext uri="{BB962C8B-B14F-4D97-AF65-F5344CB8AC3E}">
        <p14:creationId xmlns:p14="http://schemas.microsoft.com/office/powerpoint/2010/main" val="23021397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609600" y="41148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83790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3077231"/>
            <a:ext cx="7772400" cy="523220"/>
          </a:xfrm>
        </p:spPr>
        <p:txBody>
          <a:bodyPr anchor="b">
            <a:sp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A9DF6EFB-3F44-496C-A842-1E0B3D3B975A}" type="datetimeFigureOut">
              <a:rPr lang="en-US" smtClean="0"/>
              <a:t>7/22/25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7/22/25</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9" name="Footer Placeholder 4"/>
          <p:cNvSpPr>
            <a:spLocks noGrp="1"/>
          </p:cNvSpPr>
          <p:nvPr>
            <p:ph type="ftr" sz="quarter" idx="3"/>
          </p:nvPr>
        </p:nvSpPr>
        <p:spPr>
          <a:xfrm>
            <a:off x="2819401" y="6424902"/>
            <a:ext cx="5857188" cy="231802"/>
          </a:xfrm>
          <a:prstGeom prst="rect">
            <a:avLst/>
          </a:prstGeom>
        </p:spPr>
        <p:txBody>
          <a:bodyPr vert="horz" lIns="0" tIns="0" rIns="0" bIns="0" rtlCol="0" anchor="b">
            <a:noAutofit/>
          </a:bodyPr>
          <a:lstStyle>
            <a:lvl1pPr marL="0" indent="0" algn="r">
              <a:buNone/>
              <a:defRPr sz="1200">
                <a:solidFill>
                  <a:schemeClr val="tx1"/>
                </a:solidFill>
              </a:defRPr>
            </a:lvl1pPr>
          </a:lstStyle>
          <a:p>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711136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7" name="Title 6"/>
          <p:cNvSpPr>
            <a:spLocks noGrp="1"/>
          </p:cNvSpPr>
          <p:nvPr>
            <p:ph type="title"/>
          </p:nvPr>
        </p:nvSpPr>
        <p:spPr>
          <a:xfrm>
            <a:off x="489408" y="0"/>
            <a:ext cx="8229600" cy="533400"/>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A9DF6EFB-3F44-496C-A842-1E0B3D3B975A}" type="datetimeFigureOut">
              <a:rPr lang="en-US" smtClean="0"/>
              <a:t>7/22/25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
        <p:nvSpPr>
          <p:cNvPr id="4" name="Text Placeholder 3"/>
          <p:cNvSpPr>
            <a:spLocks noGrp="1"/>
          </p:cNvSpPr>
          <p:nvPr>
            <p:ph type="body" sz="quarter" idx="13"/>
          </p:nvPr>
        </p:nvSpPr>
        <p:spPr>
          <a:xfrm>
            <a:off x="533400" y="685800"/>
            <a:ext cx="8077200" cy="45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3" name="Text Placeholder 12"/>
          <p:cNvSpPr>
            <a:spLocks noGrp="1"/>
          </p:cNvSpPr>
          <p:nvPr>
            <p:ph type="body" sz="quarter" idx="14"/>
          </p:nvPr>
        </p:nvSpPr>
        <p:spPr>
          <a:xfrm>
            <a:off x="609600" y="1295400"/>
            <a:ext cx="7924800" cy="45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5" name="Text Placeholder 14"/>
          <p:cNvSpPr>
            <a:spLocks noGrp="1"/>
          </p:cNvSpPr>
          <p:nvPr>
            <p:ph type="body" sz="quarter" idx="15"/>
          </p:nvPr>
        </p:nvSpPr>
        <p:spPr>
          <a:xfrm>
            <a:off x="685800" y="1828800"/>
            <a:ext cx="7848600" cy="457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7" name="Text Placeholder 16"/>
          <p:cNvSpPr>
            <a:spLocks noGrp="1"/>
          </p:cNvSpPr>
          <p:nvPr>
            <p:ph type="body" sz="quarter" idx="16"/>
          </p:nvPr>
        </p:nvSpPr>
        <p:spPr>
          <a:xfrm>
            <a:off x="762000" y="2514600"/>
            <a:ext cx="7924800" cy="30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9" name="Picture Placeholder 18"/>
          <p:cNvSpPr>
            <a:spLocks noGrp="1"/>
          </p:cNvSpPr>
          <p:nvPr>
            <p:ph type="pic" sz="quarter" idx="17"/>
          </p:nvPr>
        </p:nvSpPr>
        <p:spPr>
          <a:xfrm>
            <a:off x="838200" y="3352800"/>
            <a:ext cx="7848600" cy="685800"/>
          </a:xfrm>
        </p:spPr>
        <p:txBody>
          <a:bodyPr/>
          <a:lstStyle/>
          <a:p>
            <a:endParaRPr lang="en-IN" dirty="0"/>
          </a:p>
        </p:txBody>
      </p:sp>
    </p:spTree>
    <p:extLst>
      <p:ext uri="{BB962C8B-B14F-4D97-AF65-F5344CB8AC3E}">
        <p14:creationId xmlns:p14="http://schemas.microsoft.com/office/powerpoint/2010/main" val="11285816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r>
              <a:rPr lang="en-US" sz="900" dirty="0"/>
              <a:t>1-2</a:t>
            </a:r>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2400094772"/>
      </p:ext>
    </p:extLst>
  </p:cSld>
  <p:clrMapOvr>
    <a:masterClrMapping/>
  </p:clrMapOvr>
  <p:extLst>
    <p:ext uri="{DCECCB84-F9BA-43D5-87BE-67443E8EF086}">
      <p15:sldGuideLst xmlns:p15="http://schemas.microsoft.com/office/powerpoint/2012/main">
        <p15:guide id="1" orient="horz" pos="4176">
          <p15:clr>
            <a:srgbClr val="FBAE40"/>
          </p15:clr>
        </p15:guide>
        <p15:guide id="2" pos="288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4" name="Date Placeholder 3"/>
          <p:cNvSpPr>
            <a:spLocks noGrp="1"/>
          </p:cNvSpPr>
          <p:nvPr>
            <p:ph type="dt" sz="half" idx="11"/>
          </p:nvPr>
        </p:nvSpPr>
        <p:spPr/>
        <p:txBody>
          <a:bodyPr/>
          <a:lstStyle/>
          <a:p>
            <a:fld id="{A9DF6EFB-3F44-496C-A842-1E0B3D3B975A}" type="datetimeFigureOut">
              <a:rPr lang="en-US" smtClean="0"/>
              <a:pPr/>
              <a:t>7/22/25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6558436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11"/>
          </p:nvPr>
        </p:nvSpPr>
        <p:spPr/>
        <p:txBody>
          <a:bodyPr/>
          <a:lstStyle/>
          <a:p>
            <a:fld id="{A9DF6EFB-3F44-496C-A842-1E0B3D3B975A}" type="datetimeFigureOut">
              <a:rPr lang="en-US" smtClean="0"/>
              <a:pPr/>
              <a:t>7/22/25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8187741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sz="3600">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7/22/25</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6481892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4101757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678795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8"/>
          </p:nvPr>
        </p:nvSpPr>
        <p:spPr>
          <a:xfrm>
            <a:off x="762000" y="4953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914400" y="51054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1066800" y="52578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1219200" y="5410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idx="22"/>
          </p:nvPr>
        </p:nvSpPr>
        <p:spPr>
          <a:xfrm>
            <a:off x="1371600" y="5562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p:cNvSpPr>
            <a:spLocks noGrp="1"/>
          </p:cNvSpPr>
          <p:nvPr>
            <p:ph idx="23"/>
          </p:nvPr>
        </p:nvSpPr>
        <p:spPr>
          <a:xfrm>
            <a:off x="1524000" y="5715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99993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0258967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609600" y="41148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4"/>
          <p:cNvSpPr txBox="1">
            <a:spLocks/>
          </p:cNvSpPr>
          <p:nvPr userDrawn="1"/>
        </p:nvSpPr>
        <p:spPr>
          <a:xfrm>
            <a:off x="3810000" y="6425684"/>
            <a:ext cx="4866589" cy="184666"/>
          </a:xfrm>
          <a:prstGeom prst="rect">
            <a:avLst/>
          </a:prstGeom>
        </p:spPr>
        <p:txBody>
          <a:bodyPr vert="horz" lIns="0" tIns="0" rIns="0" bIns="0" rtlCol="0" anchor="b">
            <a:noAutofit/>
          </a:bodyPr>
          <a:lstStyle>
            <a:defPPr>
              <a:defRPr lang="en-US"/>
            </a:defPPr>
            <a:lvl1pPr marL="0" indent="0" algn="r" defTabSz="914400" rtl="0" eaLnBrk="1" latinLnBrk="0" hangingPunct="1">
              <a:buNone/>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3051578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5157198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lvl1pPr>
              <a:defRPr sz="3600">
                <a:latin typeface="+mj-lt"/>
              </a:defRPr>
            </a:lvl1pPr>
          </a:lstStyle>
          <a:p>
            <a:r>
              <a:rPr lang="en-US" dirty="0"/>
              <a:t>Click to edit Master title style</a:t>
            </a:r>
          </a:p>
        </p:txBody>
      </p:sp>
      <p:sp>
        <p:nvSpPr>
          <p:cNvPr id="3" name="Date Placeholder 2"/>
          <p:cNvSpPr>
            <a:spLocks noGrp="1"/>
          </p:cNvSpPr>
          <p:nvPr>
            <p:ph type="dt" sz="half" idx="10"/>
          </p:nvPr>
        </p:nvSpPr>
        <p:spPr/>
        <p:txBody>
          <a:bodyPr/>
          <a:lstStyle/>
          <a:p>
            <a:fld id="{A9DF6EFB-3F44-496C-A842-1E0B3D3B975A}" type="datetimeFigureOut">
              <a:rPr lang="en-US" smtClean="0"/>
              <a:t>7/22/25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
        <p:nvSpPr>
          <p:cNvPr id="12" name="Picture Placeholder 11"/>
          <p:cNvSpPr>
            <a:spLocks noGrp="1"/>
          </p:cNvSpPr>
          <p:nvPr>
            <p:ph type="pic" sz="quarter" idx="13"/>
          </p:nvPr>
        </p:nvSpPr>
        <p:spPr>
          <a:xfrm>
            <a:off x="533400" y="2514600"/>
            <a:ext cx="8153400" cy="1066800"/>
          </a:xfrm>
        </p:spPr>
        <p:txBody>
          <a:bodyPr/>
          <a:lstStyle/>
          <a:p>
            <a:endParaRPr lang="en-IN"/>
          </a:p>
        </p:txBody>
      </p:sp>
      <p:sp>
        <p:nvSpPr>
          <p:cNvPr id="14" name="Text Placeholder 13"/>
          <p:cNvSpPr>
            <a:spLocks noGrp="1"/>
          </p:cNvSpPr>
          <p:nvPr>
            <p:ph type="body" sz="quarter" idx="14"/>
          </p:nvPr>
        </p:nvSpPr>
        <p:spPr>
          <a:xfrm>
            <a:off x="1066800" y="3810000"/>
            <a:ext cx="6858000" cy="137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6" name="Content Placeholder 15"/>
          <p:cNvSpPr>
            <a:spLocks noGrp="1"/>
          </p:cNvSpPr>
          <p:nvPr>
            <p:ph sz="quarter" idx="15"/>
          </p:nvPr>
        </p:nvSpPr>
        <p:spPr>
          <a:xfrm>
            <a:off x="1143000" y="5257800"/>
            <a:ext cx="4648200" cy="6096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8578532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7/22/25</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39387441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98_Learning Objectives">
    <p:spTree>
      <p:nvGrpSpPr>
        <p:cNvPr id="1" name="Shape 47"/>
        <p:cNvGrpSpPr/>
        <p:nvPr/>
      </p:nvGrpSpPr>
      <p:grpSpPr>
        <a:xfrm>
          <a:off x="0" y="0"/>
          <a:ext cx="0" cy="0"/>
          <a:chOff x="0" y="0"/>
          <a:chExt cx="0" cy="0"/>
        </a:xfrm>
      </p:grpSpPr>
      <p:sp>
        <p:nvSpPr>
          <p:cNvPr id="48" name="Shape 48"/>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49" name="Shape 49"/>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118871" marR="0" lvl="0" indent="-93471" algn="l" rtl="0">
              <a:spcBef>
                <a:spcPts val="1500"/>
              </a:spcBef>
              <a:buClr>
                <a:srgbClr val="007FA3"/>
              </a:buClr>
              <a:buSzPct val="25000"/>
              <a:buFont typeface="Arial"/>
              <a:buChar char="•"/>
              <a:defRPr sz="1600" b="0" i="0" u="none" strike="noStrike" cap="none">
                <a:solidFill>
                  <a:schemeClr val="dk1"/>
                </a:solidFill>
                <a:latin typeface="Arial(Body)"/>
                <a:ea typeface="Arial(Body)"/>
                <a:cs typeface="Arial"/>
                <a:sym typeface="Arial"/>
              </a:defRPr>
            </a:lvl1pPr>
            <a:lvl2pPr marL="569913" marR="0" lvl="1" indent="-188912"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51" name="Shape 51"/>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Body)"/>
                <a:ea typeface="Arial(Body)"/>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IN" dirty="0"/>
          </a:p>
        </p:txBody>
      </p:sp>
      <p:sp>
        <p:nvSpPr>
          <p:cNvPr id="52" name="Shape 52"/>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latin typeface="Arial(Body)"/>
              </a:defRPr>
            </a:lvl1pPr>
          </a:lstStyle>
          <a:p>
            <a:pPr algn="r">
              <a:buSzPct val="25000"/>
            </a:pPr>
            <a:fld id="{00000000-1234-1234-1234-123412341234}" type="slidenum">
              <a:rPr lang="en-US" sz="900" smtClean="0">
                <a:solidFill>
                  <a:schemeClr val="lt1"/>
                </a:solidFill>
              </a:rPr>
              <a:pPr algn="r">
                <a:buSzPct val="25000"/>
              </a:pPr>
              <a:t>‹#›</a:t>
            </a:fld>
            <a:endParaRPr lang="en-US" sz="900" dirty="0">
              <a:solidFill>
                <a:schemeClr val="lt1"/>
              </a:solidFill>
            </a:endParaRPr>
          </a:p>
        </p:txBody>
      </p:sp>
      <p:sp>
        <p:nvSpPr>
          <p:cNvPr id="7" name="Footer Placeholder 4"/>
          <p:cNvSpPr>
            <a:spLocks noGrp="1"/>
          </p:cNvSpPr>
          <p:nvPr>
            <p:ph type="ftr" sz="quarter" idx="3"/>
          </p:nvPr>
        </p:nvSpPr>
        <p:spPr>
          <a:xfrm>
            <a:off x="2819401" y="6424902"/>
            <a:ext cx="5857188" cy="204498"/>
          </a:xfrm>
          <a:prstGeom prst="rect">
            <a:avLst/>
          </a:prstGeom>
        </p:spPr>
        <p:txBody>
          <a:bodyPr vert="horz" lIns="0" tIns="0" rIns="0" bIns="0" rtlCol="0" anchor="b">
            <a:noAutofit/>
          </a:bodyPr>
          <a:lstStyle>
            <a:lvl1pPr marL="0" indent="0" algn="r">
              <a:buNone/>
              <a:defRPr sz="1200">
                <a:solidFill>
                  <a:schemeClr val="tx1"/>
                </a:solidFill>
              </a:defRPr>
            </a:lvl1pPr>
          </a:lstStyle>
          <a:p>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21705162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copy">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sz="3600">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7/22/25</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
        <p:nvSpPr>
          <p:cNvPr id="4" name="Picture Placeholder 3">
            <a:extLst>
              <a:ext uri="{FF2B5EF4-FFF2-40B4-BE49-F238E27FC236}">
                <a16:creationId xmlns:a16="http://schemas.microsoft.com/office/drawing/2014/main" id="{49B1A741-EFA1-4984-B2F6-EC6B322134D1}"/>
              </a:ext>
            </a:extLst>
          </p:cNvPr>
          <p:cNvSpPr>
            <a:spLocks noGrp="1"/>
          </p:cNvSpPr>
          <p:nvPr>
            <p:ph type="pic" sz="quarter" idx="13"/>
          </p:nvPr>
        </p:nvSpPr>
        <p:spPr>
          <a:xfrm>
            <a:off x="457200" y="3276600"/>
            <a:ext cx="8229600" cy="1447800"/>
          </a:xfrm>
        </p:spPr>
        <p:txBody>
          <a:bodyPr/>
          <a:lstStyle/>
          <a:p>
            <a:endParaRPr lang="en-IN"/>
          </a:p>
        </p:txBody>
      </p:sp>
    </p:spTree>
    <p:extLst>
      <p:ext uri="{BB962C8B-B14F-4D97-AF65-F5344CB8AC3E}">
        <p14:creationId xmlns:p14="http://schemas.microsoft.com/office/powerpoint/2010/main" val="33557553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1.emf"/><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758654"/>
            <a:ext cx="8229600" cy="553998"/>
          </a:xfrm>
          <a:prstGeom prst="rect">
            <a:avLst/>
          </a:prstGeom>
        </p:spPr>
        <p:txBody>
          <a:bodyPr vert="horz" lIns="0" tIns="0" rIns="0" bIns="0" rtlCol="0" anchor="b">
            <a:spAutoFit/>
          </a:bodyPr>
          <a:lstStyle/>
          <a:p>
            <a:r>
              <a:rPr lang="en-US" dirty="0"/>
              <a:t>Click to edit Master title style</a:t>
            </a:r>
          </a:p>
        </p:txBody>
      </p:sp>
      <p:sp>
        <p:nvSpPr>
          <p:cNvPr id="3" name="Text Placeholder 2"/>
          <p:cNvSpPr>
            <a:spLocks noGrp="1"/>
          </p:cNvSpPr>
          <p:nvPr>
            <p:ph type="body" idx="1"/>
          </p:nvPr>
        </p:nvSpPr>
        <p:spPr>
          <a:xfrm>
            <a:off x="457200" y="1600200"/>
            <a:ext cx="8229600" cy="2677656"/>
          </a:xfrm>
          <a:prstGeom prst="rect">
            <a:avLst/>
          </a:prstGeom>
        </p:spPr>
        <p:txBody>
          <a:bodyPr vert="horz"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7/22/25</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10" name="Picture 9" descr="Pearson Logo"/>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 Placeholder 4"/>
          <p:cNvSpPr txBox="1">
            <a:spLocks/>
          </p:cNvSpPr>
          <p:nvPr userDrawn="1"/>
        </p:nvSpPr>
        <p:spPr>
          <a:xfrm>
            <a:off x="2743200" y="6451395"/>
            <a:ext cx="5933357" cy="201755"/>
          </a:xfrm>
          <a:prstGeom prst="rect">
            <a:avLst/>
          </a:prstGeom>
        </p:spPr>
        <p:txBody>
          <a:bodyPr vert="horz" wrap="square"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lgn="r">
              <a:buFont typeface="Arial" panose="020B0604020202020204" pitchFamily="34" charset="0"/>
              <a:buNone/>
            </a:pPr>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9" r:id="rId3"/>
    <p:sldLayoutId id="2147483660" r:id="rId4"/>
    <p:sldLayoutId id="2147483662" r:id="rId5"/>
    <p:sldLayoutId id="2147483661" r:id="rId6"/>
    <p:sldLayoutId id="2147483663" r:id="rId7"/>
    <p:sldLayoutId id="2147483651" r:id="rId8"/>
    <p:sldLayoutId id="2147483654" r:id="rId9"/>
    <p:sldLayoutId id="2147483655" r:id="rId10"/>
    <p:sldLayoutId id="2147483696" r:id="rId11"/>
    <p:sldLayoutId id="2147483698" r:id="rId12"/>
  </p:sldLayoutIdLst>
  <p:txStyles>
    <p:titleStyle>
      <a:lvl1pPr algn="l" defTabSz="914400" rtl="0" eaLnBrk="1" latinLnBrk="0" hangingPunct="1">
        <a:lnSpc>
          <a:spcPct val="100000"/>
        </a:lnSpc>
        <a:spcBef>
          <a:spcPct val="0"/>
        </a:spcBef>
        <a:buNone/>
        <a:defRPr sz="3600" b="1" kern="1200">
          <a:solidFill>
            <a:srgbClr val="007FA3"/>
          </a:solidFill>
          <a:latin typeface="+mj-lt"/>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7/22/25</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10" name="Picture 9" descr="Pearson Logo"/>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 Placeholder 4"/>
          <p:cNvSpPr txBox="1">
            <a:spLocks/>
          </p:cNvSpPr>
          <p:nvPr userDrawn="1"/>
        </p:nvSpPr>
        <p:spPr>
          <a:xfrm>
            <a:off x="2743200" y="6451395"/>
            <a:ext cx="5933357" cy="201755"/>
          </a:xfrm>
          <a:prstGeom prst="rect">
            <a:avLst/>
          </a:prstGeom>
        </p:spPr>
        <p:txBody>
          <a:bodyPr vert="horz" wrap="square"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lgn="r">
              <a:buFont typeface="Arial" panose="020B0604020202020204" pitchFamily="34" charset="0"/>
              <a:buNone/>
            </a:pPr>
            <a:r>
              <a:rPr lang="en-IN" sz="1200">
                <a:latin typeface="Verdana" panose="020B0604030504040204" pitchFamily="34" charset="0"/>
                <a:ea typeface="Verdana" panose="020B0604030504040204" pitchFamily="34" charset="0"/>
                <a:cs typeface="Verdana" panose="020B0604030504040204" pitchFamily="34" charset="0"/>
              </a:rPr>
              <a:t>Copyright © </a:t>
            </a:r>
            <a:r>
              <a:rPr lang="en-US" sz="1200">
                <a:latin typeface="Verdana" panose="020B0604030504040204" pitchFamily="34" charset="0"/>
                <a:ea typeface="Verdana" panose="020B0604030504040204" pitchFamily="34" charset="0"/>
                <a:cs typeface="Verdana" panose="020B0604030504040204" pitchFamily="34" charset="0"/>
              </a:rPr>
              <a:t>2021, 2018, 2015 </a:t>
            </a:r>
            <a:r>
              <a:rPr lang="en-IN" sz="1200">
                <a:latin typeface="Verdana" panose="020B0604030504040204" pitchFamily="34" charset="0"/>
                <a:ea typeface="Verdana" panose="020B0604030504040204" pitchFamily="34" charset="0"/>
                <a:cs typeface="Verdana" panose="020B0604030504040204" pitchFamily="34" charset="0"/>
              </a:rPr>
              <a:t>Pearson Education, Inc. All Rights Reserved</a:t>
            </a:r>
            <a:endParaRPr lang="en-IN" sz="12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547644696"/>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97" r:id="rId13"/>
  </p:sldLayoutIdLst>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1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361934" y="117302"/>
            <a:ext cx="8272730" cy="590349"/>
          </a:xfrm>
        </p:spPr>
        <p:txBody>
          <a:bodyPr wrap="square" lIns="0" tIns="18000" rIns="0" bIns="18000" anchor="ctr" anchorCtr="0">
            <a:spAutoFit/>
          </a:bodyPr>
          <a:lstStyle/>
          <a:p>
            <a:r>
              <a:rPr lang="en-US" noProof="0" dirty="0"/>
              <a:t>Accounting Information Systems</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364643" y="932927"/>
            <a:ext cx="1958194" cy="344128"/>
          </a:xfrm>
        </p:spPr>
        <p:txBody>
          <a:bodyPr wrap="square" lIns="0" tIns="18000" rIns="0" bIns="18000" anchor="ctr" anchorCtr="0">
            <a:spAutoFit/>
          </a:bodyPr>
          <a:lstStyle/>
          <a:p>
            <a:r>
              <a:rPr lang="en-US" sz="2000" noProof="0" dirty="0">
                <a:solidFill>
                  <a:srgbClr val="007FA3"/>
                </a:solidFill>
              </a:rPr>
              <a:t>Sixteenth </a:t>
            </a:r>
            <a:r>
              <a:rPr lang="en-US" sz="2000" noProof="0" dirty="0">
                <a:solidFill>
                  <a:srgbClr val="007FA3"/>
                </a:solidFill>
                <a:latin typeface="+mn-lt"/>
              </a:rPr>
              <a:t>Edition</a:t>
            </a:r>
            <a:endParaRPr lang="en-US" noProof="0" dirty="0">
              <a:latin typeface="+mn-lt"/>
            </a:endParaRPr>
          </a:p>
        </p:txBody>
      </p:sp>
      <p:pic>
        <p:nvPicPr>
          <p:cNvPr id="9" name="Picture 8" descr="Front Cover: Accounting Information Systems, Sixteenth Edition by Romney, Steinbart, Summers and Wood.">
            <a:extLst>
              <a:ext uri="{FF2B5EF4-FFF2-40B4-BE49-F238E27FC236}">
                <a16:creationId xmlns:a16="http://schemas.microsoft.com/office/drawing/2014/main" id="{474D169D-DDD8-4DAB-92C6-0DAC8CD369D1}"/>
              </a:ext>
            </a:extLst>
          </p:cNvPr>
          <p:cNvPicPr>
            <a:picLocks noChangeAspect="1"/>
          </p:cNvPicPr>
          <p:nvPr/>
        </p:nvPicPr>
        <p:blipFill>
          <a:blip r:embed="rId3"/>
          <a:stretch>
            <a:fillRect/>
          </a:stretch>
        </p:blipFill>
        <p:spPr>
          <a:xfrm>
            <a:off x="384200" y="1386673"/>
            <a:ext cx="3892191" cy="4978953"/>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2000" y="2430301"/>
            <a:ext cx="1874982" cy="498016"/>
          </a:xfrm>
        </p:spPr>
        <p:txBody>
          <a:bodyPr wrap="square" lIns="0" tIns="18000" rIns="0" bIns="18000" anchor="ctr" anchorCtr="0">
            <a:spAutoFit/>
          </a:bodyPr>
          <a:lstStyle/>
          <a:p>
            <a:pPr marL="0"/>
            <a:r>
              <a:rPr lang="en-US" noProof="0" dirty="0">
                <a:latin typeface="+mn-lt"/>
              </a:rPr>
              <a:t>Chapter 9</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82048" y="3091136"/>
            <a:ext cx="4140200" cy="713460"/>
          </a:xfrm>
        </p:spPr>
        <p:txBody>
          <a:bodyPr wrap="square" lIns="0" tIns="18000" rIns="0" bIns="18000" anchor="ctr" anchorCtr="0">
            <a:spAutoFit/>
          </a:bodyPr>
          <a:lstStyle/>
          <a:p>
            <a:pPr marL="0" lvl="0">
              <a:spcBef>
                <a:spcPts val="0"/>
              </a:spcBef>
              <a:buSzPts val="2200"/>
            </a:pPr>
            <a:r>
              <a:rPr lang="en-US" dirty="0"/>
              <a:t>Computer Fraud and Abuse Techniques</a:t>
            </a: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32508" y="6431973"/>
            <a:ext cx="1153391" cy="290602"/>
          </a:xfr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169825" y="6425373"/>
            <a:ext cx="6589712" cy="221018"/>
          </a:xfrm>
        </p:spPr>
        <p:txBody>
          <a:bodyPr lIns="0" tIns="18000" rIns="0" bIns="18000" anchor="ctr" anchorCtr="0">
            <a:spAutoFit/>
          </a:bodyPr>
          <a:lstStyle/>
          <a:p>
            <a:r>
              <a:rPr lang="en-US" altLang="en-US" sz="1200" b="0" noProof="0" dirty="0">
                <a:latin typeface="Verdana"/>
                <a:ea typeface="Verdana" panose="020B0604030504040204" pitchFamily="34" charset="0"/>
                <a:cs typeface="Verdana" panose="020B0604030504040204" pitchFamily="34" charset="0"/>
              </a:rPr>
              <a:t>Copyright © 2024, 2021, 2018 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15346"/>
            <a:ext cx="8229600" cy="618079"/>
          </a:xfrm>
        </p:spPr>
        <p:txBody>
          <a:bodyPr anchor="ctr">
            <a:noAutofit/>
          </a:bodyPr>
          <a:lstStyle/>
          <a:p>
            <a:r>
              <a:rPr lang="en-IN" sz="3600" dirty="0">
                <a:latin typeface="+mj-lt"/>
              </a:rPr>
              <a:t>Learning Objectives</a:t>
            </a:r>
          </a:p>
        </p:txBody>
      </p:sp>
      <p:sp>
        <p:nvSpPr>
          <p:cNvPr id="2" name="Content Placeholder 1"/>
          <p:cNvSpPr>
            <a:spLocks noGrp="1"/>
          </p:cNvSpPr>
          <p:nvPr>
            <p:ph idx="13"/>
          </p:nvPr>
        </p:nvSpPr>
        <p:spPr>
          <a:xfrm>
            <a:off x="465826" y="999226"/>
            <a:ext cx="8229600" cy="2359620"/>
          </a:xfrm>
        </p:spPr>
        <p:txBody>
          <a:bodyPr>
            <a:noAutofit/>
          </a:bodyPr>
          <a:lstStyle/>
          <a:p>
            <a:pPr lvl="0">
              <a:spcBef>
                <a:spcPts val="0"/>
              </a:spcBef>
              <a:buSzPts val="2400"/>
            </a:pPr>
            <a:r>
              <a:rPr lang="en-IN" sz="2400" dirty="0"/>
              <a:t>Compare and contrast computer attack and abuse tactics.</a:t>
            </a:r>
          </a:p>
          <a:p>
            <a:pPr lvl="0">
              <a:spcBef>
                <a:spcPts val="2000"/>
              </a:spcBef>
              <a:buSzPts val="2400"/>
            </a:pPr>
            <a:r>
              <a:rPr lang="en-IN" sz="2400" dirty="0"/>
              <a:t>Explain how social engineering techniques are used to gain physical or logical access to computer resources.</a:t>
            </a:r>
          </a:p>
          <a:p>
            <a:pPr lvl="0">
              <a:spcBef>
                <a:spcPts val="2000"/>
              </a:spcBef>
              <a:buSzPts val="2400"/>
            </a:pPr>
            <a:r>
              <a:rPr lang="en-IN" sz="2400" dirty="0"/>
              <a:t>Describe the different types of malware used to harm computers.</a:t>
            </a:r>
          </a:p>
        </p:txBody>
      </p:sp>
    </p:spTree>
    <p:extLst>
      <p:ext uri="{BB962C8B-B14F-4D97-AF65-F5344CB8AC3E}">
        <p14:creationId xmlns:p14="http://schemas.microsoft.com/office/powerpoint/2010/main" val="25605828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15346"/>
            <a:ext cx="8229600" cy="618079"/>
          </a:xfrm>
        </p:spPr>
        <p:txBody>
          <a:bodyPr anchor="ctr">
            <a:noAutofit/>
          </a:bodyPr>
          <a:lstStyle/>
          <a:p>
            <a:r>
              <a:rPr lang="en-IN" sz="3600" dirty="0">
                <a:latin typeface="+mj-lt"/>
              </a:rPr>
              <a:t>Computer Attacks and Abuse</a:t>
            </a:r>
          </a:p>
        </p:txBody>
      </p:sp>
      <p:sp>
        <p:nvSpPr>
          <p:cNvPr id="2" name="Content Placeholder 1"/>
          <p:cNvSpPr>
            <a:spLocks noGrp="1"/>
          </p:cNvSpPr>
          <p:nvPr>
            <p:ph idx="13"/>
          </p:nvPr>
        </p:nvSpPr>
        <p:spPr>
          <a:xfrm>
            <a:off x="465826" y="999226"/>
            <a:ext cx="8229600" cy="3416320"/>
          </a:xfrm>
        </p:spPr>
        <p:txBody>
          <a:bodyPr>
            <a:noAutofit/>
          </a:bodyPr>
          <a:lstStyle/>
          <a:p>
            <a:pPr marL="339725" lvl="0" indent="-255588">
              <a:spcBef>
                <a:spcPts val="600"/>
              </a:spcBef>
              <a:buSzPts val="2400"/>
            </a:pPr>
            <a:r>
              <a:rPr lang="en-IN" sz="2400" dirty="0"/>
              <a:t>There are six steps that many criminals use to attack information systems:</a:t>
            </a:r>
          </a:p>
          <a:p>
            <a:pPr marL="826643" lvl="1" indent="-255588">
              <a:buSzPts val="2400"/>
            </a:pPr>
            <a:r>
              <a:rPr lang="en-IN" sz="2400" dirty="0"/>
              <a:t>Conduct reconnaissance</a:t>
            </a:r>
          </a:p>
          <a:p>
            <a:pPr marL="826643" lvl="1" indent="-255588">
              <a:buSzPts val="2400"/>
            </a:pPr>
            <a:r>
              <a:rPr lang="en-IN" sz="2400" dirty="0"/>
              <a:t>Attempt social engineering</a:t>
            </a:r>
          </a:p>
          <a:p>
            <a:pPr marL="826643" lvl="1" indent="-255588">
              <a:buSzPts val="2400"/>
            </a:pPr>
            <a:r>
              <a:rPr lang="en-IN" sz="2400" dirty="0"/>
              <a:t>Scan and map the target</a:t>
            </a:r>
          </a:p>
          <a:p>
            <a:pPr marL="826643" lvl="1" indent="-255588">
              <a:buSzPts val="2400"/>
            </a:pPr>
            <a:r>
              <a:rPr lang="en-IN" sz="2400" dirty="0"/>
              <a:t>Research</a:t>
            </a:r>
          </a:p>
          <a:p>
            <a:pPr marL="826643" lvl="1" indent="-255588">
              <a:buSzPts val="2400"/>
            </a:pPr>
            <a:r>
              <a:rPr lang="en-IN" sz="2400" dirty="0"/>
              <a:t>Execute the attack</a:t>
            </a:r>
          </a:p>
          <a:p>
            <a:pPr marL="826643" lvl="1" indent="-255588">
              <a:buSzPts val="2400"/>
            </a:pPr>
            <a:r>
              <a:rPr lang="en-IN" sz="2400" dirty="0"/>
              <a:t>Cover tracks</a:t>
            </a:r>
          </a:p>
        </p:txBody>
      </p:sp>
    </p:spTree>
    <p:extLst>
      <p:ext uri="{BB962C8B-B14F-4D97-AF65-F5344CB8AC3E}">
        <p14:creationId xmlns:p14="http://schemas.microsoft.com/office/powerpoint/2010/main" val="686403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15346"/>
            <a:ext cx="8229600" cy="618079"/>
          </a:xfrm>
        </p:spPr>
        <p:txBody>
          <a:bodyPr anchor="ctr">
            <a:noAutofit/>
          </a:bodyPr>
          <a:lstStyle/>
          <a:p>
            <a:r>
              <a:rPr lang="en-IN" sz="3600" dirty="0">
                <a:latin typeface="+mj-lt"/>
              </a:rPr>
              <a:t>Types of Attacks</a:t>
            </a:r>
          </a:p>
        </p:txBody>
      </p:sp>
      <p:sp>
        <p:nvSpPr>
          <p:cNvPr id="2" name="Content Placeholder 1"/>
          <p:cNvSpPr>
            <a:spLocks noGrp="1"/>
          </p:cNvSpPr>
          <p:nvPr>
            <p:ph idx="13"/>
          </p:nvPr>
        </p:nvSpPr>
        <p:spPr>
          <a:xfrm>
            <a:off x="465826" y="999226"/>
            <a:ext cx="8229600" cy="3708708"/>
          </a:xfrm>
        </p:spPr>
        <p:txBody>
          <a:bodyPr>
            <a:noAutofit/>
          </a:bodyPr>
          <a:lstStyle/>
          <a:p>
            <a:pPr marL="339725" lvl="0" indent="-255588">
              <a:spcBef>
                <a:spcPts val="600"/>
              </a:spcBef>
              <a:buSzPts val="2400"/>
            </a:pPr>
            <a:r>
              <a:rPr lang="en-IN" sz="2400" b="1" dirty="0"/>
              <a:t>Hacking</a:t>
            </a:r>
          </a:p>
          <a:p>
            <a:pPr marL="826643" lvl="1" indent="-255588">
              <a:buSzPts val="2400"/>
            </a:pPr>
            <a:r>
              <a:rPr lang="en-IN" sz="2400" dirty="0"/>
              <a:t>Unauthorized access, modification, or use of an electronic device or some element of a computer system</a:t>
            </a:r>
          </a:p>
          <a:p>
            <a:pPr marL="339725" lvl="0" indent="-255588">
              <a:spcBef>
                <a:spcPts val="600"/>
              </a:spcBef>
              <a:buSzPts val="2400"/>
            </a:pPr>
            <a:r>
              <a:rPr lang="en-IN" sz="2400" b="1" dirty="0"/>
              <a:t>Social Engineering</a:t>
            </a:r>
          </a:p>
          <a:p>
            <a:pPr marL="826643" lvl="1" indent="-255588">
              <a:buSzPts val="2400"/>
            </a:pPr>
            <a:r>
              <a:rPr lang="en-IN" sz="2400" dirty="0"/>
              <a:t>Techniques or tricks on people to gain physical or logical access to confidential information</a:t>
            </a:r>
          </a:p>
          <a:p>
            <a:pPr marL="339725" lvl="0" indent="-255588">
              <a:spcBef>
                <a:spcPts val="600"/>
              </a:spcBef>
              <a:buSzPts val="2400"/>
            </a:pPr>
            <a:r>
              <a:rPr lang="en-IN" sz="2400" b="1" dirty="0"/>
              <a:t>Malware</a:t>
            </a:r>
          </a:p>
          <a:p>
            <a:pPr marL="826643" lvl="1" indent="-255588">
              <a:buSzPts val="2400"/>
            </a:pPr>
            <a:r>
              <a:rPr lang="en-IN" sz="2400" dirty="0"/>
              <a:t>Software used to do harm</a:t>
            </a:r>
          </a:p>
        </p:txBody>
      </p:sp>
    </p:spTree>
    <p:extLst>
      <p:ext uri="{BB962C8B-B14F-4D97-AF65-F5344CB8AC3E}">
        <p14:creationId xmlns:p14="http://schemas.microsoft.com/office/powerpoint/2010/main" val="36949557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15346"/>
            <a:ext cx="8229600" cy="618079"/>
          </a:xfrm>
        </p:spPr>
        <p:txBody>
          <a:bodyPr anchor="ctr">
            <a:noAutofit/>
          </a:bodyPr>
          <a:lstStyle/>
          <a:p>
            <a:r>
              <a:rPr lang="en-IN" sz="3600" dirty="0">
                <a:latin typeface="+mj-lt"/>
              </a:rPr>
              <a:t>Hacking</a:t>
            </a:r>
          </a:p>
        </p:txBody>
      </p:sp>
      <p:sp>
        <p:nvSpPr>
          <p:cNvPr id="2" name="Content Placeholder 1"/>
          <p:cNvSpPr>
            <a:spLocks noGrp="1"/>
          </p:cNvSpPr>
          <p:nvPr>
            <p:ph idx="13"/>
          </p:nvPr>
        </p:nvSpPr>
        <p:spPr>
          <a:xfrm>
            <a:off x="465826" y="999226"/>
            <a:ext cx="8229600" cy="5170646"/>
          </a:xfrm>
        </p:spPr>
        <p:txBody>
          <a:bodyPr>
            <a:noAutofit/>
          </a:bodyPr>
          <a:lstStyle/>
          <a:p>
            <a:pPr marL="826643" lvl="1" indent="-255588">
              <a:buSzPts val="2400"/>
            </a:pPr>
            <a:r>
              <a:rPr lang="en-IN" sz="2200" dirty="0"/>
              <a:t>Hijacking</a:t>
            </a:r>
          </a:p>
          <a:p>
            <a:pPr marL="1226693" lvl="2" indent="-255588">
              <a:buSzPts val="2400"/>
            </a:pPr>
            <a:r>
              <a:rPr lang="en-IN" sz="2200" dirty="0"/>
              <a:t>Gaining control of a computer to carry out illicit activities</a:t>
            </a:r>
          </a:p>
          <a:p>
            <a:pPr marL="826643" lvl="1" indent="-255588">
              <a:buSzPts val="2400"/>
            </a:pPr>
            <a:r>
              <a:rPr lang="en-IN" sz="2200" dirty="0"/>
              <a:t>Botnet (robot network)</a:t>
            </a:r>
          </a:p>
          <a:p>
            <a:pPr marL="1226693" lvl="2" indent="-255588">
              <a:buSzPts val="2400"/>
            </a:pPr>
            <a:r>
              <a:rPr lang="en-IN" sz="2200" dirty="0"/>
              <a:t>Zombies</a:t>
            </a:r>
          </a:p>
          <a:p>
            <a:pPr marL="1226693" lvl="2" indent="-255588">
              <a:buSzPts val="2400"/>
            </a:pPr>
            <a:r>
              <a:rPr lang="en-IN" sz="2200" dirty="0"/>
              <a:t>Denial of Service (DoS) attack</a:t>
            </a:r>
          </a:p>
          <a:p>
            <a:pPr marL="1226693" lvl="2" indent="-255588">
              <a:buSzPts val="2400"/>
            </a:pPr>
            <a:r>
              <a:rPr lang="en-IN" sz="2200" dirty="0"/>
              <a:t>Brute force attack</a:t>
            </a:r>
          </a:p>
          <a:p>
            <a:pPr marL="1226693" lvl="2" indent="-255588">
              <a:buSzPts val="2400"/>
            </a:pPr>
            <a:r>
              <a:rPr lang="en-IN" sz="2200" dirty="0"/>
              <a:t>Password cracking</a:t>
            </a:r>
          </a:p>
          <a:p>
            <a:pPr marL="1226693" lvl="2" indent="-255588">
              <a:buSzPts val="2400"/>
            </a:pPr>
            <a:r>
              <a:rPr lang="en-IN" sz="2200" dirty="0"/>
              <a:t>Dictionary attack</a:t>
            </a:r>
          </a:p>
          <a:p>
            <a:pPr marL="1226693" lvl="2" indent="-255588">
              <a:buSzPts val="2400"/>
            </a:pPr>
            <a:r>
              <a:rPr lang="en-IN" sz="2200" dirty="0"/>
              <a:t>Spamming</a:t>
            </a:r>
          </a:p>
          <a:p>
            <a:pPr marL="1226693" lvl="2" indent="-255588">
              <a:buSzPts val="2400"/>
            </a:pPr>
            <a:r>
              <a:rPr lang="en-IN" sz="2200" dirty="0"/>
              <a:t>Spoofing – Makes the communication look as if someone else sent it so as to gain confidential information</a:t>
            </a:r>
          </a:p>
        </p:txBody>
      </p:sp>
    </p:spTree>
    <p:extLst>
      <p:ext uri="{BB962C8B-B14F-4D97-AF65-F5344CB8AC3E}">
        <p14:creationId xmlns:p14="http://schemas.microsoft.com/office/powerpoint/2010/main" val="42032559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15346"/>
            <a:ext cx="8229600" cy="618079"/>
          </a:xfrm>
        </p:spPr>
        <p:txBody>
          <a:bodyPr anchor="ctr">
            <a:noAutofit/>
          </a:bodyPr>
          <a:lstStyle/>
          <a:p>
            <a:r>
              <a:rPr lang="en-IN" sz="3600" dirty="0">
                <a:latin typeface="+mj-lt"/>
              </a:rPr>
              <a:t>Forms of Spoofing</a:t>
            </a:r>
          </a:p>
        </p:txBody>
      </p:sp>
      <p:sp>
        <p:nvSpPr>
          <p:cNvPr id="2" name="Content Placeholder 1"/>
          <p:cNvSpPr>
            <a:spLocks noGrp="1"/>
          </p:cNvSpPr>
          <p:nvPr>
            <p:ph idx="13"/>
          </p:nvPr>
        </p:nvSpPr>
        <p:spPr>
          <a:xfrm>
            <a:off x="465826" y="999226"/>
            <a:ext cx="8229600" cy="2308324"/>
          </a:xfrm>
        </p:spPr>
        <p:txBody>
          <a:bodyPr>
            <a:noAutofit/>
          </a:bodyPr>
          <a:lstStyle/>
          <a:p>
            <a:pPr lvl="0">
              <a:spcBef>
                <a:spcPts val="0"/>
              </a:spcBef>
              <a:buSzPts val="2400"/>
            </a:pPr>
            <a:r>
              <a:rPr lang="en-US" sz="2400" dirty="0"/>
              <a:t>E-mail spoofing</a:t>
            </a:r>
          </a:p>
          <a:p>
            <a:pPr lvl="0">
              <a:spcBef>
                <a:spcPts val="900"/>
              </a:spcBef>
              <a:buSzPts val="2400"/>
            </a:pPr>
            <a:r>
              <a:rPr lang="en-US" sz="2400" dirty="0"/>
              <a:t>Caller </a:t>
            </a:r>
            <a:r>
              <a:rPr lang="en-US" sz="2400" kern="0" spc="-350" dirty="0"/>
              <a:t>I </a:t>
            </a:r>
            <a:r>
              <a:rPr lang="en-US" sz="2400" dirty="0"/>
              <a:t>D spoofing</a:t>
            </a:r>
          </a:p>
          <a:p>
            <a:pPr lvl="0">
              <a:spcBef>
                <a:spcPts val="900"/>
              </a:spcBef>
              <a:buSzPts val="2400"/>
            </a:pPr>
            <a:r>
              <a:rPr lang="en-US" sz="2400" kern="0" spc="-350" dirty="0"/>
              <a:t>I </a:t>
            </a:r>
            <a:r>
              <a:rPr lang="en-US" sz="2400" dirty="0"/>
              <a:t>P address spoofing</a:t>
            </a:r>
          </a:p>
          <a:p>
            <a:pPr lvl="0">
              <a:spcBef>
                <a:spcPts val="900"/>
              </a:spcBef>
              <a:buSzPts val="2400"/>
            </a:pPr>
            <a:r>
              <a:rPr lang="en-US" sz="2400" kern="0" spc="-350" dirty="0"/>
              <a:t>S M </a:t>
            </a:r>
            <a:r>
              <a:rPr lang="en-US" sz="2400" dirty="0"/>
              <a:t>S spoofing</a:t>
            </a:r>
          </a:p>
          <a:p>
            <a:pPr lvl="0">
              <a:spcBef>
                <a:spcPts val="900"/>
              </a:spcBef>
              <a:buSzPts val="2400"/>
            </a:pPr>
            <a:r>
              <a:rPr lang="en-US" sz="2400" dirty="0"/>
              <a:t>Web-page spoofing (phishing)</a:t>
            </a:r>
          </a:p>
        </p:txBody>
      </p:sp>
    </p:spTree>
    <p:extLst>
      <p:ext uri="{BB962C8B-B14F-4D97-AF65-F5344CB8AC3E}">
        <p14:creationId xmlns:p14="http://schemas.microsoft.com/office/powerpoint/2010/main" val="10634555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15346"/>
            <a:ext cx="8229600" cy="618079"/>
          </a:xfrm>
        </p:spPr>
        <p:txBody>
          <a:bodyPr anchor="ctr">
            <a:noAutofit/>
          </a:bodyPr>
          <a:lstStyle/>
          <a:p>
            <a:r>
              <a:rPr lang="en-IN" sz="3600" dirty="0">
                <a:latin typeface="+mj-lt"/>
              </a:rPr>
              <a:t>Hacking with Computer Code</a:t>
            </a:r>
          </a:p>
        </p:txBody>
      </p:sp>
      <p:sp>
        <p:nvSpPr>
          <p:cNvPr id="2" name="Content Placeholder 1"/>
          <p:cNvSpPr>
            <a:spLocks noGrp="1"/>
          </p:cNvSpPr>
          <p:nvPr>
            <p:ph idx="13"/>
          </p:nvPr>
        </p:nvSpPr>
        <p:spPr>
          <a:xfrm>
            <a:off x="465826" y="999226"/>
            <a:ext cx="8229600" cy="4816703"/>
          </a:xfrm>
        </p:spPr>
        <p:txBody>
          <a:bodyPr>
            <a:noAutofit/>
          </a:bodyPr>
          <a:lstStyle/>
          <a:p>
            <a:pPr lvl="0">
              <a:spcBef>
                <a:spcPts val="600"/>
              </a:spcBef>
              <a:buSzPts val="2400"/>
            </a:pPr>
            <a:r>
              <a:rPr lang="en-IN" sz="2400" dirty="0"/>
              <a:t>Cross-site scripting (</a:t>
            </a:r>
            <a:r>
              <a:rPr lang="en-IN" sz="2400" kern="0" spc="-350" dirty="0"/>
              <a:t>X S </a:t>
            </a:r>
            <a:r>
              <a:rPr lang="en-IN" sz="2400" dirty="0"/>
              <a:t>S)</a:t>
            </a:r>
          </a:p>
          <a:p>
            <a:pPr lvl="1">
              <a:buSzPts val="2400"/>
            </a:pPr>
            <a:r>
              <a:rPr lang="en-IN" sz="2400" dirty="0"/>
              <a:t>Uses vulnerability of Web application that allows the Web site to get injected with malicious code. When a user visits the Web site, that malicious code is able to collect data from the user.</a:t>
            </a:r>
          </a:p>
          <a:p>
            <a:pPr lvl="0">
              <a:spcBef>
                <a:spcPts val="600"/>
              </a:spcBef>
              <a:buSzPts val="2400"/>
            </a:pPr>
            <a:r>
              <a:rPr lang="en-IN" sz="2400" dirty="0"/>
              <a:t>Buffer overflow attack</a:t>
            </a:r>
          </a:p>
          <a:p>
            <a:pPr lvl="1">
              <a:buSzPts val="2400"/>
            </a:pPr>
            <a:r>
              <a:rPr lang="en-IN" sz="2400" dirty="0"/>
              <a:t>Large amount of data sent to overflow the input memory (buffer) of a program, causing it to crash and replacing it with attacker’s program instructions.</a:t>
            </a:r>
          </a:p>
          <a:p>
            <a:pPr lvl="0">
              <a:spcBef>
                <a:spcPts val="600"/>
              </a:spcBef>
              <a:buSzPts val="2400"/>
            </a:pPr>
            <a:r>
              <a:rPr lang="en-IN" sz="2400" kern="0" spc="-350" dirty="0"/>
              <a:t>S Q </a:t>
            </a:r>
            <a:r>
              <a:rPr lang="en-IN" sz="2400" dirty="0"/>
              <a:t>L injection (insertion) attack</a:t>
            </a:r>
          </a:p>
          <a:p>
            <a:pPr lvl="1">
              <a:buSzPts val="2400"/>
            </a:pPr>
            <a:r>
              <a:rPr lang="en-IN" sz="2400" dirty="0"/>
              <a:t>Malicious code inserted in place of a query to get to the database information</a:t>
            </a:r>
          </a:p>
        </p:txBody>
      </p:sp>
    </p:spTree>
    <p:extLst>
      <p:ext uri="{BB962C8B-B14F-4D97-AF65-F5344CB8AC3E}">
        <p14:creationId xmlns:p14="http://schemas.microsoft.com/office/powerpoint/2010/main" val="8474220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15346"/>
            <a:ext cx="8229600" cy="618079"/>
          </a:xfrm>
        </p:spPr>
        <p:txBody>
          <a:bodyPr anchor="ctr">
            <a:noAutofit/>
          </a:bodyPr>
          <a:lstStyle/>
          <a:p>
            <a:r>
              <a:rPr lang="en-IN" sz="3600" dirty="0">
                <a:latin typeface="+mj-lt"/>
              </a:rPr>
              <a:t>Hacking Used for Embezzlement</a:t>
            </a:r>
          </a:p>
        </p:txBody>
      </p:sp>
      <p:sp>
        <p:nvSpPr>
          <p:cNvPr id="2" name="Content Placeholder 1"/>
          <p:cNvSpPr>
            <a:spLocks noGrp="1"/>
          </p:cNvSpPr>
          <p:nvPr>
            <p:ph idx="13"/>
          </p:nvPr>
        </p:nvSpPr>
        <p:spPr>
          <a:xfrm>
            <a:off x="465826" y="999226"/>
            <a:ext cx="8229600" cy="3785652"/>
          </a:xfrm>
        </p:spPr>
        <p:txBody>
          <a:bodyPr>
            <a:noAutofit/>
          </a:bodyPr>
          <a:lstStyle/>
          <a:p>
            <a:pPr>
              <a:spcBef>
                <a:spcPts val="600"/>
              </a:spcBef>
              <a:buSzPts val="2400"/>
            </a:pPr>
            <a:r>
              <a:rPr lang="en-IN" sz="2400" b="1" dirty="0"/>
              <a:t>Salami technique: </a:t>
            </a:r>
          </a:p>
          <a:p>
            <a:pPr lvl="1">
              <a:buSzPts val="2400"/>
            </a:pPr>
            <a:r>
              <a:rPr lang="en-IN" sz="2400" dirty="0"/>
              <a:t>Taking small amounts at a time</a:t>
            </a:r>
          </a:p>
          <a:p>
            <a:pPr lvl="2">
              <a:buSzPts val="2400"/>
            </a:pPr>
            <a:r>
              <a:rPr lang="en-IN" sz="2400" b="1" dirty="0"/>
              <a:t>Round-down fraud</a:t>
            </a:r>
          </a:p>
          <a:p>
            <a:pPr>
              <a:spcBef>
                <a:spcPts val="600"/>
              </a:spcBef>
              <a:buSzPts val="2400"/>
            </a:pPr>
            <a:r>
              <a:rPr lang="en-IN" sz="2400" b="1" dirty="0"/>
              <a:t>Economic espionage</a:t>
            </a:r>
          </a:p>
          <a:p>
            <a:pPr lvl="1">
              <a:buSzPts val="2400"/>
            </a:pPr>
            <a:r>
              <a:rPr lang="en-IN" sz="2400" dirty="0"/>
              <a:t>Theft of information, intellectual property, and trade secrets</a:t>
            </a:r>
          </a:p>
          <a:p>
            <a:pPr>
              <a:spcBef>
                <a:spcPts val="600"/>
              </a:spcBef>
              <a:buSzPts val="2400"/>
            </a:pPr>
            <a:r>
              <a:rPr lang="en-IN" sz="2400" b="1" dirty="0"/>
              <a:t>Cyber-extortion</a:t>
            </a:r>
          </a:p>
          <a:p>
            <a:pPr lvl="1">
              <a:buSzPts val="2400"/>
            </a:pPr>
            <a:r>
              <a:rPr lang="en-IN" sz="2400" dirty="0"/>
              <a:t>Threats to a person or business online through e-mail or text messages unless money is paid</a:t>
            </a:r>
          </a:p>
        </p:txBody>
      </p:sp>
    </p:spTree>
    <p:extLst>
      <p:ext uri="{BB962C8B-B14F-4D97-AF65-F5344CB8AC3E}">
        <p14:creationId xmlns:p14="http://schemas.microsoft.com/office/powerpoint/2010/main" val="33248740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15346"/>
            <a:ext cx="8229600" cy="618079"/>
          </a:xfrm>
        </p:spPr>
        <p:txBody>
          <a:bodyPr anchor="ctr">
            <a:noAutofit/>
          </a:bodyPr>
          <a:lstStyle/>
          <a:p>
            <a:r>
              <a:rPr lang="en-IN" sz="3600" dirty="0">
                <a:latin typeface="+mj-lt"/>
              </a:rPr>
              <a:t>Hacking Used for Fraud</a:t>
            </a:r>
          </a:p>
        </p:txBody>
      </p:sp>
      <p:sp>
        <p:nvSpPr>
          <p:cNvPr id="2" name="Content Placeholder 1"/>
          <p:cNvSpPr>
            <a:spLocks noGrp="1"/>
          </p:cNvSpPr>
          <p:nvPr>
            <p:ph idx="13"/>
          </p:nvPr>
        </p:nvSpPr>
        <p:spPr>
          <a:xfrm>
            <a:off x="465826" y="999226"/>
            <a:ext cx="8229600" cy="3046988"/>
          </a:xfrm>
        </p:spPr>
        <p:txBody>
          <a:bodyPr>
            <a:noAutofit/>
          </a:bodyPr>
          <a:lstStyle/>
          <a:p>
            <a:pPr lvl="0">
              <a:spcBef>
                <a:spcPts val="600"/>
              </a:spcBef>
              <a:buSzPts val="2400"/>
            </a:pPr>
            <a:r>
              <a:rPr lang="en-US" sz="2400" dirty="0"/>
              <a:t>Internet misinformation</a:t>
            </a:r>
          </a:p>
          <a:p>
            <a:pPr lvl="0">
              <a:spcBef>
                <a:spcPts val="600"/>
              </a:spcBef>
              <a:buSzPts val="2400"/>
            </a:pPr>
            <a:r>
              <a:rPr lang="en-US" sz="2400" dirty="0"/>
              <a:t>E-mail threats</a:t>
            </a:r>
          </a:p>
          <a:p>
            <a:pPr lvl="0">
              <a:spcBef>
                <a:spcPts val="600"/>
              </a:spcBef>
              <a:buSzPts val="2400"/>
            </a:pPr>
            <a:r>
              <a:rPr lang="en-US" sz="2400" dirty="0"/>
              <a:t>Internet auction </a:t>
            </a:r>
          </a:p>
          <a:p>
            <a:pPr lvl="0">
              <a:spcBef>
                <a:spcPts val="600"/>
              </a:spcBef>
              <a:buSzPts val="2400"/>
            </a:pPr>
            <a:r>
              <a:rPr lang="en-US" sz="2400" b="1" dirty="0"/>
              <a:t>Internet pump and dump</a:t>
            </a:r>
          </a:p>
          <a:p>
            <a:pPr lvl="0">
              <a:spcBef>
                <a:spcPts val="600"/>
              </a:spcBef>
              <a:buSzPts val="2400"/>
            </a:pPr>
            <a:r>
              <a:rPr lang="en-US" sz="2400" b="1" dirty="0"/>
              <a:t>Cryptocurrency fraud</a:t>
            </a:r>
          </a:p>
          <a:p>
            <a:pPr lvl="0">
              <a:spcBef>
                <a:spcPts val="600"/>
              </a:spcBef>
              <a:buSzPts val="2400"/>
            </a:pPr>
            <a:r>
              <a:rPr lang="en-US" sz="2400" dirty="0"/>
              <a:t>Click fraud</a:t>
            </a:r>
          </a:p>
          <a:p>
            <a:pPr lvl="0">
              <a:spcBef>
                <a:spcPts val="600"/>
              </a:spcBef>
              <a:buSzPts val="2400"/>
            </a:pPr>
            <a:r>
              <a:rPr lang="en-US" sz="2400" b="1" dirty="0"/>
              <a:t>Software piracy</a:t>
            </a:r>
          </a:p>
        </p:txBody>
      </p:sp>
    </p:spTree>
    <p:extLst>
      <p:ext uri="{BB962C8B-B14F-4D97-AF65-F5344CB8AC3E}">
        <p14:creationId xmlns:p14="http://schemas.microsoft.com/office/powerpoint/2010/main" val="24264674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086" y="159102"/>
            <a:ext cx="8229600" cy="553998"/>
          </a:xfrm>
        </p:spPr>
        <p:txBody>
          <a:bodyPr>
            <a:noAutofit/>
          </a:bodyPr>
          <a:lstStyle/>
          <a:p>
            <a:r>
              <a:rPr lang="en-US" sz="3600" dirty="0">
                <a:latin typeface="+mj-lt"/>
              </a:rPr>
              <a:t>Social Engineering Techniques</a:t>
            </a:r>
            <a:endParaRPr lang="en-IN" sz="3600" dirty="0">
              <a:latin typeface="+mj-lt"/>
            </a:endParaRPr>
          </a:p>
        </p:txBody>
      </p:sp>
      <p:sp>
        <p:nvSpPr>
          <p:cNvPr id="2" name="Content Placeholder 1"/>
          <p:cNvSpPr>
            <a:spLocks noGrp="1"/>
          </p:cNvSpPr>
          <p:nvPr>
            <p:ph idx="1"/>
          </p:nvPr>
        </p:nvSpPr>
        <p:spPr>
          <a:xfrm>
            <a:off x="468922" y="1000648"/>
            <a:ext cx="3798278" cy="5232202"/>
          </a:xfrm>
        </p:spPr>
        <p:txBody>
          <a:bodyPr>
            <a:noAutofit/>
          </a:bodyPr>
          <a:lstStyle/>
          <a:p>
            <a:pPr>
              <a:spcBef>
                <a:spcPts val="200"/>
              </a:spcBef>
              <a:buSzPct val="100000"/>
            </a:pPr>
            <a:r>
              <a:rPr lang="en-IN" sz="1800" dirty="0"/>
              <a:t>Identity theft</a:t>
            </a:r>
          </a:p>
          <a:p>
            <a:pPr lvl="1">
              <a:spcBef>
                <a:spcPts val="200"/>
              </a:spcBef>
              <a:buSzPct val="100000"/>
            </a:pPr>
            <a:r>
              <a:rPr lang="en-IN" sz="1800" dirty="0"/>
              <a:t>Assuming someone else’s identity</a:t>
            </a:r>
          </a:p>
          <a:p>
            <a:pPr>
              <a:spcBef>
                <a:spcPts val="200"/>
              </a:spcBef>
              <a:buSzPct val="100000"/>
            </a:pPr>
            <a:r>
              <a:rPr lang="en-IN" sz="1800" dirty="0"/>
              <a:t>Phishing</a:t>
            </a:r>
          </a:p>
          <a:p>
            <a:pPr lvl="1">
              <a:spcBef>
                <a:spcPts val="200"/>
              </a:spcBef>
              <a:buSzPct val="100000"/>
            </a:pPr>
            <a:r>
              <a:rPr lang="en-IN" sz="1800" dirty="0"/>
              <a:t>Sending an e-mail asking the victim to respond to a link that appears legitimate that requests sensitive data</a:t>
            </a:r>
          </a:p>
        </p:txBody>
      </p:sp>
      <p:sp>
        <p:nvSpPr>
          <p:cNvPr id="3" name="Content Placeholder 2"/>
          <p:cNvSpPr>
            <a:spLocks noGrp="1"/>
          </p:cNvSpPr>
          <p:nvPr>
            <p:ph idx="13"/>
          </p:nvPr>
        </p:nvSpPr>
        <p:spPr>
          <a:xfrm>
            <a:off x="4582048" y="1003914"/>
            <a:ext cx="4093030" cy="4637167"/>
          </a:xfrm>
        </p:spPr>
        <p:txBody>
          <a:bodyPr>
            <a:noAutofit/>
          </a:bodyPr>
          <a:lstStyle/>
          <a:p>
            <a:pPr>
              <a:spcBef>
                <a:spcPts val="200"/>
              </a:spcBef>
              <a:buSzPts val="1600"/>
            </a:pPr>
            <a:r>
              <a:rPr lang="en-IN" sz="1800" b="1" kern="0" spc="-250" dirty="0"/>
              <a:t>U R </a:t>
            </a:r>
            <a:r>
              <a:rPr lang="en-IN" sz="1800" b="1" dirty="0"/>
              <a:t>L hijacking</a:t>
            </a:r>
          </a:p>
          <a:p>
            <a:pPr lvl="1">
              <a:spcBef>
                <a:spcPts val="200"/>
              </a:spcBef>
              <a:buSzPts val="1600"/>
            </a:pPr>
            <a:r>
              <a:rPr lang="en-IN" sz="1800" dirty="0"/>
              <a:t>Takes advantage of typographical errors entered in for websites and user gets invalid or wrong website</a:t>
            </a:r>
          </a:p>
          <a:p>
            <a:pPr>
              <a:spcBef>
                <a:spcPts val="200"/>
              </a:spcBef>
              <a:buSzPts val="1600"/>
            </a:pPr>
            <a:r>
              <a:rPr lang="en-IN" sz="1800" dirty="0"/>
              <a:t>Scavenging</a:t>
            </a:r>
          </a:p>
          <a:p>
            <a:pPr lvl="1">
              <a:spcBef>
                <a:spcPts val="200"/>
              </a:spcBef>
              <a:buSzPts val="1600"/>
            </a:pPr>
            <a:r>
              <a:rPr lang="en-IN" sz="1800" dirty="0"/>
              <a:t>Searching trash for confidential information</a:t>
            </a:r>
          </a:p>
          <a:p>
            <a:pPr>
              <a:spcBef>
                <a:spcPts val="200"/>
              </a:spcBef>
              <a:buSzPts val="1600"/>
            </a:pPr>
            <a:r>
              <a:rPr lang="en-IN" sz="1800" dirty="0"/>
              <a:t>Shoulder surfing</a:t>
            </a:r>
          </a:p>
          <a:p>
            <a:pPr lvl="1">
              <a:spcBef>
                <a:spcPts val="200"/>
              </a:spcBef>
              <a:buSzPts val="1600"/>
            </a:pPr>
            <a:r>
              <a:rPr lang="en-IN" sz="1800" dirty="0"/>
              <a:t>Snooping (either close behind the person) or using technology to snoop and get confidential information </a:t>
            </a:r>
          </a:p>
          <a:p>
            <a:pPr>
              <a:spcBef>
                <a:spcPts val="200"/>
              </a:spcBef>
            </a:pPr>
            <a:r>
              <a:rPr lang="en-IN" sz="1800" dirty="0"/>
              <a:t>Skimming</a:t>
            </a:r>
          </a:p>
          <a:p>
            <a:pPr lvl="1">
              <a:spcBef>
                <a:spcPts val="200"/>
              </a:spcBef>
            </a:pPr>
            <a:r>
              <a:rPr lang="en-IN" sz="1800" dirty="0"/>
              <a:t>Double swiping credit card</a:t>
            </a:r>
          </a:p>
          <a:p>
            <a:pPr>
              <a:spcBef>
                <a:spcPts val="200"/>
              </a:spcBef>
              <a:buSzPts val="1600"/>
            </a:pPr>
            <a:endParaRPr lang="en-IN" sz="1800" dirty="0"/>
          </a:p>
        </p:txBody>
      </p:sp>
    </p:spTree>
    <p:extLst>
      <p:ext uri="{BB962C8B-B14F-4D97-AF65-F5344CB8AC3E}">
        <p14:creationId xmlns:p14="http://schemas.microsoft.com/office/powerpoint/2010/main" val="28094715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27703"/>
            <a:ext cx="8229600" cy="618079"/>
          </a:xfrm>
        </p:spPr>
        <p:txBody>
          <a:bodyPr anchor="ctr">
            <a:noAutofit/>
          </a:bodyPr>
          <a:lstStyle/>
          <a:p>
            <a:r>
              <a:rPr lang="en-IN" sz="3600" dirty="0">
                <a:latin typeface="+mj-lt"/>
              </a:rPr>
              <a:t>Why People Fall Victim</a:t>
            </a:r>
          </a:p>
        </p:txBody>
      </p:sp>
      <p:sp>
        <p:nvSpPr>
          <p:cNvPr id="2" name="Content Placeholder 1"/>
          <p:cNvSpPr>
            <a:spLocks noGrp="1"/>
          </p:cNvSpPr>
          <p:nvPr>
            <p:ph idx="13"/>
          </p:nvPr>
        </p:nvSpPr>
        <p:spPr>
          <a:xfrm>
            <a:off x="465826" y="999226"/>
            <a:ext cx="8229600" cy="5309146"/>
          </a:xfrm>
        </p:spPr>
        <p:txBody>
          <a:bodyPr>
            <a:noAutofit/>
          </a:bodyPr>
          <a:lstStyle/>
          <a:p>
            <a:pPr lvl="0">
              <a:spcBef>
                <a:spcPts val="600"/>
              </a:spcBef>
              <a:buSzPts val="2200"/>
            </a:pPr>
            <a:r>
              <a:rPr lang="en-IN" sz="2000" dirty="0"/>
              <a:t>Compassion</a:t>
            </a:r>
          </a:p>
          <a:p>
            <a:pPr lvl="1">
              <a:buSzPts val="1800"/>
            </a:pPr>
            <a:r>
              <a:rPr lang="en-IN" sz="2000" dirty="0"/>
              <a:t>Desire to help others</a:t>
            </a:r>
          </a:p>
          <a:p>
            <a:pPr lvl="0">
              <a:spcBef>
                <a:spcPts val="600"/>
              </a:spcBef>
              <a:buSzPts val="2200"/>
            </a:pPr>
            <a:r>
              <a:rPr lang="en-IN" sz="2000" dirty="0"/>
              <a:t>Greed</a:t>
            </a:r>
          </a:p>
          <a:p>
            <a:pPr lvl="1">
              <a:buSzPts val="1800"/>
            </a:pPr>
            <a:r>
              <a:rPr lang="en-IN" sz="2000" dirty="0"/>
              <a:t>Want a good deal or something for free</a:t>
            </a:r>
          </a:p>
          <a:p>
            <a:pPr lvl="0">
              <a:spcBef>
                <a:spcPts val="600"/>
              </a:spcBef>
              <a:buSzPts val="2200"/>
            </a:pPr>
            <a:r>
              <a:rPr lang="en-IN" sz="2000" dirty="0"/>
              <a:t>Sex appeal</a:t>
            </a:r>
          </a:p>
          <a:p>
            <a:pPr lvl="1">
              <a:buSzPts val="1800"/>
            </a:pPr>
            <a:r>
              <a:rPr lang="en-IN" sz="2000" dirty="0"/>
              <a:t>More cooperative with those that are flirtatious or good looking</a:t>
            </a:r>
          </a:p>
          <a:p>
            <a:pPr lvl="0">
              <a:spcBef>
                <a:spcPts val="600"/>
              </a:spcBef>
              <a:buSzPts val="2200"/>
            </a:pPr>
            <a:r>
              <a:rPr lang="en-IN" sz="2000" dirty="0"/>
              <a:t>Sloth</a:t>
            </a:r>
          </a:p>
          <a:p>
            <a:pPr lvl="1">
              <a:buSzPts val="1800"/>
            </a:pPr>
            <a:r>
              <a:rPr lang="en-IN" sz="2000" dirty="0"/>
              <a:t>Lazy habits </a:t>
            </a:r>
          </a:p>
          <a:p>
            <a:pPr lvl="0">
              <a:spcBef>
                <a:spcPts val="600"/>
              </a:spcBef>
              <a:buSzPts val="2200"/>
            </a:pPr>
            <a:r>
              <a:rPr lang="en-IN" sz="2000" dirty="0"/>
              <a:t>Trust</a:t>
            </a:r>
          </a:p>
          <a:p>
            <a:pPr lvl="1">
              <a:buSzPts val="1800"/>
            </a:pPr>
            <a:r>
              <a:rPr lang="en-IN" sz="2000" dirty="0"/>
              <a:t>Will cooperate if trust is gained</a:t>
            </a:r>
          </a:p>
          <a:p>
            <a:pPr lvl="0">
              <a:spcBef>
                <a:spcPts val="600"/>
              </a:spcBef>
              <a:buSzPts val="2200"/>
            </a:pPr>
            <a:r>
              <a:rPr lang="en-IN" sz="2000" dirty="0"/>
              <a:t>Urgency</a:t>
            </a:r>
          </a:p>
          <a:p>
            <a:pPr lvl="1">
              <a:buSzPts val="1800"/>
            </a:pPr>
            <a:r>
              <a:rPr lang="en-IN" sz="2000" dirty="0"/>
              <a:t>Cooperation occurs when there is a sense of immediate need</a:t>
            </a:r>
          </a:p>
          <a:p>
            <a:pPr lvl="0">
              <a:spcBef>
                <a:spcPts val="600"/>
              </a:spcBef>
              <a:buSzPts val="2200"/>
            </a:pPr>
            <a:r>
              <a:rPr lang="en-IN" sz="2000" dirty="0"/>
              <a:t>Vanity</a:t>
            </a:r>
          </a:p>
          <a:p>
            <a:pPr lvl="1">
              <a:buSzPts val="1800"/>
            </a:pPr>
            <a:r>
              <a:rPr lang="en-IN" sz="2000" dirty="0"/>
              <a:t>More cooperation when appeal to vanity</a:t>
            </a:r>
          </a:p>
        </p:txBody>
      </p:sp>
    </p:spTree>
    <p:extLst>
      <p:ext uri="{BB962C8B-B14F-4D97-AF65-F5344CB8AC3E}">
        <p14:creationId xmlns:p14="http://schemas.microsoft.com/office/powerpoint/2010/main" val="2503354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50333"/>
            <a:ext cx="8229600" cy="1107996"/>
          </a:xfrm>
        </p:spPr>
        <p:txBody>
          <a:bodyPr anchor="ctr">
            <a:noAutofit/>
          </a:bodyPr>
          <a:lstStyle/>
          <a:p>
            <a:r>
              <a:rPr lang="en-IN" sz="3600" dirty="0">
                <a:latin typeface="+mj-lt"/>
              </a:rPr>
              <a:t>Minimize the Threat of Social Engineering</a:t>
            </a:r>
          </a:p>
        </p:txBody>
      </p:sp>
      <p:sp>
        <p:nvSpPr>
          <p:cNvPr id="2" name="Content Placeholder 1"/>
          <p:cNvSpPr>
            <a:spLocks noGrp="1"/>
          </p:cNvSpPr>
          <p:nvPr>
            <p:ph idx="13"/>
          </p:nvPr>
        </p:nvSpPr>
        <p:spPr>
          <a:xfrm>
            <a:off x="465826" y="1447800"/>
            <a:ext cx="8229600" cy="2893100"/>
          </a:xfrm>
        </p:spPr>
        <p:txBody>
          <a:bodyPr>
            <a:noAutofit/>
          </a:bodyPr>
          <a:lstStyle/>
          <a:p>
            <a:pPr lvl="0">
              <a:spcBef>
                <a:spcPts val="600"/>
              </a:spcBef>
              <a:buSzPts val="2400"/>
            </a:pPr>
            <a:r>
              <a:rPr lang="en-IN" sz="2400" dirty="0"/>
              <a:t>Never let people follow you into restricted areas</a:t>
            </a:r>
          </a:p>
          <a:p>
            <a:pPr lvl="0">
              <a:spcBef>
                <a:spcPts val="600"/>
              </a:spcBef>
              <a:buSzPts val="2400"/>
            </a:pPr>
            <a:r>
              <a:rPr lang="en-IN" sz="2400" dirty="0"/>
              <a:t>Never log in for someone else on a computer</a:t>
            </a:r>
          </a:p>
          <a:p>
            <a:pPr lvl="0">
              <a:spcBef>
                <a:spcPts val="600"/>
              </a:spcBef>
              <a:buSzPts val="2400"/>
            </a:pPr>
            <a:r>
              <a:rPr lang="en-IN" sz="2400" dirty="0"/>
              <a:t>Never give sensitive information over the phone or through e-mail</a:t>
            </a:r>
          </a:p>
          <a:p>
            <a:pPr lvl="0">
              <a:spcBef>
                <a:spcPts val="600"/>
              </a:spcBef>
              <a:buSzPts val="2400"/>
            </a:pPr>
            <a:r>
              <a:rPr lang="en-IN" sz="2400" dirty="0"/>
              <a:t>Never share passwords or user </a:t>
            </a:r>
            <a:r>
              <a:rPr lang="en-IN" sz="2400" kern="0" spc="-300" dirty="0"/>
              <a:t>I </a:t>
            </a:r>
            <a:r>
              <a:rPr lang="en-IN" sz="2400" dirty="0"/>
              <a:t>Ds</a:t>
            </a:r>
          </a:p>
          <a:p>
            <a:pPr lvl="0">
              <a:spcBef>
                <a:spcPts val="600"/>
              </a:spcBef>
              <a:buSzPts val="2400"/>
            </a:pPr>
            <a:r>
              <a:rPr lang="en-IN" sz="2400" dirty="0"/>
              <a:t>Be cautious of someone you don’t know who is trying to gain access through you</a:t>
            </a:r>
          </a:p>
        </p:txBody>
      </p:sp>
    </p:spTree>
    <p:extLst>
      <p:ext uri="{BB962C8B-B14F-4D97-AF65-F5344CB8AC3E}">
        <p14:creationId xmlns:p14="http://schemas.microsoft.com/office/powerpoint/2010/main" val="6191628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086" y="159102"/>
            <a:ext cx="8229600" cy="553998"/>
          </a:xfrm>
        </p:spPr>
        <p:txBody>
          <a:bodyPr>
            <a:noAutofit/>
          </a:bodyPr>
          <a:lstStyle/>
          <a:p>
            <a:r>
              <a:rPr lang="en-US" sz="3600" dirty="0">
                <a:latin typeface="+mj-lt"/>
              </a:rPr>
              <a:t>Types of Malware</a:t>
            </a:r>
            <a:endParaRPr lang="en-IN" sz="3600" dirty="0">
              <a:latin typeface="+mj-lt"/>
            </a:endParaRPr>
          </a:p>
        </p:txBody>
      </p:sp>
      <p:sp>
        <p:nvSpPr>
          <p:cNvPr id="2" name="Content Placeholder 1"/>
          <p:cNvSpPr>
            <a:spLocks noGrp="1"/>
          </p:cNvSpPr>
          <p:nvPr>
            <p:ph idx="1"/>
          </p:nvPr>
        </p:nvSpPr>
        <p:spPr>
          <a:xfrm>
            <a:off x="468922" y="1000648"/>
            <a:ext cx="3798278" cy="5232202"/>
          </a:xfrm>
        </p:spPr>
        <p:txBody>
          <a:bodyPr>
            <a:noAutofit/>
          </a:bodyPr>
          <a:lstStyle/>
          <a:p>
            <a:pPr>
              <a:spcBef>
                <a:spcPts val="0"/>
              </a:spcBef>
              <a:buSzPts val="1600"/>
            </a:pPr>
            <a:r>
              <a:rPr lang="en-IN" sz="1800" b="1" dirty="0"/>
              <a:t>Spyware</a:t>
            </a:r>
          </a:p>
          <a:p>
            <a:pPr lvl="1">
              <a:spcBef>
                <a:spcPts val="0"/>
              </a:spcBef>
              <a:buSzPts val="1600"/>
            </a:pPr>
            <a:r>
              <a:rPr lang="en-IN" sz="1800" dirty="0"/>
              <a:t>Secretly monitors and collects information</a:t>
            </a:r>
          </a:p>
          <a:p>
            <a:pPr lvl="1">
              <a:spcBef>
                <a:spcPts val="0"/>
              </a:spcBef>
              <a:buSzPts val="1600"/>
            </a:pPr>
            <a:r>
              <a:rPr lang="en-IN" sz="1800" dirty="0"/>
              <a:t>Can hijack browser, search requests</a:t>
            </a:r>
          </a:p>
          <a:p>
            <a:pPr lvl="1">
              <a:spcBef>
                <a:spcPts val="0"/>
              </a:spcBef>
              <a:buSzPts val="1600"/>
            </a:pPr>
            <a:r>
              <a:rPr lang="en-IN" sz="1800" dirty="0"/>
              <a:t>Adware, scareware</a:t>
            </a:r>
          </a:p>
          <a:p>
            <a:pPr>
              <a:spcBef>
                <a:spcPts val="0"/>
              </a:spcBef>
              <a:buSzPts val="1600"/>
            </a:pPr>
            <a:r>
              <a:rPr lang="en-IN" sz="1800" b="1" dirty="0"/>
              <a:t>Cyber-extortion</a:t>
            </a:r>
          </a:p>
          <a:p>
            <a:pPr lvl="1">
              <a:spcBef>
                <a:spcPts val="0"/>
              </a:spcBef>
            </a:pPr>
            <a:r>
              <a:rPr lang="en-IN" sz="1800" dirty="0"/>
              <a:t>Threatening to harm a company or a person if a specified amount of money is not paid</a:t>
            </a:r>
          </a:p>
          <a:p>
            <a:pPr>
              <a:spcBef>
                <a:spcPts val="0"/>
              </a:spcBef>
              <a:buSzPts val="1600"/>
            </a:pPr>
            <a:r>
              <a:rPr lang="en-IN" sz="1800" b="1" dirty="0"/>
              <a:t>Keylogger</a:t>
            </a:r>
          </a:p>
          <a:p>
            <a:pPr lvl="1">
              <a:spcBef>
                <a:spcPts val="0"/>
              </a:spcBef>
              <a:buSzPts val="1600"/>
            </a:pPr>
            <a:r>
              <a:rPr lang="en-IN" sz="1800" dirty="0"/>
              <a:t>Software that records user keystrokes</a:t>
            </a:r>
          </a:p>
          <a:p>
            <a:pPr>
              <a:spcBef>
                <a:spcPts val="0"/>
              </a:spcBef>
              <a:buSzPts val="1600"/>
            </a:pPr>
            <a:r>
              <a:rPr lang="en-IN" sz="1800" b="1" dirty="0"/>
              <a:t>Trojan Horse</a:t>
            </a:r>
          </a:p>
          <a:p>
            <a:pPr lvl="1">
              <a:spcBef>
                <a:spcPts val="0"/>
              </a:spcBef>
              <a:buSzPts val="1600"/>
            </a:pPr>
            <a:r>
              <a:rPr lang="en-IN" sz="1800" dirty="0"/>
              <a:t>Malicious computer instructions in an authorized and properly functioning program</a:t>
            </a:r>
          </a:p>
        </p:txBody>
      </p:sp>
      <p:sp>
        <p:nvSpPr>
          <p:cNvPr id="3" name="Content Placeholder 2"/>
          <p:cNvSpPr>
            <a:spLocks noGrp="1"/>
          </p:cNvSpPr>
          <p:nvPr>
            <p:ph idx="13"/>
          </p:nvPr>
        </p:nvSpPr>
        <p:spPr>
          <a:xfrm>
            <a:off x="4582048" y="1003914"/>
            <a:ext cx="4093030" cy="4431983"/>
          </a:xfrm>
        </p:spPr>
        <p:txBody>
          <a:bodyPr>
            <a:noAutofit/>
          </a:bodyPr>
          <a:lstStyle/>
          <a:p>
            <a:pPr>
              <a:spcBef>
                <a:spcPts val="0"/>
              </a:spcBef>
              <a:buSzPct val="100000"/>
            </a:pPr>
            <a:r>
              <a:rPr lang="en-IN" sz="1800" b="1" dirty="0"/>
              <a:t>Virus</a:t>
            </a:r>
          </a:p>
          <a:p>
            <a:pPr lvl="1">
              <a:spcBef>
                <a:spcPts val="0"/>
              </a:spcBef>
              <a:buSzPct val="100000"/>
            </a:pPr>
            <a:r>
              <a:rPr lang="en-IN" sz="1800" dirty="0"/>
              <a:t>A section of self-replicating code that attaches to a program or file requiring a human to do something so it can replicate itself</a:t>
            </a:r>
          </a:p>
        </p:txBody>
      </p:sp>
    </p:spTree>
    <p:extLst>
      <p:ext uri="{BB962C8B-B14F-4D97-AF65-F5344CB8AC3E}">
        <p14:creationId xmlns:p14="http://schemas.microsoft.com/office/powerpoint/2010/main" val="39833511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086" y="146745"/>
            <a:ext cx="8229600" cy="553998"/>
          </a:xfrm>
        </p:spPr>
        <p:txBody>
          <a:bodyPr>
            <a:noAutofit/>
          </a:bodyPr>
          <a:lstStyle/>
          <a:p>
            <a:r>
              <a:rPr lang="en-IN" sz="3600" dirty="0">
                <a:latin typeface="+mj-lt"/>
              </a:rPr>
              <a:t>Key Terms </a:t>
            </a:r>
            <a:r>
              <a:rPr lang="en-IN" sz="2800" dirty="0">
                <a:latin typeface="+mj-lt"/>
              </a:rPr>
              <a:t>(1 of 3)</a:t>
            </a:r>
            <a:endParaRPr lang="en-IN" sz="3600" dirty="0">
              <a:latin typeface="+mj-lt"/>
            </a:endParaRPr>
          </a:p>
        </p:txBody>
      </p:sp>
      <p:sp>
        <p:nvSpPr>
          <p:cNvPr id="2" name="Content Placeholder 1"/>
          <p:cNvSpPr>
            <a:spLocks noGrp="1"/>
          </p:cNvSpPr>
          <p:nvPr>
            <p:ph idx="1"/>
          </p:nvPr>
        </p:nvSpPr>
        <p:spPr>
          <a:xfrm>
            <a:off x="468922" y="1000648"/>
            <a:ext cx="3962400" cy="5334794"/>
          </a:xfrm>
        </p:spPr>
        <p:txBody>
          <a:bodyPr>
            <a:noAutofit/>
          </a:bodyPr>
          <a:lstStyle/>
          <a:p>
            <a:pPr lvl="0">
              <a:spcBef>
                <a:spcPts val="400"/>
              </a:spcBef>
              <a:buSzPct val="100000"/>
            </a:pPr>
            <a:r>
              <a:rPr lang="en-US" sz="2000" b="1" dirty="0"/>
              <a:t>Hacking</a:t>
            </a:r>
          </a:p>
          <a:p>
            <a:pPr lvl="0">
              <a:spcBef>
                <a:spcPts val="400"/>
              </a:spcBef>
              <a:buSzPct val="100000"/>
            </a:pPr>
            <a:r>
              <a:rPr lang="en-US" sz="2000" dirty="0"/>
              <a:t>Hijacking</a:t>
            </a:r>
          </a:p>
          <a:p>
            <a:pPr lvl="0">
              <a:spcBef>
                <a:spcPts val="400"/>
              </a:spcBef>
              <a:buSzPct val="100000"/>
            </a:pPr>
            <a:r>
              <a:rPr lang="en-US" sz="2000" b="1" dirty="0"/>
              <a:t>Botnet</a:t>
            </a:r>
          </a:p>
          <a:p>
            <a:pPr lvl="0">
              <a:spcBef>
                <a:spcPts val="400"/>
              </a:spcBef>
              <a:buSzPct val="100000"/>
            </a:pPr>
            <a:r>
              <a:rPr lang="en-US" sz="2000" dirty="0"/>
              <a:t>Zombies</a:t>
            </a:r>
          </a:p>
          <a:p>
            <a:pPr lvl="0">
              <a:spcBef>
                <a:spcPts val="400"/>
              </a:spcBef>
              <a:buSzPct val="100000"/>
            </a:pPr>
            <a:r>
              <a:rPr lang="en-US" sz="2000" dirty="0"/>
              <a:t>Bot herder</a:t>
            </a:r>
          </a:p>
          <a:p>
            <a:pPr lvl="0">
              <a:spcBef>
                <a:spcPts val="400"/>
              </a:spcBef>
              <a:buSzPct val="100000"/>
            </a:pPr>
            <a:r>
              <a:rPr lang="en-US" sz="2000" b="1" dirty="0"/>
              <a:t>Denial-of-service (DoS) attack</a:t>
            </a:r>
          </a:p>
          <a:p>
            <a:pPr lvl="0">
              <a:spcBef>
                <a:spcPts val="400"/>
              </a:spcBef>
              <a:buSzPct val="100000"/>
            </a:pPr>
            <a:r>
              <a:rPr lang="en-US" sz="2000" b="1" dirty="0"/>
              <a:t>Brute force attack</a:t>
            </a:r>
          </a:p>
          <a:p>
            <a:pPr lvl="0">
              <a:spcBef>
                <a:spcPts val="400"/>
              </a:spcBef>
              <a:buSzPct val="100000"/>
            </a:pPr>
            <a:r>
              <a:rPr lang="en-US" sz="2000" b="1" dirty="0"/>
              <a:t>Password cracking</a:t>
            </a:r>
          </a:p>
          <a:p>
            <a:pPr lvl="0">
              <a:spcBef>
                <a:spcPts val="400"/>
              </a:spcBef>
              <a:buSzPct val="100000"/>
            </a:pPr>
            <a:r>
              <a:rPr lang="en-US" sz="2000" b="1" dirty="0"/>
              <a:t>Dictionary attack</a:t>
            </a:r>
          </a:p>
          <a:p>
            <a:pPr lvl="0">
              <a:spcBef>
                <a:spcPts val="400"/>
              </a:spcBef>
              <a:buSzPct val="100000"/>
            </a:pPr>
            <a:r>
              <a:rPr lang="en-US" sz="2000" b="1" dirty="0"/>
              <a:t>Spamming</a:t>
            </a:r>
          </a:p>
          <a:p>
            <a:pPr lvl="0">
              <a:spcBef>
                <a:spcPts val="400"/>
              </a:spcBef>
              <a:buSzPct val="100000"/>
            </a:pPr>
            <a:r>
              <a:rPr lang="en-US" sz="2000" b="1" dirty="0"/>
              <a:t>Spoofing</a:t>
            </a:r>
          </a:p>
          <a:p>
            <a:pPr lvl="0">
              <a:spcBef>
                <a:spcPts val="400"/>
              </a:spcBef>
              <a:buSzPct val="100000"/>
            </a:pPr>
            <a:r>
              <a:rPr lang="en-US" sz="2000" dirty="0"/>
              <a:t>E-mail spoofing</a:t>
            </a:r>
          </a:p>
          <a:p>
            <a:pPr lvl="0">
              <a:spcBef>
                <a:spcPts val="400"/>
              </a:spcBef>
              <a:buSzPct val="100000"/>
            </a:pPr>
            <a:r>
              <a:rPr lang="en-US" sz="2000" dirty="0"/>
              <a:t>Caller </a:t>
            </a:r>
            <a:r>
              <a:rPr lang="en-US" sz="2000" kern="0" spc="-300" dirty="0"/>
              <a:t>I </a:t>
            </a:r>
            <a:r>
              <a:rPr lang="en-US" sz="2000" dirty="0"/>
              <a:t>D spoofing</a:t>
            </a:r>
          </a:p>
          <a:p>
            <a:pPr lvl="0">
              <a:spcBef>
                <a:spcPts val="400"/>
              </a:spcBef>
              <a:buSzPct val="100000"/>
            </a:pPr>
            <a:r>
              <a:rPr lang="en-US" sz="2000" kern="0" spc="-300" dirty="0"/>
              <a:t>I </a:t>
            </a:r>
            <a:r>
              <a:rPr lang="en-US" sz="2000" dirty="0"/>
              <a:t>P address spoofing</a:t>
            </a:r>
          </a:p>
          <a:p>
            <a:pPr lvl="0">
              <a:spcBef>
                <a:spcPts val="400"/>
              </a:spcBef>
              <a:buSzPct val="100000"/>
            </a:pPr>
            <a:r>
              <a:rPr lang="en-US" sz="2000" kern="0" spc="-300" dirty="0"/>
              <a:t>S M </a:t>
            </a:r>
            <a:r>
              <a:rPr lang="en-US" sz="2000" dirty="0"/>
              <a:t>S spoofing</a:t>
            </a:r>
          </a:p>
        </p:txBody>
      </p:sp>
      <p:sp>
        <p:nvSpPr>
          <p:cNvPr id="3" name="Content Placeholder 2"/>
          <p:cNvSpPr>
            <a:spLocks noGrp="1"/>
          </p:cNvSpPr>
          <p:nvPr>
            <p:ph idx="13"/>
          </p:nvPr>
        </p:nvSpPr>
        <p:spPr>
          <a:xfrm>
            <a:off x="4431322" y="1003914"/>
            <a:ext cx="4113126" cy="4975721"/>
          </a:xfrm>
        </p:spPr>
        <p:txBody>
          <a:bodyPr>
            <a:noAutofit/>
          </a:bodyPr>
          <a:lstStyle/>
          <a:p>
            <a:pPr lvl="0">
              <a:spcBef>
                <a:spcPts val="400"/>
              </a:spcBef>
              <a:buSzPct val="100000"/>
            </a:pPr>
            <a:r>
              <a:rPr lang="en-US" sz="2000" dirty="0"/>
              <a:t>Web-page spoofing</a:t>
            </a:r>
          </a:p>
          <a:p>
            <a:pPr lvl="0">
              <a:spcBef>
                <a:spcPts val="400"/>
              </a:spcBef>
              <a:buSzPct val="100000"/>
            </a:pPr>
            <a:r>
              <a:rPr lang="en-US" sz="2000" dirty="0"/>
              <a:t>Vulnerabilities</a:t>
            </a:r>
          </a:p>
          <a:p>
            <a:pPr lvl="0">
              <a:spcBef>
                <a:spcPts val="400"/>
              </a:spcBef>
              <a:buSzPct val="100000"/>
            </a:pPr>
            <a:r>
              <a:rPr lang="en-US" sz="2000" b="1" dirty="0"/>
              <a:t>Zero-day attack</a:t>
            </a:r>
          </a:p>
          <a:p>
            <a:pPr lvl="0">
              <a:spcBef>
                <a:spcPts val="400"/>
              </a:spcBef>
              <a:buSzPct val="100000"/>
            </a:pPr>
            <a:r>
              <a:rPr lang="en-US" sz="2000" b="1" dirty="0"/>
              <a:t>Patch</a:t>
            </a:r>
          </a:p>
          <a:p>
            <a:pPr lvl="0">
              <a:spcBef>
                <a:spcPts val="400"/>
              </a:spcBef>
              <a:buSzPct val="100000"/>
            </a:pPr>
            <a:r>
              <a:rPr lang="en-US" sz="2000" dirty="0"/>
              <a:t>Cross-site scripting (</a:t>
            </a:r>
            <a:r>
              <a:rPr lang="en-US" sz="2000" kern="0" spc="-300" dirty="0"/>
              <a:t>X S </a:t>
            </a:r>
            <a:r>
              <a:rPr lang="en-US" sz="2000" dirty="0"/>
              <a:t>S)</a:t>
            </a:r>
          </a:p>
          <a:p>
            <a:pPr lvl="0">
              <a:spcBef>
                <a:spcPts val="400"/>
              </a:spcBef>
              <a:buSzPct val="100000"/>
            </a:pPr>
            <a:r>
              <a:rPr lang="en-US" sz="2000" dirty="0"/>
              <a:t>Buffer overflow attack</a:t>
            </a:r>
          </a:p>
          <a:p>
            <a:pPr lvl="0">
              <a:spcBef>
                <a:spcPts val="400"/>
              </a:spcBef>
              <a:buSzPct val="100000"/>
            </a:pPr>
            <a:r>
              <a:rPr lang="en-US" sz="2000" b="1" kern="0" spc="-300" dirty="0"/>
              <a:t>S Q </a:t>
            </a:r>
            <a:r>
              <a:rPr lang="en-US" sz="2000" b="1" dirty="0"/>
              <a:t>L injection (insertion) attack</a:t>
            </a:r>
          </a:p>
          <a:p>
            <a:pPr lvl="0">
              <a:spcBef>
                <a:spcPts val="400"/>
              </a:spcBef>
              <a:buSzPct val="100000"/>
            </a:pPr>
            <a:r>
              <a:rPr lang="en-US" sz="2000" b="1" dirty="0"/>
              <a:t>Man-in-the-middle (</a:t>
            </a:r>
            <a:r>
              <a:rPr lang="en-US" sz="2000" b="1" kern="0" spc="-300" dirty="0"/>
              <a:t>M I T </a:t>
            </a:r>
            <a:r>
              <a:rPr lang="en-US" sz="2000" b="1" dirty="0"/>
              <a:t>M) attack</a:t>
            </a:r>
          </a:p>
          <a:p>
            <a:pPr lvl="0">
              <a:spcBef>
                <a:spcPts val="400"/>
              </a:spcBef>
              <a:buSzPct val="100000"/>
            </a:pPr>
            <a:r>
              <a:rPr lang="en-US" sz="2000" dirty="0"/>
              <a:t>Masquerading/impersonation</a:t>
            </a:r>
          </a:p>
          <a:p>
            <a:pPr lvl="0">
              <a:spcBef>
                <a:spcPts val="400"/>
              </a:spcBef>
              <a:buSzPct val="100000"/>
            </a:pPr>
            <a:r>
              <a:rPr lang="en-US" sz="2000" dirty="0"/>
              <a:t>Piggybacking</a:t>
            </a:r>
          </a:p>
          <a:p>
            <a:pPr lvl="0">
              <a:spcBef>
                <a:spcPts val="400"/>
              </a:spcBef>
            </a:pPr>
            <a:r>
              <a:rPr lang="en-US" sz="2000" dirty="0"/>
              <a:t>War dialing</a:t>
            </a:r>
          </a:p>
          <a:p>
            <a:pPr lvl="0">
              <a:spcBef>
                <a:spcPts val="400"/>
              </a:spcBef>
            </a:pPr>
            <a:r>
              <a:rPr lang="en-US" sz="2000" dirty="0"/>
              <a:t>War driving</a:t>
            </a:r>
          </a:p>
          <a:p>
            <a:pPr lvl="0">
              <a:spcBef>
                <a:spcPts val="400"/>
              </a:spcBef>
            </a:pPr>
            <a:r>
              <a:rPr lang="en-US" sz="2000" dirty="0"/>
              <a:t>Phreaking</a:t>
            </a:r>
          </a:p>
          <a:p>
            <a:pPr lvl="0">
              <a:spcBef>
                <a:spcPts val="400"/>
              </a:spcBef>
            </a:pPr>
            <a:r>
              <a:rPr lang="en-US" sz="2000" dirty="0" err="1"/>
              <a:t>Podslurping</a:t>
            </a:r>
            <a:endParaRPr lang="en-US" sz="2000" dirty="0"/>
          </a:p>
        </p:txBody>
      </p:sp>
    </p:spTree>
    <p:extLst>
      <p:ext uri="{BB962C8B-B14F-4D97-AF65-F5344CB8AC3E}">
        <p14:creationId xmlns:p14="http://schemas.microsoft.com/office/powerpoint/2010/main" val="1454097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086" y="159102"/>
            <a:ext cx="8229600" cy="553998"/>
          </a:xfrm>
        </p:spPr>
        <p:txBody>
          <a:bodyPr>
            <a:noAutofit/>
          </a:bodyPr>
          <a:lstStyle/>
          <a:p>
            <a:r>
              <a:rPr lang="en-IN" sz="3600" dirty="0">
                <a:latin typeface="+mj-lt"/>
              </a:rPr>
              <a:t>Key Terms </a:t>
            </a:r>
            <a:r>
              <a:rPr lang="en-IN" sz="2800" dirty="0">
                <a:latin typeface="+mj-lt"/>
              </a:rPr>
              <a:t>(2 of 3)</a:t>
            </a:r>
          </a:p>
        </p:txBody>
      </p:sp>
      <p:sp>
        <p:nvSpPr>
          <p:cNvPr id="2" name="Content Placeholder 1"/>
          <p:cNvSpPr>
            <a:spLocks noGrp="1"/>
          </p:cNvSpPr>
          <p:nvPr>
            <p:ph idx="1"/>
          </p:nvPr>
        </p:nvSpPr>
        <p:spPr>
          <a:xfrm>
            <a:off x="468922" y="1000648"/>
            <a:ext cx="4407878" cy="5334794"/>
          </a:xfrm>
        </p:spPr>
        <p:txBody>
          <a:bodyPr>
            <a:noAutofit/>
          </a:bodyPr>
          <a:lstStyle/>
          <a:p>
            <a:pPr lvl="0">
              <a:spcBef>
                <a:spcPts val="500"/>
              </a:spcBef>
              <a:buSzPct val="100000"/>
            </a:pPr>
            <a:r>
              <a:rPr lang="en-US" sz="2000" dirty="0"/>
              <a:t>Salami technique</a:t>
            </a:r>
          </a:p>
          <a:p>
            <a:pPr lvl="0">
              <a:spcBef>
                <a:spcPts val="500"/>
              </a:spcBef>
              <a:buSzPct val="100000"/>
            </a:pPr>
            <a:r>
              <a:rPr lang="en-US" sz="2000" dirty="0"/>
              <a:t>Round-down fraud</a:t>
            </a:r>
          </a:p>
          <a:p>
            <a:pPr lvl="0">
              <a:spcBef>
                <a:spcPts val="500"/>
              </a:spcBef>
              <a:buSzPct val="100000"/>
            </a:pPr>
            <a:r>
              <a:rPr lang="en-US" sz="2000" dirty="0"/>
              <a:t>Economic espionage</a:t>
            </a:r>
          </a:p>
          <a:p>
            <a:pPr lvl="0">
              <a:spcBef>
                <a:spcPts val="500"/>
              </a:spcBef>
              <a:buSzPct val="100000"/>
            </a:pPr>
            <a:r>
              <a:rPr lang="en-US" sz="2000" dirty="0"/>
              <a:t>Cyber-bullying</a:t>
            </a:r>
          </a:p>
          <a:p>
            <a:pPr lvl="0">
              <a:spcBef>
                <a:spcPts val="500"/>
              </a:spcBef>
              <a:buSzPct val="100000"/>
            </a:pPr>
            <a:r>
              <a:rPr lang="en-US" sz="2000" dirty="0"/>
              <a:t>Sexting</a:t>
            </a:r>
          </a:p>
          <a:p>
            <a:pPr lvl="0">
              <a:spcBef>
                <a:spcPts val="500"/>
              </a:spcBef>
            </a:pPr>
            <a:r>
              <a:rPr lang="en-US" sz="2000" dirty="0"/>
              <a:t>Internet misinformation</a:t>
            </a:r>
          </a:p>
          <a:p>
            <a:pPr lvl="0">
              <a:spcBef>
                <a:spcPts val="500"/>
              </a:spcBef>
            </a:pPr>
            <a:r>
              <a:rPr lang="en-US" sz="2000" dirty="0"/>
              <a:t>E-mail threats</a:t>
            </a:r>
          </a:p>
          <a:p>
            <a:pPr lvl="0">
              <a:spcBef>
                <a:spcPts val="500"/>
              </a:spcBef>
            </a:pPr>
            <a:r>
              <a:rPr lang="en-US" sz="2000" dirty="0"/>
              <a:t>Internet auction fraud</a:t>
            </a:r>
          </a:p>
          <a:p>
            <a:pPr lvl="0">
              <a:spcBef>
                <a:spcPts val="500"/>
              </a:spcBef>
            </a:pPr>
            <a:r>
              <a:rPr lang="en-US" sz="2000" b="1" dirty="0"/>
              <a:t>Internet pump-and-dump fraud</a:t>
            </a:r>
          </a:p>
          <a:p>
            <a:pPr lvl="0">
              <a:spcBef>
                <a:spcPts val="500"/>
              </a:spcBef>
            </a:pPr>
            <a:r>
              <a:rPr lang="en-US" sz="2000" dirty="0"/>
              <a:t>Cryptocurrency fraud</a:t>
            </a:r>
          </a:p>
          <a:p>
            <a:pPr lvl="0">
              <a:spcBef>
                <a:spcPts val="500"/>
              </a:spcBef>
            </a:pPr>
            <a:r>
              <a:rPr lang="en-US" sz="2000" b="1" dirty="0"/>
              <a:t>Click fraud</a:t>
            </a:r>
          </a:p>
          <a:p>
            <a:pPr lvl="0">
              <a:spcBef>
                <a:spcPts val="500"/>
              </a:spcBef>
            </a:pPr>
            <a:r>
              <a:rPr lang="en-US" sz="2000" dirty="0"/>
              <a:t>Software piracy</a:t>
            </a:r>
          </a:p>
          <a:p>
            <a:pPr lvl="0">
              <a:spcBef>
                <a:spcPts val="500"/>
              </a:spcBef>
            </a:pPr>
            <a:r>
              <a:rPr lang="en-US" sz="2000" b="1" dirty="0"/>
              <a:t>Social engineering</a:t>
            </a:r>
          </a:p>
          <a:p>
            <a:pPr lvl="0">
              <a:spcBef>
                <a:spcPts val="500"/>
              </a:spcBef>
            </a:pPr>
            <a:r>
              <a:rPr lang="en-US" sz="2000" dirty="0"/>
              <a:t>Identity theft</a:t>
            </a:r>
          </a:p>
        </p:txBody>
      </p:sp>
      <p:sp>
        <p:nvSpPr>
          <p:cNvPr id="3" name="Content Placeholder 2"/>
          <p:cNvSpPr>
            <a:spLocks noGrp="1"/>
          </p:cNvSpPr>
          <p:nvPr>
            <p:ph idx="13"/>
          </p:nvPr>
        </p:nvSpPr>
        <p:spPr>
          <a:xfrm>
            <a:off x="4582048" y="1003914"/>
            <a:ext cx="3962400" cy="5142433"/>
          </a:xfrm>
        </p:spPr>
        <p:txBody>
          <a:bodyPr>
            <a:noAutofit/>
          </a:bodyPr>
          <a:lstStyle/>
          <a:p>
            <a:pPr lvl="0">
              <a:spcBef>
                <a:spcPts val="500"/>
              </a:spcBef>
              <a:buSzPct val="100000"/>
            </a:pPr>
            <a:r>
              <a:rPr lang="en-US" sz="2000" dirty="0"/>
              <a:t>Pretexting</a:t>
            </a:r>
          </a:p>
          <a:p>
            <a:pPr lvl="0">
              <a:spcBef>
                <a:spcPts val="500"/>
              </a:spcBef>
              <a:buSzPct val="100000"/>
            </a:pPr>
            <a:r>
              <a:rPr lang="en-US" sz="2000" dirty="0"/>
              <a:t>Posing</a:t>
            </a:r>
          </a:p>
          <a:p>
            <a:pPr lvl="0">
              <a:spcBef>
                <a:spcPts val="500"/>
              </a:spcBef>
              <a:buSzPct val="100000"/>
            </a:pPr>
            <a:r>
              <a:rPr lang="en-US" sz="2000" dirty="0"/>
              <a:t>Phishing</a:t>
            </a:r>
          </a:p>
          <a:p>
            <a:pPr lvl="0">
              <a:spcBef>
                <a:spcPts val="500"/>
              </a:spcBef>
              <a:buSzPct val="100000"/>
            </a:pPr>
            <a:r>
              <a:rPr lang="en-US" sz="2000" dirty="0"/>
              <a:t>Vishing</a:t>
            </a:r>
          </a:p>
          <a:p>
            <a:pPr lvl="0">
              <a:spcBef>
                <a:spcPts val="500"/>
              </a:spcBef>
            </a:pPr>
            <a:r>
              <a:rPr lang="en-US" sz="2000" dirty="0"/>
              <a:t>Carding</a:t>
            </a:r>
          </a:p>
          <a:p>
            <a:pPr lvl="0">
              <a:spcBef>
                <a:spcPts val="500"/>
              </a:spcBef>
            </a:pPr>
            <a:r>
              <a:rPr lang="en-US" sz="2000" dirty="0"/>
              <a:t>Pharming</a:t>
            </a:r>
          </a:p>
          <a:p>
            <a:pPr lvl="0">
              <a:spcBef>
                <a:spcPts val="500"/>
              </a:spcBef>
            </a:pPr>
            <a:r>
              <a:rPr lang="en-US" sz="2000" dirty="0"/>
              <a:t>Evil twin</a:t>
            </a:r>
          </a:p>
          <a:p>
            <a:pPr lvl="0">
              <a:spcBef>
                <a:spcPts val="500"/>
              </a:spcBef>
            </a:pPr>
            <a:r>
              <a:rPr lang="en-US" sz="2000" dirty="0" err="1"/>
              <a:t>Typosquatting</a:t>
            </a:r>
            <a:r>
              <a:rPr lang="en-US" sz="2000" dirty="0"/>
              <a:t>/</a:t>
            </a:r>
            <a:r>
              <a:rPr lang="en-US" sz="2000" kern="0" spc="-300" dirty="0"/>
              <a:t>U R </a:t>
            </a:r>
            <a:r>
              <a:rPr lang="en-US" sz="2000" dirty="0"/>
              <a:t>L hijacking</a:t>
            </a:r>
          </a:p>
          <a:p>
            <a:pPr lvl="0">
              <a:spcBef>
                <a:spcPts val="500"/>
              </a:spcBef>
            </a:pPr>
            <a:r>
              <a:rPr lang="en-US" sz="2000" dirty="0"/>
              <a:t>Scavenging/dumpster diving</a:t>
            </a:r>
          </a:p>
          <a:p>
            <a:pPr lvl="0">
              <a:spcBef>
                <a:spcPts val="500"/>
              </a:spcBef>
            </a:pPr>
            <a:r>
              <a:rPr lang="en-US" sz="2000" dirty="0"/>
              <a:t>Shoulder surfing</a:t>
            </a:r>
          </a:p>
          <a:p>
            <a:pPr lvl="0">
              <a:spcBef>
                <a:spcPts val="500"/>
              </a:spcBef>
            </a:pPr>
            <a:r>
              <a:rPr lang="en-US" sz="2000" dirty="0"/>
              <a:t>Lebanese looping</a:t>
            </a:r>
          </a:p>
          <a:p>
            <a:pPr lvl="0">
              <a:spcBef>
                <a:spcPts val="500"/>
              </a:spcBef>
            </a:pPr>
            <a:r>
              <a:rPr lang="en-US" sz="2000" dirty="0"/>
              <a:t>Skimming</a:t>
            </a:r>
          </a:p>
          <a:p>
            <a:pPr lvl="0">
              <a:spcBef>
                <a:spcPts val="500"/>
              </a:spcBef>
            </a:pPr>
            <a:r>
              <a:rPr lang="en-US" sz="2000" dirty="0"/>
              <a:t>Chipping</a:t>
            </a:r>
          </a:p>
          <a:p>
            <a:pPr lvl="0">
              <a:spcBef>
                <a:spcPts val="500"/>
              </a:spcBef>
            </a:pPr>
            <a:r>
              <a:rPr lang="en-US" sz="2000" dirty="0"/>
              <a:t>Eavesdropping</a:t>
            </a:r>
          </a:p>
        </p:txBody>
      </p:sp>
    </p:spTree>
    <p:extLst>
      <p:ext uri="{BB962C8B-B14F-4D97-AF65-F5344CB8AC3E}">
        <p14:creationId xmlns:p14="http://schemas.microsoft.com/office/powerpoint/2010/main" val="10441788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086" y="159102"/>
            <a:ext cx="8229600" cy="553998"/>
          </a:xfrm>
        </p:spPr>
        <p:txBody>
          <a:bodyPr>
            <a:noAutofit/>
          </a:bodyPr>
          <a:lstStyle/>
          <a:p>
            <a:r>
              <a:rPr lang="en-IN" sz="3600" dirty="0">
                <a:latin typeface="+mj-lt"/>
              </a:rPr>
              <a:t>Key Terms </a:t>
            </a:r>
            <a:r>
              <a:rPr lang="en-IN" sz="2800" dirty="0">
                <a:latin typeface="+mj-lt"/>
              </a:rPr>
              <a:t>(3 of 3)</a:t>
            </a:r>
            <a:endParaRPr lang="en-IN" sz="3600" dirty="0">
              <a:latin typeface="+mj-lt"/>
            </a:endParaRPr>
          </a:p>
        </p:txBody>
      </p:sp>
      <p:sp>
        <p:nvSpPr>
          <p:cNvPr id="2" name="Content Placeholder 1"/>
          <p:cNvSpPr>
            <a:spLocks noGrp="1"/>
          </p:cNvSpPr>
          <p:nvPr>
            <p:ph idx="1"/>
          </p:nvPr>
        </p:nvSpPr>
        <p:spPr>
          <a:xfrm>
            <a:off x="468922" y="1000648"/>
            <a:ext cx="3962400" cy="5334794"/>
          </a:xfrm>
        </p:spPr>
        <p:txBody>
          <a:bodyPr>
            <a:spAutoFit/>
          </a:bodyPr>
          <a:lstStyle/>
          <a:p>
            <a:pPr lvl="0">
              <a:spcBef>
                <a:spcPts val="500"/>
              </a:spcBef>
              <a:buSzPct val="100000"/>
            </a:pPr>
            <a:r>
              <a:rPr lang="en-US" sz="2000" b="1" dirty="0"/>
              <a:t>Spyware</a:t>
            </a:r>
          </a:p>
          <a:p>
            <a:pPr lvl="0">
              <a:spcBef>
                <a:spcPts val="500"/>
              </a:spcBef>
              <a:buSzPct val="100000"/>
            </a:pPr>
            <a:r>
              <a:rPr lang="en-US" sz="2000" dirty="0"/>
              <a:t>Adware</a:t>
            </a:r>
          </a:p>
          <a:p>
            <a:pPr lvl="0">
              <a:spcBef>
                <a:spcPts val="500"/>
              </a:spcBef>
            </a:pPr>
            <a:r>
              <a:rPr lang="en-US" sz="2000" dirty="0"/>
              <a:t>Torpedo software</a:t>
            </a:r>
          </a:p>
          <a:p>
            <a:pPr lvl="0">
              <a:spcBef>
                <a:spcPts val="500"/>
              </a:spcBef>
            </a:pPr>
            <a:r>
              <a:rPr lang="en-US" sz="2000" dirty="0"/>
              <a:t>Scareware</a:t>
            </a:r>
          </a:p>
          <a:p>
            <a:pPr lvl="0">
              <a:spcBef>
                <a:spcPts val="500"/>
              </a:spcBef>
            </a:pPr>
            <a:r>
              <a:rPr lang="en-US" sz="2000" dirty="0"/>
              <a:t>Cyber-extortion</a:t>
            </a:r>
          </a:p>
          <a:p>
            <a:pPr lvl="0">
              <a:spcBef>
                <a:spcPts val="500"/>
              </a:spcBef>
            </a:pPr>
            <a:r>
              <a:rPr lang="en-US" sz="2000" b="1" dirty="0"/>
              <a:t>Ransomware</a:t>
            </a:r>
          </a:p>
          <a:p>
            <a:pPr lvl="0">
              <a:spcBef>
                <a:spcPts val="500"/>
              </a:spcBef>
            </a:pPr>
            <a:r>
              <a:rPr lang="en-US" sz="2000" b="1" dirty="0"/>
              <a:t>Keylogger</a:t>
            </a:r>
          </a:p>
          <a:p>
            <a:pPr lvl="0">
              <a:spcBef>
                <a:spcPts val="500"/>
              </a:spcBef>
            </a:pPr>
            <a:r>
              <a:rPr lang="en-US" sz="2000" dirty="0"/>
              <a:t>Trojan horse</a:t>
            </a:r>
          </a:p>
          <a:p>
            <a:pPr lvl="0">
              <a:spcBef>
                <a:spcPts val="500"/>
              </a:spcBef>
            </a:pPr>
            <a:r>
              <a:rPr lang="en-US" sz="2000" dirty="0"/>
              <a:t>Time bomb/logic bomb</a:t>
            </a:r>
          </a:p>
          <a:p>
            <a:pPr lvl="0">
              <a:spcBef>
                <a:spcPts val="500"/>
              </a:spcBef>
            </a:pPr>
            <a:r>
              <a:rPr lang="en-US" sz="2000" dirty="0"/>
              <a:t>Trap door/back door</a:t>
            </a:r>
          </a:p>
          <a:p>
            <a:pPr lvl="0">
              <a:spcBef>
                <a:spcPts val="500"/>
              </a:spcBef>
            </a:pPr>
            <a:r>
              <a:rPr lang="en-US" sz="2000" dirty="0"/>
              <a:t>Packet sniffers</a:t>
            </a:r>
          </a:p>
          <a:p>
            <a:pPr lvl="0">
              <a:spcBef>
                <a:spcPts val="500"/>
              </a:spcBef>
            </a:pPr>
            <a:r>
              <a:rPr lang="en-US" sz="2000" dirty="0"/>
              <a:t>Steganography program</a:t>
            </a:r>
          </a:p>
          <a:p>
            <a:pPr lvl="0">
              <a:spcBef>
                <a:spcPts val="500"/>
              </a:spcBef>
            </a:pPr>
            <a:r>
              <a:rPr lang="en-US" sz="2000" b="1" dirty="0"/>
              <a:t>Rootkit</a:t>
            </a:r>
          </a:p>
          <a:p>
            <a:pPr lvl="0">
              <a:spcBef>
                <a:spcPts val="500"/>
              </a:spcBef>
            </a:pPr>
            <a:r>
              <a:rPr lang="en-US" sz="2000" dirty="0"/>
              <a:t>Virus</a:t>
            </a:r>
          </a:p>
        </p:txBody>
      </p:sp>
      <p:sp>
        <p:nvSpPr>
          <p:cNvPr id="3" name="Content Placeholder 2"/>
          <p:cNvSpPr>
            <a:spLocks noGrp="1"/>
          </p:cNvSpPr>
          <p:nvPr>
            <p:ph idx="13"/>
          </p:nvPr>
        </p:nvSpPr>
        <p:spPr>
          <a:xfrm>
            <a:off x="4582048" y="1003914"/>
            <a:ext cx="3962400" cy="1051570"/>
          </a:xfrm>
        </p:spPr>
        <p:txBody>
          <a:bodyPr>
            <a:noAutofit/>
          </a:bodyPr>
          <a:lstStyle/>
          <a:p>
            <a:pPr lvl="0">
              <a:spcBef>
                <a:spcPts val="500"/>
              </a:spcBef>
              <a:buSzPct val="100000"/>
            </a:pPr>
            <a:r>
              <a:rPr lang="en-US" sz="2000" dirty="0"/>
              <a:t>Worm</a:t>
            </a:r>
          </a:p>
          <a:p>
            <a:pPr lvl="0">
              <a:spcBef>
                <a:spcPts val="500"/>
              </a:spcBef>
              <a:buSzPct val="100000"/>
            </a:pPr>
            <a:r>
              <a:rPr lang="en-US" sz="2000" dirty="0" err="1"/>
              <a:t>Bluesnarfing</a:t>
            </a:r>
            <a:endParaRPr lang="en-US" sz="2000" dirty="0"/>
          </a:p>
          <a:p>
            <a:pPr lvl="0">
              <a:spcBef>
                <a:spcPts val="500"/>
              </a:spcBef>
              <a:buSzPct val="100000"/>
            </a:pPr>
            <a:r>
              <a:rPr lang="en-US" sz="2000" dirty="0"/>
              <a:t>Bluebugging</a:t>
            </a:r>
          </a:p>
        </p:txBody>
      </p:sp>
    </p:spTree>
    <p:extLst>
      <p:ext uri="{BB962C8B-B14F-4D97-AF65-F5344CB8AC3E}">
        <p14:creationId xmlns:p14="http://schemas.microsoft.com/office/powerpoint/2010/main" val="35582851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ow to Create a Strong Password (and Remember It)">
            <a:extLst>
              <a:ext uri="{FF2B5EF4-FFF2-40B4-BE49-F238E27FC236}">
                <a16:creationId xmlns:a16="http://schemas.microsoft.com/office/drawing/2014/main" id="{155D572C-7ABF-E04E-8844-7E60931B1A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9450" y="191275"/>
            <a:ext cx="7785100" cy="632389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2F68AC27-3DE1-E841-B22C-AD7F22D9E1C8}"/>
              </a:ext>
            </a:extLst>
          </p:cNvPr>
          <p:cNvSpPr txBox="1"/>
          <p:nvPr/>
        </p:nvSpPr>
        <p:spPr>
          <a:xfrm>
            <a:off x="0" y="6515172"/>
            <a:ext cx="4572000" cy="369332"/>
          </a:xfrm>
          <a:prstGeom prst="rect">
            <a:avLst/>
          </a:prstGeom>
          <a:noFill/>
        </p:spPr>
        <p:txBody>
          <a:bodyPr wrap="square">
            <a:spAutoFit/>
          </a:bodyPr>
          <a:lstStyle/>
          <a:p>
            <a:r>
              <a:rPr lang="en-US" dirty="0"/>
              <a:t>https://</a:t>
            </a:r>
            <a:r>
              <a:rPr lang="en-US" dirty="0" err="1"/>
              <a:t>xkcd.com</a:t>
            </a:r>
            <a:r>
              <a:rPr lang="en-US" dirty="0"/>
              <a:t>/936/</a:t>
            </a:r>
          </a:p>
        </p:txBody>
      </p:sp>
    </p:spTree>
    <p:extLst>
      <p:ext uri="{BB962C8B-B14F-4D97-AF65-F5344CB8AC3E}">
        <p14:creationId xmlns:p14="http://schemas.microsoft.com/office/powerpoint/2010/main" val="31459241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example of a password vault.">
            <a:extLst>
              <a:ext uri="{FF2B5EF4-FFF2-40B4-BE49-F238E27FC236}">
                <a16:creationId xmlns:a16="http://schemas.microsoft.com/office/drawing/2014/main" id="{D0A5E661-7E06-0942-88B0-342E95A23C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7000"/>
            <a:ext cx="9144000" cy="660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0535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61B71991-7F79-E546-B41C-44098249E7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549928"/>
            <a:ext cx="8255000" cy="50927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0231D6B-76C5-454D-9F3C-6C161D1891B7}"/>
              </a:ext>
            </a:extLst>
          </p:cNvPr>
          <p:cNvSpPr>
            <a:spLocks noGrp="1"/>
          </p:cNvSpPr>
          <p:nvPr>
            <p:ph type="title"/>
          </p:nvPr>
        </p:nvSpPr>
        <p:spPr>
          <a:xfrm>
            <a:off x="453887" y="16589"/>
            <a:ext cx="8229600" cy="1097280"/>
          </a:xfrm>
        </p:spPr>
        <p:txBody>
          <a:bodyPr/>
          <a:lstStyle/>
          <a:p>
            <a:r>
              <a:rPr lang="en-US" dirty="0"/>
              <a:t>Online backup</a:t>
            </a:r>
          </a:p>
        </p:txBody>
      </p:sp>
      <p:sp>
        <p:nvSpPr>
          <p:cNvPr id="3" name="Content Placeholder 2">
            <a:extLst>
              <a:ext uri="{FF2B5EF4-FFF2-40B4-BE49-F238E27FC236}">
                <a16:creationId xmlns:a16="http://schemas.microsoft.com/office/drawing/2014/main" id="{BDEA6E4D-3A2C-9E46-8884-60A61F9AB1BF}"/>
              </a:ext>
            </a:extLst>
          </p:cNvPr>
          <p:cNvSpPr>
            <a:spLocks noGrp="1"/>
          </p:cNvSpPr>
          <p:nvPr>
            <p:ph idx="1"/>
          </p:nvPr>
        </p:nvSpPr>
        <p:spPr/>
        <p:txBody>
          <a:bodyPr/>
          <a:lstStyle/>
          <a:p>
            <a:pPr marL="0" indent="0">
              <a:buNone/>
            </a:pPr>
            <a:endParaRPr lang="en-US" dirty="0"/>
          </a:p>
        </p:txBody>
      </p:sp>
    </p:spTree>
    <p:extLst>
      <p:ext uri="{BB962C8B-B14F-4D97-AF65-F5344CB8AC3E}">
        <p14:creationId xmlns:p14="http://schemas.microsoft.com/office/powerpoint/2010/main" val="33645020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C3802-2434-2144-9306-8FB78535745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A70F2DA-D224-9D4F-B674-79D230E17507}"/>
              </a:ext>
            </a:extLst>
          </p:cNvPr>
          <p:cNvSpPr>
            <a:spLocks noGrp="1"/>
          </p:cNvSpPr>
          <p:nvPr>
            <p:ph idx="1"/>
          </p:nvPr>
        </p:nvSpPr>
        <p:spPr/>
        <p:txBody>
          <a:bodyPr/>
          <a:lstStyle/>
          <a:p>
            <a:endParaRPr lang="en-US"/>
          </a:p>
        </p:txBody>
      </p:sp>
      <p:pic>
        <p:nvPicPr>
          <p:cNvPr id="7170" name="Picture 2">
            <a:extLst>
              <a:ext uri="{FF2B5EF4-FFF2-40B4-BE49-F238E27FC236}">
                <a16:creationId xmlns:a16="http://schemas.microsoft.com/office/drawing/2014/main" id="{7ECF8CDA-D011-3347-87C0-71B8232055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6718" y="824924"/>
            <a:ext cx="4930563" cy="57912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E54AFEB-5DF1-BB42-9761-4FCDD566A04B}"/>
              </a:ext>
            </a:extLst>
          </p:cNvPr>
          <p:cNvSpPr txBox="1"/>
          <p:nvPr/>
        </p:nvSpPr>
        <p:spPr>
          <a:xfrm>
            <a:off x="0" y="0"/>
            <a:ext cx="9220200" cy="369332"/>
          </a:xfrm>
          <a:prstGeom prst="rect">
            <a:avLst/>
          </a:prstGeom>
          <a:noFill/>
        </p:spPr>
        <p:txBody>
          <a:bodyPr wrap="square">
            <a:spAutoFit/>
          </a:bodyPr>
          <a:lstStyle/>
          <a:p>
            <a:r>
              <a:rPr lang="en-US" dirty="0"/>
              <a:t>https://</a:t>
            </a:r>
            <a:r>
              <a:rPr lang="en-US" dirty="0" err="1"/>
              <a:t>www.backblaze.com</a:t>
            </a:r>
            <a:r>
              <a:rPr lang="en-US" dirty="0"/>
              <a:t>/blog/backblaze-drive-stats-for-q3-2021/</a:t>
            </a:r>
          </a:p>
        </p:txBody>
      </p:sp>
    </p:spTree>
    <p:extLst>
      <p:ext uri="{BB962C8B-B14F-4D97-AF65-F5344CB8AC3E}">
        <p14:creationId xmlns:p14="http://schemas.microsoft.com/office/powerpoint/2010/main" val="13020173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A720EA-104C-2D42-B9E8-C4776918E385}"/>
              </a:ext>
            </a:extLst>
          </p:cNvPr>
          <p:cNvSpPr>
            <a:spLocks noGrp="1"/>
          </p:cNvSpPr>
          <p:nvPr>
            <p:ph idx="1"/>
          </p:nvPr>
        </p:nvSpPr>
        <p:spPr/>
        <p:txBody>
          <a:bodyPr/>
          <a:lstStyle/>
          <a:p>
            <a:endParaRPr lang="en-US" dirty="0"/>
          </a:p>
        </p:txBody>
      </p:sp>
      <p:pic>
        <p:nvPicPr>
          <p:cNvPr id="5122" name="Picture 2">
            <a:extLst>
              <a:ext uri="{FF2B5EF4-FFF2-40B4-BE49-F238E27FC236}">
                <a16:creationId xmlns:a16="http://schemas.microsoft.com/office/drawing/2014/main" id="{DDF6194C-F188-1840-96D4-C7AC7ED4D3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609946"/>
            <a:ext cx="7112000" cy="5486400"/>
          </a:xfrm>
          <a:prstGeom prst="rect">
            <a:avLst/>
          </a:prstGeom>
          <a:noFill/>
          <a:extLst>
            <a:ext uri="{909E8E84-426E-40DD-AFC4-6F175D3DCCD1}">
              <a14:hiddenFill xmlns:a14="http://schemas.microsoft.com/office/drawing/2010/main">
                <a:solidFill>
                  <a:srgbClr val="FFFFFF"/>
                </a:solidFill>
              </a14:hiddenFill>
            </a:ext>
          </a:extLst>
        </p:spPr>
      </p:pic>
      <p:sp>
        <p:nvSpPr>
          <p:cNvPr id="7" name="Title 6">
            <a:extLst>
              <a:ext uri="{FF2B5EF4-FFF2-40B4-BE49-F238E27FC236}">
                <a16:creationId xmlns:a16="http://schemas.microsoft.com/office/drawing/2014/main" id="{57DB7B6F-A8CB-B043-B970-B6B9A5B82670}"/>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1293353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4F208-8322-6D42-8E7C-BDD8D8FB0D0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4EE7A74-36F0-5742-8EE9-ACE9CAD39280}"/>
              </a:ext>
            </a:extLst>
          </p:cNvPr>
          <p:cNvSpPr>
            <a:spLocks noGrp="1"/>
          </p:cNvSpPr>
          <p:nvPr>
            <p:ph idx="1"/>
          </p:nvPr>
        </p:nvSpPr>
        <p:spPr/>
        <p:txBody>
          <a:bodyPr/>
          <a:lstStyle/>
          <a:p>
            <a:endParaRPr lang="en-US"/>
          </a:p>
        </p:txBody>
      </p:sp>
      <p:pic>
        <p:nvPicPr>
          <p:cNvPr id="6146" name="Picture 2">
            <a:extLst>
              <a:ext uri="{FF2B5EF4-FFF2-40B4-BE49-F238E27FC236}">
                <a16:creationId xmlns:a16="http://schemas.microsoft.com/office/drawing/2014/main" id="{BE272BCB-48CA-4F4E-B135-3E496F7610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00025"/>
            <a:ext cx="9144000" cy="6456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92355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31D6B-76C5-454D-9F3C-6C161D1891B7}"/>
              </a:ext>
            </a:extLst>
          </p:cNvPr>
          <p:cNvSpPr>
            <a:spLocks noGrp="1"/>
          </p:cNvSpPr>
          <p:nvPr>
            <p:ph type="title"/>
          </p:nvPr>
        </p:nvSpPr>
        <p:spPr>
          <a:xfrm>
            <a:off x="453887" y="16589"/>
            <a:ext cx="8229600" cy="1097280"/>
          </a:xfrm>
        </p:spPr>
        <p:txBody>
          <a:bodyPr/>
          <a:lstStyle/>
          <a:p>
            <a:r>
              <a:rPr lang="en-US" dirty="0"/>
              <a:t>Disk backup</a:t>
            </a:r>
          </a:p>
        </p:txBody>
      </p:sp>
      <p:pic>
        <p:nvPicPr>
          <p:cNvPr id="5" name="Picture 4" descr="Graphical user interface, text, application, email&#10;&#10;Description automatically generated">
            <a:extLst>
              <a:ext uri="{FF2B5EF4-FFF2-40B4-BE49-F238E27FC236}">
                <a16:creationId xmlns:a16="http://schemas.microsoft.com/office/drawing/2014/main" id="{6606A6C7-D995-BC43-AB6C-4CDB550EB56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9069" y="1371600"/>
            <a:ext cx="7585862" cy="4603072"/>
          </a:xfrm>
          <a:prstGeom prst="rect">
            <a:avLst/>
          </a:prstGeom>
        </p:spPr>
      </p:pic>
    </p:spTree>
    <p:extLst>
      <p:ext uri="{BB962C8B-B14F-4D97-AF65-F5344CB8AC3E}">
        <p14:creationId xmlns:p14="http://schemas.microsoft.com/office/powerpoint/2010/main" val="28749745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9732"/>
            <a:ext cx="8229600" cy="553998"/>
          </a:xfrm>
        </p:spPr>
        <p:txBody>
          <a:bodyPr wrap="square">
            <a:spAutoFit/>
          </a:bodyPr>
          <a:lstStyle/>
          <a:p>
            <a:r>
              <a:rPr lang="en-US" sz="3600" dirty="0">
                <a:latin typeface="+mj-lt"/>
              </a:rPr>
              <a:t>Copyright</a:t>
            </a:r>
            <a:endParaRPr lang="en-US" sz="3600" b="0" dirty="0">
              <a:latin typeface="+mj-lt"/>
            </a:endParaRPr>
          </a:p>
        </p:txBody>
      </p:sp>
      <p:pic>
        <p:nvPicPr>
          <p:cNvPr id="10" name="Picture Placeholder 9" descr="Warning">
            <a:extLst>
              <a:ext uri="{FF2B5EF4-FFF2-40B4-BE49-F238E27FC236}">
                <a16:creationId xmlns:a16="http://schemas.microsoft.com/office/drawing/2014/main" id="{916ED080-4A7D-4795-B4C6-665358BE6EAE}"/>
              </a:ext>
            </a:extLst>
          </p:cNvPr>
          <p:cNvPicPr>
            <a:picLocks noGrp="1" noChangeAspect="1"/>
          </p:cNvPicPr>
          <p:nvPr>
            <p:ph type="pic" sz="quarter" idx="14"/>
          </p:nvPr>
        </p:nvPicPr>
        <p:blipFill>
          <a:blip r:embed="rId3">
            <a:extLst>
              <a:ext uri="{96DAC541-7B7A-43D3-8B79-37D633B846F1}">
                <asvg:svgBlip xmlns:asvg="http://schemas.microsoft.com/office/drawing/2016/SVG/main" r:embed="rId4"/>
              </a:ext>
            </a:extLst>
          </a:blip>
          <a:stretch>
            <a:fillRect/>
          </a:stretch>
        </p:blipFill>
        <p:spPr>
          <a:xfrm>
            <a:off x="557060" y="2286000"/>
            <a:ext cx="1347940" cy="1347940"/>
          </a:xfrm>
          <a:prstGeom prst="rect">
            <a:avLst/>
          </a:prstGeom>
        </p:spPr>
      </p:pic>
      <p:sp>
        <p:nvSpPr>
          <p:cNvPr id="3" name="Content Placeholder 2">
            <a:extLst>
              <a:ext uri="{FF2B5EF4-FFF2-40B4-BE49-F238E27FC236}">
                <a16:creationId xmlns:a16="http://schemas.microsoft.com/office/drawing/2014/main" id="{DF9C7A11-9888-4F7B-B711-91904077BD8C}"/>
              </a:ext>
            </a:extLst>
          </p:cNvPr>
          <p:cNvSpPr>
            <a:spLocks noGrp="1"/>
          </p:cNvSpPr>
          <p:nvPr>
            <p:ph idx="1"/>
          </p:nvPr>
        </p:nvSpPr>
        <p:spPr>
          <a:xfrm>
            <a:off x="2277035" y="1609165"/>
            <a:ext cx="6400800" cy="3262432"/>
          </a:xfrm>
          <a:ln w="28575">
            <a:solidFill>
              <a:schemeClr val="tx1"/>
            </a:solidFill>
          </a:ln>
        </p:spPr>
        <p:txBody>
          <a:bodyPr lIns="274320" tIns="274320" rIns="274320" bIns="274320"/>
          <a:lstStyle/>
          <a:p>
            <a:pPr marL="0" indent="0">
              <a:buNone/>
            </a:pPr>
            <a:r>
              <a:rPr lang="en-US" b="1" dirty="0"/>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3651771386"/>
      </p:ext>
    </p:extLst>
  </p:cSld>
  <p:clrMapOvr>
    <a:masterClrMapping/>
  </p:clrMapOvr>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1_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25075</TotalTime>
  <Words>1406</Words>
  <Application>Microsoft Macintosh PowerPoint</Application>
  <PresentationFormat>On-screen Show (4:3)</PresentationFormat>
  <Paragraphs>238</Paragraphs>
  <Slides>24</Slides>
  <Notes>17</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24</vt:i4>
      </vt:variant>
    </vt:vector>
  </HeadingPairs>
  <TitlesOfParts>
    <vt:vector size="32" baseType="lpstr">
      <vt:lpstr>Arial</vt:lpstr>
      <vt:lpstr>Arial(Body)</vt:lpstr>
      <vt:lpstr>Noto Sans Symbols</vt:lpstr>
      <vt:lpstr>Times New Roman</vt:lpstr>
      <vt:lpstr>Verdana</vt:lpstr>
      <vt:lpstr>Wingdings</vt:lpstr>
      <vt:lpstr>508 Lecture</vt:lpstr>
      <vt:lpstr>1_508 Lecture</vt:lpstr>
      <vt:lpstr>Accounting Information Systems</vt:lpstr>
      <vt:lpstr>Learning Objectives</vt:lpstr>
      <vt:lpstr>Computer Attacks and Abuse</vt:lpstr>
      <vt:lpstr>Types of Attacks</vt:lpstr>
      <vt:lpstr>Hacking</vt:lpstr>
      <vt:lpstr>Forms of Spoofing</vt:lpstr>
      <vt:lpstr>Hacking with Computer Code</vt:lpstr>
      <vt:lpstr>Hacking Used for Embezzlement</vt:lpstr>
      <vt:lpstr>Hacking Used for Fraud</vt:lpstr>
      <vt:lpstr>Social Engineering Techniques</vt:lpstr>
      <vt:lpstr>Why People Fall Victim</vt:lpstr>
      <vt:lpstr>Minimize the Threat of Social Engineering</vt:lpstr>
      <vt:lpstr>Types of Malware</vt:lpstr>
      <vt:lpstr>Key Terms (1 of 3)</vt:lpstr>
      <vt:lpstr>Key Terms (2 of 3)</vt:lpstr>
      <vt:lpstr>Key Terms (3 of 3)</vt:lpstr>
      <vt:lpstr>PowerPoint Presentation</vt:lpstr>
      <vt:lpstr>PowerPoint Presentation</vt:lpstr>
      <vt:lpstr>Online backup</vt:lpstr>
      <vt:lpstr>PowerPoint Presentation</vt:lpstr>
      <vt:lpstr>PowerPoint Presentation</vt:lpstr>
      <vt:lpstr>PowerPoint Presentation</vt:lpstr>
      <vt:lpstr>Disk backup</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Accounting Information Systems, Fifteenth Edition, Chapter 9, Computer Fraud and Abuse Techniques</dc:title>
  <dc:subject/>
  <dc:creator>Romney</dc:creator>
  <cp:keywords>Automotive</cp:keywords>
  <cp:lastModifiedBy>Nathan Garrett</cp:lastModifiedBy>
  <cp:revision>4986</cp:revision>
  <dcterms:created xsi:type="dcterms:W3CDTF">2014-07-14T20:04:21Z</dcterms:created>
  <dcterms:modified xsi:type="dcterms:W3CDTF">2025-07-22T13:00:52Z</dcterms:modified>
</cp:coreProperties>
</file>