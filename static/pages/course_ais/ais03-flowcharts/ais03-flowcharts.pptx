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12"/>
  </p:notesMasterIdLst>
  <p:handoutMasterIdLst>
    <p:handoutMasterId r:id="rId13"/>
  </p:handoutMasterIdLst>
  <p:sldIdLst>
    <p:sldId id="330" r:id="rId3"/>
    <p:sldId id="1087" r:id="rId4"/>
    <p:sldId id="1732" r:id="rId5"/>
    <p:sldId id="1724" r:id="rId6"/>
    <p:sldId id="1714" r:id="rId7"/>
    <p:sldId id="1730" r:id="rId8"/>
    <p:sldId id="1731" r:id="rId9"/>
    <p:sldId id="1729" r:id="rId10"/>
    <p:sldId id="170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2160" userDrawn="1">
          <p15:clr>
            <a:srgbClr val="A4A3A4"/>
          </p15:clr>
        </p15:guide>
        <p15:guide id="12" orient="horz" pos="39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3563" autoAdjust="0"/>
  </p:normalViewPr>
  <p:slideViewPr>
    <p:cSldViewPr>
      <p:cViewPr varScale="1">
        <p:scale>
          <a:sx n="105" d="100"/>
          <a:sy n="105" d="100"/>
        </p:scale>
        <p:origin x="1104" y="176"/>
      </p:cViewPr>
      <p:guideLst>
        <p:guide pos="2880"/>
        <p:guide orient="horz" pos="384"/>
        <p:guide orient="horz" pos="144"/>
        <p:guide orient="horz" pos="624"/>
        <p:guide pos="288"/>
        <p:guide pos="5472"/>
        <p:guide orient="horz" pos="2160"/>
        <p:guide orient="horz" pos="3984"/>
      </p:guideLst>
    </p:cSldViewPr>
  </p:slideViewPr>
  <p:outlineViewPr>
    <p:cViewPr>
      <p:scale>
        <a:sx n="25" d="100"/>
        <a:sy n="25" d="100"/>
      </p:scale>
      <p:origin x="0" y="-657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9/10/25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9/10/25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18DD1-E06B-EF68-93EB-DFA346E65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FCDCB-1B1E-3830-0459-383990DD2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6E472-789C-6901-3E5D-3B8E26696250}"/>
              </a:ext>
            </a:extLst>
          </p:cNvPr>
          <p:cNvSpPr>
            <a:spLocks noGrp="1"/>
          </p:cNvSpPr>
          <p:nvPr>
            <p:ph type="body" idx="1"/>
          </p:nvPr>
        </p:nvSpPr>
        <p:spPr/>
        <p:txBody>
          <a:bodyPr/>
          <a:lstStyle/>
          <a:p>
            <a:pPr marL="0" lvl="0" indent="0" algn="l" rtl="0">
              <a:spcBef>
                <a:spcPts val="0"/>
              </a:spcBef>
              <a:spcAft>
                <a:spcPts val="0"/>
              </a:spcAft>
              <a:buNone/>
            </a:pPr>
            <a:r>
              <a:rPr lang="en-US" dirty="0"/>
              <a:t>It has been said that a picture is worth a thousand words, and that certainly is true when it comes to an easy way to understand an organization’s information system. Documenting an information system requires great skill; however, the ability to understand and read a documentation can be quite intuitive.</a:t>
            </a:r>
          </a:p>
          <a:p>
            <a:pPr marL="0" lvl="0" indent="0" algn="l" rtl="0">
              <a:spcBef>
                <a:spcPts val="0"/>
              </a:spcBef>
              <a:spcAft>
                <a:spcPts val="0"/>
              </a:spcAft>
              <a:buNone/>
            </a:pPr>
            <a:endParaRPr lang="en-US" dirty="0"/>
          </a:p>
          <a:p>
            <a:pPr marL="0" marR="0" lvl="0" indent="0" algn="l" rtl="0">
              <a:lnSpc>
                <a:spcPct val="100000"/>
              </a:lnSpc>
              <a:spcBef>
                <a:spcPts val="0"/>
              </a:spcBef>
              <a:spcAft>
                <a:spcPts val="0"/>
              </a:spcAft>
              <a:buClr>
                <a:schemeClr val="dk1"/>
              </a:buClr>
              <a:buSzPts val="1200"/>
              <a:buFont typeface="Arial"/>
              <a:buNone/>
            </a:pPr>
            <a:r>
              <a:rPr lang="en-US" dirty="0"/>
              <a:t>Although there are many methods used in business to document systems, the text uses the three most popular for accountants: data flow diagrams, systems flowcharts, and Business Process Modeling Notation (BPMN).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a:extLst>
              <a:ext uri="{FF2B5EF4-FFF2-40B4-BE49-F238E27FC236}">
                <a16:creationId xmlns:a16="http://schemas.microsoft.com/office/drawing/2014/main" id="{E0508F90-A61F-7CF1-98B1-0A73918098E5}"/>
              </a:ext>
            </a:extLst>
          </p:cNvPr>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95307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3166042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effectLst/>
              </a:rPr>
              <a:t>Long Description:</a:t>
            </a:r>
          </a:p>
          <a:p>
            <a:r>
              <a:rPr lang="en-US" dirty="0">
                <a:effectLst/>
              </a:rPr>
              <a:t>The table with common flowcharting symbols for input/output, processing, and storage appears as follows:</a:t>
            </a:r>
            <a:endParaRPr lang="en-IN" dirty="0">
              <a:effectLst/>
            </a:endParaRPr>
          </a:p>
          <a:p>
            <a:r>
              <a:rPr lang="en-US" b="1" dirty="0">
                <a:effectLst/>
              </a:rPr>
              <a:t> </a:t>
            </a:r>
            <a:endParaRPr lang="en-IN" dirty="0">
              <a:effectLst/>
            </a:endParaRPr>
          </a:p>
          <a:p>
            <a:r>
              <a:rPr lang="en-US" dirty="0">
                <a:effectLst/>
              </a:rPr>
              <a:t>Symbol</a:t>
            </a:r>
            <a:endParaRPr lang="en-IN" dirty="0">
              <a:effectLst/>
            </a:endParaRPr>
          </a:p>
          <a:p>
            <a:r>
              <a:rPr lang="en-US" dirty="0">
                <a:effectLst/>
              </a:rPr>
              <a:t>Name</a:t>
            </a:r>
            <a:endParaRPr lang="en-IN" dirty="0">
              <a:effectLst/>
            </a:endParaRPr>
          </a:p>
          <a:p>
            <a:r>
              <a:rPr lang="en-US" dirty="0">
                <a:effectLst/>
              </a:rPr>
              <a:t>Explanation</a:t>
            </a:r>
            <a:endParaRPr lang="en-IN" dirty="0">
              <a:effectLst/>
            </a:endParaRPr>
          </a:p>
          <a:p>
            <a:r>
              <a:rPr lang="en-US" dirty="0" err="1">
                <a:effectLst/>
              </a:rPr>
              <a:t>Input/Output</a:t>
            </a:r>
            <a:r>
              <a:rPr lang="en-US" dirty="0">
                <a:effectLst/>
              </a:rPr>
              <a:t> Symbols</a:t>
            </a:r>
            <a:endParaRPr lang="en-IN" dirty="0">
              <a:effectLst/>
            </a:endParaRPr>
          </a:p>
          <a:p>
            <a:r>
              <a:rPr lang="en-US" dirty="0">
                <a:effectLst/>
              </a:rPr>
              <a:t>A rectangle with a wave-like base</a:t>
            </a:r>
            <a:endParaRPr lang="en-IN" dirty="0">
              <a:effectLst/>
            </a:endParaRPr>
          </a:p>
          <a:p>
            <a:r>
              <a:rPr lang="en-US" dirty="0">
                <a:effectLst/>
              </a:rPr>
              <a:t>Document</a:t>
            </a:r>
            <a:endParaRPr lang="en-IN" dirty="0">
              <a:effectLst/>
            </a:endParaRPr>
          </a:p>
          <a:p>
            <a:r>
              <a:rPr lang="en-US" dirty="0">
                <a:effectLst/>
              </a:rPr>
              <a:t>An electronic or paper document or report</a:t>
            </a:r>
            <a:endParaRPr lang="en-IN" dirty="0">
              <a:effectLst/>
            </a:endParaRPr>
          </a:p>
          <a:p>
            <a:r>
              <a:rPr lang="en-US" dirty="0">
                <a:effectLst/>
              </a:rPr>
              <a:t>Three rectangles numbered 1, 2, and 3, each with a wave-like base</a:t>
            </a:r>
            <a:endParaRPr lang="en-IN" dirty="0">
              <a:effectLst/>
            </a:endParaRPr>
          </a:p>
          <a:p>
            <a:r>
              <a:rPr lang="en-US" dirty="0">
                <a:effectLst/>
              </a:rPr>
              <a:t>Multiple copies of one paper document</a:t>
            </a:r>
            <a:endParaRPr lang="en-IN" dirty="0">
              <a:effectLst/>
            </a:endParaRPr>
          </a:p>
          <a:p>
            <a:r>
              <a:rPr lang="en-US" dirty="0">
                <a:effectLst/>
              </a:rPr>
              <a:t>Illustrated by overlapping the document symbol and printing the document number on the face of the document in the upper right corner</a:t>
            </a:r>
            <a:endParaRPr lang="en-IN" dirty="0">
              <a:effectLst/>
            </a:endParaRPr>
          </a:p>
          <a:p>
            <a:r>
              <a:rPr lang="en-US" dirty="0">
                <a:effectLst/>
              </a:rPr>
              <a:t>A pentagon with one curved side</a:t>
            </a:r>
            <a:endParaRPr lang="en-IN" dirty="0">
              <a:effectLst/>
            </a:endParaRPr>
          </a:p>
          <a:p>
            <a:r>
              <a:rPr lang="en-US" dirty="0">
                <a:effectLst/>
              </a:rPr>
              <a:t>Electronic output</a:t>
            </a:r>
            <a:endParaRPr lang="en-IN" dirty="0">
              <a:effectLst/>
            </a:endParaRPr>
          </a:p>
          <a:p>
            <a:r>
              <a:rPr lang="en-US" dirty="0">
                <a:effectLst/>
              </a:rPr>
              <a:t>Information displayed by an electronic output device such as a terminal, monitor, or screen</a:t>
            </a:r>
            <a:endParaRPr lang="en-IN" dirty="0">
              <a:effectLst/>
            </a:endParaRPr>
          </a:p>
          <a:p>
            <a:r>
              <a:rPr lang="en-US" dirty="0">
                <a:effectLst/>
              </a:rPr>
              <a:t>A trapezoid with non-parallel sides much longer than the parallel sides</a:t>
            </a:r>
            <a:endParaRPr lang="en-IN" dirty="0">
              <a:effectLst/>
            </a:endParaRPr>
          </a:p>
          <a:p>
            <a:r>
              <a:rPr lang="en-US" dirty="0">
                <a:effectLst/>
              </a:rPr>
              <a:t>Electronic data entry</a:t>
            </a:r>
            <a:endParaRPr lang="en-IN" dirty="0">
              <a:effectLst/>
            </a:endParaRPr>
          </a:p>
          <a:p>
            <a:r>
              <a:rPr lang="en-US" dirty="0">
                <a:effectLst/>
              </a:rPr>
              <a:t>Electronic data entry device such as a computer, terminal, tablet, or phone</a:t>
            </a:r>
            <a:endParaRPr lang="en-IN" dirty="0">
              <a:effectLst/>
            </a:endParaRPr>
          </a:p>
          <a:p>
            <a:r>
              <a:rPr lang="en-US" dirty="0">
                <a:effectLst/>
              </a:rPr>
              <a:t>Symbol for electronic output connected to symbol for electronic data entry</a:t>
            </a:r>
            <a:endParaRPr lang="en-IN" dirty="0">
              <a:effectLst/>
            </a:endParaRPr>
          </a:p>
          <a:p>
            <a:r>
              <a:rPr lang="en-US" dirty="0">
                <a:effectLst/>
              </a:rPr>
              <a:t>Electronic input and output device</a:t>
            </a:r>
            <a:endParaRPr lang="en-IN" dirty="0">
              <a:effectLst/>
            </a:endParaRPr>
          </a:p>
          <a:p>
            <a:r>
              <a:rPr lang="en-US" dirty="0">
                <a:effectLst/>
              </a:rPr>
              <a:t>The electronic data entry and output symbols are used together to show a device used for both</a:t>
            </a:r>
            <a:endParaRPr lang="en-IN" dirty="0">
              <a:effectLst/>
            </a:endParaRPr>
          </a:p>
          <a:p>
            <a:r>
              <a:rPr lang="en-US" dirty="0">
                <a:effectLst/>
              </a:rPr>
              <a:t>Processing Symbols</a:t>
            </a:r>
            <a:endParaRPr lang="en-IN" dirty="0">
              <a:effectLst/>
            </a:endParaRPr>
          </a:p>
          <a:p>
            <a:r>
              <a:rPr lang="en-US" dirty="0">
                <a:effectLst/>
              </a:rPr>
              <a:t>Rectangle</a:t>
            </a:r>
            <a:endParaRPr lang="en-IN" dirty="0">
              <a:effectLst/>
            </a:endParaRPr>
          </a:p>
          <a:p>
            <a:r>
              <a:rPr lang="en-US" dirty="0">
                <a:effectLst/>
              </a:rPr>
              <a:t>Computer processing</a:t>
            </a:r>
            <a:endParaRPr lang="en-IN" dirty="0">
              <a:effectLst/>
            </a:endParaRPr>
          </a:p>
          <a:p>
            <a:r>
              <a:rPr lang="en-US" dirty="0">
                <a:effectLst/>
              </a:rPr>
              <a:t>A computer-performed processing function; usually results in a change in data or information</a:t>
            </a:r>
            <a:endParaRPr lang="en-IN" dirty="0">
              <a:effectLst/>
            </a:endParaRPr>
          </a:p>
          <a:p>
            <a:r>
              <a:rPr lang="en-US" dirty="0">
                <a:effectLst/>
              </a:rPr>
              <a:t>Trapezoid</a:t>
            </a:r>
            <a:endParaRPr lang="en-IN" dirty="0">
              <a:effectLst/>
            </a:endParaRPr>
          </a:p>
          <a:p>
            <a:r>
              <a:rPr lang="en-US" dirty="0">
                <a:effectLst/>
              </a:rPr>
              <a:t>Manual operation</a:t>
            </a:r>
            <a:endParaRPr lang="en-IN" dirty="0">
              <a:effectLst/>
            </a:endParaRPr>
          </a:p>
          <a:p>
            <a:r>
              <a:rPr lang="en-US" dirty="0">
                <a:effectLst/>
              </a:rPr>
              <a:t>A processing operation performed manually</a:t>
            </a:r>
            <a:endParaRPr lang="en-IN" dirty="0">
              <a:effectLst/>
            </a:endParaRPr>
          </a:p>
          <a:p>
            <a:r>
              <a:rPr lang="en-US" dirty="0">
                <a:effectLst/>
              </a:rPr>
              <a:t>Storage Symbols</a:t>
            </a:r>
            <a:endParaRPr lang="en-IN" dirty="0">
              <a:effectLst/>
            </a:endParaRPr>
          </a:p>
          <a:p>
            <a:r>
              <a:rPr lang="en-US" dirty="0">
                <a:effectLst/>
              </a:rPr>
              <a:t>Cylinder</a:t>
            </a:r>
            <a:endParaRPr lang="en-IN" dirty="0">
              <a:effectLst/>
            </a:endParaRPr>
          </a:p>
          <a:p>
            <a:r>
              <a:rPr lang="en-US" dirty="0">
                <a:effectLst/>
              </a:rPr>
              <a:t>Database</a:t>
            </a:r>
            <a:endParaRPr lang="en-IN" dirty="0">
              <a:effectLst/>
            </a:endParaRPr>
          </a:p>
          <a:p>
            <a:r>
              <a:rPr lang="en-US" dirty="0">
                <a:effectLst/>
              </a:rPr>
              <a:t>Data stored electronically in a database</a:t>
            </a:r>
            <a:endParaRPr lang="en-IN" dirty="0">
              <a:effectLst/>
            </a:endParaRPr>
          </a:p>
          <a:p>
            <a:r>
              <a:rPr lang="en-US" dirty="0">
                <a:effectLst/>
              </a:rPr>
              <a:t>A circle with a terminal point at the bottom</a:t>
            </a:r>
            <a:endParaRPr lang="en-IN" dirty="0">
              <a:effectLst/>
            </a:endParaRPr>
          </a:p>
          <a:p>
            <a:r>
              <a:rPr lang="en-US" dirty="0">
                <a:effectLst/>
              </a:rPr>
              <a:t>Magnetic tape</a:t>
            </a:r>
            <a:endParaRPr lang="en-IN" dirty="0">
              <a:effectLst/>
            </a:endParaRPr>
          </a:p>
          <a:p>
            <a:r>
              <a:rPr lang="en-US" dirty="0">
                <a:effectLst/>
              </a:rPr>
              <a:t>Data stored on a magnetic tape; tapes are popular back-up storage mediums</a:t>
            </a:r>
            <a:endParaRPr lang="en-IN" dirty="0">
              <a:effectLst/>
            </a:endParaRPr>
          </a:p>
          <a:p>
            <a:r>
              <a:rPr lang="en-US" dirty="0">
                <a:effectLst/>
              </a:rPr>
              <a:t>An inverted triangle with letter N inside it</a:t>
            </a:r>
            <a:endParaRPr lang="en-IN" dirty="0">
              <a:effectLst/>
            </a:endParaRPr>
          </a:p>
          <a:p>
            <a:r>
              <a:rPr lang="en-US" dirty="0">
                <a:effectLst/>
              </a:rPr>
              <a:t>Paper document file</a:t>
            </a:r>
            <a:endParaRPr lang="en-IN" dirty="0">
              <a:effectLst/>
            </a:endParaRPr>
          </a:p>
          <a:p>
            <a:r>
              <a:rPr lang="en-US" dirty="0">
                <a:effectLst/>
              </a:rPr>
              <a:t>File of paper documents; letters indicate file-ordering sequence: N: numerically, A: alphabetically, D: by date</a:t>
            </a:r>
            <a:endParaRPr lang="en-IN" dirty="0">
              <a:effectLst/>
            </a:endParaRPr>
          </a:p>
          <a:p>
            <a:r>
              <a:rPr lang="en-US" dirty="0">
                <a:effectLst/>
              </a:rPr>
              <a:t>Parallelogram</a:t>
            </a:r>
            <a:endParaRPr lang="en-IN" dirty="0">
              <a:effectLst/>
            </a:endParaRPr>
          </a:p>
          <a:p>
            <a:r>
              <a:rPr lang="en-US" dirty="0">
                <a:effectLst/>
              </a:rPr>
              <a:t>Journal/ledger</a:t>
            </a:r>
            <a:endParaRPr lang="en-IN" dirty="0">
              <a:effectLst/>
            </a:endParaRPr>
          </a:p>
          <a:p>
            <a:r>
              <a:rPr lang="en-US" dirty="0">
                <a:effectLst/>
              </a:rPr>
              <a:t>Paper-based accounting journals and ledgers</a:t>
            </a:r>
            <a:endParaRPr lang="en-IN" dirty="0">
              <a:effectLst/>
            </a:endParaRPr>
          </a:p>
          <a:p>
            <a:pPr marL="0" lvl="0" indent="0" algn="l" rtl="0">
              <a:spcBef>
                <a:spcPts val="0"/>
              </a:spcBef>
              <a:spcAft>
                <a:spcPts val="0"/>
              </a:spcAft>
              <a:buNone/>
            </a:pPr>
            <a:endParaRPr lang="en-IN" dirty="0">
              <a:effectLst/>
            </a:endParaRPr>
          </a:p>
          <a:p>
            <a:pPr marL="0" lvl="0" indent="0" algn="l" rtl="0">
              <a:spcBef>
                <a:spcPts val="0"/>
              </a:spcBef>
              <a:spcAft>
                <a:spcPts val="0"/>
              </a:spcAft>
              <a:buNone/>
            </a:pPr>
            <a:r>
              <a:rPr lang="en-IN" dirty="0">
                <a:effectLst/>
              </a:rPr>
              <a:t>Long</a:t>
            </a:r>
            <a:r>
              <a:rPr lang="en-IN" baseline="0" dirty="0">
                <a:effectLst/>
              </a:rPr>
              <a:t> Description:</a:t>
            </a:r>
          </a:p>
          <a:p>
            <a:r>
              <a:rPr lang="en-US" dirty="0">
                <a:effectLst/>
              </a:rPr>
              <a:t>The table with common flow and miscellaneous symbols appears as follows:</a:t>
            </a:r>
            <a:endParaRPr lang="en-IN" dirty="0">
              <a:effectLst/>
            </a:endParaRPr>
          </a:p>
          <a:p>
            <a:r>
              <a:rPr lang="en-US" b="1" dirty="0">
                <a:effectLst/>
              </a:rPr>
              <a:t> </a:t>
            </a:r>
            <a:endParaRPr lang="en-IN" dirty="0">
              <a:effectLst/>
            </a:endParaRPr>
          </a:p>
          <a:p>
            <a:r>
              <a:rPr lang="en-US" dirty="0">
                <a:effectLst/>
              </a:rPr>
              <a:t>Symbol</a:t>
            </a:r>
            <a:endParaRPr lang="en-IN" dirty="0">
              <a:effectLst/>
            </a:endParaRPr>
          </a:p>
          <a:p>
            <a:r>
              <a:rPr lang="en-US" dirty="0">
                <a:effectLst/>
              </a:rPr>
              <a:t>Name</a:t>
            </a:r>
            <a:endParaRPr lang="en-IN" dirty="0">
              <a:effectLst/>
            </a:endParaRPr>
          </a:p>
          <a:p>
            <a:r>
              <a:rPr lang="en-US" dirty="0">
                <a:effectLst/>
              </a:rPr>
              <a:t>Explanation</a:t>
            </a:r>
            <a:endParaRPr lang="en-IN" dirty="0">
              <a:effectLst/>
            </a:endParaRPr>
          </a:p>
          <a:p>
            <a:r>
              <a:rPr lang="en-US" dirty="0">
                <a:effectLst/>
              </a:rPr>
              <a:t>Flow and Miscellaneous Symbols</a:t>
            </a:r>
            <a:endParaRPr lang="en-IN" dirty="0">
              <a:effectLst/>
            </a:endParaRPr>
          </a:p>
          <a:p>
            <a:r>
              <a:rPr lang="en-US" dirty="0">
                <a:effectLst/>
              </a:rPr>
              <a:t>Right arrow</a:t>
            </a:r>
            <a:endParaRPr lang="en-IN" dirty="0">
              <a:effectLst/>
            </a:endParaRPr>
          </a:p>
          <a:p>
            <a:r>
              <a:rPr lang="en-US" dirty="0">
                <a:effectLst/>
              </a:rPr>
              <a:t>Document or processing flow</a:t>
            </a:r>
            <a:endParaRPr lang="en-IN" dirty="0">
              <a:effectLst/>
            </a:endParaRPr>
          </a:p>
          <a:p>
            <a:r>
              <a:rPr lang="en-US" dirty="0">
                <a:effectLst/>
              </a:rPr>
              <a:t>Direction of processing or document flow; normal flow is down and to the right</a:t>
            </a:r>
            <a:endParaRPr lang="en-IN" dirty="0">
              <a:effectLst/>
            </a:endParaRPr>
          </a:p>
          <a:p>
            <a:r>
              <a:rPr lang="en-US" dirty="0">
                <a:effectLst/>
              </a:rPr>
              <a:t>Right arrow with a </a:t>
            </a:r>
            <a:r>
              <a:rPr lang="en-US" dirty="0" err="1">
                <a:effectLst/>
              </a:rPr>
              <a:t>zig-zag</a:t>
            </a:r>
            <a:r>
              <a:rPr lang="en-US" dirty="0">
                <a:effectLst/>
              </a:rPr>
              <a:t> tail</a:t>
            </a:r>
            <a:endParaRPr lang="en-IN" dirty="0">
              <a:effectLst/>
            </a:endParaRPr>
          </a:p>
          <a:p>
            <a:r>
              <a:rPr lang="en-US" dirty="0">
                <a:effectLst/>
              </a:rPr>
              <a:t>Communication link</a:t>
            </a:r>
            <a:endParaRPr lang="en-IN" dirty="0">
              <a:effectLst/>
            </a:endParaRPr>
          </a:p>
          <a:p>
            <a:r>
              <a:rPr lang="en-US" dirty="0">
                <a:effectLst/>
              </a:rPr>
              <a:t>Transmission of data from one geographic location to another via communication lines</a:t>
            </a:r>
            <a:endParaRPr lang="en-IN" dirty="0">
              <a:effectLst/>
            </a:endParaRPr>
          </a:p>
          <a:p>
            <a:r>
              <a:rPr lang="en-US" dirty="0">
                <a:effectLst/>
              </a:rPr>
              <a:t>Circle</a:t>
            </a:r>
            <a:endParaRPr lang="en-IN" dirty="0">
              <a:effectLst/>
            </a:endParaRPr>
          </a:p>
          <a:p>
            <a:r>
              <a:rPr lang="en-US" dirty="0">
                <a:effectLst/>
              </a:rPr>
              <a:t>On-page connector</a:t>
            </a:r>
            <a:endParaRPr lang="en-IN" dirty="0">
              <a:effectLst/>
            </a:endParaRPr>
          </a:p>
          <a:p>
            <a:r>
              <a:rPr lang="en-US" dirty="0">
                <a:effectLst/>
              </a:rPr>
              <a:t>Connects the processing flow on the same page; its usage avoids lines crisscrossing a page</a:t>
            </a:r>
            <a:endParaRPr lang="en-IN" dirty="0">
              <a:effectLst/>
            </a:endParaRPr>
          </a:p>
          <a:p>
            <a:r>
              <a:rPr lang="en-US" dirty="0">
                <a:effectLst/>
              </a:rPr>
              <a:t>Pentagon</a:t>
            </a:r>
            <a:endParaRPr lang="en-IN" dirty="0">
              <a:effectLst/>
            </a:endParaRPr>
          </a:p>
          <a:p>
            <a:r>
              <a:rPr lang="en-US" dirty="0">
                <a:effectLst/>
              </a:rPr>
              <a:t>Off-page connector</a:t>
            </a:r>
            <a:endParaRPr lang="en-IN" dirty="0">
              <a:effectLst/>
            </a:endParaRPr>
          </a:p>
          <a:p>
            <a:r>
              <a:rPr lang="en-US" dirty="0">
                <a:effectLst/>
              </a:rPr>
              <a:t>An entry from, or an exit to, another page</a:t>
            </a:r>
            <a:endParaRPr lang="en-IN" dirty="0">
              <a:effectLst/>
            </a:endParaRPr>
          </a:p>
          <a:p>
            <a:r>
              <a:rPr lang="en-US" dirty="0">
                <a:effectLst/>
              </a:rPr>
              <a:t>Rounded rectangle</a:t>
            </a:r>
            <a:endParaRPr lang="en-IN" dirty="0">
              <a:effectLst/>
            </a:endParaRPr>
          </a:p>
          <a:p>
            <a:r>
              <a:rPr lang="en-US" dirty="0">
                <a:effectLst/>
              </a:rPr>
              <a:t>Terminal</a:t>
            </a:r>
            <a:endParaRPr lang="en-IN" dirty="0">
              <a:effectLst/>
            </a:endParaRPr>
          </a:p>
          <a:p>
            <a:r>
              <a:rPr lang="en-US" dirty="0">
                <a:effectLst/>
              </a:rPr>
              <a:t>A beginning, end, or point of interruption in a process; also used to indicate an external party</a:t>
            </a:r>
            <a:endParaRPr lang="en-IN" dirty="0">
              <a:effectLst/>
            </a:endParaRPr>
          </a:p>
          <a:p>
            <a:r>
              <a:rPr lang="en-US" dirty="0">
                <a:effectLst/>
              </a:rPr>
              <a:t>Rhombus</a:t>
            </a:r>
            <a:endParaRPr lang="en-IN" dirty="0">
              <a:effectLst/>
            </a:endParaRPr>
          </a:p>
          <a:p>
            <a:r>
              <a:rPr lang="en-US" dirty="0">
                <a:effectLst/>
              </a:rPr>
              <a:t>Decision</a:t>
            </a:r>
            <a:endParaRPr lang="en-IN" dirty="0">
              <a:effectLst/>
            </a:endParaRPr>
          </a:p>
          <a:p>
            <a:r>
              <a:rPr lang="en-US" dirty="0">
                <a:effectLst/>
              </a:rPr>
              <a:t>A decision-making step</a:t>
            </a:r>
            <a:endParaRPr lang="en-IN" dirty="0">
              <a:effectLst/>
            </a:endParaRPr>
          </a:p>
          <a:p>
            <a:r>
              <a:rPr lang="en-US" dirty="0">
                <a:effectLst/>
              </a:rPr>
              <a:t>A line connected to a square open on the right</a:t>
            </a:r>
            <a:endParaRPr lang="en-IN" dirty="0">
              <a:effectLst/>
            </a:endParaRPr>
          </a:p>
          <a:p>
            <a:r>
              <a:rPr lang="en-US" dirty="0">
                <a:effectLst/>
              </a:rPr>
              <a:t>Annotation</a:t>
            </a:r>
            <a:endParaRPr lang="en-IN" dirty="0">
              <a:effectLst/>
            </a:endParaRPr>
          </a:p>
          <a:p>
            <a:r>
              <a:rPr lang="en-US" dirty="0">
                <a:effectLst/>
              </a:rPr>
              <a:t>Addition of descriptive comments or explanatory notes as clarification</a:t>
            </a:r>
            <a:endParaRPr lang="en-IN" dirty="0">
              <a:effectLst/>
            </a:endParaRPr>
          </a:p>
          <a:p>
            <a:pPr marL="0" lvl="0" indent="0" algn="l" rtl="0">
              <a:spcBef>
                <a:spcPts val="0"/>
              </a:spcBef>
              <a:spcAft>
                <a:spcPts val="0"/>
              </a:spcAft>
              <a:buNone/>
            </a:pPr>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2464134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3166042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a:spLocks noGrp="1"/>
          </p:cNvSpPr>
          <p:nvPr>
            <p:ph type="body" sz="quarter" idx="16"/>
          </p:nvPr>
        </p:nvSpPr>
        <p:spPr>
          <a:xfrm>
            <a:off x="2743200" y="6451395"/>
            <a:ext cx="5933357" cy="201755"/>
          </a:xfrm>
        </p:spPr>
        <p:txBody>
          <a:bodyPr vert="horz" wrap="square" lIns="0" tIns="0" rIns="0" bIns="0" rtlCol="0">
            <a:no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9/10/25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
        <p:nvSpPr>
          <p:cNvPr id="10" name="Picture Placeholder 9"/>
          <p:cNvSpPr>
            <a:spLocks noGrp="1"/>
          </p:cNvSpPr>
          <p:nvPr>
            <p:ph type="pic" sz="quarter" idx="15"/>
          </p:nvPr>
        </p:nvSpPr>
        <p:spPr>
          <a:xfrm>
            <a:off x="457200" y="5562600"/>
            <a:ext cx="8077200" cy="685800"/>
          </a:xfrm>
        </p:spPr>
        <p:txBody>
          <a:bodyPr/>
          <a:lstStyle/>
          <a:p>
            <a:endParaRPr lang="en-IN"/>
          </a:p>
        </p:txBody>
      </p:sp>
      <p:sp>
        <p:nvSpPr>
          <p:cNvPr id="12" name="Picture Placeholder 11"/>
          <p:cNvSpPr>
            <a:spLocks noGrp="1"/>
          </p:cNvSpPr>
          <p:nvPr>
            <p:ph type="pic" sz="quarter" idx="16"/>
          </p:nvPr>
        </p:nvSpPr>
        <p:spPr>
          <a:xfrm>
            <a:off x="533400" y="4191000"/>
            <a:ext cx="8143875" cy="9906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9/10/25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9/10/25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9/10/25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12954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320779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3459644691"/>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9/10/25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9/10/25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9/10/25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4"/>
          <p:cNvSpPr>
            <a:spLocks noGrp="1"/>
          </p:cNvSpPr>
          <p:nvPr>
            <p:ph type="ftr" sz="quarter" idx="3"/>
          </p:nvPr>
        </p:nvSpPr>
        <p:spPr>
          <a:xfrm>
            <a:off x="2819401" y="6424901"/>
            <a:ext cx="5857188" cy="289547"/>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419999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10" name="Footer Placeholder 4"/>
          <p:cNvSpPr>
            <a:spLocks noGrp="1"/>
          </p:cNvSpPr>
          <p:nvPr>
            <p:ph type="ftr" sz="quarter" idx="3"/>
          </p:nvPr>
        </p:nvSpPr>
        <p:spPr>
          <a:xfrm>
            <a:off x="2819401" y="6553200"/>
            <a:ext cx="5857188" cy="161249"/>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025896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05157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9/10/25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9/10/25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Rectangle 1"/>
          <p:cNvSpPr/>
          <p:nvPr userDrawn="1"/>
        </p:nvSpPr>
        <p:spPr>
          <a:xfrm>
            <a:off x="2667000" y="6400801"/>
            <a:ext cx="6096000" cy="276999"/>
          </a:xfrm>
          <a:prstGeom prst="rect">
            <a:avLst/>
          </a:prstGeom>
        </p:spPr>
        <p:txBody>
          <a:bodyPr wrap="square">
            <a:spAutoFit/>
          </a:bodyPr>
          <a:lstStyle/>
          <a:p>
            <a:pPr marL="0" indent="0" algn="r" defTabSz="914400" rtl="0" eaLnBrk="1" latinLnBrk="0" hangingPunct="1">
              <a:buNone/>
            </a:pPr>
            <a:r>
              <a:rPr lang="en-IN" sz="1200" kern="120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a:t>
            </a:r>
            <a:r>
              <a:rPr lang="en-US" sz="1200" kern="1200" dirty="0">
                <a:solidFill>
                  <a:schemeClr val="tx1"/>
                </a:solidFill>
                <a:latin typeface="Verdana" panose="020B0604030504040204" pitchFamily="34" charset="0"/>
                <a:ea typeface="Verdana" panose="020B0604030504040204" pitchFamily="34" charset="0"/>
                <a:cs typeface="Verdana" panose="020B0604030504040204" pitchFamily="34" charset="0"/>
              </a:rPr>
              <a:t>2021, 2018, 2015 </a:t>
            </a:r>
            <a:r>
              <a:rPr lang="en-IN" sz="1200" kern="1200" dirty="0">
                <a:solidFill>
                  <a:schemeClr val="tx1"/>
                </a:solidFill>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578532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9/10/25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753411" y="6424902"/>
            <a:ext cx="5933389"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9387441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9/10/25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7"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9" r:id="rId12"/>
    <p:sldLayoutId id="2147483702" r:id="rId13"/>
    <p:sldLayoutId id="2147483703" r:id="rId14"/>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9/10/25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latin typeface="Arial" panose="020B0604020202020204" pitchFamily="34" charset="0"/>
                <a:cs typeface="Arial" panose="020B0604020202020204" pitchFamily="34" charset="0"/>
              </a:rPr>
              <a:t>Sixteenth Edition</a:t>
            </a:r>
            <a:endParaRPr lang="en-US" noProof="0"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874982" cy="498016"/>
          </a:xfrm>
        </p:spPr>
        <p:txBody>
          <a:bodyPr wrap="square" lIns="0" tIns="18000" rIns="0" bIns="18000" anchor="ctr" anchorCtr="0">
            <a:spAutoFit/>
          </a:bodyPr>
          <a:lstStyle/>
          <a:p>
            <a:pPr marL="0"/>
            <a:r>
              <a:rPr lang="en-US" noProof="0" dirty="0">
                <a:latin typeface="Arial" panose="020B0604020202020204" pitchFamily="34" charset="0"/>
                <a:cs typeface="Arial" panose="020B0604020202020204" pitchFamily="34" charset="0"/>
              </a:rPr>
              <a:t>Chapter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2000" y="3155469"/>
            <a:ext cx="4140200"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Systems Documentation Techniques</a:t>
            </a:r>
            <a:endParaRPr lang="en-US" noProof="0" dirty="0">
              <a:latin typeface="Arial" panose="020B0604020202020204" pitchFamily="34" charset="0"/>
              <a:cs typeface="Arial" panose="020B060402020202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49403"/>
            <a:ext cx="8229600" cy="553998"/>
          </a:xfrm>
        </p:spPr>
        <p:txBody>
          <a:bodyPr anchor="ctr">
            <a:spAutoFit/>
          </a:bodyPr>
          <a:lstStyle/>
          <a:p>
            <a:r>
              <a:rPr lang="en-IN" sz="3600" dirty="0">
                <a:latin typeface="+mj-lt"/>
              </a:rPr>
              <a:t>Learning Objectives</a:t>
            </a:r>
          </a:p>
        </p:txBody>
      </p:sp>
      <p:sp>
        <p:nvSpPr>
          <p:cNvPr id="2" name="Content Placeholder 1"/>
          <p:cNvSpPr>
            <a:spLocks noGrp="1"/>
          </p:cNvSpPr>
          <p:nvPr>
            <p:ph idx="13"/>
          </p:nvPr>
        </p:nvSpPr>
        <p:spPr>
          <a:xfrm>
            <a:off x="457200" y="990600"/>
            <a:ext cx="8229600" cy="2819400"/>
          </a:xfrm>
        </p:spPr>
        <p:txBody>
          <a:bodyPr/>
          <a:lstStyle/>
          <a:p>
            <a:pPr lvl="0">
              <a:spcBef>
                <a:spcPts val="2000"/>
              </a:spcBef>
              <a:buSzPts val="2400"/>
            </a:pPr>
            <a:r>
              <a:rPr lang="en-US" sz="2400" dirty="0"/>
              <a:t>Prepare and use flowcharts to understand, evaluate, and document information systems.</a:t>
            </a:r>
          </a:p>
        </p:txBody>
      </p:sp>
    </p:spTree>
    <p:extLst>
      <p:ext uri="{BB962C8B-B14F-4D97-AF65-F5344CB8AC3E}">
        <p14:creationId xmlns:p14="http://schemas.microsoft.com/office/powerpoint/2010/main" val="3668168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4200-7F19-20F6-343E-DAA42B35758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FAEB6B2-01EA-F94C-E29D-077AED8E41D1}"/>
              </a:ext>
            </a:extLst>
          </p:cNvPr>
          <p:cNvSpPr>
            <a:spLocks noGrp="1"/>
          </p:cNvSpPr>
          <p:nvPr>
            <p:ph type="title"/>
          </p:nvPr>
        </p:nvSpPr>
        <p:spPr>
          <a:xfrm>
            <a:off x="457200" y="97646"/>
            <a:ext cx="8229600" cy="688797"/>
          </a:xfrm>
        </p:spPr>
        <p:txBody>
          <a:bodyPr anchor="ctr">
            <a:noAutofit/>
          </a:bodyPr>
          <a:lstStyle/>
          <a:p>
            <a:r>
              <a:rPr lang="en-IN" sz="3600" dirty="0">
                <a:latin typeface="+mj-lt"/>
              </a:rPr>
              <a:t>Why Document Systems?</a:t>
            </a:r>
          </a:p>
        </p:txBody>
      </p:sp>
      <p:sp>
        <p:nvSpPr>
          <p:cNvPr id="2" name="Content Placeholder 1">
            <a:extLst>
              <a:ext uri="{FF2B5EF4-FFF2-40B4-BE49-F238E27FC236}">
                <a16:creationId xmlns:a16="http://schemas.microsoft.com/office/drawing/2014/main" id="{A6198566-5FA8-6332-F8C3-F909F45AAFC8}"/>
              </a:ext>
            </a:extLst>
          </p:cNvPr>
          <p:cNvSpPr>
            <a:spLocks noGrp="1"/>
          </p:cNvSpPr>
          <p:nvPr>
            <p:ph idx="13"/>
          </p:nvPr>
        </p:nvSpPr>
        <p:spPr>
          <a:xfrm>
            <a:off x="457200" y="990600"/>
            <a:ext cx="8229600" cy="2819400"/>
          </a:xfrm>
        </p:spPr>
        <p:txBody>
          <a:bodyPr/>
          <a:lstStyle/>
          <a:p>
            <a:pPr lvl="0">
              <a:spcBef>
                <a:spcPts val="0"/>
              </a:spcBef>
              <a:buSzPts val="2400"/>
            </a:pPr>
            <a:r>
              <a:rPr lang="en-IN" sz="2400" dirty="0"/>
              <a:t>Accountants must be able to read documentation and understand how a system works (e.g., auditors need to assess risk)</a:t>
            </a:r>
          </a:p>
          <a:p>
            <a:pPr lvl="0">
              <a:spcBef>
                <a:spcPts val="600"/>
              </a:spcBef>
              <a:buSzPts val="2400"/>
            </a:pPr>
            <a:r>
              <a:rPr lang="en-IN" sz="2400" dirty="0"/>
              <a:t>Sarbanes-Oxley Act (</a:t>
            </a:r>
            <a:r>
              <a:rPr lang="en-IN" sz="2400" spc="-300" dirty="0"/>
              <a:t>S O </a:t>
            </a:r>
            <a:r>
              <a:rPr lang="en-IN" sz="2400" dirty="0"/>
              <a:t>X) requires management to assess internal controls and auditors to evaluate the assessment</a:t>
            </a:r>
          </a:p>
          <a:p>
            <a:pPr lvl="0">
              <a:spcBef>
                <a:spcPts val="600"/>
              </a:spcBef>
              <a:buSzPts val="2400"/>
            </a:pPr>
            <a:r>
              <a:rPr lang="en-IN" sz="2400" dirty="0"/>
              <a:t>Used for systems development and changes</a:t>
            </a:r>
          </a:p>
        </p:txBody>
      </p:sp>
    </p:spTree>
    <p:extLst>
      <p:ext uri="{BB962C8B-B14F-4D97-AF65-F5344CB8AC3E}">
        <p14:creationId xmlns:p14="http://schemas.microsoft.com/office/powerpoint/2010/main" val="638587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73911"/>
            <a:ext cx="8229600" cy="511889"/>
          </a:xfrm>
        </p:spPr>
        <p:txBody>
          <a:bodyPr anchor="ctr">
            <a:noAutofit/>
          </a:bodyPr>
          <a:lstStyle/>
          <a:p>
            <a:r>
              <a:rPr lang="en-US" sz="3600" dirty="0">
                <a:latin typeface="+mj-lt"/>
              </a:rPr>
              <a:t>Flowcharts</a:t>
            </a:r>
            <a:endParaRPr lang="en-IN" sz="3600" dirty="0">
              <a:latin typeface="+mj-lt"/>
            </a:endParaRPr>
          </a:p>
        </p:txBody>
      </p:sp>
      <p:sp>
        <p:nvSpPr>
          <p:cNvPr id="2" name="Content Placeholder 1"/>
          <p:cNvSpPr>
            <a:spLocks noGrp="1"/>
          </p:cNvSpPr>
          <p:nvPr>
            <p:ph idx="1"/>
          </p:nvPr>
        </p:nvSpPr>
        <p:spPr>
          <a:xfrm>
            <a:off x="457200" y="989012"/>
            <a:ext cx="8229600" cy="3201988"/>
          </a:xfrm>
        </p:spPr>
        <p:txBody>
          <a:bodyPr/>
          <a:lstStyle/>
          <a:p>
            <a:pPr marL="0" lvl="0" indent="0">
              <a:buSzPts val="2400"/>
              <a:buNone/>
            </a:pPr>
            <a:r>
              <a:rPr lang="en-IN" sz="2400" dirty="0"/>
              <a:t>Describe an information system showing:</a:t>
            </a:r>
          </a:p>
          <a:p>
            <a:pPr>
              <a:buSzPts val="2400"/>
            </a:pPr>
            <a:r>
              <a:rPr lang="en-IN" sz="2400" dirty="0"/>
              <a:t>Inputs and outputs</a:t>
            </a:r>
          </a:p>
          <a:p>
            <a:pPr>
              <a:buSzPts val="2400"/>
            </a:pPr>
            <a:r>
              <a:rPr lang="en-IN" sz="2400" dirty="0"/>
              <a:t>Information activities (processing data)</a:t>
            </a:r>
          </a:p>
          <a:p>
            <a:pPr>
              <a:buSzPts val="2400"/>
            </a:pPr>
            <a:r>
              <a:rPr lang="en-IN" sz="2400" dirty="0"/>
              <a:t>Data storage</a:t>
            </a:r>
          </a:p>
          <a:p>
            <a:pPr>
              <a:buSzPts val="2400"/>
            </a:pPr>
            <a:r>
              <a:rPr lang="en-IN" sz="2400" dirty="0"/>
              <a:t>Data flows</a:t>
            </a:r>
          </a:p>
          <a:p>
            <a:pPr>
              <a:buSzPts val="2400"/>
            </a:pPr>
            <a:r>
              <a:rPr lang="en-IN" sz="2400" dirty="0"/>
              <a:t>Decision steps</a:t>
            </a:r>
          </a:p>
        </p:txBody>
      </p:sp>
      <p:sp>
        <p:nvSpPr>
          <p:cNvPr id="3" name="Content Placeholder 2"/>
          <p:cNvSpPr>
            <a:spLocks noGrp="1"/>
          </p:cNvSpPr>
          <p:nvPr>
            <p:ph idx="13"/>
          </p:nvPr>
        </p:nvSpPr>
        <p:spPr>
          <a:xfrm>
            <a:off x="457200" y="4267200"/>
            <a:ext cx="8229600" cy="1094397"/>
          </a:xfrm>
        </p:spPr>
        <p:txBody>
          <a:bodyPr/>
          <a:lstStyle/>
          <a:p>
            <a:pPr marL="0" indent="0">
              <a:buNone/>
            </a:pPr>
            <a:r>
              <a:rPr lang="en-IN" sz="2400" dirty="0"/>
              <a:t>Key strengths of flowcharts are that they can easily capture control via decision points, show manual </a:t>
            </a:r>
            <a:r>
              <a:rPr lang="en-IN" sz="2400" spc="-100" dirty="0"/>
              <a:t>v</a:t>
            </a:r>
            <a:r>
              <a:rPr lang="en-IN" sz="100" spc="-100" dirty="0"/>
              <a:t>ersu</a:t>
            </a:r>
            <a:r>
              <a:rPr lang="en-IN" sz="2400" dirty="0"/>
              <a:t>s. automated processes.</a:t>
            </a:r>
          </a:p>
        </p:txBody>
      </p:sp>
    </p:spTree>
    <p:extLst>
      <p:ext uri="{BB962C8B-B14F-4D97-AF65-F5344CB8AC3E}">
        <p14:creationId xmlns:p14="http://schemas.microsoft.com/office/powerpoint/2010/main" val="1463315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0452" y="165652"/>
            <a:ext cx="8229600" cy="1084052"/>
          </a:xfrm>
        </p:spPr>
        <p:txBody>
          <a:bodyPr>
            <a:noAutofit/>
          </a:bodyPr>
          <a:lstStyle/>
          <a:p>
            <a:r>
              <a:rPr lang="en-US" dirty="0"/>
              <a:t>Figure 3.3 Common Flowcharts Symbols</a:t>
            </a:r>
            <a:endParaRPr lang="en-IN" dirty="0">
              <a:latin typeface="+mj-lt"/>
            </a:endParaRPr>
          </a:p>
        </p:txBody>
      </p:sp>
      <p:pic>
        <p:nvPicPr>
          <p:cNvPr id="30" name="Picture Placeholder 29" descr="A table shows common flowcharting symbols for input/output, processing, and storage.&#10;Long description is available in notes, press F6"/>
          <p:cNvPicPr>
            <a:picLocks noGrp="1" noChangeAspect="1"/>
          </p:cNvPicPr>
          <p:nvPr>
            <p:ph type="pic" sz="quarter" idx="14"/>
          </p:nvPr>
        </p:nvPicPr>
        <p:blipFill rotWithShape="1">
          <a:blip r:embed="rId3" cstate="print">
            <a:extLst>
              <a:ext uri="{28A0092B-C50C-407E-A947-70E740481C1C}">
                <a14:useLocalDpi xmlns:a14="http://schemas.microsoft.com/office/drawing/2010/main" val="0"/>
              </a:ext>
            </a:extLst>
          </a:blip>
          <a:srcRect b="31514"/>
          <a:stretch/>
        </p:blipFill>
        <p:spPr>
          <a:xfrm>
            <a:off x="775060" y="1386521"/>
            <a:ext cx="3034940" cy="4830907"/>
          </a:xfrm>
          <a:prstGeom prst="rect">
            <a:avLst/>
          </a:prstGeom>
        </p:spPr>
      </p:pic>
      <p:pic>
        <p:nvPicPr>
          <p:cNvPr id="31" name="Picture Placeholder 30" descr="A table shows common flow and miscellaneous symbols.&#10;Long description is available in notes, press F6"/>
          <p:cNvPicPr>
            <a:picLocks noGrp="1" noChangeAspect="1"/>
          </p:cNvPicPr>
          <p:nvPr>
            <p:ph type="pic" sz="quarter" idx="15"/>
          </p:nvPr>
        </p:nvPicPr>
        <p:blipFill>
          <a:blip r:embed="rId4" cstate="print">
            <a:extLst>
              <a:ext uri="{28A0092B-C50C-407E-A947-70E740481C1C}">
                <a14:useLocalDpi xmlns:a14="http://schemas.microsoft.com/office/drawing/2010/main" val="0"/>
              </a:ext>
            </a:extLst>
          </a:blip>
          <a:stretch>
            <a:fillRect/>
          </a:stretch>
        </p:blipFill>
        <p:spPr>
          <a:xfrm>
            <a:off x="4176025" y="1931756"/>
            <a:ext cx="4443454" cy="3576656"/>
          </a:xfrm>
          <a:prstGeom prst="rect">
            <a:avLst/>
          </a:prstGeom>
        </p:spPr>
      </p:pic>
    </p:spTree>
    <p:extLst>
      <p:ext uri="{BB962C8B-B14F-4D97-AF65-F5344CB8AC3E}">
        <p14:creationId xmlns:p14="http://schemas.microsoft.com/office/powerpoint/2010/main" val="203813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Connector 7">
            <a:extLst>
              <a:ext uri="{FF2B5EF4-FFF2-40B4-BE49-F238E27FC236}">
                <a16:creationId xmlns:a16="http://schemas.microsoft.com/office/drawing/2014/main" id="{158607F7-C428-6BC9-3FE7-F8E4D84E6B25}"/>
              </a:ext>
            </a:extLst>
          </p:cNvPr>
          <p:cNvSpPr/>
          <p:nvPr/>
        </p:nvSpPr>
        <p:spPr>
          <a:xfrm>
            <a:off x="304800" y="1143001"/>
            <a:ext cx="990600" cy="990600"/>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start</a:t>
            </a:r>
          </a:p>
        </p:txBody>
      </p:sp>
      <p:sp>
        <p:nvSpPr>
          <p:cNvPr id="9" name="Flowchart: Document 8">
            <a:extLst>
              <a:ext uri="{FF2B5EF4-FFF2-40B4-BE49-F238E27FC236}">
                <a16:creationId xmlns:a16="http://schemas.microsoft.com/office/drawing/2014/main" id="{67450766-8C68-3C4E-0107-F55FB1F198E7}"/>
              </a:ext>
            </a:extLst>
          </p:cNvPr>
          <p:cNvSpPr/>
          <p:nvPr/>
        </p:nvSpPr>
        <p:spPr>
          <a:xfrm>
            <a:off x="6553200" y="2865615"/>
            <a:ext cx="1905000" cy="1219200"/>
          </a:xfrm>
          <a:prstGeom prst="flowChartDocumen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Receive receipt</a:t>
            </a:r>
          </a:p>
        </p:txBody>
      </p:sp>
      <p:sp>
        <p:nvSpPr>
          <p:cNvPr id="10" name="Flowchart: Process 9">
            <a:extLst>
              <a:ext uri="{FF2B5EF4-FFF2-40B4-BE49-F238E27FC236}">
                <a16:creationId xmlns:a16="http://schemas.microsoft.com/office/drawing/2014/main" id="{D2079C3E-570F-24F2-9CA3-0B9A64A01B39}"/>
              </a:ext>
            </a:extLst>
          </p:cNvPr>
          <p:cNvSpPr/>
          <p:nvPr/>
        </p:nvSpPr>
        <p:spPr>
          <a:xfrm>
            <a:off x="1866900" y="1080214"/>
            <a:ext cx="1295400" cy="1066801"/>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Stand in line</a:t>
            </a:r>
          </a:p>
        </p:txBody>
      </p:sp>
      <p:sp>
        <p:nvSpPr>
          <p:cNvPr id="11" name="Flowchart: Decision 10">
            <a:extLst>
              <a:ext uri="{FF2B5EF4-FFF2-40B4-BE49-F238E27FC236}">
                <a16:creationId xmlns:a16="http://schemas.microsoft.com/office/drawing/2014/main" id="{E134FD69-2949-95E2-D4AF-AC9EA5A594E2}"/>
              </a:ext>
            </a:extLst>
          </p:cNvPr>
          <p:cNvSpPr/>
          <p:nvPr/>
        </p:nvSpPr>
        <p:spPr>
          <a:xfrm>
            <a:off x="3924300" y="1038397"/>
            <a:ext cx="1981200" cy="1143000"/>
          </a:xfrm>
          <a:prstGeom prst="flowChartDecision">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Wait over 5m?</a:t>
            </a:r>
          </a:p>
        </p:txBody>
      </p:sp>
      <p:sp>
        <p:nvSpPr>
          <p:cNvPr id="12" name="Flowchart: Connector 11">
            <a:extLst>
              <a:ext uri="{FF2B5EF4-FFF2-40B4-BE49-F238E27FC236}">
                <a16:creationId xmlns:a16="http://schemas.microsoft.com/office/drawing/2014/main" id="{49BE20AE-C148-7BA8-40C8-2AD1EDAE68E5}"/>
              </a:ext>
            </a:extLst>
          </p:cNvPr>
          <p:cNvSpPr/>
          <p:nvPr/>
        </p:nvSpPr>
        <p:spPr>
          <a:xfrm>
            <a:off x="8033241" y="5352036"/>
            <a:ext cx="990600" cy="990600"/>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end</a:t>
            </a:r>
          </a:p>
        </p:txBody>
      </p:sp>
      <p:sp>
        <p:nvSpPr>
          <p:cNvPr id="13" name="Flowchart: Process 12">
            <a:extLst>
              <a:ext uri="{FF2B5EF4-FFF2-40B4-BE49-F238E27FC236}">
                <a16:creationId xmlns:a16="http://schemas.microsoft.com/office/drawing/2014/main" id="{BD4E6ADF-913F-42CC-3BF8-5CA7C46946A0}"/>
              </a:ext>
            </a:extLst>
          </p:cNvPr>
          <p:cNvSpPr/>
          <p:nvPr/>
        </p:nvSpPr>
        <p:spPr>
          <a:xfrm>
            <a:off x="6496050" y="1083029"/>
            <a:ext cx="1295400" cy="1066801"/>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Place order</a:t>
            </a:r>
          </a:p>
        </p:txBody>
      </p:sp>
      <p:sp>
        <p:nvSpPr>
          <p:cNvPr id="14" name="Flowchart: Process 13">
            <a:extLst>
              <a:ext uri="{FF2B5EF4-FFF2-40B4-BE49-F238E27FC236}">
                <a16:creationId xmlns:a16="http://schemas.microsoft.com/office/drawing/2014/main" id="{333FEB25-B1A9-EC8E-53A1-972D3A9A2232}"/>
              </a:ext>
            </a:extLst>
          </p:cNvPr>
          <p:cNvSpPr/>
          <p:nvPr/>
        </p:nvSpPr>
        <p:spPr>
          <a:xfrm>
            <a:off x="4480019" y="2933699"/>
            <a:ext cx="1295400" cy="1066801"/>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Stand in line</a:t>
            </a:r>
          </a:p>
        </p:txBody>
      </p:sp>
      <p:sp>
        <p:nvSpPr>
          <p:cNvPr id="15" name="Flowchart: Decision 14">
            <a:extLst>
              <a:ext uri="{FF2B5EF4-FFF2-40B4-BE49-F238E27FC236}">
                <a16:creationId xmlns:a16="http://schemas.microsoft.com/office/drawing/2014/main" id="{476BB64D-1D61-5B80-F30F-E2556BBF9F2B}"/>
              </a:ext>
            </a:extLst>
          </p:cNvPr>
          <p:cNvSpPr/>
          <p:nvPr/>
        </p:nvSpPr>
        <p:spPr>
          <a:xfrm>
            <a:off x="2316209" y="4829782"/>
            <a:ext cx="2163810" cy="1143000"/>
          </a:xfrm>
          <a:prstGeom prst="flowChartDecision">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Correct drink?</a:t>
            </a:r>
          </a:p>
        </p:txBody>
      </p:sp>
      <p:sp>
        <p:nvSpPr>
          <p:cNvPr id="16" name="Flowchart: Process 15">
            <a:extLst>
              <a:ext uri="{FF2B5EF4-FFF2-40B4-BE49-F238E27FC236}">
                <a16:creationId xmlns:a16="http://schemas.microsoft.com/office/drawing/2014/main" id="{BB632C04-F911-17BA-9660-B1959E24E694}"/>
              </a:ext>
            </a:extLst>
          </p:cNvPr>
          <p:cNvSpPr/>
          <p:nvPr/>
        </p:nvSpPr>
        <p:spPr>
          <a:xfrm>
            <a:off x="365219" y="2895960"/>
            <a:ext cx="1295400" cy="1066801"/>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“Excuse me”</a:t>
            </a:r>
          </a:p>
        </p:txBody>
      </p:sp>
      <p:sp>
        <p:nvSpPr>
          <p:cNvPr id="17" name="Flowchart: Process 16">
            <a:extLst>
              <a:ext uri="{FF2B5EF4-FFF2-40B4-BE49-F238E27FC236}">
                <a16:creationId xmlns:a16="http://schemas.microsoft.com/office/drawing/2014/main" id="{7F7168D7-663F-B193-E281-F57BBDB8A3E1}"/>
              </a:ext>
            </a:extLst>
          </p:cNvPr>
          <p:cNvSpPr/>
          <p:nvPr/>
        </p:nvSpPr>
        <p:spPr>
          <a:xfrm>
            <a:off x="2733054" y="3376382"/>
            <a:ext cx="1295400" cy="1066801"/>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Receive coffee</a:t>
            </a:r>
          </a:p>
        </p:txBody>
      </p:sp>
      <p:cxnSp>
        <p:nvCxnSpPr>
          <p:cNvPr id="19" name="Straight Arrow Connector 18">
            <a:extLst>
              <a:ext uri="{FF2B5EF4-FFF2-40B4-BE49-F238E27FC236}">
                <a16:creationId xmlns:a16="http://schemas.microsoft.com/office/drawing/2014/main" id="{ACE38CE4-5107-FD5C-B2DB-91AFABBF1A7E}"/>
              </a:ext>
            </a:extLst>
          </p:cNvPr>
          <p:cNvCxnSpPr>
            <a:cxnSpLocks/>
            <a:stCxn id="8" idx="6"/>
          </p:cNvCxnSpPr>
          <p:nvPr/>
        </p:nvCxnSpPr>
        <p:spPr>
          <a:xfrm>
            <a:off x="1295400" y="1638301"/>
            <a:ext cx="571500" cy="119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6B34394-1A45-438B-5487-E8CD1D7CB802}"/>
              </a:ext>
            </a:extLst>
          </p:cNvPr>
          <p:cNvCxnSpPr>
            <a:cxnSpLocks/>
          </p:cNvCxnSpPr>
          <p:nvPr/>
        </p:nvCxnSpPr>
        <p:spPr>
          <a:xfrm>
            <a:off x="3162300" y="1609897"/>
            <a:ext cx="590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E09BDB3-6E3F-319A-D7CC-E4743EAE5D15}"/>
              </a:ext>
            </a:extLst>
          </p:cNvPr>
          <p:cNvCxnSpPr>
            <a:cxnSpLocks/>
          </p:cNvCxnSpPr>
          <p:nvPr/>
        </p:nvCxnSpPr>
        <p:spPr>
          <a:xfrm>
            <a:off x="5905500" y="1609897"/>
            <a:ext cx="590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F38B6B8B-F14C-94CD-47A7-6A036D72F6F9}"/>
              </a:ext>
            </a:extLst>
          </p:cNvPr>
          <p:cNvCxnSpPr>
            <a:cxnSpLocks/>
          </p:cNvCxnSpPr>
          <p:nvPr/>
        </p:nvCxnSpPr>
        <p:spPr>
          <a:xfrm rot="16200000" flipH="1">
            <a:off x="4666239" y="1481619"/>
            <a:ext cx="4295603" cy="3429000"/>
          </a:xfrm>
          <a:prstGeom prst="bentConnector3">
            <a:avLst>
              <a:gd name="adj1" fmla="val -318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Flowchart: Process 26">
            <a:extLst>
              <a:ext uri="{FF2B5EF4-FFF2-40B4-BE49-F238E27FC236}">
                <a16:creationId xmlns:a16="http://schemas.microsoft.com/office/drawing/2014/main" id="{F6780950-E7CE-1172-48CE-36C332158D20}"/>
              </a:ext>
            </a:extLst>
          </p:cNvPr>
          <p:cNvSpPr/>
          <p:nvPr/>
        </p:nvSpPr>
        <p:spPr>
          <a:xfrm>
            <a:off x="5121633" y="647369"/>
            <a:ext cx="1866902" cy="225100"/>
          </a:xfrm>
          <a:prstGeom prst="flowChartProcess">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Yes - leave</a:t>
            </a:r>
          </a:p>
        </p:txBody>
      </p:sp>
      <p:cxnSp>
        <p:nvCxnSpPr>
          <p:cNvPr id="29" name="Straight Arrow Connector 28">
            <a:extLst>
              <a:ext uri="{FF2B5EF4-FFF2-40B4-BE49-F238E27FC236}">
                <a16:creationId xmlns:a16="http://schemas.microsoft.com/office/drawing/2014/main" id="{9B4DC307-FEDC-5D2B-27B7-9FC891038DA8}"/>
              </a:ext>
            </a:extLst>
          </p:cNvPr>
          <p:cNvCxnSpPr>
            <a:stCxn id="13" idx="2"/>
          </p:cNvCxnSpPr>
          <p:nvPr/>
        </p:nvCxnSpPr>
        <p:spPr>
          <a:xfrm>
            <a:off x="7143750" y="2149830"/>
            <a:ext cx="0" cy="7076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07DE373-1F46-8F0F-B748-37A84D9ECB7E}"/>
              </a:ext>
            </a:extLst>
          </p:cNvPr>
          <p:cNvCxnSpPr>
            <a:stCxn id="9" idx="1"/>
          </p:cNvCxnSpPr>
          <p:nvPr/>
        </p:nvCxnSpPr>
        <p:spPr>
          <a:xfrm flipH="1">
            <a:off x="5791200" y="3475215"/>
            <a:ext cx="762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BC9B925-9005-962D-82C3-48528763EA17}"/>
              </a:ext>
            </a:extLst>
          </p:cNvPr>
          <p:cNvCxnSpPr>
            <a:stCxn id="14" idx="1"/>
          </p:cNvCxnSpPr>
          <p:nvPr/>
        </p:nvCxnSpPr>
        <p:spPr>
          <a:xfrm flipH="1" flipV="1">
            <a:off x="4000500" y="3467099"/>
            <a:ext cx="47951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0C41419-1DC5-5758-1D64-BF8176BE89D0}"/>
              </a:ext>
            </a:extLst>
          </p:cNvPr>
          <p:cNvCxnSpPr>
            <a:cxnSpLocks/>
            <a:endCxn id="16" idx="2"/>
          </p:cNvCxnSpPr>
          <p:nvPr/>
        </p:nvCxnSpPr>
        <p:spPr>
          <a:xfrm flipH="1" flipV="1">
            <a:off x="1012919" y="3962761"/>
            <a:ext cx="1907930" cy="11417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C5C7581-CA43-3188-F68A-0EF1B0E323CB}"/>
              </a:ext>
            </a:extLst>
          </p:cNvPr>
          <p:cNvCxnSpPr>
            <a:cxnSpLocks/>
          </p:cNvCxnSpPr>
          <p:nvPr/>
        </p:nvCxnSpPr>
        <p:spPr>
          <a:xfrm>
            <a:off x="3404874" y="4443183"/>
            <a:ext cx="0" cy="3654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Process 37">
            <a:extLst>
              <a:ext uri="{FF2B5EF4-FFF2-40B4-BE49-F238E27FC236}">
                <a16:creationId xmlns:a16="http://schemas.microsoft.com/office/drawing/2014/main" id="{F9A0A28B-8628-011A-CEFA-454B81918C41}"/>
              </a:ext>
            </a:extLst>
          </p:cNvPr>
          <p:cNvSpPr/>
          <p:nvPr/>
        </p:nvSpPr>
        <p:spPr>
          <a:xfrm>
            <a:off x="5873487" y="1298900"/>
            <a:ext cx="576461" cy="225100"/>
          </a:xfrm>
          <a:prstGeom prst="flowChartProcess">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No</a:t>
            </a:r>
          </a:p>
        </p:txBody>
      </p:sp>
      <p:cxnSp>
        <p:nvCxnSpPr>
          <p:cNvPr id="44" name="Straight Arrow Connector 43">
            <a:extLst>
              <a:ext uri="{FF2B5EF4-FFF2-40B4-BE49-F238E27FC236}">
                <a16:creationId xmlns:a16="http://schemas.microsoft.com/office/drawing/2014/main" id="{BB66984E-8B3C-F2E9-4D28-D8B1529575CC}"/>
              </a:ext>
            </a:extLst>
          </p:cNvPr>
          <p:cNvCxnSpPr>
            <a:cxnSpLocks/>
          </p:cNvCxnSpPr>
          <p:nvPr/>
        </p:nvCxnSpPr>
        <p:spPr>
          <a:xfrm>
            <a:off x="1676400" y="3268071"/>
            <a:ext cx="2787838" cy="219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AF5B00B-19D2-F7C1-2493-3A39034DF3EB}"/>
              </a:ext>
            </a:extLst>
          </p:cNvPr>
          <p:cNvCxnSpPr>
            <a:cxnSpLocks/>
            <a:stCxn id="15" idx="3"/>
          </p:cNvCxnSpPr>
          <p:nvPr/>
        </p:nvCxnSpPr>
        <p:spPr>
          <a:xfrm>
            <a:off x="4480019" y="5401282"/>
            <a:ext cx="3535184" cy="4183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Flowchart: Process 48">
            <a:extLst>
              <a:ext uri="{FF2B5EF4-FFF2-40B4-BE49-F238E27FC236}">
                <a16:creationId xmlns:a16="http://schemas.microsoft.com/office/drawing/2014/main" id="{24C56F8A-9EA4-4E84-C664-9FF74CCCB00D}"/>
              </a:ext>
            </a:extLst>
          </p:cNvPr>
          <p:cNvSpPr/>
          <p:nvPr/>
        </p:nvSpPr>
        <p:spPr>
          <a:xfrm>
            <a:off x="1302047" y="4681293"/>
            <a:ext cx="781166" cy="225100"/>
          </a:xfrm>
          <a:prstGeom prst="flowChartProcess">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No</a:t>
            </a:r>
          </a:p>
        </p:txBody>
      </p:sp>
      <p:sp>
        <p:nvSpPr>
          <p:cNvPr id="52" name="Flowchart: Process 51">
            <a:extLst>
              <a:ext uri="{FF2B5EF4-FFF2-40B4-BE49-F238E27FC236}">
                <a16:creationId xmlns:a16="http://schemas.microsoft.com/office/drawing/2014/main" id="{C3425CAD-F010-AA9F-1DB2-61F2869FBAA3}"/>
              </a:ext>
            </a:extLst>
          </p:cNvPr>
          <p:cNvSpPr/>
          <p:nvPr/>
        </p:nvSpPr>
        <p:spPr>
          <a:xfrm>
            <a:off x="4121337" y="4896456"/>
            <a:ext cx="781166" cy="225100"/>
          </a:xfrm>
          <a:prstGeom prst="flowChartProcess">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Yes</a:t>
            </a:r>
          </a:p>
        </p:txBody>
      </p:sp>
    </p:spTree>
    <p:extLst>
      <p:ext uri="{BB962C8B-B14F-4D97-AF65-F5344CB8AC3E}">
        <p14:creationId xmlns:p14="http://schemas.microsoft.com/office/powerpoint/2010/main" val="34849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Terminator 7">
            <a:extLst>
              <a:ext uri="{FF2B5EF4-FFF2-40B4-BE49-F238E27FC236}">
                <a16:creationId xmlns:a16="http://schemas.microsoft.com/office/drawing/2014/main" id="{5D3AAED0-89A5-8580-8E21-6C807B3E79A3}"/>
              </a:ext>
            </a:extLst>
          </p:cNvPr>
          <p:cNvSpPr/>
          <p:nvPr/>
        </p:nvSpPr>
        <p:spPr>
          <a:xfrm>
            <a:off x="838200" y="533400"/>
            <a:ext cx="1600200" cy="381000"/>
          </a:xfrm>
          <a:prstGeom prst="flowChartTermina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start</a:t>
            </a:r>
          </a:p>
        </p:txBody>
      </p:sp>
      <p:sp>
        <p:nvSpPr>
          <p:cNvPr id="9" name="Flowchart: Terminator 8">
            <a:extLst>
              <a:ext uri="{FF2B5EF4-FFF2-40B4-BE49-F238E27FC236}">
                <a16:creationId xmlns:a16="http://schemas.microsoft.com/office/drawing/2014/main" id="{3449EB5D-CF97-A9CE-9BBA-660A10CD5D15}"/>
              </a:ext>
            </a:extLst>
          </p:cNvPr>
          <p:cNvSpPr/>
          <p:nvPr/>
        </p:nvSpPr>
        <p:spPr>
          <a:xfrm>
            <a:off x="6934200" y="4724400"/>
            <a:ext cx="1600200" cy="381000"/>
          </a:xfrm>
          <a:prstGeom prst="flowChartTermina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end</a:t>
            </a:r>
          </a:p>
        </p:txBody>
      </p:sp>
      <p:sp>
        <p:nvSpPr>
          <p:cNvPr id="10" name="Flowchart: Process 9">
            <a:extLst>
              <a:ext uri="{FF2B5EF4-FFF2-40B4-BE49-F238E27FC236}">
                <a16:creationId xmlns:a16="http://schemas.microsoft.com/office/drawing/2014/main" id="{A06882AF-77DE-3034-406E-09CB4F16A4E9}"/>
              </a:ext>
            </a:extLst>
          </p:cNvPr>
          <p:cNvSpPr/>
          <p:nvPr/>
        </p:nvSpPr>
        <p:spPr>
          <a:xfrm>
            <a:off x="647700" y="1295400"/>
            <a:ext cx="1981200" cy="914400"/>
          </a:xfrm>
          <a:prstGeom prst="flowChart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Process</a:t>
            </a:r>
          </a:p>
        </p:txBody>
      </p:sp>
      <p:sp>
        <p:nvSpPr>
          <p:cNvPr id="12" name="Flowchart: Decision 11">
            <a:extLst>
              <a:ext uri="{FF2B5EF4-FFF2-40B4-BE49-F238E27FC236}">
                <a16:creationId xmlns:a16="http://schemas.microsoft.com/office/drawing/2014/main" id="{81E89C7C-903C-FD35-4E1F-F3A56E27AAA4}"/>
              </a:ext>
            </a:extLst>
          </p:cNvPr>
          <p:cNvSpPr/>
          <p:nvPr/>
        </p:nvSpPr>
        <p:spPr>
          <a:xfrm>
            <a:off x="609600" y="4191000"/>
            <a:ext cx="2209800" cy="1143000"/>
          </a:xfrm>
          <a:prstGeom prst="flowChartDecision">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IF Branching Condition</a:t>
            </a:r>
          </a:p>
        </p:txBody>
      </p:sp>
      <p:cxnSp>
        <p:nvCxnSpPr>
          <p:cNvPr id="18" name="Straight Arrow Connector 17">
            <a:extLst>
              <a:ext uri="{FF2B5EF4-FFF2-40B4-BE49-F238E27FC236}">
                <a16:creationId xmlns:a16="http://schemas.microsoft.com/office/drawing/2014/main" id="{C9581BEE-7ECE-465A-9339-4300E7C8F9CB}"/>
              </a:ext>
            </a:extLst>
          </p:cNvPr>
          <p:cNvCxnSpPr>
            <a:stCxn id="8" idx="2"/>
            <a:endCxn id="10" idx="0"/>
          </p:cNvCxnSpPr>
          <p:nvPr/>
        </p:nvCxnSpPr>
        <p:spPr>
          <a:xfrm>
            <a:off x="1638300" y="914400"/>
            <a:ext cx="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152DC6C-7296-047B-33BB-A6C5D0CFBB44}"/>
              </a:ext>
            </a:extLst>
          </p:cNvPr>
          <p:cNvCxnSpPr/>
          <p:nvPr/>
        </p:nvCxnSpPr>
        <p:spPr>
          <a:xfrm>
            <a:off x="1631868" y="2209800"/>
            <a:ext cx="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26190F-3267-D25E-55F4-DC74818A63B5}"/>
              </a:ext>
            </a:extLst>
          </p:cNvPr>
          <p:cNvCxnSpPr>
            <a:cxnSpLocks/>
            <a:endCxn id="12" idx="0"/>
          </p:cNvCxnSpPr>
          <p:nvPr/>
        </p:nvCxnSpPr>
        <p:spPr>
          <a:xfrm>
            <a:off x="1651165" y="3505200"/>
            <a:ext cx="63335" cy="685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8CCC6BE-59E8-9625-1BA5-C21659493ED6}"/>
              </a:ext>
            </a:extLst>
          </p:cNvPr>
          <p:cNvCxnSpPr>
            <a:stCxn id="12" idx="3"/>
            <a:endCxn id="9" idx="1"/>
          </p:cNvCxnSpPr>
          <p:nvPr/>
        </p:nvCxnSpPr>
        <p:spPr>
          <a:xfrm>
            <a:off x="2819400" y="4762500"/>
            <a:ext cx="4114800" cy="152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D5A039-B456-9DC9-C555-A8D35986DEEA}"/>
              </a:ext>
            </a:extLst>
          </p:cNvPr>
          <p:cNvCxnSpPr>
            <a:stCxn id="12" idx="1"/>
          </p:cNvCxnSpPr>
          <p:nvPr/>
        </p:nvCxnSpPr>
        <p:spPr>
          <a:xfrm flipH="1">
            <a:off x="381000" y="47625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E27D2E-2BC9-0643-F975-098D948E2882}"/>
              </a:ext>
            </a:extLst>
          </p:cNvPr>
          <p:cNvCxnSpPr/>
          <p:nvPr/>
        </p:nvCxnSpPr>
        <p:spPr>
          <a:xfrm>
            <a:off x="381000" y="1752600"/>
            <a:ext cx="0" cy="3009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5F6C05F-5BEB-82E2-D6A1-22CD35FF079B}"/>
              </a:ext>
            </a:extLst>
          </p:cNvPr>
          <p:cNvCxnSpPr>
            <a:endCxn id="10" idx="1"/>
          </p:cNvCxnSpPr>
          <p:nvPr/>
        </p:nvCxnSpPr>
        <p:spPr>
          <a:xfrm>
            <a:off x="381000" y="1752600"/>
            <a:ext cx="2667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362C59D-B308-0957-0C30-2C445EE3E7A0}"/>
              </a:ext>
            </a:extLst>
          </p:cNvPr>
          <p:cNvSpPr txBox="1"/>
          <p:nvPr/>
        </p:nvSpPr>
        <p:spPr>
          <a:xfrm>
            <a:off x="2791359" y="4409985"/>
            <a:ext cx="603563" cy="400110"/>
          </a:xfrm>
          <a:prstGeom prst="rect">
            <a:avLst/>
          </a:prstGeom>
          <a:noFill/>
        </p:spPr>
        <p:txBody>
          <a:bodyPr wrap="none" rtlCol="0">
            <a:spAutoFit/>
          </a:bodyPr>
          <a:lstStyle/>
          <a:p>
            <a:r>
              <a:rPr lang="en-US" sz="2000" dirty="0"/>
              <a:t>Yes</a:t>
            </a:r>
          </a:p>
        </p:txBody>
      </p:sp>
      <p:sp>
        <p:nvSpPr>
          <p:cNvPr id="41" name="TextBox 40">
            <a:extLst>
              <a:ext uri="{FF2B5EF4-FFF2-40B4-BE49-F238E27FC236}">
                <a16:creationId xmlns:a16="http://schemas.microsoft.com/office/drawing/2014/main" id="{46ECA8D2-C6A5-2D3D-71E0-4D23B6CDE148}"/>
              </a:ext>
            </a:extLst>
          </p:cNvPr>
          <p:cNvSpPr txBox="1"/>
          <p:nvPr/>
        </p:nvSpPr>
        <p:spPr>
          <a:xfrm>
            <a:off x="124359" y="4819589"/>
            <a:ext cx="513282" cy="400110"/>
          </a:xfrm>
          <a:prstGeom prst="rect">
            <a:avLst/>
          </a:prstGeom>
          <a:noFill/>
        </p:spPr>
        <p:txBody>
          <a:bodyPr wrap="none" rtlCol="0">
            <a:spAutoFit/>
          </a:bodyPr>
          <a:lstStyle/>
          <a:p>
            <a:r>
              <a:rPr lang="en-US" sz="2000" dirty="0"/>
              <a:t>No</a:t>
            </a:r>
          </a:p>
        </p:txBody>
      </p:sp>
      <p:sp>
        <p:nvSpPr>
          <p:cNvPr id="2" name="Rectangle 1">
            <a:extLst>
              <a:ext uri="{FF2B5EF4-FFF2-40B4-BE49-F238E27FC236}">
                <a16:creationId xmlns:a16="http://schemas.microsoft.com/office/drawing/2014/main" id="{9220848A-1E47-43BD-DE41-8E9EEF8EE2BB}"/>
              </a:ext>
            </a:extLst>
          </p:cNvPr>
          <p:cNvSpPr/>
          <p:nvPr/>
        </p:nvSpPr>
        <p:spPr>
          <a:xfrm>
            <a:off x="4572000" y="1143000"/>
            <a:ext cx="365760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Design the flowchart for contesting an unfairly graded assignment</a:t>
            </a:r>
          </a:p>
        </p:txBody>
      </p:sp>
      <p:sp>
        <p:nvSpPr>
          <p:cNvPr id="3" name="Flowchart: Document 8">
            <a:extLst>
              <a:ext uri="{FF2B5EF4-FFF2-40B4-BE49-F238E27FC236}">
                <a16:creationId xmlns:a16="http://schemas.microsoft.com/office/drawing/2014/main" id="{DFC24EDB-3774-6F35-D5C9-17EF5B676F3E}"/>
              </a:ext>
            </a:extLst>
          </p:cNvPr>
          <p:cNvSpPr/>
          <p:nvPr/>
        </p:nvSpPr>
        <p:spPr>
          <a:xfrm>
            <a:off x="679368" y="2660904"/>
            <a:ext cx="1905000" cy="1219200"/>
          </a:xfrm>
          <a:prstGeom prst="flowChartDocumen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Document</a:t>
            </a:r>
          </a:p>
        </p:txBody>
      </p:sp>
    </p:spTree>
    <p:extLst>
      <p:ext uri="{BB962C8B-B14F-4D97-AF65-F5344CB8AC3E}">
        <p14:creationId xmlns:p14="http://schemas.microsoft.com/office/powerpoint/2010/main" val="1553674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97933"/>
            <a:ext cx="8229600" cy="664067"/>
          </a:xfrm>
        </p:spPr>
        <p:txBody>
          <a:bodyPr anchor="ctr">
            <a:noAutofit/>
          </a:bodyPr>
          <a:lstStyle/>
          <a:p>
            <a:r>
              <a:rPr lang="en-US" dirty="0"/>
              <a:t>Guidelines for Drawing Flowcharts</a:t>
            </a:r>
            <a:endParaRPr lang="en-IN" sz="3600" dirty="0">
              <a:latin typeface="+mj-lt"/>
            </a:endParaRPr>
          </a:p>
        </p:txBody>
      </p:sp>
      <p:sp>
        <p:nvSpPr>
          <p:cNvPr id="2" name="Content Placeholder 1"/>
          <p:cNvSpPr>
            <a:spLocks noGrp="1"/>
          </p:cNvSpPr>
          <p:nvPr>
            <p:ph idx="13"/>
          </p:nvPr>
        </p:nvSpPr>
        <p:spPr>
          <a:xfrm>
            <a:off x="447675" y="990600"/>
            <a:ext cx="8229600" cy="3916457"/>
          </a:xfrm>
        </p:spPr>
        <p:txBody>
          <a:bodyPr/>
          <a:lstStyle/>
          <a:p>
            <a:pPr lvl="0">
              <a:buSzPts val="2400"/>
            </a:pPr>
            <a:r>
              <a:rPr lang="en-IN" sz="2400" dirty="0"/>
              <a:t>Understand the system you are trying to represent.</a:t>
            </a:r>
          </a:p>
          <a:p>
            <a:pPr lvl="0">
              <a:buSzPts val="2400"/>
            </a:pPr>
            <a:r>
              <a:rPr lang="en-IN" sz="2400" dirty="0"/>
              <a:t>Identify business processes, documents, data flows, and data processing procedures.</a:t>
            </a:r>
          </a:p>
          <a:p>
            <a:pPr lvl="0">
              <a:buSzPts val="2400"/>
            </a:pPr>
            <a:r>
              <a:rPr lang="en-IN" sz="2400" dirty="0"/>
              <a:t>Organize the flowchart so that it reads from top to bottom and left to right.</a:t>
            </a:r>
          </a:p>
          <a:p>
            <a:pPr lvl="0">
              <a:buSzPts val="2400"/>
            </a:pPr>
            <a:r>
              <a:rPr lang="en-IN" sz="2400" dirty="0"/>
              <a:t>Clearly label all symbols.</a:t>
            </a:r>
          </a:p>
          <a:p>
            <a:pPr lvl="0">
              <a:buSzPts val="2400"/>
            </a:pPr>
            <a:r>
              <a:rPr lang="en-IN" sz="2400" dirty="0"/>
              <a:t>Use page connectors (if it cannot fit on a single page).</a:t>
            </a:r>
          </a:p>
          <a:p>
            <a:pPr lvl="0">
              <a:buSzPts val="2400"/>
            </a:pPr>
            <a:r>
              <a:rPr lang="en-IN" sz="2400" dirty="0"/>
              <a:t>Edit/review/refine to make it easy to read and understand.</a:t>
            </a:r>
          </a:p>
        </p:txBody>
      </p:sp>
    </p:spTree>
    <p:extLst>
      <p:ext uri="{BB962C8B-B14F-4D97-AF65-F5344CB8AC3E}">
        <p14:creationId xmlns:p14="http://schemas.microsoft.com/office/powerpoint/2010/main" val="2927952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25326</TotalTime>
  <Words>942</Words>
  <Application>Microsoft Macintosh PowerPoint</Application>
  <PresentationFormat>On-screen Show (4:3)</PresentationFormat>
  <Paragraphs>136</Paragraphs>
  <Slides>9</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Why Document Systems?</vt:lpstr>
      <vt:lpstr>Flowcharts</vt:lpstr>
      <vt:lpstr>Figure 3.3 Common Flowcharts Symbols</vt:lpstr>
      <vt:lpstr>PowerPoint Presentation</vt:lpstr>
      <vt:lpstr>PowerPoint Presentation</vt:lpstr>
      <vt:lpstr>Guidelines for Drawing Flowcharts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3, Systems Documentation Techniques</dc:title>
  <dc:subject/>
  <dc:creator>Romney</dc:creator>
  <cp:keywords>Automotive</cp:keywords>
  <cp:lastModifiedBy>Nathan Garrett</cp:lastModifiedBy>
  <cp:revision>4991</cp:revision>
  <dcterms:created xsi:type="dcterms:W3CDTF">2014-07-14T20:04:21Z</dcterms:created>
  <dcterms:modified xsi:type="dcterms:W3CDTF">2025-09-10T13:10:03Z</dcterms:modified>
</cp:coreProperties>
</file>