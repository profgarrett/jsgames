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7" r:id="rId2"/>
  </p:sldMasterIdLst>
  <p:notesMasterIdLst>
    <p:notesMasterId r:id="rId27"/>
  </p:notesMasterIdLst>
  <p:handoutMasterIdLst>
    <p:handoutMasterId r:id="rId28"/>
  </p:handoutMasterIdLst>
  <p:sldIdLst>
    <p:sldId id="330" r:id="rId3"/>
    <p:sldId id="1718" r:id="rId4"/>
    <p:sldId id="1845" r:id="rId5"/>
    <p:sldId id="1846" r:id="rId6"/>
    <p:sldId id="1088" r:id="rId7"/>
    <p:sldId id="1847" r:id="rId8"/>
    <p:sldId id="1838" r:id="rId9"/>
    <p:sldId id="1839" r:id="rId10"/>
    <p:sldId id="1841" r:id="rId11"/>
    <p:sldId id="1840" r:id="rId12"/>
    <p:sldId id="1843" r:id="rId13"/>
    <p:sldId id="1835" r:id="rId14"/>
    <p:sldId id="1836" r:id="rId15"/>
    <p:sldId id="1849" r:id="rId16"/>
    <p:sldId id="1796" r:id="rId17"/>
    <p:sldId id="1825" r:id="rId18"/>
    <p:sldId id="1832" r:id="rId19"/>
    <p:sldId id="1848" r:id="rId20"/>
    <p:sldId id="1833" r:id="rId21"/>
    <p:sldId id="1826" r:id="rId22"/>
    <p:sldId id="1850" r:id="rId23"/>
    <p:sldId id="1769" r:id="rId24"/>
    <p:sldId id="1837" r:id="rId25"/>
    <p:sldId id="1704"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2880" userDrawn="1">
          <p15:clr>
            <a:srgbClr val="A4A3A4"/>
          </p15:clr>
        </p15:guide>
        <p15:guide id="4" orient="horz" pos="384">
          <p15:clr>
            <a:srgbClr val="A4A3A4"/>
          </p15:clr>
        </p15:guide>
        <p15:guide id="5" orient="horz" pos="144">
          <p15:clr>
            <a:srgbClr val="A4A3A4"/>
          </p15:clr>
        </p15:guide>
        <p15:guide id="7" orient="horz" pos="624">
          <p15:clr>
            <a:srgbClr val="A4A3A4"/>
          </p15:clr>
        </p15:guide>
        <p15:guide id="9" pos="288">
          <p15:clr>
            <a:srgbClr val="A4A3A4"/>
          </p15:clr>
        </p15:guide>
        <p15:guide id="10" pos="5472">
          <p15:clr>
            <a:srgbClr val="A4A3A4"/>
          </p15:clr>
        </p15:guide>
        <p15:guide id="11" orient="horz" pos="3984" userDrawn="1">
          <p15:clr>
            <a:srgbClr val="A4A3A4"/>
          </p15:clr>
        </p15:guide>
        <p15:guide id="12" orient="horz" pos="2160" userDrawn="1">
          <p15:clr>
            <a:srgbClr val="A4A3A4"/>
          </p15:clr>
        </p15:guide>
        <p15:guide id="13" orient="horz" pos="528"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 Mohanapriya" initials="DM" lastIdx="1" clrIdx="0"/>
  <p:cmAuthor id="2" name="Thamizharasan Dhanaseelan" initials="TD"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99008C"/>
    <a:srgbClr val="001581"/>
    <a:srgbClr val="82007C"/>
    <a:srgbClr val="96008F"/>
    <a:srgbClr val="595375"/>
    <a:srgbClr val="6B638B"/>
    <a:srgbClr val="000000"/>
    <a:srgbClr val="FDB9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414" autoAdjust="0"/>
    <p:restoredTop sz="93205" autoAdjust="0"/>
  </p:normalViewPr>
  <p:slideViewPr>
    <p:cSldViewPr>
      <p:cViewPr varScale="1">
        <p:scale>
          <a:sx n="107" d="100"/>
          <a:sy n="107" d="100"/>
        </p:scale>
        <p:origin x="560" y="160"/>
      </p:cViewPr>
      <p:guideLst>
        <p:guide pos="2880"/>
        <p:guide orient="horz" pos="384"/>
        <p:guide orient="horz" pos="144"/>
        <p:guide orient="horz" pos="624"/>
        <p:guide pos="288"/>
        <p:guide pos="5472"/>
        <p:guide orient="horz" pos="3984"/>
        <p:guide orient="horz" pos="2160"/>
        <p:guide orient="horz" pos="528"/>
      </p:guideLst>
    </p:cSldViewPr>
  </p:slideViewPr>
  <p:outlineViewPr>
    <p:cViewPr>
      <p:scale>
        <a:sx n="25" d="100"/>
        <a:sy n="25" d="100"/>
      </p:scale>
      <p:origin x="0" y="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t>11/3/25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t>11/3/25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If this PowerPoint presentation contains mathematical equations, you may need to check that your computer has the following installed:</a:t>
            </a:r>
            <a:endParaRPr lang="en-US" dirty="0"/>
          </a:p>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1) </a:t>
            </a:r>
            <a:r>
              <a:rPr lang="en-US" sz="1200" b="0" i="0" u="none" strike="noStrike" cap="none" dirty="0" err="1">
                <a:solidFill>
                  <a:schemeClr val="dk1"/>
                </a:solidFill>
                <a:latin typeface="Arial"/>
                <a:ea typeface="Arial"/>
                <a:cs typeface="Arial"/>
                <a:sym typeface="Arial"/>
              </a:rPr>
              <a:t>MathType</a:t>
            </a:r>
            <a:r>
              <a:rPr lang="en-US" sz="1200" b="0" i="0" u="none" strike="noStrike" cap="none" dirty="0">
                <a:solidFill>
                  <a:schemeClr val="dk1"/>
                </a:solidFill>
                <a:latin typeface="Arial"/>
                <a:ea typeface="Arial"/>
                <a:cs typeface="Arial"/>
                <a:sym typeface="Arial"/>
              </a:rPr>
              <a:t> Plugin</a:t>
            </a:r>
            <a:endParaRPr lang="en-US" dirty="0"/>
          </a:p>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2) Math Player (free versions available)</a:t>
            </a:r>
            <a:endParaRPr lang="en-US" dirty="0"/>
          </a:p>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251233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2</a:t>
            </a:fld>
            <a:endParaRPr lang="en-US" dirty="0"/>
          </a:p>
        </p:txBody>
      </p:sp>
    </p:spTree>
    <p:extLst>
      <p:ext uri="{BB962C8B-B14F-4D97-AF65-F5344CB8AC3E}">
        <p14:creationId xmlns:p14="http://schemas.microsoft.com/office/powerpoint/2010/main" val="14684218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t>There are many reasons why organizations continue to change their information systems whether it’s a full systems replacement or an upgrade to an existing system. This can be due to technology changes, to become more effective and efficient in the organization (productivity gains), improve business processes, or for competitive advantage reasons.</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Because of an organization’s desire to change an information system, it’s best to proceed using the following five steps known as the systems development lifecycle (SDLC):</a:t>
            </a:r>
          </a:p>
          <a:p>
            <a:pPr marL="228600" lvl="0" indent="-228600" algn="l" rtl="0">
              <a:spcBef>
                <a:spcPts val="0"/>
              </a:spcBef>
              <a:spcAft>
                <a:spcPts val="0"/>
              </a:spcAft>
              <a:buClr>
                <a:schemeClr val="dk1"/>
              </a:buClr>
              <a:buSzPts val="1200"/>
              <a:buFont typeface="Arial"/>
              <a:buAutoNum type="arabicPeriod"/>
            </a:pPr>
            <a:r>
              <a:rPr lang="en-IN" dirty="0"/>
              <a:t>Systems analysis: feasibility of the proposed project occurs. What is actually needed and when will it be done (scope of the project)? If it is feasible, then identify system requirements with an analysis report provided to the steering committee.</a:t>
            </a:r>
          </a:p>
          <a:p>
            <a:pPr marL="228600" lvl="0" indent="-228600" algn="l" rtl="0">
              <a:spcBef>
                <a:spcPts val="0"/>
              </a:spcBef>
              <a:spcAft>
                <a:spcPts val="0"/>
              </a:spcAft>
              <a:buClr>
                <a:schemeClr val="dk1"/>
              </a:buClr>
              <a:buSzPts val="1200"/>
              <a:buFont typeface="Arial"/>
              <a:buAutoNum type="arabicPeriod"/>
            </a:pPr>
            <a:r>
              <a:rPr lang="en-IN" dirty="0"/>
              <a:t>Conceptual design: determine how to meet user needs. Does project involve purchasing software, developing program in house, or outsourcing?</a:t>
            </a:r>
          </a:p>
          <a:p>
            <a:pPr marL="228600" lvl="0" indent="-228600" algn="l" rtl="0">
              <a:spcBef>
                <a:spcPts val="0"/>
              </a:spcBef>
              <a:spcAft>
                <a:spcPts val="0"/>
              </a:spcAft>
              <a:buClr>
                <a:schemeClr val="dk1"/>
              </a:buClr>
              <a:buSzPts val="1200"/>
              <a:buFont typeface="Arial"/>
              <a:buAutoNum type="arabicPeriod"/>
            </a:pPr>
            <a:r>
              <a:rPr lang="en-IN" dirty="0"/>
              <a:t>Physical design: translates broad conceptual design into the specific code, input and output source documents, and building the database.</a:t>
            </a:r>
          </a:p>
          <a:p>
            <a:pPr marL="228600" lvl="0" indent="-228600" algn="l" rtl="0">
              <a:spcBef>
                <a:spcPts val="0"/>
              </a:spcBef>
              <a:spcAft>
                <a:spcPts val="0"/>
              </a:spcAft>
              <a:buClr>
                <a:schemeClr val="dk1"/>
              </a:buClr>
              <a:buSzPts val="1200"/>
              <a:buFont typeface="Arial"/>
              <a:buAutoNum type="arabicPeriod"/>
            </a:pPr>
            <a:r>
              <a:rPr lang="en-IN" dirty="0"/>
              <a:t>Implementation and conversion: install and test new hardware and software, train employees after which conversion to the new system will be complete.</a:t>
            </a:r>
          </a:p>
          <a:p>
            <a:pPr marL="228600" lvl="0" indent="-228600" algn="l" rtl="0">
              <a:spcBef>
                <a:spcPts val="0"/>
              </a:spcBef>
              <a:spcAft>
                <a:spcPts val="0"/>
              </a:spcAft>
              <a:buClr>
                <a:schemeClr val="dk1"/>
              </a:buClr>
              <a:buSzPts val="1200"/>
              <a:buFont typeface="Arial"/>
              <a:buAutoNum type="arabicPeriod"/>
            </a:pPr>
            <a:r>
              <a:rPr lang="en-IN" dirty="0"/>
              <a:t>Operations and maintenance: ongoing reviews of the system with improvements and modifications made if necessary.</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Long Description:</a:t>
            </a:r>
          </a:p>
          <a:p>
            <a:r>
              <a:rPr lang="en-US" sz="1200" kern="1200" dirty="0">
                <a:solidFill>
                  <a:schemeClr val="tx1"/>
                </a:solidFill>
                <a:effectLst/>
                <a:latin typeface="+mn-lt"/>
                <a:ea typeface="+mn-ea"/>
                <a:cs typeface="+mn-cs"/>
              </a:rPr>
              <a:t>The steps in the systems development life cycle are as follows:</a:t>
            </a:r>
            <a:endParaRPr lang="en-IN" dirty="0">
              <a:effectLst/>
            </a:endParaRPr>
          </a:p>
          <a:p>
            <a:r>
              <a:rPr lang="en-US" sz="1200" kern="1200" dirty="0">
                <a:solidFill>
                  <a:schemeClr val="tx1"/>
                </a:solidFill>
                <a:effectLst/>
                <a:latin typeface="+mn-lt"/>
                <a:ea typeface="+mn-ea"/>
                <a:cs typeface="+mn-cs"/>
              </a:rPr>
              <a:t> </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Systems Analysis</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Do initial investigation</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Do systems survey</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Do feasibility study</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Determine information needs and systems requirements</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Deliver systems requirements</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Conceptual Design</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Identify and evaluate design alternatives</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Develop design specifications</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Deliver conceptual design requirements</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Physical Design</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Design output</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Design database</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Design input</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Develop programs</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Develop procedures</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Design controls</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Deliver developed system</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Implementation and Conversion</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Develop an implementation and conversion plan</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Install hardware and software</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Train personnel</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Test the system</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Complete documentation</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Convert from old to new system</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Deliver operational system</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Feasibility analysis and decision points</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Economic feasibility</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Technical feasibility</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Legal feasibility</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Scheduling feasibility</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Operational feasibility</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Operations and Maintenance</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Fine-tune and do post implementation review</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Operate system</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Modify system</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Do ongoing maintenance</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Deliver improved system</a:t>
            </a:r>
            <a:endParaRPr lang="en-IN" dirty="0">
              <a:effectLst/>
            </a:endParaRPr>
          </a:p>
          <a:p>
            <a:endParaRPr lang="en-IN" dirty="0">
              <a:effectLs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5</a:t>
            </a:fld>
            <a:endParaRPr lang="en-US" dirty="0"/>
          </a:p>
        </p:txBody>
      </p:sp>
    </p:spTree>
    <p:extLst>
      <p:ext uri="{BB962C8B-B14F-4D97-AF65-F5344CB8AC3E}">
        <p14:creationId xmlns:p14="http://schemas.microsoft.com/office/powerpoint/2010/main" val="5119831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t>Change is hard; think about a time when you had to change your habits, how successful were you the first time? Did it take practice and setting your mind to it? Did you have to make it a priority until it became more automatic? Did it require a lot more of your time and energy to focus on the change?</a:t>
            </a:r>
          </a:p>
          <a:p>
            <a:pPr marL="0" lvl="0" indent="0" algn="l" rtl="0">
              <a:spcBef>
                <a:spcPts val="0"/>
              </a:spcBef>
              <a:spcAft>
                <a:spcPts val="0"/>
              </a:spcAft>
              <a:buNone/>
            </a:pPr>
            <a:r>
              <a:rPr lang="en-IN" dirty="0"/>
              <a:t>Probably from your personal experience you can see why an IS change may be difficult for many employees.</a:t>
            </a:r>
          </a:p>
          <a:p>
            <a:pPr marL="0" lvl="0" indent="0" algn="l" rtl="0">
              <a:spcBef>
                <a:spcPts val="0"/>
              </a:spcBef>
              <a:spcAft>
                <a:spcPts val="0"/>
              </a:spcAft>
              <a:buNone/>
            </a:pPr>
            <a:r>
              <a:rPr lang="en-IN" dirty="0"/>
              <a:t>Because there are many reasons why employees resist change, it usually comes in one of three forms:</a:t>
            </a:r>
          </a:p>
          <a:p>
            <a:pPr marL="228600" lvl="0" indent="-228600" algn="l" rtl="0">
              <a:spcBef>
                <a:spcPts val="0"/>
              </a:spcBef>
              <a:spcAft>
                <a:spcPts val="0"/>
              </a:spcAft>
              <a:buClr>
                <a:schemeClr val="dk1"/>
              </a:buClr>
              <a:buSzPts val="1200"/>
              <a:buFont typeface="Arial"/>
              <a:buAutoNum type="arabicPeriod"/>
            </a:pPr>
            <a:r>
              <a:rPr lang="en-IN" dirty="0"/>
              <a:t>Aggression: </a:t>
            </a:r>
            <a:r>
              <a:rPr lang="en-IN" dirty="0" err="1"/>
              <a:t>behaviors</a:t>
            </a:r>
            <a:r>
              <a:rPr lang="en-IN" dirty="0"/>
              <a:t> that are intended to produce errors with the new system, or weaken the effectiveness of the new system</a:t>
            </a:r>
          </a:p>
          <a:p>
            <a:pPr marL="228600" lvl="0" indent="-228600" algn="l" rtl="0">
              <a:spcBef>
                <a:spcPts val="0"/>
              </a:spcBef>
              <a:spcAft>
                <a:spcPts val="0"/>
              </a:spcAft>
              <a:buClr>
                <a:schemeClr val="dk1"/>
              </a:buClr>
              <a:buSzPts val="1200"/>
              <a:buFont typeface="Arial"/>
              <a:buAutoNum type="arabicPeriod"/>
            </a:pPr>
            <a:r>
              <a:rPr lang="en-IN" dirty="0"/>
              <a:t>Projection: blame the new system for everything that goes wrong</a:t>
            </a:r>
          </a:p>
          <a:p>
            <a:pPr marL="228600" lvl="0" indent="-228600" algn="l" rtl="0">
              <a:spcBef>
                <a:spcPts val="0"/>
              </a:spcBef>
              <a:spcAft>
                <a:spcPts val="0"/>
              </a:spcAft>
              <a:buClr>
                <a:schemeClr val="dk1"/>
              </a:buClr>
              <a:buSzPts val="1200"/>
              <a:buFont typeface="Arial"/>
              <a:buAutoNum type="arabicPeriod"/>
            </a:pPr>
            <a:r>
              <a:rPr lang="en-IN" dirty="0"/>
              <a:t>Avoidance: ignore the new system in hopes that it will eventually go away</a:t>
            </a:r>
          </a:p>
        </p:txBody>
      </p:sp>
      <p:sp>
        <p:nvSpPr>
          <p:cNvPr id="4" name="Slide Number Placeholder 3"/>
          <p:cNvSpPr>
            <a:spLocks noGrp="1"/>
          </p:cNvSpPr>
          <p:nvPr>
            <p:ph type="sldNum" sz="quarter" idx="10"/>
          </p:nvPr>
        </p:nvSpPr>
        <p:spPr/>
        <p:txBody>
          <a:bodyPr/>
          <a:lstStyle/>
          <a:p>
            <a:fld id="{A73D6722-9B4D-4E29-B226-C325925A8118}" type="slidenum">
              <a:rPr lang="en-US" smtClean="0"/>
              <a:t>12</a:t>
            </a:fld>
            <a:endParaRPr lang="en-US" dirty="0"/>
          </a:p>
        </p:txBody>
      </p:sp>
    </p:spTree>
    <p:extLst>
      <p:ext uri="{BB962C8B-B14F-4D97-AF65-F5344CB8AC3E}">
        <p14:creationId xmlns:p14="http://schemas.microsoft.com/office/powerpoint/2010/main" val="22976556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13</a:t>
            </a:fld>
            <a:endParaRPr lang="en-US" dirty="0"/>
          </a:p>
        </p:txBody>
      </p:sp>
    </p:spTree>
    <p:extLst>
      <p:ext uri="{BB962C8B-B14F-4D97-AF65-F5344CB8AC3E}">
        <p14:creationId xmlns:p14="http://schemas.microsoft.com/office/powerpoint/2010/main" val="28500130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t>Cooperation amongst the many people involved in SDLC is important for a successful implementation of a system.</a:t>
            </a:r>
          </a:p>
          <a:p>
            <a:pPr marL="0" lvl="0" indent="0" algn="l" rtl="0">
              <a:spcBef>
                <a:spcPts val="0"/>
              </a:spcBef>
              <a:spcAft>
                <a:spcPts val="0"/>
              </a:spcAft>
              <a:buNone/>
            </a:pPr>
            <a:r>
              <a:rPr lang="en-IN" dirty="0"/>
              <a:t>In addition, external players may also have some level of involvement in the SDLC. External players will not be responsible for the success of the implementation; however, external auditors, for example, may be able to provide information that would be useful for reports needed to be efficient and effective in the audit process. Other external players may be vendors, customers, and government entities.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15</a:t>
            </a:fld>
            <a:endParaRPr lang="en-US" dirty="0"/>
          </a:p>
        </p:txBody>
      </p:sp>
    </p:spTree>
    <p:extLst>
      <p:ext uri="{BB962C8B-B14F-4D97-AF65-F5344CB8AC3E}">
        <p14:creationId xmlns:p14="http://schemas.microsoft.com/office/powerpoint/2010/main" val="4024285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rtl="0">
              <a:lnSpc>
                <a:spcPct val="100000"/>
              </a:lnSpc>
              <a:spcBef>
                <a:spcPts val="0"/>
              </a:spcBef>
              <a:spcAft>
                <a:spcPts val="0"/>
              </a:spcAft>
              <a:buClr>
                <a:schemeClr val="dk1"/>
              </a:buClr>
              <a:buSzPts val="1200"/>
              <a:buFont typeface="Arial"/>
              <a:buNone/>
            </a:pPr>
            <a:r>
              <a:rPr lang="en-IN" dirty="0"/>
              <a:t>Planning is 95% of success. Inadequate planning at either the master plan or project development plan can result in undesired results.</a:t>
            </a:r>
          </a:p>
        </p:txBody>
      </p:sp>
      <p:sp>
        <p:nvSpPr>
          <p:cNvPr id="4" name="Slide Number Placeholder 3"/>
          <p:cNvSpPr>
            <a:spLocks noGrp="1"/>
          </p:cNvSpPr>
          <p:nvPr>
            <p:ph type="sldNum" sz="quarter" idx="10"/>
          </p:nvPr>
        </p:nvSpPr>
        <p:spPr/>
        <p:txBody>
          <a:bodyPr/>
          <a:lstStyle/>
          <a:p>
            <a:fld id="{A73D6722-9B4D-4E29-B226-C325925A8118}" type="slidenum">
              <a:rPr lang="en-US" smtClean="0"/>
              <a:t>16</a:t>
            </a:fld>
            <a:endParaRPr lang="en-US" dirty="0"/>
          </a:p>
        </p:txBody>
      </p:sp>
    </p:spTree>
    <p:extLst>
      <p:ext uri="{BB962C8B-B14F-4D97-AF65-F5344CB8AC3E}">
        <p14:creationId xmlns:p14="http://schemas.microsoft.com/office/powerpoint/2010/main" val="8209892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t>The critical path in the PERT diagram means that if this is delayed, the entire project will be delayed.</a:t>
            </a:r>
          </a:p>
          <a:p>
            <a:pPr marL="0" lvl="0" indent="0" algn="l" rtl="0">
              <a:spcBef>
                <a:spcPts val="0"/>
              </a:spcBef>
              <a:spcAft>
                <a:spcPts val="0"/>
              </a:spcAft>
              <a:buNone/>
            </a:pPr>
            <a:r>
              <a:rPr lang="en-IN" dirty="0"/>
              <a:t>The Gantt chart is a good way to visualize how the activities break down and are scheduled for the entire IS project.</a:t>
            </a:r>
          </a:p>
        </p:txBody>
      </p:sp>
      <p:sp>
        <p:nvSpPr>
          <p:cNvPr id="4" name="Slide Number Placeholder 3"/>
          <p:cNvSpPr>
            <a:spLocks noGrp="1"/>
          </p:cNvSpPr>
          <p:nvPr>
            <p:ph type="sldNum" sz="quarter" idx="10"/>
          </p:nvPr>
        </p:nvSpPr>
        <p:spPr/>
        <p:txBody>
          <a:bodyPr/>
          <a:lstStyle/>
          <a:p>
            <a:fld id="{A73D6722-9B4D-4E29-B226-C325925A8118}" type="slidenum">
              <a:rPr lang="en-US" smtClean="0"/>
              <a:t>17</a:t>
            </a:fld>
            <a:endParaRPr lang="en-US" dirty="0"/>
          </a:p>
        </p:txBody>
      </p:sp>
    </p:spTree>
    <p:extLst>
      <p:ext uri="{BB962C8B-B14F-4D97-AF65-F5344CB8AC3E}">
        <p14:creationId xmlns:p14="http://schemas.microsoft.com/office/powerpoint/2010/main" val="41564515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t>Feasibility analysis is prepared during the systems analysis stage and updated throughout the SDLC as needed.</a:t>
            </a:r>
          </a:p>
        </p:txBody>
      </p:sp>
      <p:sp>
        <p:nvSpPr>
          <p:cNvPr id="4" name="Slide Number Placeholder 3"/>
          <p:cNvSpPr>
            <a:spLocks noGrp="1"/>
          </p:cNvSpPr>
          <p:nvPr>
            <p:ph type="sldNum" sz="quarter" idx="10"/>
          </p:nvPr>
        </p:nvSpPr>
        <p:spPr/>
        <p:txBody>
          <a:bodyPr/>
          <a:lstStyle/>
          <a:p>
            <a:fld id="{A73D6722-9B4D-4E29-B226-C325925A8118}" type="slidenum">
              <a:rPr lang="en-US" smtClean="0"/>
              <a:t>19</a:t>
            </a:fld>
            <a:endParaRPr lang="en-US" dirty="0"/>
          </a:p>
        </p:txBody>
      </p:sp>
    </p:spTree>
    <p:extLst>
      <p:ext uri="{BB962C8B-B14F-4D97-AF65-F5344CB8AC3E}">
        <p14:creationId xmlns:p14="http://schemas.microsoft.com/office/powerpoint/2010/main" val="24704685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t>For the first phase of the SDLC, systems analysis, there are five steps:</a:t>
            </a:r>
          </a:p>
          <a:p>
            <a:pPr marL="228600" lvl="0" indent="-228600" algn="l" rtl="0">
              <a:spcBef>
                <a:spcPts val="0"/>
              </a:spcBef>
              <a:spcAft>
                <a:spcPts val="0"/>
              </a:spcAft>
              <a:buClr>
                <a:schemeClr val="dk1"/>
              </a:buClr>
              <a:buSzPts val="1200"/>
              <a:buFont typeface="Arial"/>
              <a:buAutoNum type="arabicPeriod"/>
            </a:pPr>
            <a:r>
              <a:rPr lang="en-IN" dirty="0"/>
              <a:t>Initial investigation—examines the IS problem to be solved, determine the project scope (what the project should and should not accomplish)</a:t>
            </a:r>
          </a:p>
          <a:p>
            <a:pPr marL="228600" lvl="0" indent="-228600" algn="l" rtl="0">
              <a:spcBef>
                <a:spcPts val="0"/>
              </a:spcBef>
              <a:spcAft>
                <a:spcPts val="0"/>
              </a:spcAft>
              <a:buClr>
                <a:schemeClr val="dk1"/>
              </a:buClr>
              <a:buSzPts val="1200"/>
              <a:buFont typeface="Arial"/>
              <a:buAutoNum type="arabicPeriod"/>
            </a:pPr>
            <a:r>
              <a:rPr lang="en-IN" dirty="0"/>
              <a:t>Systems survey—studies the current system to understand how it works, its strengths, and weaknesses. Collect data to identify user needs. Data can be gathered by interviews, questionnaires, observations, and systems documentation.</a:t>
            </a:r>
          </a:p>
          <a:p>
            <a:pPr marL="228600" lvl="0" indent="-228600" algn="l" rtl="0">
              <a:spcBef>
                <a:spcPts val="0"/>
              </a:spcBef>
              <a:spcAft>
                <a:spcPts val="0"/>
              </a:spcAft>
              <a:buClr>
                <a:schemeClr val="dk1"/>
              </a:buClr>
              <a:buSzPts val="1200"/>
              <a:buFont typeface="Arial"/>
              <a:buAutoNum type="arabicPeriod"/>
            </a:pPr>
            <a:r>
              <a:rPr lang="en-IN" dirty="0"/>
              <a:t>Feasibility study is formally conducted (usually with one of the three methods discussed on Slide 20-8).</a:t>
            </a:r>
          </a:p>
          <a:p>
            <a:pPr marL="228600" lvl="0" indent="-228600" algn="l" rtl="0">
              <a:spcBef>
                <a:spcPts val="0"/>
              </a:spcBef>
              <a:spcAft>
                <a:spcPts val="0"/>
              </a:spcAft>
              <a:buClr>
                <a:schemeClr val="dk1"/>
              </a:buClr>
              <a:buSzPts val="1200"/>
              <a:buFont typeface="Arial"/>
              <a:buAutoNum type="arabicPeriod"/>
            </a:pPr>
            <a:r>
              <a:rPr lang="en-IN" dirty="0"/>
              <a:t>Information needs and assessments requirements—this is usually determined by:</a:t>
            </a:r>
          </a:p>
          <a:p>
            <a:pPr marL="685800" lvl="1" indent="-228600" algn="l" rtl="0">
              <a:spcBef>
                <a:spcPts val="0"/>
              </a:spcBef>
              <a:spcAft>
                <a:spcPts val="0"/>
              </a:spcAft>
              <a:buClr>
                <a:schemeClr val="dk1"/>
              </a:buClr>
              <a:buSzPts val="1200"/>
              <a:buFont typeface="Arial"/>
              <a:buAutoNum type="arabicPeriod"/>
            </a:pPr>
            <a:r>
              <a:rPr lang="en-IN" dirty="0"/>
              <a:t>Asking users what they need</a:t>
            </a:r>
          </a:p>
          <a:p>
            <a:pPr marL="685800" lvl="1" indent="-228600" algn="l" rtl="0">
              <a:spcBef>
                <a:spcPts val="0"/>
              </a:spcBef>
              <a:spcAft>
                <a:spcPts val="0"/>
              </a:spcAft>
              <a:buClr>
                <a:schemeClr val="dk1"/>
              </a:buClr>
              <a:buSzPts val="1200"/>
              <a:buFont typeface="Arial"/>
              <a:buAutoNum type="arabicPeriod"/>
            </a:pPr>
            <a:r>
              <a:rPr lang="en-IN" dirty="0" err="1"/>
              <a:t>Analyzing</a:t>
            </a:r>
            <a:r>
              <a:rPr lang="en-IN" dirty="0"/>
              <a:t> external systems (if solution exists, no need to recreate it)</a:t>
            </a:r>
          </a:p>
          <a:p>
            <a:pPr marL="685800" lvl="1" indent="-228600" algn="l" rtl="0">
              <a:spcBef>
                <a:spcPts val="0"/>
              </a:spcBef>
              <a:spcAft>
                <a:spcPts val="0"/>
              </a:spcAft>
              <a:buClr>
                <a:schemeClr val="dk1"/>
              </a:buClr>
              <a:buSzPts val="1200"/>
              <a:buFont typeface="Arial"/>
              <a:buAutoNum type="arabicPeriod"/>
            </a:pPr>
            <a:r>
              <a:rPr lang="en-IN" dirty="0"/>
              <a:t>Examining existing systems (determines if modification or replacement is needed)</a:t>
            </a:r>
          </a:p>
          <a:p>
            <a:pPr marL="685800" lvl="1" indent="-228600" algn="l" rtl="0">
              <a:spcBef>
                <a:spcPts val="0"/>
              </a:spcBef>
              <a:spcAft>
                <a:spcPts val="0"/>
              </a:spcAft>
              <a:buClr>
                <a:schemeClr val="dk1"/>
              </a:buClr>
              <a:buSzPts val="1200"/>
              <a:buFont typeface="Arial"/>
              <a:buAutoNum type="arabicPeriod"/>
            </a:pPr>
            <a:r>
              <a:rPr lang="en-IN" dirty="0"/>
              <a:t>Creating a prototype</a:t>
            </a:r>
          </a:p>
          <a:p>
            <a:pPr marL="228600" lvl="0" indent="-228600" algn="l" rtl="0">
              <a:spcBef>
                <a:spcPts val="0"/>
              </a:spcBef>
              <a:spcAft>
                <a:spcPts val="0"/>
              </a:spcAft>
              <a:buClr>
                <a:schemeClr val="dk1"/>
              </a:buClr>
              <a:buSzPts val="1200"/>
              <a:buFont typeface="Arial"/>
              <a:buAutoNum type="arabicPeriod"/>
            </a:pPr>
            <a:r>
              <a:rPr lang="en-IN" dirty="0"/>
              <a:t>Systems analysis report—summarizes and documents analysis activities</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Long Description:</a:t>
            </a:r>
          </a:p>
          <a:p>
            <a:r>
              <a:rPr lang="en-US" sz="1200" b="0" kern="1200" dirty="0">
                <a:solidFill>
                  <a:schemeClr val="tx1"/>
                </a:solidFill>
                <a:effectLst/>
                <a:latin typeface="+mn-lt"/>
                <a:ea typeface="+mn-ea"/>
                <a:cs typeface="+mn-cs"/>
              </a:rPr>
              <a:t>The steps involved in the process of systems analysis are as follows:</a:t>
            </a:r>
            <a:endParaRPr lang="en-IN" b="0" dirty="0">
              <a:effectLst/>
            </a:endParaRPr>
          </a:p>
          <a:p>
            <a:r>
              <a:rPr lang="en-US" sz="1200" b="1" kern="1200" dirty="0">
                <a:solidFill>
                  <a:schemeClr val="tx1"/>
                </a:solidFill>
                <a:effectLst/>
                <a:latin typeface="+mn-lt"/>
                <a:ea typeface="+mn-ea"/>
                <a:cs typeface="+mn-cs"/>
              </a:rPr>
              <a:t> </a:t>
            </a:r>
            <a:endParaRPr lang="en-IN" dirty="0">
              <a:effectLst/>
            </a:endParaRPr>
          </a:p>
          <a:p>
            <a:pPr fontAlgn="auto"/>
            <a:r>
              <a:rPr lang="en-US" sz="1200" kern="1200" dirty="0">
                <a:solidFill>
                  <a:schemeClr val="tx1"/>
                </a:solidFill>
                <a:effectLst/>
                <a:latin typeface="+mn-lt"/>
                <a:ea typeface="+mn-ea"/>
                <a:cs typeface="+mn-cs"/>
              </a:rPr>
              <a:t>Step</a:t>
            </a:r>
            <a:endParaRPr lang="en-IN" dirty="0">
              <a:effectLst/>
            </a:endParaRPr>
          </a:p>
          <a:p>
            <a:pPr fontAlgn="auto"/>
            <a:r>
              <a:rPr lang="en-US" sz="1200" kern="1200" dirty="0">
                <a:solidFill>
                  <a:schemeClr val="tx1"/>
                </a:solidFill>
                <a:effectLst/>
                <a:latin typeface="+mn-lt"/>
                <a:ea typeface="+mn-ea"/>
                <a:cs typeface="+mn-cs"/>
              </a:rPr>
              <a:t>Objective</a:t>
            </a:r>
            <a:endParaRPr lang="en-IN" dirty="0">
              <a:effectLst/>
            </a:endParaRPr>
          </a:p>
          <a:p>
            <a:pPr fontAlgn="auto"/>
            <a:r>
              <a:rPr lang="en-US" sz="1200" kern="1200" dirty="0">
                <a:solidFill>
                  <a:schemeClr val="tx1"/>
                </a:solidFill>
                <a:effectLst/>
                <a:latin typeface="+mn-lt"/>
                <a:ea typeface="+mn-ea"/>
                <a:cs typeface="+mn-cs"/>
              </a:rPr>
              <a:t>Initial Investigation</a:t>
            </a:r>
            <a:endParaRPr lang="en-IN" dirty="0">
              <a:effectLst/>
            </a:endParaRPr>
          </a:p>
          <a:p>
            <a:pPr fontAlgn="auto"/>
            <a:r>
              <a:rPr lang="en-US" sz="1200" kern="1200" dirty="0">
                <a:solidFill>
                  <a:schemeClr val="tx1"/>
                </a:solidFill>
                <a:effectLst/>
                <a:latin typeface="+mn-lt"/>
                <a:ea typeface="+mn-ea"/>
                <a:cs typeface="+mn-cs"/>
              </a:rPr>
              <a:t>Investigate each development activity to define the problem to be solved.</a:t>
            </a:r>
            <a:endParaRPr lang="en-IN" dirty="0">
              <a:effectLst/>
            </a:endParaRPr>
          </a:p>
          <a:p>
            <a:pPr fontAlgn="auto"/>
            <a:r>
              <a:rPr lang="en-US" sz="1200" kern="1200" dirty="0">
                <a:solidFill>
                  <a:schemeClr val="tx1"/>
                </a:solidFill>
                <a:effectLst/>
                <a:latin typeface="+mn-lt"/>
                <a:ea typeface="+mn-ea"/>
                <a:cs typeface="+mn-cs"/>
              </a:rPr>
              <a:t>Make a preliminary assessment of feasibility.</a:t>
            </a:r>
            <a:endParaRPr lang="en-IN" dirty="0">
              <a:effectLst/>
            </a:endParaRPr>
          </a:p>
          <a:p>
            <a:pPr fontAlgn="auto"/>
            <a:r>
              <a:rPr lang="en-US" sz="1200" kern="1200" dirty="0">
                <a:solidFill>
                  <a:schemeClr val="tx1"/>
                </a:solidFill>
                <a:effectLst/>
                <a:latin typeface="+mn-lt"/>
                <a:ea typeface="+mn-ea"/>
                <a:cs typeface="+mn-cs"/>
              </a:rPr>
              <a:t>Prepare a proposal to conduct systems analysis.</a:t>
            </a:r>
            <a:endParaRPr lang="en-IN" dirty="0">
              <a:effectLst/>
            </a:endParaRPr>
          </a:p>
          <a:p>
            <a:pPr fontAlgn="auto"/>
            <a:r>
              <a:rPr lang="en-US" sz="1200" kern="1200" dirty="0">
                <a:solidFill>
                  <a:schemeClr val="tx1"/>
                </a:solidFill>
                <a:effectLst/>
                <a:latin typeface="+mn-lt"/>
                <a:ea typeface="+mn-ea"/>
                <a:cs typeface="+mn-cs"/>
              </a:rPr>
              <a:t>Systems Survey</a:t>
            </a:r>
            <a:endParaRPr lang="en-IN" dirty="0">
              <a:effectLst/>
            </a:endParaRPr>
          </a:p>
          <a:p>
            <a:pPr fontAlgn="auto"/>
            <a:r>
              <a:rPr lang="en-US" sz="1200" kern="1200" dirty="0">
                <a:solidFill>
                  <a:schemeClr val="tx1"/>
                </a:solidFill>
                <a:effectLst/>
                <a:latin typeface="+mn-lt"/>
                <a:ea typeface="+mn-ea"/>
                <a:cs typeface="+mn-cs"/>
              </a:rPr>
              <a:t>Study the present system to gain a thorough understanding of how it works.</a:t>
            </a:r>
            <a:endParaRPr lang="en-IN" dirty="0">
              <a:effectLst/>
            </a:endParaRPr>
          </a:p>
          <a:p>
            <a:pPr fontAlgn="auto"/>
            <a:r>
              <a:rPr lang="en-US" sz="1200" kern="1200" dirty="0">
                <a:solidFill>
                  <a:schemeClr val="tx1"/>
                </a:solidFill>
                <a:effectLst/>
                <a:latin typeface="+mn-lt"/>
                <a:ea typeface="+mn-ea"/>
                <a:cs typeface="+mn-cs"/>
              </a:rPr>
              <a:t>Feasibility Study</a:t>
            </a:r>
            <a:endParaRPr lang="en-IN" dirty="0">
              <a:effectLst/>
            </a:endParaRPr>
          </a:p>
          <a:p>
            <a:pPr fontAlgn="auto"/>
            <a:r>
              <a:rPr lang="en-US" sz="1200" kern="1200" dirty="0">
                <a:solidFill>
                  <a:schemeClr val="tx1"/>
                </a:solidFill>
                <a:effectLst/>
                <a:latin typeface="+mn-lt"/>
                <a:ea typeface="+mn-ea"/>
                <a:cs typeface="+mn-cs"/>
              </a:rPr>
              <a:t>Develop a more thorough feasibility analysis, especially with respect to economic costs and benefits.</a:t>
            </a:r>
            <a:endParaRPr lang="en-IN" dirty="0">
              <a:effectLst/>
            </a:endParaRPr>
          </a:p>
          <a:p>
            <a:pPr fontAlgn="auto"/>
            <a:r>
              <a:rPr lang="en-US" sz="1200" kern="1200" dirty="0">
                <a:solidFill>
                  <a:schemeClr val="tx1"/>
                </a:solidFill>
                <a:effectLst/>
                <a:latin typeface="+mn-lt"/>
                <a:ea typeface="+mn-ea"/>
                <a:cs typeface="+mn-cs"/>
              </a:rPr>
              <a:t>Information Needs and Systems Requirements</a:t>
            </a:r>
            <a:endParaRPr lang="en-IN" dirty="0">
              <a:effectLst/>
            </a:endParaRPr>
          </a:p>
          <a:p>
            <a:pPr fontAlgn="auto"/>
            <a:r>
              <a:rPr lang="en-US" sz="1200" kern="1200" dirty="0">
                <a:solidFill>
                  <a:schemeClr val="tx1"/>
                </a:solidFill>
                <a:effectLst/>
                <a:latin typeface="+mn-lt"/>
                <a:ea typeface="+mn-ea"/>
                <a:cs typeface="+mn-cs"/>
              </a:rPr>
              <a:t>Identify information needs of users.</a:t>
            </a:r>
            <a:endParaRPr lang="en-IN" dirty="0">
              <a:effectLst/>
            </a:endParaRPr>
          </a:p>
          <a:p>
            <a:pPr fontAlgn="auto"/>
            <a:r>
              <a:rPr lang="en-US" sz="1200" kern="1200" dirty="0">
                <a:solidFill>
                  <a:schemeClr val="tx1"/>
                </a:solidFill>
                <a:effectLst/>
                <a:latin typeface="+mn-lt"/>
                <a:ea typeface="+mn-ea"/>
                <a:cs typeface="+mn-cs"/>
              </a:rPr>
              <a:t>Determine objectives and requirements of the new system.</a:t>
            </a:r>
            <a:endParaRPr lang="en-IN" dirty="0">
              <a:effectLst/>
            </a:endParaRPr>
          </a:p>
          <a:p>
            <a:pPr fontAlgn="auto"/>
            <a:r>
              <a:rPr lang="en-US" sz="1200" kern="1200" dirty="0">
                <a:solidFill>
                  <a:schemeClr val="tx1"/>
                </a:solidFill>
                <a:effectLst/>
                <a:latin typeface="+mn-lt"/>
                <a:ea typeface="+mn-ea"/>
                <a:cs typeface="+mn-cs"/>
              </a:rPr>
              <a:t>Systems Analysis Report</a:t>
            </a:r>
            <a:endParaRPr lang="en-IN" dirty="0">
              <a:effectLst/>
            </a:endParaRPr>
          </a:p>
          <a:p>
            <a:pPr fontAlgn="auto"/>
            <a:r>
              <a:rPr lang="en-US" sz="1200" kern="1200" dirty="0">
                <a:solidFill>
                  <a:schemeClr val="tx1"/>
                </a:solidFill>
                <a:effectLst/>
                <a:latin typeface="+mn-lt"/>
                <a:ea typeface="+mn-ea"/>
                <a:cs typeface="+mn-cs"/>
              </a:rPr>
              <a:t>Provide management with the findings of the analysis phase.</a:t>
            </a:r>
            <a:endParaRPr lang="en-IN" dirty="0">
              <a:effectLs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20</a:t>
            </a:fld>
            <a:endParaRPr lang="en-US" dirty="0"/>
          </a:p>
        </p:txBody>
      </p:sp>
    </p:spTree>
    <p:extLst>
      <p:ext uri="{BB962C8B-B14F-4D97-AF65-F5344CB8AC3E}">
        <p14:creationId xmlns:p14="http://schemas.microsoft.com/office/powerpoint/2010/main" val="35761214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22</a:t>
            </a:fld>
            <a:endParaRPr lang="en-US" dirty="0"/>
          </a:p>
        </p:txBody>
      </p:sp>
    </p:spTree>
    <p:extLst>
      <p:ext uri="{BB962C8B-B14F-4D97-AF65-F5344CB8AC3E}">
        <p14:creationId xmlns:p14="http://schemas.microsoft.com/office/powerpoint/2010/main" val="13968856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23</a:t>
            </a:fld>
            <a:endParaRPr lang="en-US" dirty="0"/>
          </a:p>
        </p:txBody>
      </p:sp>
    </p:spTree>
    <p:extLst>
      <p:ext uri="{BB962C8B-B14F-4D97-AF65-F5344CB8AC3E}">
        <p14:creationId xmlns:p14="http://schemas.microsoft.com/office/powerpoint/2010/main" val="36796678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10"/>
          </p:nvPr>
        </p:nvSpPr>
        <p:spPr/>
        <p:txBody>
          <a:bodyPr/>
          <a:lstStyle/>
          <a:p>
            <a:fld id="{A73D6722-9B4D-4E29-B226-C325925A8118}" type="slidenum">
              <a:rPr lang="en-US" smtClean="0"/>
              <a:t>24</a:t>
            </a:fld>
            <a:endParaRPr lang="en-US" dirty="0"/>
          </a:p>
        </p:txBody>
      </p:sp>
    </p:spTree>
    <p:extLst>
      <p:ext uri="{BB962C8B-B14F-4D97-AF65-F5344CB8AC3E}">
        <p14:creationId xmlns:p14="http://schemas.microsoft.com/office/powerpoint/2010/main" val="189078876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3046453"/>
            <a:ext cx="7772400" cy="553998"/>
          </a:xfrm>
        </p:spPr>
        <p:txBody>
          <a:bodyPr anchor="b">
            <a:sp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276999"/>
          </a:xfrm>
        </p:spPr>
        <p:txBody>
          <a:bodyPr>
            <a:sp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A9DF6EFB-3F44-496C-A842-1E0B3D3B975A}" type="datetimeFigureOut">
              <a:rPr lang="en-US" smtClean="0"/>
              <a:t>11/3/25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TextBox 8"/>
          <p:cNvSpPr txBox="1"/>
          <p:nvPr userDrawn="1"/>
        </p:nvSpPr>
        <p:spPr>
          <a:xfrm>
            <a:off x="1533525" y="6374626"/>
            <a:ext cx="7162800" cy="276999"/>
          </a:xfrm>
          <a:prstGeom prst="rect">
            <a:avLst/>
          </a:prstGeom>
          <a:noFill/>
        </p:spPr>
        <p:txBody>
          <a:bodyPr wrap="square" rtlCol="0">
            <a:spAutoFit/>
          </a:bodyPr>
          <a:lstStyle/>
          <a:p>
            <a:pPr marL="0" indent="0" algn="r">
              <a:buNone/>
            </a:pPr>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spAutoFit/>
          </a:bodyPr>
          <a:lstStyle>
            <a:lvl1pPr>
              <a:defRPr sz="3600">
                <a:latin typeface="+mj-lt"/>
              </a:defRPr>
            </a:lvl1pPr>
          </a:lstStyle>
          <a:p>
            <a:r>
              <a:rPr lang="en-US" dirty="0"/>
              <a:t>Click to edit Master title style</a:t>
            </a:r>
          </a:p>
        </p:txBody>
      </p:sp>
      <p:sp>
        <p:nvSpPr>
          <p:cNvPr id="3" name="Content Placeholder 2"/>
          <p:cNvSpPr>
            <a:spLocks noGrp="1"/>
          </p:cNvSpPr>
          <p:nvPr>
            <p:ph idx="1"/>
          </p:nvPr>
        </p:nvSpPr>
        <p:spPr/>
        <p:txBody>
          <a:bodyPr>
            <a:spAutoFit/>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11/3/25</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spAutoFit/>
          </a:bodyPr>
          <a:lstStyle/>
          <a:p>
            <a:r>
              <a:rPr lang="en-US" dirty="0"/>
              <a:t>Click to edit Master title style</a:t>
            </a:r>
          </a:p>
        </p:txBody>
      </p:sp>
      <p:sp>
        <p:nvSpPr>
          <p:cNvPr id="3" name="Content Placeholder 2"/>
          <p:cNvSpPr>
            <a:spLocks noGrp="1"/>
          </p:cNvSpPr>
          <p:nvPr>
            <p:ph idx="1"/>
          </p:nvPr>
        </p:nvSpPr>
        <p:spPr/>
        <p:txBody>
          <a:bodyPr>
            <a:spAutoFit/>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10"/>
          </p:nvPr>
        </p:nvSpPr>
        <p:spPr/>
        <p:txBody>
          <a:bodyPr/>
          <a:lstStyle/>
          <a:p>
            <a:fld id="{A9DF6EFB-3F44-496C-A842-1E0B3D3B975A}" type="datetimeFigureOut">
              <a:rPr lang="en-US" smtClean="0"/>
              <a:t>11/3/25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spAutoFit/>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11/3/25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547999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11/3/25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idx="18"/>
          </p:nvPr>
        </p:nvSpPr>
        <p:spPr>
          <a:xfrm>
            <a:off x="762000" y="4953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9"/>
          </p:nvPr>
        </p:nvSpPr>
        <p:spPr>
          <a:xfrm>
            <a:off x="914400" y="51054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20"/>
          </p:nvPr>
        </p:nvSpPr>
        <p:spPr>
          <a:xfrm>
            <a:off x="1066800" y="52578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21"/>
          </p:nvPr>
        </p:nvSpPr>
        <p:spPr>
          <a:xfrm>
            <a:off x="1219200" y="5410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idx="22"/>
          </p:nvPr>
        </p:nvSpPr>
        <p:spPr>
          <a:xfrm>
            <a:off x="1371600" y="5562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p:cNvSpPr>
            <a:spLocks noGrp="1"/>
          </p:cNvSpPr>
          <p:nvPr>
            <p:ph idx="23"/>
          </p:nvPr>
        </p:nvSpPr>
        <p:spPr>
          <a:xfrm>
            <a:off x="1524000" y="5715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259676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11/3/25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Picture Placeholder 4"/>
          <p:cNvSpPr>
            <a:spLocks noGrp="1"/>
          </p:cNvSpPr>
          <p:nvPr>
            <p:ph type="pic" sz="quarter" idx="14"/>
          </p:nvPr>
        </p:nvSpPr>
        <p:spPr>
          <a:xfrm>
            <a:off x="457200" y="5181600"/>
            <a:ext cx="8229600" cy="1066800"/>
          </a:xfrm>
        </p:spPr>
        <p:txBody>
          <a:bodyPr/>
          <a:lstStyle/>
          <a:p>
            <a:endParaRPr lang="en-IN"/>
          </a:p>
        </p:txBody>
      </p:sp>
    </p:spTree>
    <p:extLst>
      <p:ext uri="{BB962C8B-B14F-4D97-AF65-F5344CB8AC3E}">
        <p14:creationId xmlns:p14="http://schemas.microsoft.com/office/powerpoint/2010/main" val="23021397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11/3/25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609600" y="41148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83790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3077231"/>
            <a:ext cx="7772400" cy="523220"/>
          </a:xfrm>
        </p:spPr>
        <p:txBody>
          <a:bodyPr anchor="b">
            <a:sp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A9DF6EFB-3F44-496C-A842-1E0B3D3B975A}" type="datetimeFigureOut">
              <a:rPr lang="en-US" smtClean="0"/>
              <a:t>11/3/25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A9DF6EFB-3F44-496C-A842-1E0B3D3B975A}" type="datetimeFigureOut">
              <a:rPr lang="en-US" smtClean="0"/>
              <a:t>11/3/25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11/3/25</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9" name="Footer Placeholder 4"/>
          <p:cNvSpPr>
            <a:spLocks noGrp="1"/>
          </p:cNvSpPr>
          <p:nvPr>
            <p:ph type="ftr" sz="quarter" idx="3"/>
          </p:nvPr>
        </p:nvSpPr>
        <p:spPr>
          <a:xfrm>
            <a:off x="2819401" y="6424902"/>
            <a:ext cx="5857188" cy="231802"/>
          </a:xfrm>
          <a:prstGeom prst="rect">
            <a:avLst/>
          </a:prstGeom>
        </p:spPr>
        <p:txBody>
          <a:bodyPr vert="horz" lIns="0" tIns="0" rIns="0" bIns="0" rtlCol="0" anchor="b">
            <a:noAutofit/>
          </a:bodyPr>
          <a:lstStyle>
            <a:lvl1pPr marL="0" indent="0" algn="r">
              <a:buNone/>
              <a:defRPr sz="1200">
                <a:solidFill>
                  <a:schemeClr val="tx1"/>
                </a:solidFill>
              </a:defRPr>
            </a:lvl1pPr>
          </a:lstStyle>
          <a:p>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711136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7" name="Title 6"/>
          <p:cNvSpPr>
            <a:spLocks noGrp="1"/>
          </p:cNvSpPr>
          <p:nvPr>
            <p:ph type="title"/>
          </p:nvPr>
        </p:nvSpPr>
        <p:spPr>
          <a:xfrm>
            <a:off x="489408" y="0"/>
            <a:ext cx="8229600" cy="533400"/>
          </a:xfrm>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A9DF6EFB-3F44-496C-A842-1E0B3D3B975A}" type="datetimeFigureOut">
              <a:rPr lang="en-US" smtClean="0"/>
              <a:t>11/3/25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
        <p:nvSpPr>
          <p:cNvPr id="4" name="Text Placeholder 3"/>
          <p:cNvSpPr>
            <a:spLocks noGrp="1"/>
          </p:cNvSpPr>
          <p:nvPr>
            <p:ph type="body" sz="quarter" idx="13"/>
          </p:nvPr>
        </p:nvSpPr>
        <p:spPr>
          <a:xfrm>
            <a:off x="533400" y="685800"/>
            <a:ext cx="8077200" cy="45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3" name="Text Placeholder 12"/>
          <p:cNvSpPr>
            <a:spLocks noGrp="1"/>
          </p:cNvSpPr>
          <p:nvPr>
            <p:ph type="body" sz="quarter" idx="14"/>
          </p:nvPr>
        </p:nvSpPr>
        <p:spPr>
          <a:xfrm>
            <a:off x="609600" y="1295400"/>
            <a:ext cx="7924800" cy="45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5" name="Text Placeholder 14"/>
          <p:cNvSpPr>
            <a:spLocks noGrp="1"/>
          </p:cNvSpPr>
          <p:nvPr>
            <p:ph type="body" sz="quarter" idx="15"/>
          </p:nvPr>
        </p:nvSpPr>
        <p:spPr>
          <a:xfrm>
            <a:off x="685800" y="1828800"/>
            <a:ext cx="7848600" cy="457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7" name="Text Placeholder 16"/>
          <p:cNvSpPr>
            <a:spLocks noGrp="1"/>
          </p:cNvSpPr>
          <p:nvPr>
            <p:ph type="body" sz="quarter" idx="16"/>
          </p:nvPr>
        </p:nvSpPr>
        <p:spPr>
          <a:xfrm>
            <a:off x="762000" y="2514600"/>
            <a:ext cx="7924800" cy="30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9" name="Picture Placeholder 18"/>
          <p:cNvSpPr>
            <a:spLocks noGrp="1"/>
          </p:cNvSpPr>
          <p:nvPr>
            <p:ph type="pic" sz="quarter" idx="17"/>
          </p:nvPr>
        </p:nvSpPr>
        <p:spPr>
          <a:xfrm>
            <a:off x="838200" y="3352800"/>
            <a:ext cx="7848600" cy="685800"/>
          </a:xfrm>
        </p:spPr>
        <p:txBody>
          <a:bodyPr/>
          <a:lstStyle/>
          <a:p>
            <a:endParaRPr lang="en-IN" dirty="0"/>
          </a:p>
        </p:txBody>
      </p:sp>
    </p:spTree>
    <p:extLst>
      <p:ext uri="{BB962C8B-B14F-4D97-AF65-F5344CB8AC3E}">
        <p14:creationId xmlns:p14="http://schemas.microsoft.com/office/powerpoint/2010/main" val="11285816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r>
              <a:rPr lang="en-US" sz="900" dirty="0"/>
              <a:t>1-2</a:t>
            </a:r>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4040906177"/>
      </p:ext>
    </p:extLst>
  </p:cSld>
  <p:clrMapOvr>
    <a:masterClrMapping/>
  </p:clrMapOvr>
  <p:extLst>
    <p:ext uri="{DCECCB84-F9BA-43D5-87BE-67443E8EF086}">
      <p15:sldGuideLst xmlns:p15="http://schemas.microsoft.com/office/powerpoint/2012/main">
        <p15:guide id="1" orient="horz" pos="4176">
          <p15:clr>
            <a:srgbClr val="FBAE40"/>
          </p15:clr>
        </p15:guide>
        <p15:guide id="2" pos="288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4" name="Date Placeholder 3"/>
          <p:cNvSpPr>
            <a:spLocks noGrp="1"/>
          </p:cNvSpPr>
          <p:nvPr>
            <p:ph type="dt" sz="half" idx="11"/>
          </p:nvPr>
        </p:nvSpPr>
        <p:spPr/>
        <p:txBody>
          <a:bodyPr/>
          <a:lstStyle/>
          <a:p>
            <a:fld id="{A9DF6EFB-3F44-496C-A842-1E0B3D3B975A}" type="datetimeFigureOut">
              <a:rPr lang="en-US" smtClean="0"/>
              <a:pPr/>
              <a:t>11/3/25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6558436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11"/>
          </p:nvPr>
        </p:nvSpPr>
        <p:spPr/>
        <p:txBody>
          <a:bodyPr/>
          <a:lstStyle/>
          <a:p>
            <a:fld id="{A9DF6EFB-3F44-496C-A842-1E0B3D3B975A}" type="datetimeFigureOut">
              <a:rPr lang="en-US" smtClean="0"/>
              <a:pPr/>
              <a:t>11/3/25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8187741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sz="3600">
                <a:latin typeface="+mj-lt"/>
              </a:defRPr>
            </a:lvl1p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11/3/25</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6481892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10"/>
          </p:nvPr>
        </p:nvSpPr>
        <p:spPr/>
        <p:txBody>
          <a:bodyPr/>
          <a:lstStyle/>
          <a:p>
            <a:fld id="{A9DF6EFB-3F44-496C-A842-1E0B3D3B975A}" type="datetimeFigureOut">
              <a:rPr lang="en-US" smtClean="0"/>
              <a:t>11/3/25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4101757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11/3/25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678795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11/3/25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idx="18"/>
          </p:nvPr>
        </p:nvSpPr>
        <p:spPr>
          <a:xfrm>
            <a:off x="762000" y="4953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9"/>
          </p:nvPr>
        </p:nvSpPr>
        <p:spPr>
          <a:xfrm>
            <a:off x="914400" y="51054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20"/>
          </p:nvPr>
        </p:nvSpPr>
        <p:spPr>
          <a:xfrm>
            <a:off x="1066800" y="52578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21"/>
          </p:nvPr>
        </p:nvSpPr>
        <p:spPr>
          <a:xfrm>
            <a:off x="1219200" y="5410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idx="22"/>
          </p:nvPr>
        </p:nvSpPr>
        <p:spPr>
          <a:xfrm>
            <a:off x="1371600" y="5562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p:cNvSpPr>
            <a:spLocks noGrp="1"/>
          </p:cNvSpPr>
          <p:nvPr>
            <p:ph idx="23"/>
          </p:nvPr>
        </p:nvSpPr>
        <p:spPr>
          <a:xfrm>
            <a:off x="1524000" y="5715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99993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11/3/25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Content Placeholder 4">
            <a:extLst>
              <a:ext uri="{FF2B5EF4-FFF2-40B4-BE49-F238E27FC236}">
                <a16:creationId xmlns:a16="http://schemas.microsoft.com/office/drawing/2014/main" id="{DDE22CE6-491F-4E22-AB44-4902B9C69DE4}"/>
              </a:ext>
            </a:extLst>
          </p:cNvPr>
          <p:cNvSpPr>
            <a:spLocks noGrp="1"/>
          </p:cNvSpPr>
          <p:nvPr>
            <p:ph sz="quarter" idx="14"/>
          </p:nvPr>
        </p:nvSpPr>
        <p:spPr>
          <a:xfrm>
            <a:off x="838200" y="2667000"/>
            <a:ext cx="8077200" cy="83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0258967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4572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743200"/>
            <a:ext cx="8229600" cy="1371601"/>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11/3/25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609600" y="460248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4"/>
          <p:cNvSpPr txBox="1">
            <a:spLocks/>
          </p:cNvSpPr>
          <p:nvPr userDrawn="1"/>
        </p:nvSpPr>
        <p:spPr>
          <a:xfrm>
            <a:off x="3810000" y="6425684"/>
            <a:ext cx="4866589" cy="184666"/>
          </a:xfrm>
          <a:prstGeom prst="rect">
            <a:avLst/>
          </a:prstGeom>
        </p:spPr>
        <p:txBody>
          <a:bodyPr vert="horz" lIns="0" tIns="0" rIns="0" bIns="0" rtlCol="0" anchor="b">
            <a:noAutofit/>
          </a:bodyPr>
          <a:lstStyle>
            <a:defPPr>
              <a:defRPr lang="en-US"/>
            </a:defPPr>
            <a:lvl1pPr marL="0" indent="0" algn="r" defTabSz="914400" rtl="0" eaLnBrk="1" latinLnBrk="0" hangingPunct="1">
              <a:buNone/>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dirty="0">
              <a:latin typeface="Verdana" panose="020B0604030504040204" pitchFamily="34" charset="0"/>
              <a:ea typeface="Verdana" panose="020B0604030504040204" pitchFamily="34" charset="0"/>
              <a:cs typeface="Verdana" panose="020B0604030504040204" pitchFamily="34" charset="0"/>
            </a:endParaRPr>
          </a:p>
        </p:txBody>
      </p:sp>
      <p:sp>
        <p:nvSpPr>
          <p:cNvPr id="5" name="Content Placeholder 4">
            <a:extLst>
              <a:ext uri="{FF2B5EF4-FFF2-40B4-BE49-F238E27FC236}">
                <a16:creationId xmlns:a16="http://schemas.microsoft.com/office/drawing/2014/main" id="{EA13232C-DF31-4CED-AB61-62F26E3165BA}"/>
              </a:ext>
            </a:extLst>
          </p:cNvPr>
          <p:cNvSpPr>
            <a:spLocks noGrp="1"/>
          </p:cNvSpPr>
          <p:nvPr>
            <p:ph sz="quarter" idx="15"/>
          </p:nvPr>
        </p:nvSpPr>
        <p:spPr>
          <a:xfrm>
            <a:off x="533400" y="3733800"/>
            <a:ext cx="8077200" cy="533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1" name="Content Placeholder 10">
            <a:extLst>
              <a:ext uri="{FF2B5EF4-FFF2-40B4-BE49-F238E27FC236}">
                <a16:creationId xmlns:a16="http://schemas.microsoft.com/office/drawing/2014/main" id="{25DD6962-3095-446C-A57F-4E808E224A95}"/>
              </a:ext>
            </a:extLst>
          </p:cNvPr>
          <p:cNvSpPr>
            <a:spLocks noGrp="1"/>
          </p:cNvSpPr>
          <p:nvPr>
            <p:ph sz="quarter" idx="16"/>
          </p:nvPr>
        </p:nvSpPr>
        <p:spPr>
          <a:xfrm>
            <a:off x="762000" y="5619750"/>
            <a:ext cx="7848600" cy="3238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4" name="Content Placeholder 13">
            <a:extLst>
              <a:ext uri="{FF2B5EF4-FFF2-40B4-BE49-F238E27FC236}">
                <a16:creationId xmlns:a16="http://schemas.microsoft.com/office/drawing/2014/main" id="{FD058FF3-6114-471E-A9AA-A3D250496F47}"/>
              </a:ext>
            </a:extLst>
          </p:cNvPr>
          <p:cNvSpPr>
            <a:spLocks noGrp="1"/>
          </p:cNvSpPr>
          <p:nvPr>
            <p:ph sz="quarter" idx="17"/>
          </p:nvPr>
        </p:nvSpPr>
        <p:spPr>
          <a:xfrm>
            <a:off x="381000" y="2255838"/>
            <a:ext cx="8458200" cy="3349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3051578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A9DF6EFB-3F44-496C-A842-1E0B3D3B975A}" type="datetimeFigureOut">
              <a:rPr lang="en-US" smtClean="0"/>
              <a:t>11/3/25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15157198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lvl1pPr>
              <a:defRPr sz="3600">
                <a:latin typeface="+mj-lt"/>
              </a:defRPr>
            </a:lvl1pPr>
          </a:lstStyle>
          <a:p>
            <a:r>
              <a:rPr lang="en-US" dirty="0"/>
              <a:t>Click to edit Master title style</a:t>
            </a:r>
          </a:p>
        </p:txBody>
      </p:sp>
      <p:sp>
        <p:nvSpPr>
          <p:cNvPr id="3" name="Date Placeholder 2"/>
          <p:cNvSpPr>
            <a:spLocks noGrp="1"/>
          </p:cNvSpPr>
          <p:nvPr>
            <p:ph type="dt" sz="half" idx="10"/>
          </p:nvPr>
        </p:nvSpPr>
        <p:spPr/>
        <p:txBody>
          <a:bodyPr/>
          <a:lstStyle/>
          <a:p>
            <a:fld id="{A9DF6EFB-3F44-496C-A842-1E0B3D3B975A}" type="datetimeFigureOut">
              <a:rPr lang="en-US" smtClean="0"/>
              <a:t>11/3/25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
        <p:nvSpPr>
          <p:cNvPr id="12" name="Picture Placeholder 11"/>
          <p:cNvSpPr>
            <a:spLocks noGrp="1"/>
          </p:cNvSpPr>
          <p:nvPr>
            <p:ph type="pic" sz="quarter" idx="13"/>
          </p:nvPr>
        </p:nvSpPr>
        <p:spPr>
          <a:xfrm>
            <a:off x="533400" y="2514600"/>
            <a:ext cx="8153400" cy="1066800"/>
          </a:xfrm>
        </p:spPr>
        <p:txBody>
          <a:bodyPr/>
          <a:lstStyle/>
          <a:p>
            <a:endParaRPr lang="en-IN"/>
          </a:p>
        </p:txBody>
      </p:sp>
      <p:sp>
        <p:nvSpPr>
          <p:cNvPr id="14" name="Text Placeholder 13"/>
          <p:cNvSpPr>
            <a:spLocks noGrp="1"/>
          </p:cNvSpPr>
          <p:nvPr>
            <p:ph type="body" sz="quarter" idx="14"/>
          </p:nvPr>
        </p:nvSpPr>
        <p:spPr>
          <a:xfrm>
            <a:off x="1066800" y="3810000"/>
            <a:ext cx="6858000" cy="1371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6" name="Content Placeholder 15"/>
          <p:cNvSpPr>
            <a:spLocks noGrp="1"/>
          </p:cNvSpPr>
          <p:nvPr>
            <p:ph sz="quarter" idx="15"/>
          </p:nvPr>
        </p:nvSpPr>
        <p:spPr>
          <a:xfrm>
            <a:off x="1143000" y="5257800"/>
            <a:ext cx="4648200" cy="6096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8578532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11/3/25</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39387441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98_Learning Objectives">
    <p:spTree>
      <p:nvGrpSpPr>
        <p:cNvPr id="1" name="Shape 47"/>
        <p:cNvGrpSpPr/>
        <p:nvPr/>
      </p:nvGrpSpPr>
      <p:grpSpPr>
        <a:xfrm>
          <a:off x="0" y="0"/>
          <a:ext cx="0" cy="0"/>
          <a:chOff x="0" y="0"/>
          <a:chExt cx="0" cy="0"/>
        </a:xfrm>
      </p:grpSpPr>
      <p:sp>
        <p:nvSpPr>
          <p:cNvPr id="48" name="Shape 48"/>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49" name="Shape 49"/>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118871" marR="0" lvl="0" indent="-93471" algn="l" rtl="0">
              <a:spcBef>
                <a:spcPts val="1500"/>
              </a:spcBef>
              <a:buClr>
                <a:srgbClr val="007FA3"/>
              </a:buClr>
              <a:buSzPct val="25000"/>
              <a:buFont typeface="Arial"/>
              <a:buChar char="•"/>
              <a:defRPr sz="1600" b="0" i="0" u="none" strike="noStrike" cap="none">
                <a:solidFill>
                  <a:schemeClr val="dk1"/>
                </a:solidFill>
                <a:latin typeface="Arial(Body)"/>
                <a:ea typeface="Arial(Body)"/>
                <a:cs typeface="Arial"/>
                <a:sym typeface="Arial"/>
              </a:defRPr>
            </a:lvl1pPr>
            <a:lvl2pPr marL="569913" marR="0" lvl="1" indent="-188912"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51" name="Shape 51"/>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Body)"/>
                <a:ea typeface="Arial(Body)"/>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en-IN" dirty="0"/>
          </a:p>
        </p:txBody>
      </p:sp>
      <p:sp>
        <p:nvSpPr>
          <p:cNvPr id="52" name="Shape 52"/>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latin typeface="Arial(Body)"/>
              </a:defRPr>
            </a:lvl1pPr>
          </a:lstStyle>
          <a:p>
            <a:pPr algn="r">
              <a:buSzPct val="25000"/>
            </a:pPr>
            <a:fld id="{00000000-1234-1234-1234-123412341234}" type="slidenum">
              <a:rPr lang="en-US" sz="900" smtClean="0">
                <a:solidFill>
                  <a:schemeClr val="lt1"/>
                </a:solidFill>
              </a:rPr>
              <a:pPr algn="r">
                <a:buSzPct val="25000"/>
              </a:pPr>
              <a:t>‹#›</a:t>
            </a:fld>
            <a:endParaRPr lang="en-US" sz="900" dirty="0">
              <a:solidFill>
                <a:schemeClr val="lt1"/>
              </a:solidFill>
            </a:endParaRPr>
          </a:p>
        </p:txBody>
      </p:sp>
      <p:sp>
        <p:nvSpPr>
          <p:cNvPr id="7" name="Footer Placeholder 4"/>
          <p:cNvSpPr>
            <a:spLocks noGrp="1"/>
          </p:cNvSpPr>
          <p:nvPr>
            <p:ph type="ftr" sz="quarter" idx="3"/>
          </p:nvPr>
        </p:nvSpPr>
        <p:spPr>
          <a:xfrm>
            <a:off x="2819401" y="6424902"/>
            <a:ext cx="5857188" cy="204498"/>
          </a:xfrm>
          <a:prstGeom prst="rect">
            <a:avLst/>
          </a:prstGeom>
        </p:spPr>
        <p:txBody>
          <a:bodyPr vert="horz" lIns="0" tIns="0" rIns="0" bIns="0" rtlCol="0" anchor="b">
            <a:noAutofit/>
          </a:bodyPr>
          <a:lstStyle>
            <a:lvl1pPr marL="0" indent="0" algn="r">
              <a:buNone/>
              <a:defRPr sz="1200">
                <a:solidFill>
                  <a:schemeClr val="tx1"/>
                </a:solidFill>
              </a:defRPr>
            </a:lvl1pPr>
          </a:lstStyle>
          <a:p>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21705162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copy">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sz="3600">
                <a:latin typeface="+mj-lt"/>
              </a:defRPr>
            </a:lvl1p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11/3/25</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
        <p:nvSpPr>
          <p:cNvPr id="4" name="Picture Placeholder 3">
            <a:extLst>
              <a:ext uri="{FF2B5EF4-FFF2-40B4-BE49-F238E27FC236}">
                <a16:creationId xmlns:a16="http://schemas.microsoft.com/office/drawing/2014/main" id="{49B1A741-EFA1-4984-B2F6-EC6B322134D1}"/>
              </a:ext>
            </a:extLst>
          </p:cNvPr>
          <p:cNvSpPr>
            <a:spLocks noGrp="1"/>
          </p:cNvSpPr>
          <p:nvPr>
            <p:ph type="pic" sz="quarter" idx="13"/>
          </p:nvPr>
        </p:nvSpPr>
        <p:spPr>
          <a:xfrm>
            <a:off x="457200" y="3276600"/>
            <a:ext cx="8229600" cy="1447800"/>
          </a:xfrm>
        </p:spPr>
        <p:txBody>
          <a:bodyPr/>
          <a:lstStyle/>
          <a:p>
            <a:endParaRPr lang="en-IN"/>
          </a:p>
        </p:txBody>
      </p:sp>
    </p:spTree>
    <p:extLst>
      <p:ext uri="{BB962C8B-B14F-4D97-AF65-F5344CB8AC3E}">
        <p14:creationId xmlns:p14="http://schemas.microsoft.com/office/powerpoint/2010/main" val="335575531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4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11/3/25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Picture Placeholder 4"/>
          <p:cNvSpPr>
            <a:spLocks noGrp="1"/>
          </p:cNvSpPr>
          <p:nvPr>
            <p:ph type="pic" sz="quarter" idx="14"/>
          </p:nvPr>
        </p:nvSpPr>
        <p:spPr>
          <a:xfrm>
            <a:off x="457200" y="5181600"/>
            <a:ext cx="8229600" cy="1066800"/>
          </a:xfrm>
        </p:spPr>
        <p:txBody>
          <a:bodyPr/>
          <a:lstStyle/>
          <a:p>
            <a:endParaRPr lang="en-IN"/>
          </a:p>
        </p:txBody>
      </p:sp>
    </p:spTree>
    <p:extLst>
      <p:ext uri="{BB962C8B-B14F-4D97-AF65-F5344CB8AC3E}">
        <p14:creationId xmlns:p14="http://schemas.microsoft.com/office/powerpoint/2010/main" val="261469757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11/3/25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16375068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image" Target="../media/image1.emf"/><Relationship Id="rId2" Type="http://schemas.openxmlformats.org/officeDocument/2006/relationships/slideLayout" Target="../slideLayouts/slideLayout14.xml"/><Relationship Id="rId16" Type="http://schemas.openxmlformats.org/officeDocument/2006/relationships/theme" Target="../theme/theme2.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758654"/>
            <a:ext cx="8229600" cy="553998"/>
          </a:xfrm>
          <a:prstGeom prst="rect">
            <a:avLst/>
          </a:prstGeom>
        </p:spPr>
        <p:txBody>
          <a:bodyPr vert="horz" lIns="0" tIns="0" rIns="0" bIns="0" rtlCol="0" anchor="b">
            <a:spAutoFit/>
          </a:bodyPr>
          <a:lstStyle/>
          <a:p>
            <a:r>
              <a:rPr lang="en-US" dirty="0"/>
              <a:t>Click to edit Master title style</a:t>
            </a:r>
          </a:p>
        </p:txBody>
      </p:sp>
      <p:sp>
        <p:nvSpPr>
          <p:cNvPr id="3" name="Text Placeholder 2"/>
          <p:cNvSpPr>
            <a:spLocks noGrp="1"/>
          </p:cNvSpPr>
          <p:nvPr>
            <p:ph type="body" idx="1"/>
          </p:nvPr>
        </p:nvSpPr>
        <p:spPr>
          <a:xfrm>
            <a:off x="457200" y="1600200"/>
            <a:ext cx="8229600" cy="2677656"/>
          </a:xfrm>
          <a:prstGeom prst="rect">
            <a:avLst/>
          </a:prstGeom>
        </p:spPr>
        <p:txBody>
          <a:bodyPr vert="horz"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11/3/25</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10" name="Picture 9" descr="Pearson Logo"/>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 Placeholder 4"/>
          <p:cNvSpPr txBox="1">
            <a:spLocks/>
          </p:cNvSpPr>
          <p:nvPr userDrawn="1"/>
        </p:nvSpPr>
        <p:spPr>
          <a:xfrm>
            <a:off x="2743200" y="6451395"/>
            <a:ext cx="5933357" cy="201755"/>
          </a:xfrm>
          <a:prstGeom prst="rect">
            <a:avLst/>
          </a:prstGeom>
        </p:spPr>
        <p:txBody>
          <a:bodyPr vert="horz" wrap="square"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lgn="r">
              <a:buFont typeface="Arial" panose="020B0604020202020204" pitchFamily="34" charset="0"/>
              <a:buNone/>
            </a:pPr>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9" r:id="rId3"/>
    <p:sldLayoutId id="2147483660" r:id="rId4"/>
    <p:sldLayoutId id="2147483662" r:id="rId5"/>
    <p:sldLayoutId id="2147483661" r:id="rId6"/>
    <p:sldLayoutId id="2147483663" r:id="rId7"/>
    <p:sldLayoutId id="2147483651" r:id="rId8"/>
    <p:sldLayoutId id="2147483654" r:id="rId9"/>
    <p:sldLayoutId id="2147483655" r:id="rId10"/>
    <p:sldLayoutId id="2147483696" r:id="rId11"/>
    <p:sldLayoutId id="2147483700" r:id="rId12"/>
  </p:sldLayoutIdLst>
  <p:txStyles>
    <p:titleStyle>
      <a:lvl1pPr algn="l" defTabSz="914400" rtl="0" eaLnBrk="1" latinLnBrk="0" hangingPunct="1">
        <a:lnSpc>
          <a:spcPct val="100000"/>
        </a:lnSpc>
        <a:spcBef>
          <a:spcPct val="0"/>
        </a:spcBef>
        <a:buNone/>
        <a:defRPr sz="3600" b="1" kern="1200">
          <a:solidFill>
            <a:srgbClr val="007FA3"/>
          </a:solidFill>
          <a:latin typeface="+mj-lt"/>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11/3/25</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10" name="Picture 9" descr="Pearson Logo"/>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 Placeholder 4"/>
          <p:cNvSpPr txBox="1">
            <a:spLocks/>
          </p:cNvSpPr>
          <p:nvPr userDrawn="1"/>
        </p:nvSpPr>
        <p:spPr>
          <a:xfrm>
            <a:off x="2743200" y="6451395"/>
            <a:ext cx="5933357" cy="201755"/>
          </a:xfrm>
          <a:prstGeom prst="rect">
            <a:avLst/>
          </a:prstGeom>
        </p:spPr>
        <p:txBody>
          <a:bodyPr vert="horz" wrap="square"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lgn="r">
              <a:buFont typeface="Arial" panose="020B0604020202020204" pitchFamily="34" charset="0"/>
              <a:buNone/>
            </a:pPr>
            <a:r>
              <a:rPr lang="en-IN" sz="1200">
                <a:latin typeface="Verdana" panose="020B0604030504040204" pitchFamily="34" charset="0"/>
                <a:ea typeface="Verdana" panose="020B0604030504040204" pitchFamily="34" charset="0"/>
                <a:cs typeface="Verdana" panose="020B0604030504040204" pitchFamily="34" charset="0"/>
              </a:rPr>
              <a:t>Copyright © </a:t>
            </a:r>
            <a:r>
              <a:rPr lang="en-US" sz="1200">
                <a:latin typeface="Verdana" panose="020B0604030504040204" pitchFamily="34" charset="0"/>
                <a:ea typeface="Verdana" panose="020B0604030504040204" pitchFamily="34" charset="0"/>
                <a:cs typeface="Verdana" panose="020B0604030504040204" pitchFamily="34" charset="0"/>
              </a:rPr>
              <a:t>2021, 2018, 2015 </a:t>
            </a:r>
            <a:r>
              <a:rPr lang="en-IN" sz="1200">
                <a:latin typeface="Verdana" panose="020B0604030504040204" pitchFamily="34" charset="0"/>
                <a:ea typeface="Verdana" panose="020B0604030504040204" pitchFamily="34" charset="0"/>
                <a:cs typeface="Verdana" panose="020B0604030504040204" pitchFamily="34" charset="0"/>
              </a:rPr>
              <a:t>Pearson Education, Inc. All Rights Reserved</a:t>
            </a:r>
            <a:endParaRPr lang="en-IN" sz="12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547644696"/>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97" r:id="rId13"/>
    <p:sldLayoutId id="2147483698" r:id="rId14"/>
    <p:sldLayoutId id="2147483699" r:id="rId15"/>
  </p:sldLayoutIdLst>
  <p:txStyles>
    <p:title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0.xml"/><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7.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1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361934" y="117302"/>
            <a:ext cx="8272730" cy="590349"/>
          </a:xfrm>
        </p:spPr>
        <p:txBody>
          <a:bodyPr wrap="square" lIns="0" tIns="18000" rIns="0" bIns="18000" anchor="ctr" anchorCtr="0">
            <a:spAutoFit/>
          </a:bodyPr>
          <a:lstStyle/>
          <a:p>
            <a:r>
              <a:rPr lang="en-US" noProof="0" dirty="0"/>
              <a:t>Accounting Information Systems</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364643" y="932927"/>
            <a:ext cx="1958194" cy="344128"/>
          </a:xfrm>
        </p:spPr>
        <p:txBody>
          <a:bodyPr wrap="square" lIns="0" tIns="18000" rIns="0" bIns="18000" anchor="ctr" anchorCtr="0">
            <a:spAutoFit/>
          </a:bodyPr>
          <a:lstStyle/>
          <a:p>
            <a:r>
              <a:rPr lang="en-US" sz="2000" noProof="0" dirty="0">
                <a:solidFill>
                  <a:srgbClr val="007FA3"/>
                </a:solidFill>
              </a:rPr>
              <a:t>Sixteenth </a:t>
            </a:r>
            <a:r>
              <a:rPr lang="en-US" sz="2000" noProof="0" dirty="0">
                <a:solidFill>
                  <a:srgbClr val="007FA3"/>
                </a:solidFill>
                <a:latin typeface="+mn-lt"/>
              </a:rPr>
              <a:t>Edition</a:t>
            </a:r>
            <a:endParaRPr lang="en-US" noProof="0" dirty="0">
              <a:latin typeface="+mn-lt"/>
            </a:endParaRPr>
          </a:p>
        </p:txBody>
      </p:sp>
      <p:pic>
        <p:nvPicPr>
          <p:cNvPr id="9" name="Picture 8" descr="Front Cover: Accounting Information Systems, Sixteenth Edition by Romney, Steinbart, Summers and Wood.">
            <a:extLst>
              <a:ext uri="{FF2B5EF4-FFF2-40B4-BE49-F238E27FC236}">
                <a16:creationId xmlns:a16="http://schemas.microsoft.com/office/drawing/2014/main" id="{474D169D-DDD8-4DAB-92C6-0DAC8CD369D1}"/>
              </a:ext>
            </a:extLst>
          </p:cNvPr>
          <p:cNvPicPr>
            <a:picLocks noChangeAspect="1"/>
          </p:cNvPicPr>
          <p:nvPr/>
        </p:nvPicPr>
        <p:blipFill>
          <a:blip r:embed="rId3"/>
          <a:stretch>
            <a:fillRect/>
          </a:stretch>
        </p:blipFill>
        <p:spPr>
          <a:xfrm>
            <a:off x="384200" y="1386673"/>
            <a:ext cx="3892191" cy="4978953"/>
          </a:xfrm>
          <a:prstGeom prst="rect">
            <a:avLst/>
          </a:prstGeo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572000" y="2430301"/>
            <a:ext cx="1991762" cy="498016"/>
          </a:xfrm>
        </p:spPr>
        <p:txBody>
          <a:bodyPr wrap="square" lIns="0" tIns="18000" rIns="0" bIns="18000" anchor="ctr" anchorCtr="0">
            <a:spAutoFit/>
          </a:bodyPr>
          <a:lstStyle/>
          <a:p>
            <a:pPr marL="0"/>
            <a:r>
              <a:rPr lang="en-US" noProof="0" dirty="0">
                <a:latin typeface="+mn-lt"/>
              </a:rPr>
              <a:t>Chapter 22</a:t>
            </a:r>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582048" y="3043779"/>
            <a:ext cx="4140200" cy="1052014"/>
          </a:xfrm>
        </p:spPr>
        <p:txBody>
          <a:bodyPr wrap="square" lIns="0" tIns="18000" rIns="0" bIns="18000" anchor="ctr" anchorCtr="0">
            <a:spAutoFit/>
          </a:bodyPr>
          <a:lstStyle/>
          <a:p>
            <a:pPr marL="0" lvl="0">
              <a:spcBef>
                <a:spcPts val="0"/>
              </a:spcBef>
              <a:buSzPts val="2200"/>
            </a:pPr>
            <a:r>
              <a:rPr lang="en-US" dirty="0"/>
              <a:t>Introduction to Systems Development and Systems Analysis</a:t>
            </a:r>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32508" y="6431973"/>
            <a:ext cx="1153391" cy="290602"/>
          </a:xfr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2169825" y="6425373"/>
            <a:ext cx="6589712" cy="221018"/>
          </a:xfrm>
        </p:spPr>
        <p:txBody>
          <a:bodyPr lIns="0" tIns="18000" rIns="0" bIns="18000" anchor="ctr" anchorCtr="0">
            <a:spAutoFit/>
          </a:bodyPr>
          <a:lstStyle/>
          <a:p>
            <a:r>
              <a:rPr lang="en-US" altLang="en-US" sz="1200" b="0" noProof="0" dirty="0">
                <a:latin typeface="Verdana"/>
                <a:ea typeface="Verdana" panose="020B0604030504040204" pitchFamily="34" charset="0"/>
                <a:cs typeface="Verdana" panose="020B0604030504040204" pitchFamily="34" charset="0"/>
              </a:rPr>
              <a:t>Copyright © 2024, 2021, 2018 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77115" y="124983"/>
            <a:ext cx="8229600" cy="618079"/>
          </a:xfrm>
        </p:spPr>
        <p:txBody>
          <a:bodyPr anchor="ctr">
            <a:noAutofit/>
          </a:bodyPr>
          <a:lstStyle/>
          <a:p>
            <a:r>
              <a:rPr lang="en-IN" sz="3600" dirty="0">
                <a:latin typeface="+mj-lt"/>
              </a:rPr>
              <a:t>Learning Objectives</a:t>
            </a:r>
          </a:p>
        </p:txBody>
      </p:sp>
      <p:sp>
        <p:nvSpPr>
          <p:cNvPr id="2" name="Content Placeholder 1"/>
          <p:cNvSpPr>
            <a:spLocks noGrp="1"/>
          </p:cNvSpPr>
          <p:nvPr>
            <p:ph idx="13"/>
          </p:nvPr>
        </p:nvSpPr>
        <p:spPr>
          <a:xfrm>
            <a:off x="477115" y="857955"/>
            <a:ext cx="8229600" cy="5478423"/>
          </a:xfrm>
        </p:spPr>
        <p:txBody>
          <a:bodyPr>
            <a:spAutoFit/>
          </a:bodyPr>
          <a:lstStyle/>
          <a:p>
            <a:pPr lvl="0">
              <a:spcBef>
                <a:spcPts val="400"/>
              </a:spcBef>
              <a:buSzPts val="2200"/>
            </a:pPr>
            <a:r>
              <a:rPr lang="en-IN" sz="2400" dirty="0"/>
              <a:t>Explain the five phases of the </a:t>
            </a:r>
            <a:r>
              <a:rPr lang="en-IN" sz="2400" b="1" dirty="0"/>
              <a:t>systems development </a:t>
            </a:r>
            <a:r>
              <a:rPr lang="en-IN" sz="2400" dirty="0"/>
              <a:t>life cycle, and discuss the people involved in systems development and the roles they play.</a:t>
            </a:r>
          </a:p>
          <a:p>
            <a:pPr lvl="0">
              <a:spcBef>
                <a:spcPts val="400"/>
              </a:spcBef>
              <a:buSzPts val="2200"/>
            </a:pPr>
            <a:r>
              <a:rPr lang="en-IN" sz="2400" dirty="0"/>
              <a:t>Explain the importance of systems development </a:t>
            </a:r>
            <a:r>
              <a:rPr lang="en-IN" sz="2400" b="1" dirty="0"/>
              <a:t>planning</a:t>
            </a:r>
            <a:r>
              <a:rPr lang="en-IN" sz="2400" dirty="0"/>
              <a:t>, and describe the types of plans and planning techniques used.</a:t>
            </a:r>
          </a:p>
          <a:p>
            <a:pPr lvl="0">
              <a:spcBef>
                <a:spcPts val="400"/>
              </a:spcBef>
              <a:buSzPts val="2200"/>
            </a:pPr>
            <a:r>
              <a:rPr lang="en-IN" sz="2400" dirty="0"/>
              <a:t>Discuss the various types of </a:t>
            </a:r>
            <a:r>
              <a:rPr lang="en-IN" sz="2400" b="1" dirty="0"/>
              <a:t>feasibility analysis</a:t>
            </a:r>
            <a:r>
              <a:rPr lang="en-IN" sz="2400" dirty="0"/>
              <a:t>, and calculate economic feasibility using capital budgeting techniques.</a:t>
            </a:r>
          </a:p>
          <a:p>
            <a:pPr lvl="0">
              <a:spcBef>
                <a:spcPts val="400"/>
              </a:spcBef>
              <a:buSzPts val="2200"/>
            </a:pPr>
            <a:r>
              <a:rPr lang="en-IN" sz="2400" dirty="0"/>
              <a:t>Explain why system changes trigger </a:t>
            </a:r>
            <a:r>
              <a:rPr lang="en-IN" sz="2400" dirty="0" err="1"/>
              <a:t>behavioral</a:t>
            </a:r>
            <a:r>
              <a:rPr lang="en-IN" sz="2400" dirty="0"/>
              <a:t> </a:t>
            </a:r>
            <a:r>
              <a:rPr lang="en-IN" sz="2400" b="1" dirty="0"/>
              <a:t>reactions</a:t>
            </a:r>
            <a:r>
              <a:rPr lang="en-IN" sz="2400" dirty="0"/>
              <a:t>, what form this resistance to change takes, and how to avoid or minimize the resulting problems.</a:t>
            </a:r>
          </a:p>
          <a:p>
            <a:pPr lvl="0">
              <a:spcBef>
                <a:spcPts val="400"/>
              </a:spcBef>
              <a:buSzPts val="2200"/>
            </a:pPr>
            <a:r>
              <a:rPr lang="en-IN" sz="2400" dirty="0"/>
              <a:t>Discuss the key issues, objectives, and steps in systems analysis.</a:t>
            </a:r>
          </a:p>
        </p:txBody>
      </p:sp>
    </p:spTree>
    <p:extLst>
      <p:ext uri="{BB962C8B-B14F-4D97-AF65-F5344CB8AC3E}">
        <p14:creationId xmlns:p14="http://schemas.microsoft.com/office/powerpoint/2010/main" val="25605828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Text&#10;&#10;Description automatically generated">
            <a:extLst>
              <a:ext uri="{FF2B5EF4-FFF2-40B4-BE49-F238E27FC236}">
                <a16:creationId xmlns:a16="http://schemas.microsoft.com/office/drawing/2014/main" id="{3E3B9EB1-AB20-CF45-9831-06FFB14939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38200"/>
            <a:ext cx="9144000" cy="5231642"/>
          </a:xfrm>
          <a:prstGeom prst="rect">
            <a:avLst/>
          </a:prstGeom>
        </p:spPr>
      </p:pic>
    </p:spTree>
    <p:extLst>
      <p:ext uri="{BB962C8B-B14F-4D97-AF65-F5344CB8AC3E}">
        <p14:creationId xmlns:p14="http://schemas.microsoft.com/office/powerpoint/2010/main" val="12912479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Diagram&#10;&#10;Description automatically generated">
            <a:extLst>
              <a:ext uri="{FF2B5EF4-FFF2-40B4-BE49-F238E27FC236}">
                <a16:creationId xmlns:a16="http://schemas.microsoft.com/office/drawing/2014/main" id="{819957D6-A0DC-174B-9B3C-2E450CBBE7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95476"/>
            <a:ext cx="9144000" cy="5467048"/>
          </a:xfrm>
          <a:prstGeom prst="rect">
            <a:avLst/>
          </a:prstGeom>
        </p:spPr>
      </p:pic>
    </p:spTree>
    <p:extLst>
      <p:ext uri="{BB962C8B-B14F-4D97-AF65-F5344CB8AC3E}">
        <p14:creationId xmlns:p14="http://schemas.microsoft.com/office/powerpoint/2010/main" val="1362281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79506" y="87489"/>
            <a:ext cx="8229600" cy="1107996"/>
          </a:xfrm>
        </p:spPr>
        <p:txBody>
          <a:bodyPr>
            <a:noAutofit/>
          </a:bodyPr>
          <a:lstStyle/>
          <a:p>
            <a:r>
              <a:rPr lang="en-IN" sz="3200" dirty="0">
                <a:latin typeface="+mj-lt"/>
              </a:rPr>
              <a:t>Figure 22.1 The Systems Development Life Cycle</a:t>
            </a:r>
          </a:p>
        </p:txBody>
      </p:sp>
      <p:pic>
        <p:nvPicPr>
          <p:cNvPr id="10" name="Picture Placeholder 9" descr="A cyclic diagram shows the steps involved in the systems development life cycle.&#10;Long description is available in notes, press F6">
            <a:extLst>
              <a:ext uri="{FF2B5EF4-FFF2-40B4-BE49-F238E27FC236}">
                <a16:creationId xmlns:a16="http://schemas.microsoft.com/office/drawing/2014/main" id="{D3AEF6EF-E9CA-4854-BD44-B6B19CEC6806}"/>
              </a:ext>
            </a:extLst>
          </p:cNvPr>
          <p:cNvPicPr>
            <a:picLocks noGrp="1" noChangeAspect="1"/>
          </p:cNvPicPr>
          <p:nvPr>
            <p:ph type="pic" sz="quarter" idx="14"/>
          </p:nvPr>
        </p:nvPicPr>
        <p:blipFill>
          <a:blip r:embed="rId3" cstate="print">
            <a:extLst>
              <a:ext uri="{28A0092B-C50C-407E-A947-70E740481C1C}">
                <a14:useLocalDpi xmlns:a14="http://schemas.microsoft.com/office/drawing/2010/main" val="0"/>
              </a:ext>
            </a:extLst>
          </a:blip>
          <a:stretch>
            <a:fillRect/>
          </a:stretch>
        </p:blipFill>
        <p:spPr>
          <a:xfrm>
            <a:off x="1851239" y="1398216"/>
            <a:ext cx="5447694" cy="4876398"/>
          </a:xfrm>
          <a:prstGeom prst="rect">
            <a:avLst/>
          </a:prstGeom>
        </p:spPr>
      </p:pic>
    </p:spTree>
    <p:extLst>
      <p:ext uri="{BB962C8B-B14F-4D97-AF65-F5344CB8AC3E}">
        <p14:creationId xmlns:p14="http://schemas.microsoft.com/office/powerpoint/2010/main" val="4103485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Graphical user interface, text&#10;&#10;Description automatically generated">
            <a:extLst>
              <a:ext uri="{FF2B5EF4-FFF2-40B4-BE49-F238E27FC236}">
                <a16:creationId xmlns:a16="http://schemas.microsoft.com/office/drawing/2014/main" id="{8B2EDA23-C013-984A-9BEC-C156D3A77A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40969"/>
            <a:ext cx="9144000" cy="5376062"/>
          </a:xfrm>
          <a:prstGeom prst="rect">
            <a:avLst/>
          </a:prstGeom>
        </p:spPr>
      </p:pic>
    </p:spTree>
    <p:extLst>
      <p:ext uri="{BB962C8B-B14F-4D97-AF65-F5344CB8AC3E}">
        <p14:creationId xmlns:p14="http://schemas.microsoft.com/office/powerpoint/2010/main" val="9143866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574A42C-331A-2041-9FAD-C1641DA9EB07}"/>
              </a:ext>
            </a:extLst>
          </p:cNvPr>
          <p:cNvSpPr>
            <a:spLocks noGrp="1"/>
          </p:cNvSpPr>
          <p:nvPr>
            <p:ph type="title"/>
          </p:nvPr>
        </p:nvSpPr>
        <p:spPr/>
        <p:txBody>
          <a:bodyPr/>
          <a:lstStyle/>
          <a:p>
            <a:r>
              <a:rPr lang="en-US" dirty="0"/>
              <a:t>Why should we care about this?</a:t>
            </a:r>
          </a:p>
        </p:txBody>
      </p:sp>
      <p:sp>
        <p:nvSpPr>
          <p:cNvPr id="7" name="Content Placeholder 6">
            <a:extLst>
              <a:ext uri="{FF2B5EF4-FFF2-40B4-BE49-F238E27FC236}">
                <a16:creationId xmlns:a16="http://schemas.microsoft.com/office/drawing/2014/main" id="{604AB9C6-ECD2-B643-9FE6-7310C8356EE4}"/>
              </a:ext>
            </a:extLst>
          </p:cNvPr>
          <p:cNvSpPr>
            <a:spLocks noGrp="1"/>
          </p:cNvSpPr>
          <p:nvPr>
            <p:ph idx="1"/>
          </p:nvPr>
        </p:nvSpPr>
        <p:spPr/>
        <p:txBody>
          <a:bodyPr/>
          <a:lstStyle/>
          <a:p>
            <a:r>
              <a:rPr lang="en-US" dirty="0"/>
              <a:t>Standish Group’s report on software projects</a:t>
            </a:r>
          </a:p>
          <a:p>
            <a:pPr lvl="1"/>
            <a:r>
              <a:rPr lang="en-US" dirty="0"/>
              <a:t>70% late</a:t>
            </a:r>
          </a:p>
          <a:p>
            <a:pPr lvl="1"/>
            <a:r>
              <a:rPr lang="en-US" dirty="0"/>
              <a:t>54% over budget</a:t>
            </a:r>
          </a:p>
          <a:p>
            <a:pPr lvl="1"/>
            <a:r>
              <a:rPr lang="en-US" dirty="0"/>
              <a:t>66% unsuccessful</a:t>
            </a:r>
          </a:p>
          <a:p>
            <a:pPr lvl="1"/>
            <a:r>
              <a:rPr lang="en-US" dirty="0"/>
              <a:t>30% canceled</a:t>
            </a:r>
          </a:p>
          <a:p>
            <a:pPr lvl="1"/>
            <a:endParaRPr lang="en-US" dirty="0"/>
          </a:p>
          <a:p>
            <a:r>
              <a:rPr lang="en-US" dirty="0"/>
              <a:t>Accountants are original system users/developers</a:t>
            </a:r>
          </a:p>
          <a:p>
            <a:endParaRPr lang="en-US" dirty="0"/>
          </a:p>
          <a:p>
            <a:r>
              <a:rPr lang="en-US" dirty="0"/>
              <a:t>CA DMV </a:t>
            </a:r>
          </a:p>
          <a:p>
            <a:pPr lvl="1"/>
            <a:r>
              <a:rPr lang="en-US" dirty="0"/>
              <a:t>Took 18 people a year to add SSN to drivers’ license</a:t>
            </a:r>
          </a:p>
          <a:p>
            <a:pPr lvl="1"/>
            <a:r>
              <a:rPr lang="en-US" dirty="0"/>
              <a:t>7 year, 44m project to overhaul system canceled</a:t>
            </a:r>
          </a:p>
          <a:p>
            <a:r>
              <a:rPr lang="en-US" dirty="0"/>
              <a:t> </a:t>
            </a:r>
          </a:p>
          <a:p>
            <a:endParaRPr lang="en-US" dirty="0"/>
          </a:p>
          <a:p>
            <a:pPr lvl="1"/>
            <a:endParaRPr lang="en-US" dirty="0"/>
          </a:p>
        </p:txBody>
      </p:sp>
    </p:spTree>
    <p:extLst>
      <p:ext uri="{BB962C8B-B14F-4D97-AF65-F5344CB8AC3E}">
        <p14:creationId xmlns:p14="http://schemas.microsoft.com/office/powerpoint/2010/main" val="13148298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C7568-4CE2-0C48-BB80-26A4D929FC5E}"/>
              </a:ext>
            </a:extLst>
          </p:cNvPr>
          <p:cNvSpPr>
            <a:spLocks noGrp="1"/>
          </p:cNvSpPr>
          <p:nvPr>
            <p:ph type="title"/>
          </p:nvPr>
        </p:nvSpPr>
        <p:spPr>
          <a:xfrm>
            <a:off x="26504" y="0"/>
            <a:ext cx="8229600" cy="685800"/>
          </a:xfrm>
        </p:spPr>
        <p:txBody>
          <a:bodyPr/>
          <a:lstStyle/>
          <a:p>
            <a:r>
              <a:rPr lang="en-US" sz="1200" dirty="0"/>
              <a:t>https://</a:t>
            </a:r>
            <a:r>
              <a:rPr lang="en-US" sz="1200" dirty="0" err="1"/>
              <a:t>www.cio.com</a:t>
            </a:r>
            <a:r>
              <a:rPr lang="en-US" sz="1200" dirty="0"/>
              <a:t>/article/278677/enterprise-resource-planning-10-famous-erp-disasters-dustups-and-disappointments.html</a:t>
            </a:r>
          </a:p>
        </p:txBody>
      </p:sp>
      <p:pic>
        <p:nvPicPr>
          <p:cNvPr id="11" name="Picture 10" descr="Text, letter&#10;&#10;Description automatically generated">
            <a:extLst>
              <a:ext uri="{FF2B5EF4-FFF2-40B4-BE49-F238E27FC236}">
                <a16:creationId xmlns:a16="http://schemas.microsoft.com/office/drawing/2014/main" id="{3F64CC05-A062-844A-8A74-159B161C22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0200" y="685800"/>
            <a:ext cx="5791200" cy="5638800"/>
          </a:xfrm>
          <a:prstGeom prst="rect">
            <a:avLst/>
          </a:prstGeom>
        </p:spPr>
      </p:pic>
    </p:spTree>
    <p:extLst>
      <p:ext uri="{BB962C8B-B14F-4D97-AF65-F5344CB8AC3E}">
        <p14:creationId xmlns:p14="http://schemas.microsoft.com/office/powerpoint/2010/main" val="22818274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C7568-4CE2-0C48-BB80-26A4D929FC5E}"/>
              </a:ext>
            </a:extLst>
          </p:cNvPr>
          <p:cNvSpPr>
            <a:spLocks noGrp="1"/>
          </p:cNvSpPr>
          <p:nvPr>
            <p:ph type="title"/>
          </p:nvPr>
        </p:nvSpPr>
        <p:spPr>
          <a:xfrm>
            <a:off x="26504" y="0"/>
            <a:ext cx="8229600" cy="685800"/>
          </a:xfrm>
        </p:spPr>
        <p:txBody>
          <a:bodyPr/>
          <a:lstStyle/>
          <a:p>
            <a:r>
              <a:rPr lang="en-US" sz="1200" dirty="0"/>
              <a:t>https://</a:t>
            </a:r>
            <a:r>
              <a:rPr lang="en-US" sz="1200" dirty="0" err="1"/>
              <a:t>www.cio.com</a:t>
            </a:r>
            <a:r>
              <a:rPr lang="en-US" sz="1200" dirty="0"/>
              <a:t>/article/278677/enterprise-resource-planning-10-famous-erp-disasters-dustups-and-disappointments.html</a:t>
            </a:r>
          </a:p>
        </p:txBody>
      </p:sp>
      <p:pic>
        <p:nvPicPr>
          <p:cNvPr id="9" name="Picture 8" descr="Text&#10;&#10;Description automatically generated">
            <a:extLst>
              <a:ext uri="{FF2B5EF4-FFF2-40B4-BE49-F238E27FC236}">
                <a16:creationId xmlns:a16="http://schemas.microsoft.com/office/drawing/2014/main" id="{CD8A063D-A6B2-DB4A-A935-0261A892A7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1139" y="914400"/>
            <a:ext cx="7797800" cy="5848350"/>
          </a:xfrm>
          <a:prstGeom prst="rect">
            <a:avLst/>
          </a:prstGeom>
        </p:spPr>
      </p:pic>
    </p:spTree>
    <p:extLst>
      <p:ext uri="{BB962C8B-B14F-4D97-AF65-F5344CB8AC3E}">
        <p14:creationId xmlns:p14="http://schemas.microsoft.com/office/powerpoint/2010/main" val="25614775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C7568-4CE2-0C48-BB80-26A4D929FC5E}"/>
              </a:ext>
            </a:extLst>
          </p:cNvPr>
          <p:cNvSpPr>
            <a:spLocks noGrp="1"/>
          </p:cNvSpPr>
          <p:nvPr>
            <p:ph type="title"/>
          </p:nvPr>
        </p:nvSpPr>
        <p:spPr>
          <a:xfrm>
            <a:off x="26504" y="0"/>
            <a:ext cx="8229600" cy="685800"/>
          </a:xfrm>
        </p:spPr>
        <p:txBody>
          <a:bodyPr/>
          <a:lstStyle/>
          <a:p>
            <a:r>
              <a:rPr lang="en-US" sz="1200" dirty="0"/>
              <a:t>https://</a:t>
            </a:r>
            <a:r>
              <a:rPr lang="en-US" sz="1200" dirty="0" err="1"/>
              <a:t>www.cio.com</a:t>
            </a:r>
            <a:r>
              <a:rPr lang="en-US" sz="1200" dirty="0"/>
              <a:t>/article/278677/enterprise-resource-planning-10-famous-erp-disasters-dustups-and-disappointments.html</a:t>
            </a:r>
          </a:p>
        </p:txBody>
      </p:sp>
      <p:pic>
        <p:nvPicPr>
          <p:cNvPr id="5" name="Picture 4" descr="Text&#10;&#10;Description automatically generated">
            <a:extLst>
              <a:ext uri="{FF2B5EF4-FFF2-40B4-BE49-F238E27FC236}">
                <a16:creationId xmlns:a16="http://schemas.microsoft.com/office/drawing/2014/main" id="{40EF37D2-5BEC-4545-8515-3C896E2AAF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838200"/>
            <a:ext cx="7696200" cy="3608275"/>
          </a:xfrm>
          <a:prstGeom prst="rect">
            <a:avLst/>
          </a:prstGeom>
        </p:spPr>
      </p:pic>
      <p:pic>
        <p:nvPicPr>
          <p:cNvPr id="7" name="Picture 6" descr="Graphical user interface, text, application&#10;&#10;Description automatically generated">
            <a:extLst>
              <a:ext uri="{FF2B5EF4-FFF2-40B4-BE49-F238E27FC236}">
                <a16:creationId xmlns:a16="http://schemas.microsoft.com/office/drawing/2014/main" id="{09E6FAF2-4F47-AA49-8C9B-7C79DC41F1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9800" y="4446475"/>
            <a:ext cx="6811617" cy="1985493"/>
          </a:xfrm>
          <a:prstGeom prst="rect">
            <a:avLst/>
          </a:prstGeom>
        </p:spPr>
      </p:pic>
    </p:spTree>
    <p:extLst>
      <p:ext uri="{BB962C8B-B14F-4D97-AF65-F5344CB8AC3E}">
        <p14:creationId xmlns:p14="http://schemas.microsoft.com/office/powerpoint/2010/main" val="39667491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0FFAF74-9694-5E48-AE92-AA7BF0BE916E}"/>
              </a:ext>
            </a:extLst>
          </p:cNvPr>
          <p:cNvSpPr>
            <a:spLocks noGrp="1"/>
          </p:cNvSpPr>
          <p:nvPr>
            <p:ph type="title"/>
          </p:nvPr>
        </p:nvSpPr>
        <p:spPr/>
        <p:txBody>
          <a:bodyPr/>
          <a:lstStyle/>
          <a:p>
            <a:r>
              <a:rPr lang="en-US" dirty="0"/>
              <a:t>How people resist change</a:t>
            </a:r>
          </a:p>
        </p:txBody>
      </p:sp>
      <p:sp>
        <p:nvSpPr>
          <p:cNvPr id="7" name="Content Placeholder 6">
            <a:extLst>
              <a:ext uri="{FF2B5EF4-FFF2-40B4-BE49-F238E27FC236}">
                <a16:creationId xmlns:a16="http://schemas.microsoft.com/office/drawing/2014/main" id="{1B021560-EF56-BA4D-B306-81020406A062}"/>
              </a:ext>
            </a:extLst>
          </p:cNvPr>
          <p:cNvSpPr>
            <a:spLocks noGrp="1"/>
          </p:cNvSpPr>
          <p:nvPr>
            <p:ph idx="1"/>
          </p:nvPr>
        </p:nvSpPr>
        <p:spPr>
          <a:xfrm>
            <a:off x="457200" y="1600200"/>
            <a:ext cx="8229600" cy="1123384"/>
          </a:xfrm>
        </p:spPr>
        <p:txBody>
          <a:bodyPr/>
          <a:lstStyle/>
          <a:p>
            <a:r>
              <a:rPr lang="en-US" dirty="0"/>
              <a:t>Aggression towards system (errors, disruptions, sabotage)</a:t>
            </a:r>
          </a:p>
          <a:p>
            <a:r>
              <a:rPr lang="en-US" dirty="0"/>
              <a:t>Projection (blaming system for everything)</a:t>
            </a:r>
          </a:p>
          <a:p>
            <a:r>
              <a:rPr lang="en-US" dirty="0"/>
              <a:t>Avoidance (ignoring with hopes it’ll go away)</a:t>
            </a:r>
          </a:p>
        </p:txBody>
      </p:sp>
    </p:spTree>
    <p:extLst>
      <p:ext uri="{BB962C8B-B14F-4D97-AF65-F5344CB8AC3E}">
        <p14:creationId xmlns:p14="http://schemas.microsoft.com/office/powerpoint/2010/main" val="16863266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086" y="149163"/>
            <a:ext cx="8599714" cy="689037"/>
          </a:xfrm>
        </p:spPr>
        <p:txBody>
          <a:bodyPr>
            <a:noAutofit/>
          </a:bodyPr>
          <a:lstStyle/>
          <a:p>
            <a:r>
              <a:rPr lang="en-IN" sz="3600" dirty="0">
                <a:latin typeface="+mj-lt"/>
              </a:rPr>
              <a:t>Why do Behavioural Problems Occur?</a:t>
            </a:r>
          </a:p>
        </p:txBody>
      </p:sp>
      <p:sp>
        <p:nvSpPr>
          <p:cNvPr id="2" name="Content Placeholder 1"/>
          <p:cNvSpPr>
            <a:spLocks noGrp="1"/>
          </p:cNvSpPr>
          <p:nvPr>
            <p:ph idx="1"/>
          </p:nvPr>
        </p:nvSpPr>
        <p:spPr>
          <a:xfrm>
            <a:off x="468922" y="1000648"/>
            <a:ext cx="4103078" cy="4667945"/>
          </a:xfrm>
        </p:spPr>
        <p:txBody>
          <a:bodyPr wrap="square">
            <a:noAutofit/>
          </a:bodyPr>
          <a:lstStyle/>
          <a:p>
            <a:pPr>
              <a:spcBef>
                <a:spcPts val="400"/>
              </a:spcBef>
              <a:buSzPct val="100000"/>
            </a:pPr>
            <a:r>
              <a:rPr lang="en-IN" sz="2000" dirty="0"/>
              <a:t>Fear</a:t>
            </a:r>
          </a:p>
          <a:p>
            <a:pPr lvl="1">
              <a:spcBef>
                <a:spcPts val="400"/>
              </a:spcBef>
              <a:buSzPct val="100000"/>
            </a:pPr>
            <a:r>
              <a:rPr lang="en-IN" sz="2000" dirty="0"/>
              <a:t>Of failure, the unknown, losing status</a:t>
            </a:r>
          </a:p>
          <a:p>
            <a:pPr>
              <a:spcBef>
                <a:spcPts val="400"/>
              </a:spcBef>
              <a:buSzPct val="100000"/>
            </a:pPr>
            <a:r>
              <a:rPr lang="en-IN" sz="2000" dirty="0"/>
              <a:t>Lack of top-management support</a:t>
            </a:r>
          </a:p>
          <a:p>
            <a:pPr lvl="1">
              <a:spcBef>
                <a:spcPts val="400"/>
              </a:spcBef>
              <a:buSzPct val="100000"/>
            </a:pPr>
            <a:r>
              <a:rPr lang="en-IN" sz="2000" dirty="0"/>
              <a:t>If the top management is not supportive, why should the employee change?</a:t>
            </a:r>
          </a:p>
          <a:p>
            <a:pPr>
              <a:spcBef>
                <a:spcPts val="400"/>
              </a:spcBef>
              <a:buSzPct val="100000"/>
            </a:pPr>
            <a:r>
              <a:rPr lang="en-IN" sz="2000" dirty="0"/>
              <a:t>Bad prior experiences</a:t>
            </a:r>
          </a:p>
          <a:p>
            <a:pPr lvl="1">
              <a:spcBef>
                <a:spcPts val="400"/>
              </a:spcBef>
              <a:buSzPct val="100000"/>
            </a:pPr>
            <a:r>
              <a:rPr lang="en-IN" sz="2000" dirty="0"/>
              <a:t>Bad experience with prior IS changes</a:t>
            </a:r>
          </a:p>
          <a:p>
            <a:pPr>
              <a:spcBef>
                <a:spcPts val="400"/>
              </a:spcBef>
              <a:buSzPct val="100000"/>
            </a:pPr>
            <a:r>
              <a:rPr lang="en-IN" sz="2000" dirty="0"/>
              <a:t>Poor communication</a:t>
            </a:r>
          </a:p>
          <a:p>
            <a:pPr lvl="1">
              <a:spcBef>
                <a:spcPts val="400"/>
              </a:spcBef>
              <a:buSzPct val="100000"/>
            </a:pPr>
            <a:r>
              <a:rPr lang="en-IN" sz="2000" dirty="0"/>
              <a:t>Employees need to understand why change is necessary</a:t>
            </a:r>
          </a:p>
        </p:txBody>
      </p:sp>
      <p:sp>
        <p:nvSpPr>
          <p:cNvPr id="3" name="Content Placeholder 2"/>
          <p:cNvSpPr>
            <a:spLocks noGrp="1"/>
          </p:cNvSpPr>
          <p:nvPr>
            <p:ph idx="13"/>
          </p:nvPr>
        </p:nvSpPr>
        <p:spPr>
          <a:xfrm>
            <a:off x="4724402" y="1006186"/>
            <a:ext cx="3962398" cy="5283498"/>
          </a:xfrm>
        </p:spPr>
        <p:txBody>
          <a:bodyPr>
            <a:noAutofit/>
          </a:bodyPr>
          <a:lstStyle/>
          <a:p>
            <a:pPr>
              <a:spcBef>
                <a:spcPts val="400"/>
              </a:spcBef>
              <a:buSzPct val="100000"/>
            </a:pPr>
            <a:r>
              <a:rPr lang="en-IN" sz="2000" dirty="0"/>
              <a:t>Disruption</a:t>
            </a:r>
          </a:p>
          <a:p>
            <a:pPr lvl="1">
              <a:spcBef>
                <a:spcPts val="400"/>
              </a:spcBef>
              <a:buSzPct val="100000"/>
            </a:pPr>
            <a:r>
              <a:rPr lang="en-IN" sz="2000" dirty="0"/>
              <a:t>Additional requests for information and additional burdens of time is distracting and prompts negative feelings</a:t>
            </a:r>
          </a:p>
          <a:p>
            <a:pPr>
              <a:spcBef>
                <a:spcPts val="400"/>
              </a:spcBef>
              <a:buSzPct val="100000"/>
            </a:pPr>
            <a:r>
              <a:rPr lang="en-IN" sz="2000" dirty="0"/>
              <a:t>Manner change is introduced</a:t>
            </a:r>
          </a:p>
          <a:p>
            <a:pPr lvl="1">
              <a:spcBef>
                <a:spcPts val="400"/>
              </a:spcBef>
              <a:buSzPct val="100000"/>
            </a:pPr>
            <a:r>
              <a:rPr lang="en-IN" sz="2000" dirty="0"/>
              <a:t>Approaches are different for top level and lower level employees</a:t>
            </a:r>
          </a:p>
          <a:p>
            <a:pPr>
              <a:spcBef>
                <a:spcPts val="400"/>
              </a:spcBef>
              <a:buSzPct val="100000"/>
            </a:pPr>
            <a:r>
              <a:rPr lang="en-IN" sz="2000" dirty="0"/>
              <a:t>Biases and emotions</a:t>
            </a:r>
          </a:p>
          <a:p>
            <a:pPr>
              <a:spcBef>
                <a:spcPts val="400"/>
              </a:spcBef>
              <a:buSzPct val="100000"/>
            </a:pPr>
            <a:r>
              <a:rPr lang="en-IN" sz="2000" dirty="0"/>
              <a:t>Personal characteristics and background</a:t>
            </a:r>
          </a:p>
          <a:p>
            <a:pPr lvl="1">
              <a:spcBef>
                <a:spcPts val="400"/>
              </a:spcBef>
              <a:buSzPct val="100000"/>
            </a:pPr>
            <a:r>
              <a:rPr lang="en-IN" sz="2000" dirty="0"/>
              <a:t>Age</a:t>
            </a:r>
          </a:p>
          <a:p>
            <a:pPr lvl="1">
              <a:spcBef>
                <a:spcPts val="400"/>
              </a:spcBef>
              <a:buSzPct val="100000"/>
            </a:pPr>
            <a:r>
              <a:rPr lang="en-IN" sz="2000" dirty="0"/>
              <a:t>Open to technology and comfortable with it</a:t>
            </a:r>
          </a:p>
        </p:txBody>
      </p:sp>
    </p:spTree>
    <p:extLst>
      <p:ext uri="{BB962C8B-B14F-4D97-AF65-F5344CB8AC3E}">
        <p14:creationId xmlns:p14="http://schemas.microsoft.com/office/powerpoint/2010/main" val="27206005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086" y="97405"/>
            <a:ext cx="8675914" cy="740795"/>
          </a:xfrm>
        </p:spPr>
        <p:txBody>
          <a:bodyPr anchor="ctr">
            <a:noAutofit/>
          </a:bodyPr>
          <a:lstStyle/>
          <a:p>
            <a:r>
              <a:rPr lang="en-IN" sz="3600" dirty="0">
                <a:latin typeface="+mj-lt"/>
              </a:rPr>
              <a:t>How to Prevent Behavioural Problems</a:t>
            </a:r>
          </a:p>
        </p:txBody>
      </p:sp>
      <p:sp>
        <p:nvSpPr>
          <p:cNvPr id="2" name="Content Placeholder 1"/>
          <p:cNvSpPr>
            <a:spLocks noGrp="1"/>
          </p:cNvSpPr>
          <p:nvPr>
            <p:ph idx="1"/>
          </p:nvPr>
        </p:nvSpPr>
        <p:spPr>
          <a:xfrm>
            <a:off x="468922" y="1000648"/>
            <a:ext cx="4103078" cy="4791055"/>
          </a:xfrm>
        </p:spPr>
        <p:txBody>
          <a:bodyPr wrap="square">
            <a:noAutofit/>
          </a:bodyPr>
          <a:lstStyle/>
          <a:p>
            <a:pPr>
              <a:spcBef>
                <a:spcPts val="400"/>
              </a:spcBef>
              <a:buSzPct val="100000"/>
            </a:pPr>
            <a:r>
              <a:rPr lang="en-IN" sz="2400" dirty="0"/>
              <a:t>Management support</a:t>
            </a:r>
          </a:p>
          <a:p>
            <a:pPr lvl="1">
              <a:spcBef>
                <a:spcPts val="400"/>
              </a:spcBef>
              <a:buSzPct val="100000"/>
            </a:pPr>
            <a:r>
              <a:rPr lang="en-IN" sz="2400" dirty="0"/>
              <a:t>Provide resources and motivation</a:t>
            </a:r>
          </a:p>
          <a:p>
            <a:pPr>
              <a:spcBef>
                <a:spcPts val="400"/>
              </a:spcBef>
              <a:buSzPct val="100000"/>
            </a:pPr>
            <a:r>
              <a:rPr lang="en-IN" sz="2400" dirty="0"/>
              <a:t>Satisfy user needs</a:t>
            </a:r>
          </a:p>
          <a:p>
            <a:pPr>
              <a:spcBef>
                <a:spcPts val="400"/>
              </a:spcBef>
              <a:buSzPct val="100000"/>
            </a:pPr>
            <a:r>
              <a:rPr lang="en-IN" sz="2400" dirty="0"/>
              <a:t>Involve users</a:t>
            </a:r>
          </a:p>
          <a:p>
            <a:pPr lvl="1">
              <a:spcBef>
                <a:spcPts val="400"/>
              </a:spcBef>
              <a:buSzPct val="100000"/>
            </a:pPr>
            <a:r>
              <a:rPr lang="en-IN" sz="2400" dirty="0"/>
              <a:t>Participation improves communication and commitment</a:t>
            </a:r>
          </a:p>
          <a:p>
            <a:pPr>
              <a:spcBef>
                <a:spcPts val="400"/>
              </a:spcBef>
              <a:buSzPct val="100000"/>
            </a:pPr>
            <a:r>
              <a:rPr lang="en-IN" sz="2400" dirty="0"/>
              <a:t>Reduce fears, emphasize opportunities</a:t>
            </a:r>
          </a:p>
          <a:p>
            <a:pPr>
              <a:spcBef>
                <a:spcPts val="400"/>
              </a:spcBef>
              <a:buSzPct val="100000"/>
            </a:pPr>
            <a:r>
              <a:rPr lang="en-IN" sz="2400" dirty="0"/>
              <a:t>Avoid emotionalism</a:t>
            </a:r>
          </a:p>
          <a:p>
            <a:pPr>
              <a:spcBef>
                <a:spcPts val="400"/>
              </a:spcBef>
              <a:buSzPct val="100000"/>
            </a:pPr>
            <a:r>
              <a:rPr lang="en-IN" sz="2400" dirty="0"/>
              <a:t>Provide training</a:t>
            </a:r>
          </a:p>
        </p:txBody>
      </p:sp>
      <p:sp>
        <p:nvSpPr>
          <p:cNvPr id="3" name="Content Placeholder 2"/>
          <p:cNvSpPr>
            <a:spLocks noGrp="1"/>
          </p:cNvSpPr>
          <p:nvPr>
            <p:ph idx="13"/>
          </p:nvPr>
        </p:nvSpPr>
        <p:spPr>
          <a:xfrm>
            <a:off x="4724402" y="1006186"/>
            <a:ext cx="3962398" cy="5283498"/>
          </a:xfrm>
        </p:spPr>
        <p:txBody>
          <a:bodyPr>
            <a:noAutofit/>
          </a:bodyPr>
          <a:lstStyle/>
          <a:p>
            <a:pPr>
              <a:spcBef>
                <a:spcPts val="400"/>
              </a:spcBef>
              <a:buSzPct val="100000"/>
            </a:pPr>
            <a:r>
              <a:rPr lang="en-IN" sz="2400" dirty="0"/>
              <a:t>Performance evaluation</a:t>
            </a:r>
          </a:p>
          <a:p>
            <a:pPr lvl="1">
              <a:spcBef>
                <a:spcPts val="400"/>
              </a:spcBef>
              <a:buSzPct val="100000"/>
            </a:pPr>
            <a:r>
              <a:rPr lang="en-IN" sz="2400" dirty="0"/>
              <a:t>Re-evaluate to ensure performance standards are consistent with the new system</a:t>
            </a:r>
          </a:p>
          <a:p>
            <a:pPr>
              <a:spcBef>
                <a:spcPts val="400"/>
              </a:spcBef>
              <a:buSzPct val="100000"/>
            </a:pPr>
            <a:r>
              <a:rPr lang="en-IN" sz="2400" dirty="0"/>
              <a:t>Keep open communications</a:t>
            </a:r>
          </a:p>
          <a:p>
            <a:pPr>
              <a:spcBef>
                <a:spcPts val="400"/>
              </a:spcBef>
              <a:buSzPct val="100000"/>
            </a:pPr>
            <a:r>
              <a:rPr lang="en-IN" sz="2400" dirty="0"/>
              <a:t>Test the system prior to implementation</a:t>
            </a:r>
          </a:p>
          <a:p>
            <a:pPr>
              <a:spcBef>
                <a:spcPts val="400"/>
              </a:spcBef>
              <a:buSzPct val="100000"/>
            </a:pPr>
            <a:r>
              <a:rPr lang="en-IN" sz="2400" dirty="0"/>
              <a:t>Keep system simple</a:t>
            </a:r>
          </a:p>
          <a:p>
            <a:pPr lvl="1">
              <a:spcBef>
                <a:spcPts val="400"/>
              </a:spcBef>
              <a:buSzPct val="100000"/>
            </a:pPr>
            <a:r>
              <a:rPr lang="en-IN" sz="2400" dirty="0"/>
              <a:t>Avoid radical changes</a:t>
            </a:r>
          </a:p>
          <a:p>
            <a:pPr>
              <a:spcBef>
                <a:spcPts val="400"/>
              </a:spcBef>
              <a:buSzPct val="100000"/>
            </a:pPr>
            <a:r>
              <a:rPr lang="en-IN" sz="2400" dirty="0"/>
              <a:t>Control user’s expectations</a:t>
            </a:r>
          </a:p>
          <a:p>
            <a:pPr lvl="1">
              <a:spcBef>
                <a:spcPts val="400"/>
              </a:spcBef>
              <a:buSzPct val="100000"/>
            </a:pPr>
            <a:r>
              <a:rPr lang="en-IN" sz="2400" dirty="0"/>
              <a:t>Be realistic</a:t>
            </a:r>
          </a:p>
        </p:txBody>
      </p:sp>
    </p:spTree>
    <p:extLst>
      <p:ext uri="{BB962C8B-B14F-4D97-AF65-F5344CB8AC3E}">
        <p14:creationId xmlns:p14="http://schemas.microsoft.com/office/powerpoint/2010/main" val="27966437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ext&#10;&#10;Description automatically generated">
            <a:extLst>
              <a:ext uri="{FF2B5EF4-FFF2-40B4-BE49-F238E27FC236}">
                <a16:creationId xmlns:a16="http://schemas.microsoft.com/office/drawing/2014/main" id="{8909D2FC-C441-5A47-AFD5-A2F5BE96D2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240"/>
            <a:ext cx="9144000" cy="5318449"/>
          </a:xfrm>
          <a:prstGeom prst="rect">
            <a:avLst/>
          </a:prstGeom>
        </p:spPr>
      </p:pic>
      <p:sp>
        <p:nvSpPr>
          <p:cNvPr id="2" name="Rectangle 1">
            <a:extLst>
              <a:ext uri="{FF2B5EF4-FFF2-40B4-BE49-F238E27FC236}">
                <a16:creationId xmlns:a16="http://schemas.microsoft.com/office/drawing/2014/main" id="{99D163C6-0552-4D61-9860-F20970A5D0A6}"/>
              </a:ext>
            </a:extLst>
          </p:cNvPr>
          <p:cNvSpPr/>
          <p:nvPr/>
        </p:nvSpPr>
        <p:spPr>
          <a:xfrm>
            <a:off x="3429000" y="5287969"/>
            <a:ext cx="4876800" cy="1371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“It is difficult to get a man to understand something, when his salary depends on his not understanding it.”</a:t>
            </a:r>
          </a:p>
          <a:p>
            <a:pPr algn="ctr"/>
            <a:r>
              <a:rPr lang="en-US" sz="2000" dirty="0"/>
              <a:t>— Upton Sinclair</a:t>
            </a:r>
          </a:p>
        </p:txBody>
      </p:sp>
    </p:spTree>
    <p:extLst>
      <p:ext uri="{BB962C8B-B14F-4D97-AF65-F5344CB8AC3E}">
        <p14:creationId xmlns:p14="http://schemas.microsoft.com/office/powerpoint/2010/main" val="27153117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086" y="149163"/>
            <a:ext cx="8229600" cy="553998"/>
          </a:xfrm>
        </p:spPr>
        <p:txBody>
          <a:bodyPr>
            <a:noAutofit/>
          </a:bodyPr>
          <a:lstStyle/>
          <a:p>
            <a:r>
              <a:rPr lang="en-IN" sz="3600" dirty="0">
                <a:latin typeface="+mj-lt"/>
              </a:rPr>
              <a:t>Who Is Involved in the </a:t>
            </a:r>
            <a:r>
              <a:rPr lang="en-IN" sz="3600" spc="-450" dirty="0">
                <a:latin typeface="+mj-lt"/>
              </a:rPr>
              <a:t>S D L </a:t>
            </a:r>
            <a:r>
              <a:rPr lang="en-IN" sz="3600" dirty="0">
                <a:latin typeface="+mj-lt"/>
              </a:rPr>
              <a:t>C?</a:t>
            </a:r>
          </a:p>
        </p:txBody>
      </p:sp>
      <p:sp>
        <p:nvSpPr>
          <p:cNvPr id="2" name="Content Placeholder 1"/>
          <p:cNvSpPr>
            <a:spLocks noGrp="1"/>
          </p:cNvSpPr>
          <p:nvPr>
            <p:ph idx="1"/>
          </p:nvPr>
        </p:nvSpPr>
        <p:spPr>
          <a:xfrm>
            <a:off x="468922" y="1000648"/>
            <a:ext cx="4103078" cy="4178067"/>
          </a:xfrm>
        </p:spPr>
        <p:txBody>
          <a:bodyPr wrap="square">
            <a:noAutofit/>
          </a:bodyPr>
          <a:lstStyle/>
          <a:p>
            <a:pPr>
              <a:spcBef>
                <a:spcPts val="0"/>
              </a:spcBef>
              <a:buSzPct val="100000"/>
            </a:pPr>
            <a:r>
              <a:rPr lang="en-IN" sz="1800" b="1" dirty="0"/>
              <a:t>Information Systems Steering Committee</a:t>
            </a:r>
          </a:p>
          <a:p>
            <a:pPr lvl="1">
              <a:spcBef>
                <a:spcPts val="900"/>
              </a:spcBef>
              <a:buSzPct val="100000"/>
            </a:pPr>
            <a:r>
              <a:rPr lang="en-IN" sz="1800" dirty="0"/>
              <a:t>Executive level, plans and oversees IS function; facilitates coordination with integration of systems activities</a:t>
            </a:r>
          </a:p>
          <a:p>
            <a:pPr>
              <a:spcBef>
                <a:spcPts val="900"/>
              </a:spcBef>
              <a:buSzPct val="100000"/>
            </a:pPr>
            <a:r>
              <a:rPr lang="en-IN" sz="1800" b="1" dirty="0"/>
              <a:t>Project Development Team</a:t>
            </a:r>
          </a:p>
          <a:p>
            <a:pPr lvl="1">
              <a:spcBef>
                <a:spcPts val="900"/>
              </a:spcBef>
              <a:buSzPct val="100000"/>
            </a:pPr>
            <a:r>
              <a:rPr lang="en-IN" sz="1800" dirty="0"/>
              <a:t>Plan and monitor project progress</a:t>
            </a:r>
          </a:p>
          <a:p>
            <a:pPr>
              <a:spcBef>
                <a:spcPts val="900"/>
              </a:spcBef>
              <a:buSzPct val="100000"/>
            </a:pPr>
            <a:r>
              <a:rPr lang="en-IN" sz="1800" b="1" dirty="0"/>
              <a:t>Programmers</a:t>
            </a:r>
          </a:p>
          <a:p>
            <a:pPr lvl="1">
              <a:spcBef>
                <a:spcPts val="900"/>
              </a:spcBef>
              <a:buSzPct val="100000"/>
            </a:pPr>
            <a:r>
              <a:rPr lang="en-IN" sz="1800" dirty="0"/>
              <a:t>Write and test programs according to analysts’ specifications</a:t>
            </a:r>
          </a:p>
        </p:txBody>
      </p:sp>
      <p:sp>
        <p:nvSpPr>
          <p:cNvPr id="3" name="Content Placeholder 2"/>
          <p:cNvSpPr>
            <a:spLocks noGrp="1"/>
          </p:cNvSpPr>
          <p:nvPr>
            <p:ph idx="13"/>
          </p:nvPr>
        </p:nvSpPr>
        <p:spPr>
          <a:xfrm>
            <a:off x="4724402" y="1006186"/>
            <a:ext cx="3962398" cy="4732065"/>
          </a:xfrm>
        </p:spPr>
        <p:txBody>
          <a:bodyPr>
            <a:noAutofit/>
          </a:bodyPr>
          <a:lstStyle/>
          <a:p>
            <a:pPr>
              <a:spcBef>
                <a:spcPts val="0"/>
              </a:spcBef>
              <a:buSzPct val="100000"/>
            </a:pPr>
            <a:r>
              <a:rPr lang="en-IN" sz="1800" b="1" dirty="0"/>
              <a:t>Systems Analysts</a:t>
            </a:r>
          </a:p>
          <a:p>
            <a:pPr lvl="1">
              <a:spcBef>
                <a:spcPts val="900"/>
              </a:spcBef>
              <a:buSzPct val="100000"/>
            </a:pPr>
            <a:r>
              <a:rPr lang="en-IN" sz="1800" dirty="0"/>
              <a:t>Determine information needs, prepare specifications for programmers</a:t>
            </a:r>
          </a:p>
          <a:p>
            <a:pPr>
              <a:spcBef>
                <a:spcPts val="900"/>
              </a:spcBef>
              <a:buSzPct val="100000"/>
            </a:pPr>
            <a:r>
              <a:rPr lang="en-IN" sz="1800" b="1" dirty="0"/>
              <a:t>Management</a:t>
            </a:r>
          </a:p>
          <a:p>
            <a:pPr lvl="1">
              <a:spcBef>
                <a:spcPts val="900"/>
              </a:spcBef>
              <a:buSzPct val="100000"/>
            </a:pPr>
            <a:r>
              <a:rPr lang="en-IN" sz="1800" dirty="0"/>
              <a:t>Get users involved in the process, provide support for development projects, align projects to meet organization’s strategic needs</a:t>
            </a:r>
          </a:p>
          <a:p>
            <a:pPr>
              <a:spcBef>
                <a:spcPts val="900"/>
              </a:spcBef>
              <a:buSzPct val="100000"/>
            </a:pPr>
            <a:r>
              <a:rPr lang="en-IN" sz="1800" b="1" dirty="0"/>
              <a:t>Users</a:t>
            </a:r>
          </a:p>
          <a:p>
            <a:pPr lvl="1">
              <a:spcBef>
                <a:spcPts val="900"/>
              </a:spcBef>
              <a:buSzPct val="100000"/>
            </a:pPr>
            <a:r>
              <a:rPr lang="en-IN" sz="1800" dirty="0"/>
              <a:t>Communicate needs to system developers, help design and test to ensure complete and accurate processing of data</a:t>
            </a:r>
          </a:p>
        </p:txBody>
      </p:sp>
    </p:spTree>
    <p:extLst>
      <p:ext uri="{BB962C8B-B14F-4D97-AF65-F5344CB8AC3E}">
        <p14:creationId xmlns:p14="http://schemas.microsoft.com/office/powerpoint/2010/main" val="4217127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77115" y="124983"/>
            <a:ext cx="8229600" cy="618079"/>
          </a:xfrm>
        </p:spPr>
        <p:txBody>
          <a:bodyPr anchor="ctr">
            <a:noAutofit/>
          </a:bodyPr>
          <a:lstStyle/>
          <a:p>
            <a:r>
              <a:rPr lang="en-IN" sz="3600" dirty="0">
                <a:latin typeface="+mj-lt"/>
              </a:rPr>
              <a:t>Systems Development Planning</a:t>
            </a:r>
          </a:p>
        </p:txBody>
      </p:sp>
      <p:sp>
        <p:nvSpPr>
          <p:cNvPr id="2" name="Content Placeholder 1"/>
          <p:cNvSpPr>
            <a:spLocks noGrp="1"/>
          </p:cNvSpPr>
          <p:nvPr>
            <p:ph idx="13"/>
          </p:nvPr>
        </p:nvSpPr>
        <p:spPr>
          <a:xfrm>
            <a:off x="477115" y="841180"/>
            <a:ext cx="8229600" cy="4462760"/>
          </a:xfrm>
        </p:spPr>
        <p:txBody>
          <a:bodyPr>
            <a:noAutofit/>
          </a:bodyPr>
          <a:lstStyle/>
          <a:p>
            <a:pPr>
              <a:spcBef>
                <a:spcPts val="0"/>
              </a:spcBef>
              <a:buSzPts val="2400"/>
            </a:pPr>
            <a:r>
              <a:rPr lang="en-IN" sz="2400" dirty="0"/>
              <a:t>Proper planning provides for achieving goals and objectives</a:t>
            </a:r>
          </a:p>
          <a:p>
            <a:pPr>
              <a:spcBef>
                <a:spcPts val="1200"/>
              </a:spcBef>
              <a:buSzPts val="2400"/>
            </a:pPr>
            <a:r>
              <a:rPr lang="en-IN" sz="2400" dirty="0"/>
              <a:t>For systems development, two plans needed:</a:t>
            </a:r>
          </a:p>
          <a:p>
            <a:pPr lvl="1">
              <a:spcBef>
                <a:spcPts val="1200"/>
              </a:spcBef>
              <a:buSzPts val="2000"/>
            </a:pPr>
            <a:r>
              <a:rPr lang="en-IN" sz="2400" dirty="0"/>
              <a:t>Project Development Plan</a:t>
            </a:r>
          </a:p>
          <a:p>
            <a:pPr lvl="2">
              <a:spcBef>
                <a:spcPts val="1200"/>
              </a:spcBef>
              <a:buSzPts val="1600"/>
            </a:pPr>
            <a:r>
              <a:rPr lang="en-IN" sz="2400" dirty="0"/>
              <a:t>Specific to a project and authored by the project team; identifies people, hardware, software, and financial resources needed</a:t>
            </a:r>
          </a:p>
          <a:p>
            <a:pPr lvl="1">
              <a:spcBef>
                <a:spcPts val="1200"/>
              </a:spcBef>
              <a:buSzPts val="2000"/>
            </a:pPr>
            <a:r>
              <a:rPr lang="en-IN" sz="2400" strike="sngStrike" dirty="0"/>
              <a:t>Master Plan</a:t>
            </a:r>
          </a:p>
          <a:p>
            <a:pPr lvl="2">
              <a:spcBef>
                <a:spcPts val="1200"/>
              </a:spcBef>
              <a:buSzPts val="1600"/>
            </a:pPr>
            <a:r>
              <a:rPr lang="en-IN" sz="2400" strike="sngStrike" dirty="0"/>
              <a:t>Long-range and authored by steering committee outlining prioritized projects and timetables</a:t>
            </a:r>
          </a:p>
        </p:txBody>
      </p:sp>
    </p:spTree>
    <p:extLst>
      <p:ext uri="{BB962C8B-B14F-4D97-AF65-F5344CB8AC3E}">
        <p14:creationId xmlns:p14="http://schemas.microsoft.com/office/powerpoint/2010/main" val="38202031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77115" y="124983"/>
            <a:ext cx="8229600" cy="618079"/>
          </a:xfrm>
        </p:spPr>
        <p:txBody>
          <a:bodyPr anchor="ctr">
            <a:noAutofit/>
          </a:bodyPr>
          <a:lstStyle/>
          <a:p>
            <a:r>
              <a:rPr lang="en-IN" sz="3600" dirty="0">
                <a:latin typeface="+mj-lt"/>
              </a:rPr>
              <a:t>Planning Techniques</a:t>
            </a:r>
          </a:p>
        </p:txBody>
      </p:sp>
      <p:sp>
        <p:nvSpPr>
          <p:cNvPr id="2" name="Content Placeholder 1"/>
          <p:cNvSpPr>
            <a:spLocks noGrp="1"/>
          </p:cNvSpPr>
          <p:nvPr>
            <p:ph idx="13"/>
          </p:nvPr>
        </p:nvSpPr>
        <p:spPr>
          <a:xfrm>
            <a:off x="477115" y="841180"/>
            <a:ext cx="8229600" cy="3416320"/>
          </a:xfrm>
        </p:spPr>
        <p:txBody>
          <a:bodyPr>
            <a:noAutofit/>
          </a:bodyPr>
          <a:lstStyle/>
          <a:p>
            <a:pPr lvl="0">
              <a:spcBef>
                <a:spcPts val="0"/>
              </a:spcBef>
              <a:buSzPts val="2400"/>
            </a:pPr>
            <a:r>
              <a:rPr lang="en-IN" sz="2400" strike="sngStrike" dirty="0"/>
              <a:t>Program evaluation and review technique (</a:t>
            </a:r>
            <a:r>
              <a:rPr lang="en-IN" sz="2400" strike="sngStrike" spc="-350" dirty="0"/>
              <a:t>P E R </a:t>
            </a:r>
            <a:r>
              <a:rPr lang="en-IN" sz="2400" strike="sngStrike" dirty="0"/>
              <a:t>T)</a:t>
            </a:r>
          </a:p>
          <a:p>
            <a:pPr lvl="1">
              <a:spcBef>
                <a:spcPts val="1200"/>
              </a:spcBef>
              <a:buSzPts val="2000"/>
            </a:pPr>
            <a:r>
              <a:rPr lang="en-IN" sz="2400" strike="sngStrike" dirty="0"/>
              <a:t>Diagram that depicts all project activities that require time and resources with completion estimates. Determines critical path.</a:t>
            </a:r>
          </a:p>
          <a:p>
            <a:pPr lvl="0">
              <a:spcBef>
                <a:spcPts val="1200"/>
              </a:spcBef>
              <a:buSzPts val="2400"/>
            </a:pPr>
            <a:r>
              <a:rPr lang="en-IN" sz="2400" dirty="0"/>
              <a:t>Gantt chart</a:t>
            </a:r>
          </a:p>
          <a:p>
            <a:pPr lvl="1">
              <a:spcBef>
                <a:spcPts val="1200"/>
              </a:spcBef>
              <a:buSzPts val="2000"/>
            </a:pPr>
            <a:r>
              <a:rPr lang="en-IN" sz="2400" dirty="0"/>
              <a:t>Bar chart that organizes activities on the left-hand side and project time scheduled with a bar drawn to show the progress to date for that particular activity.</a:t>
            </a:r>
          </a:p>
        </p:txBody>
      </p:sp>
    </p:spTree>
    <p:extLst>
      <p:ext uri="{BB962C8B-B14F-4D97-AF65-F5344CB8AC3E}">
        <p14:creationId xmlns:p14="http://schemas.microsoft.com/office/powerpoint/2010/main" val="22654047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Table&#10;&#10;Description automatically generated">
            <a:extLst>
              <a:ext uri="{FF2B5EF4-FFF2-40B4-BE49-F238E27FC236}">
                <a16:creationId xmlns:a16="http://schemas.microsoft.com/office/drawing/2014/main" id="{8650A83B-B577-1A49-9F0F-61A335ED89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30973"/>
            <a:ext cx="9144000" cy="4196053"/>
          </a:xfrm>
          <a:prstGeom prst="rect">
            <a:avLst/>
          </a:prstGeom>
        </p:spPr>
      </p:pic>
    </p:spTree>
    <p:extLst>
      <p:ext uri="{BB962C8B-B14F-4D97-AF65-F5344CB8AC3E}">
        <p14:creationId xmlns:p14="http://schemas.microsoft.com/office/powerpoint/2010/main" val="8508191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77115" y="124983"/>
            <a:ext cx="8229600" cy="618079"/>
          </a:xfrm>
        </p:spPr>
        <p:txBody>
          <a:bodyPr anchor="ctr">
            <a:noAutofit/>
          </a:bodyPr>
          <a:lstStyle/>
          <a:p>
            <a:r>
              <a:rPr lang="en-IN" sz="3600" dirty="0">
                <a:latin typeface="+mj-lt"/>
              </a:rPr>
              <a:t>Business Case (Feasibility Analysis)</a:t>
            </a:r>
          </a:p>
        </p:txBody>
      </p:sp>
      <p:sp>
        <p:nvSpPr>
          <p:cNvPr id="2" name="Content Placeholder 1"/>
          <p:cNvSpPr>
            <a:spLocks noGrp="1"/>
          </p:cNvSpPr>
          <p:nvPr>
            <p:ph idx="13"/>
          </p:nvPr>
        </p:nvSpPr>
        <p:spPr>
          <a:xfrm>
            <a:off x="477115" y="841180"/>
            <a:ext cx="8229600" cy="5032147"/>
          </a:xfrm>
        </p:spPr>
        <p:txBody>
          <a:bodyPr>
            <a:noAutofit/>
          </a:bodyPr>
          <a:lstStyle/>
          <a:p>
            <a:pPr lvl="0">
              <a:spcBef>
                <a:spcPts val="0"/>
              </a:spcBef>
              <a:buSzPts val="2400"/>
            </a:pPr>
            <a:r>
              <a:rPr lang="en-IN" sz="2400" dirty="0"/>
              <a:t>Economic </a:t>
            </a:r>
          </a:p>
          <a:p>
            <a:pPr lvl="1">
              <a:spcBef>
                <a:spcPts val="200"/>
              </a:spcBef>
              <a:buSzPts val="2000"/>
            </a:pPr>
            <a:r>
              <a:rPr lang="en-IN" sz="2400" dirty="0"/>
              <a:t>Do benefits of new system justify the costs (time and resources) to implement?</a:t>
            </a:r>
          </a:p>
          <a:p>
            <a:pPr lvl="0">
              <a:spcBef>
                <a:spcPts val="200"/>
              </a:spcBef>
              <a:buSzPts val="2400"/>
            </a:pPr>
            <a:r>
              <a:rPr lang="en-IN" sz="2400" dirty="0"/>
              <a:t>Technical </a:t>
            </a:r>
          </a:p>
          <a:p>
            <a:pPr lvl="1">
              <a:spcBef>
                <a:spcPts val="200"/>
              </a:spcBef>
              <a:buSzPts val="2000"/>
            </a:pPr>
            <a:r>
              <a:rPr lang="en-IN" sz="2400" dirty="0"/>
              <a:t>Can we use existing technology?</a:t>
            </a:r>
          </a:p>
          <a:p>
            <a:pPr lvl="0">
              <a:spcBef>
                <a:spcPts val="200"/>
              </a:spcBef>
              <a:buSzPts val="2400"/>
            </a:pPr>
            <a:r>
              <a:rPr lang="en-IN" sz="2400" dirty="0"/>
              <a:t>Legal</a:t>
            </a:r>
          </a:p>
          <a:p>
            <a:pPr lvl="1">
              <a:spcBef>
                <a:spcPts val="200"/>
              </a:spcBef>
              <a:buSzPts val="2000"/>
            </a:pPr>
            <a:r>
              <a:rPr lang="en-IN" sz="2400" dirty="0"/>
              <a:t>Does a new system comply with regulations, laws, and contractual obligations?</a:t>
            </a:r>
          </a:p>
          <a:p>
            <a:pPr lvl="0">
              <a:spcBef>
                <a:spcPts val="200"/>
              </a:spcBef>
              <a:buSzPts val="2400"/>
            </a:pPr>
            <a:r>
              <a:rPr lang="en-IN" sz="2400" dirty="0"/>
              <a:t>Scheduling</a:t>
            </a:r>
          </a:p>
          <a:p>
            <a:pPr lvl="1">
              <a:spcBef>
                <a:spcPts val="200"/>
              </a:spcBef>
              <a:buSzPts val="2000"/>
            </a:pPr>
            <a:r>
              <a:rPr lang="en-IN" sz="2400" dirty="0"/>
              <a:t>Can the system be developed in the time allotted?</a:t>
            </a:r>
          </a:p>
          <a:p>
            <a:pPr lvl="0">
              <a:spcBef>
                <a:spcPts val="200"/>
              </a:spcBef>
              <a:buSzPts val="2400"/>
            </a:pPr>
            <a:r>
              <a:rPr lang="en-IN" sz="2400" dirty="0"/>
              <a:t>Operational</a:t>
            </a:r>
          </a:p>
          <a:p>
            <a:pPr lvl="1">
              <a:spcBef>
                <a:spcPts val="200"/>
              </a:spcBef>
              <a:buSzPts val="2000"/>
            </a:pPr>
            <a:r>
              <a:rPr lang="en-IN" sz="2400" dirty="0"/>
              <a:t>Do we have the people to design and implement the system? Will people use the new system?</a:t>
            </a:r>
          </a:p>
        </p:txBody>
      </p:sp>
    </p:spTree>
    <p:extLst>
      <p:ext uri="{BB962C8B-B14F-4D97-AF65-F5344CB8AC3E}">
        <p14:creationId xmlns:p14="http://schemas.microsoft.com/office/powerpoint/2010/main" val="17485990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79506" y="276225"/>
            <a:ext cx="8229600" cy="433485"/>
          </a:xfrm>
        </p:spPr>
        <p:txBody>
          <a:bodyPr>
            <a:noAutofit/>
          </a:bodyPr>
          <a:lstStyle/>
          <a:p>
            <a:r>
              <a:rPr lang="en-IN" dirty="0">
                <a:latin typeface="+mj-lt"/>
              </a:rPr>
              <a:t>Figure 22.4 Steps in Systems Analysis</a:t>
            </a:r>
          </a:p>
        </p:txBody>
      </p:sp>
      <p:pic>
        <p:nvPicPr>
          <p:cNvPr id="5" name="Picture Placeholder 4" descr="A diagram shows the steps involved in systems analysis.&#10;Long description is available in notes, press F6">
            <a:extLst>
              <a:ext uri="{FF2B5EF4-FFF2-40B4-BE49-F238E27FC236}">
                <a16:creationId xmlns:a16="http://schemas.microsoft.com/office/drawing/2014/main" id="{858A4573-EAEA-4AA3-9032-8FF612489D48}"/>
              </a:ext>
            </a:extLst>
          </p:cNvPr>
          <p:cNvPicPr>
            <a:picLocks noGrp="1" noChangeAspect="1"/>
          </p:cNvPicPr>
          <p:nvPr>
            <p:ph type="pic" sz="quarter" idx="14"/>
          </p:nvPr>
        </p:nvPicPr>
        <p:blipFill>
          <a:blip r:embed="rId3" cstate="print">
            <a:extLst>
              <a:ext uri="{28A0092B-C50C-407E-A947-70E740481C1C}">
                <a14:useLocalDpi xmlns:a14="http://schemas.microsoft.com/office/drawing/2010/main" val="0"/>
              </a:ext>
            </a:extLst>
          </a:blip>
          <a:stretch>
            <a:fillRect/>
          </a:stretch>
        </p:blipFill>
        <p:spPr>
          <a:xfrm>
            <a:off x="1903709" y="836134"/>
            <a:ext cx="5344827" cy="5476289"/>
          </a:xfrm>
          <a:prstGeom prst="rect">
            <a:avLst/>
          </a:prstGeom>
        </p:spPr>
      </p:pic>
      <p:sp>
        <p:nvSpPr>
          <p:cNvPr id="2" name="Rectangle 1">
            <a:extLst>
              <a:ext uri="{FF2B5EF4-FFF2-40B4-BE49-F238E27FC236}">
                <a16:creationId xmlns:a16="http://schemas.microsoft.com/office/drawing/2014/main" id="{893C9920-68FD-83E8-7165-58ACD0F9F85A}"/>
              </a:ext>
            </a:extLst>
          </p:cNvPr>
          <p:cNvSpPr/>
          <p:nvPr/>
        </p:nvSpPr>
        <p:spPr>
          <a:xfrm>
            <a:off x="6930598" y="4144955"/>
            <a:ext cx="1600200" cy="1526066"/>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Ends with proposal &amp; go/no-go decision</a:t>
            </a:r>
          </a:p>
        </p:txBody>
      </p:sp>
    </p:spTree>
    <p:extLst>
      <p:ext uri="{BB962C8B-B14F-4D97-AF65-F5344CB8AC3E}">
        <p14:creationId xmlns:p14="http://schemas.microsoft.com/office/powerpoint/2010/main" val="27633855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Graphical user interface, application&#10;&#10;Description automatically generated">
            <a:extLst>
              <a:ext uri="{FF2B5EF4-FFF2-40B4-BE49-F238E27FC236}">
                <a16:creationId xmlns:a16="http://schemas.microsoft.com/office/drawing/2014/main" id="{691FE77A-B922-064A-B505-C3B75B0434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53409"/>
            <a:ext cx="9144000" cy="4751181"/>
          </a:xfrm>
          <a:prstGeom prst="rect">
            <a:avLst/>
          </a:prstGeom>
        </p:spPr>
      </p:pic>
    </p:spTree>
    <p:extLst>
      <p:ext uri="{BB962C8B-B14F-4D97-AF65-F5344CB8AC3E}">
        <p14:creationId xmlns:p14="http://schemas.microsoft.com/office/powerpoint/2010/main" val="41432291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086" y="159102"/>
            <a:ext cx="8229600" cy="553998"/>
          </a:xfrm>
        </p:spPr>
        <p:txBody>
          <a:bodyPr>
            <a:noAutofit/>
          </a:bodyPr>
          <a:lstStyle/>
          <a:p>
            <a:r>
              <a:rPr lang="en-IN" sz="3600" dirty="0">
                <a:latin typeface="+mj-lt"/>
              </a:rPr>
              <a:t>Key Terms </a:t>
            </a:r>
            <a:r>
              <a:rPr lang="en-IN" sz="2800" dirty="0">
                <a:latin typeface="+mj-lt"/>
              </a:rPr>
              <a:t>(1 of 2)</a:t>
            </a:r>
            <a:endParaRPr lang="en-IN" sz="3600" dirty="0">
              <a:latin typeface="+mj-lt"/>
            </a:endParaRPr>
          </a:p>
        </p:txBody>
      </p:sp>
      <p:sp>
        <p:nvSpPr>
          <p:cNvPr id="2" name="Content Placeholder 1"/>
          <p:cNvSpPr>
            <a:spLocks noGrp="1"/>
          </p:cNvSpPr>
          <p:nvPr>
            <p:ph idx="1"/>
          </p:nvPr>
        </p:nvSpPr>
        <p:spPr>
          <a:xfrm>
            <a:off x="468922" y="849489"/>
            <a:ext cx="3874478" cy="5252720"/>
          </a:xfrm>
        </p:spPr>
        <p:txBody>
          <a:bodyPr wrap="square">
            <a:spAutoFit/>
          </a:bodyPr>
          <a:lstStyle/>
          <a:p>
            <a:pPr lvl="0">
              <a:spcBef>
                <a:spcPts val="400"/>
              </a:spcBef>
              <a:buSzPct val="100000"/>
            </a:pPr>
            <a:r>
              <a:rPr lang="en-IN" sz="2200" b="1" dirty="0"/>
              <a:t>Systems development life cycle (</a:t>
            </a:r>
            <a:r>
              <a:rPr lang="en-IN" sz="2200" b="1" spc="-300" dirty="0"/>
              <a:t>S D L </a:t>
            </a:r>
            <a:r>
              <a:rPr lang="en-IN" sz="2200" b="1" dirty="0"/>
              <a:t>C)</a:t>
            </a:r>
          </a:p>
          <a:p>
            <a:pPr lvl="0">
              <a:spcBef>
                <a:spcPts val="400"/>
              </a:spcBef>
              <a:buSzPct val="100000"/>
            </a:pPr>
            <a:r>
              <a:rPr lang="en-IN" sz="2200" dirty="0"/>
              <a:t>Systems analysis</a:t>
            </a:r>
          </a:p>
          <a:p>
            <a:pPr lvl="0">
              <a:spcBef>
                <a:spcPts val="400"/>
              </a:spcBef>
              <a:buSzPct val="100000"/>
            </a:pPr>
            <a:r>
              <a:rPr lang="en-IN" sz="2200" dirty="0"/>
              <a:t>Conceptual design</a:t>
            </a:r>
          </a:p>
          <a:p>
            <a:pPr lvl="0">
              <a:spcBef>
                <a:spcPts val="400"/>
              </a:spcBef>
              <a:buSzPct val="100000"/>
            </a:pPr>
            <a:r>
              <a:rPr lang="en-IN" sz="2200" dirty="0"/>
              <a:t>Physical design</a:t>
            </a:r>
          </a:p>
          <a:p>
            <a:pPr lvl="0">
              <a:spcBef>
                <a:spcPts val="400"/>
              </a:spcBef>
              <a:buSzPct val="100000"/>
            </a:pPr>
            <a:r>
              <a:rPr lang="en-IN" sz="2200" dirty="0"/>
              <a:t>Implementation and conversion</a:t>
            </a:r>
          </a:p>
          <a:p>
            <a:pPr lvl="0">
              <a:spcBef>
                <a:spcPts val="400"/>
              </a:spcBef>
              <a:buSzPct val="100000"/>
            </a:pPr>
            <a:r>
              <a:rPr lang="en-IN" sz="2200" dirty="0"/>
              <a:t>Operations and maintenance</a:t>
            </a:r>
          </a:p>
          <a:p>
            <a:pPr lvl="0">
              <a:spcBef>
                <a:spcPts val="400"/>
              </a:spcBef>
              <a:buSzPct val="100000"/>
            </a:pPr>
            <a:r>
              <a:rPr lang="en-IN" sz="2200" b="1" dirty="0"/>
              <a:t>Information systems steering committee</a:t>
            </a:r>
          </a:p>
          <a:p>
            <a:pPr lvl="0">
              <a:spcBef>
                <a:spcPts val="400"/>
              </a:spcBef>
              <a:buSzPct val="100000"/>
            </a:pPr>
            <a:r>
              <a:rPr lang="en-IN" sz="2200" b="1" dirty="0"/>
              <a:t>Systems analyst</a:t>
            </a:r>
          </a:p>
          <a:p>
            <a:pPr lvl="0">
              <a:spcBef>
                <a:spcPts val="400"/>
              </a:spcBef>
              <a:buSzPct val="100000"/>
            </a:pPr>
            <a:r>
              <a:rPr lang="en-IN" sz="2200" b="1" dirty="0"/>
              <a:t>Computer programmers</a:t>
            </a:r>
          </a:p>
          <a:p>
            <a:pPr lvl="0">
              <a:spcBef>
                <a:spcPts val="400"/>
              </a:spcBef>
              <a:buSzPct val="100000"/>
            </a:pPr>
            <a:r>
              <a:rPr lang="en-IN" sz="2200" dirty="0"/>
              <a:t>Project development plan</a:t>
            </a:r>
          </a:p>
          <a:p>
            <a:pPr lvl="0">
              <a:spcBef>
                <a:spcPts val="400"/>
              </a:spcBef>
              <a:buSzPct val="100000"/>
            </a:pPr>
            <a:r>
              <a:rPr lang="en-IN" sz="2200" dirty="0"/>
              <a:t>Master plan</a:t>
            </a:r>
          </a:p>
        </p:txBody>
      </p:sp>
      <p:sp>
        <p:nvSpPr>
          <p:cNvPr id="3" name="Content Placeholder 2"/>
          <p:cNvSpPr>
            <a:spLocks noGrp="1"/>
          </p:cNvSpPr>
          <p:nvPr>
            <p:ph idx="13"/>
          </p:nvPr>
        </p:nvSpPr>
        <p:spPr>
          <a:xfrm>
            <a:off x="4572000" y="855027"/>
            <a:ext cx="4114800" cy="4878259"/>
          </a:xfrm>
        </p:spPr>
        <p:txBody>
          <a:bodyPr>
            <a:noAutofit/>
          </a:bodyPr>
          <a:lstStyle/>
          <a:p>
            <a:pPr lvl="0">
              <a:spcBef>
                <a:spcPts val="400"/>
              </a:spcBef>
              <a:buSzPct val="100000"/>
            </a:pPr>
            <a:r>
              <a:rPr lang="en-IN" sz="2200" b="1" dirty="0"/>
              <a:t>Program evaluation and review technique (</a:t>
            </a:r>
            <a:r>
              <a:rPr lang="en-IN" sz="2200" b="1" spc="-300" dirty="0"/>
              <a:t>P E R </a:t>
            </a:r>
            <a:r>
              <a:rPr lang="en-IN" sz="2200" b="1" dirty="0"/>
              <a:t>T)</a:t>
            </a:r>
          </a:p>
          <a:p>
            <a:pPr lvl="0">
              <a:spcBef>
                <a:spcPts val="400"/>
              </a:spcBef>
              <a:buSzPct val="100000"/>
            </a:pPr>
            <a:r>
              <a:rPr lang="en-IN" sz="2200" dirty="0"/>
              <a:t>Critical path</a:t>
            </a:r>
          </a:p>
          <a:p>
            <a:pPr lvl="0">
              <a:spcBef>
                <a:spcPts val="400"/>
              </a:spcBef>
              <a:buSzPct val="100000"/>
            </a:pPr>
            <a:r>
              <a:rPr lang="en-IN" sz="2200" b="1" dirty="0"/>
              <a:t>Gantt chart</a:t>
            </a:r>
          </a:p>
          <a:p>
            <a:pPr lvl="0">
              <a:spcBef>
                <a:spcPts val="400"/>
              </a:spcBef>
              <a:buSzPct val="100000"/>
            </a:pPr>
            <a:r>
              <a:rPr lang="en-IN" sz="2200" b="1" dirty="0"/>
              <a:t>Feasibility study</a:t>
            </a:r>
          </a:p>
          <a:p>
            <a:pPr lvl="0">
              <a:spcBef>
                <a:spcPts val="400"/>
              </a:spcBef>
              <a:buSzPct val="100000"/>
            </a:pPr>
            <a:r>
              <a:rPr lang="en-IN" sz="2200" dirty="0"/>
              <a:t>Economic feasibility</a:t>
            </a:r>
          </a:p>
          <a:p>
            <a:pPr lvl="0">
              <a:spcBef>
                <a:spcPts val="400"/>
              </a:spcBef>
              <a:buSzPct val="100000"/>
            </a:pPr>
            <a:r>
              <a:rPr lang="en-IN" sz="2200" dirty="0"/>
              <a:t>Technical feasibility</a:t>
            </a:r>
          </a:p>
          <a:p>
            <a:pPr lvl="0">
              <a:spcBef>
                <a:spcPts val="400"/>
              </a:spcBef>
              <a:buSzPct val="100000"/>
            </a:pPr>
            <a:r>
              <a:rPr lang="en-IN" sz="2200" dirty="0"/>
              <a:t>Legal feasibility</a:t>
            </a:r>
          </a:p>
          <a:p>
            <a:pPr lvl="0">
              <a:spcBef>
                <a:spcPts val="400"/>
              </a:spcBef>
              <a:buSzPct val="100000"/>
            </a:pPr>
            <a:r>
              <a:rPr lang="en-IN" sz="2200" dirty="0"/>
              <a:t>Scheduling feasibility</a:t>
            </a:r>
          </a:p>
          <a:p>
            <a:pPr lvl="0">
              <a:spcBef>
                <a:spcPts val="400"/>
              </a:spcBef>
              <a:buSzPct val="100000"/>
            </a:pPr>
            <a:r>
              <a:rPr lang="en-IN" sz="2200" dirty="0"/>
              <a:t>Operational feasibility</a:t>
            </a:r>
          </a:p>
          <a:p>
            <a:pPr lvl="0">
              <a:spcBef>
                <a:spcPts val="400"/>
              </a:spcBef>
              <a:buSzPct val="100000"/>
            </a:pPr>
            <a:r>
              <a:rPr lang="en-IN" sz="2200" dirty="0"/>
              <a:t>Capital budgeting model</a:t>
            </a:r>
          </a:p>
          <a:p>
            <a:pPr lvl="0">
              <a:spcBef>
                <a:spcPts val="400"/>
              </a:spcBef>
              <a:buSzPct val="100000"/>
            </a:pPr>
            <a:r>
              <a:rPr lang="en-IN" sz="2200" dirty="0"/>
              <a:t>Payback period</a:t>
            </a:r>
          </a:p>
        </p:txBody>
      </p:sp>
    </p:spTree>
    <p:extLst>
      <p:ext uri="{BB962C8B-B14F-4D97-AF65-F5344CB8AC3E}">
        <p14:creationId xmlns:p14="http://schemas.microsoft.com/office/powerpoint/2010/main" val="35582851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086" y="159102"/>
            <a:ext cx="8229600" cy="553998"/>
          </a:xfrm>
        </p:spPr>
        <p:txBody>
          <a:bodyPr>
            <a:noAutofit/>
          </a:bodyPr>
          <a:lstStyle/>
          <a:p>
            <a:r>
              <a:rPr lang="en-IN" sz="3600" dirty="0">
                <a:latin typeface="+mj-lt"/>
              </a:rPr>
              <a:t>Key Terms </a:t>
            </a:r>
            <a:r>
              <a:rPr lang="en-IN" sz="2800" dirty="0">
                <a:latin typeface="+mj-lt"/>
              </a:rPr>
              <a:t>(2 of 2)</a:t>
            </a:r>
            <a:endParaRPr lang="en-IN" sz="3600" dirty="0">
              <a:latin typeface="+mj-lt"/>
            </a:endParaRPr>
          </a:p>
        </p:txBody>
      </p:sp>
      <p:sp>
        <p:nvSpPr>
          <p:cNvPr id="2" name="Content Placeholder 1"/>
          <p:cNvSpPr>
            <a:spLocks noGrp="1"/>
          </p:cNvSpPr>
          <p:nvPr>
            <p:ph idx="1"/>
          </p:nvPr>
        </p:nvSpPr>
        <p:spPr>
          <a:xfrm>
            <a:off x="468922" y="849489"/>
            <a:ext cx="4484078" cy="5270674"/>
          </a:xfrm>
        </p:spPr>
        <p:txBody>
          <a:bodyPr wrap="square">
            <a:noAutofit/>
          </a:bodyPr>
          <a:lstStyle/>
          <a:p>
            <a:pPr lvl="0">
              <a:spcBef>
                <a:spcPts val="0"/>
              </a:spcBef>
              <a:buSzPct val="100000"/>
            </a:pPr>
            <a:r>
              <a:rPr lang="en-IN" sz="2000" dirty="0"/>
              <a:t>Net present value (</a:t>
            </a:r>
            <a:r>
              <a:rPr lang="en-IN" sz="2000" spc="-250" dirty="0"/>
              <a:t>N P </a:t>
            </a:r>
            <a:r>
              <a:rPr lang="en-IN" sz="2000" dirty="0"/>
              <a:t>V)</a:t>
            </a:r>
          </a:p>
          <a:p>
            <a:pPr lvl="0">
              <a:spcBef>
                <a:spcPts val="900"/>
              </a:spcBef>
              <a:buSzPct val="100000"/>
            </a:pPr>
            <a:r>
              <a:rPr lang="en-IN" sz="2000" dirty="0"/>
              <a:t>Internal Rate of Return (</a:t>
            </a:r>
            <a:r>
              <a:rPr lang="en-IN" sz="2000" spc="-250" dirty="0"/>
              <a:t>I R </a:t>
            </a:r>
            <a:r>
              <a:rPr lang="en-IN" sz="2000" dirty="0"/>
              <a:t>R)</a:t>
            </a:r>
          </a:p>
          <a:p>
            <a:pPr lvl="0">
              <a:spcBef>
                <a:spcPts val="900"/>
              </a:spcBef>
              <a:buSzPct val="100000"/>
            </a:pPr>
            <a:r>
              <a:rPr lang="en-IN" sz="2000" dirty="0"/>
              <a:t>Behavioural aspects of change</a:t>
            </a:r>
          </a:p>
          <a:p>
            <a:pPr lvl="0">
              <a:spcBef>
                <a:spcPts val="900"/>
              </a:spcBef>
              <a:buSzPct val="100000"/>
            </a:pPr>
            <a:r>
              <a:rPr lang="en-IN" sz="2000" dirty="0"/>
              <a:t>Aggression</a:t>
            </a:r>
          </a:p>
          <a:p>
            <a:pPr lvl="0">
              <a:spcBef>
                <a:spcPts val="900"/>
              </a:spcBef>
              <a:buSzPct val="100000"/>
            </a:pPr>
            <a:r>
              <a:rPr lang="en-IN" sz="2000" dirty="0"/>
              <a:t>Projection</a:t>
            </a:r>
          </a:p>
          <a:p>
            <a:pPr lvl="0">
              <a:spcBef>
                <a:spcPts val="900"/>
              </a:spcBef>
              <a:buSzPct val="100000"/>
            </a:pPr>
            <a:r>
              <a:rPr lang="en-IN" sz="2000" dirty="0"/>
              <a:t>Avoidance</a:t>
            </a:r>
          </a:p>
          <a:p>
            <a:pPr lvl="0">
              <a:spcBef>
                <a:spcPts val="900"/>
              </a:spcBef>
              <a:buSzPct val="100000"/>
            </a:pPr>
            <a:r>
              <a:rPr lang="en-IN" sz="2000" dirty="0"/>
              <a:t>Request for systems development</a:t>
            </a:r>
          </a:p>
          <a:p>
            <a:pPr lvl="0">
              <a:spcBef>
                <a:spcPts val="900"/>
              </a:spcBef>
              <a:buSzPct val="100000"/>
            </a:pPr>
            <a:r>
              <a:rPr lang="en-IN" sz="2000" dirty="0"/>
              <a:t>Initial investigation</a:t>
            </a:r>
          </a:p>
          <a:p>
            <a:pPr lvl="0">
              <a:spcBef>
                <a:spcPts val="900"/>
              </a:spcBef>
              <a:buSzPct val="100000"/>
            </a:pPr>
            <a:r>
              <a:rPr lang="en-IN" sz="2000" dirty="0"/>
              <a:t>Proposal to conduct systems analysis</a:t>
            </a:r>
          </a:p>
          <a:p>
            <a:pPr lvl="0">
              <a:spcBef>
                <a:spcPts val="900"/>
              </a:spcBef>
              <a:buSzPct val="100000"/>
            </a:pPr>
            <a:r>
              <a:rPr lang="en-IN" sz="2000" dirty="0"/>
              <a:t>System survey</a:t>
            </a:r>
          </a:p>
          <a:p>
            <a:pPr lvl="0">
              <a:spcBef>
                <a:spcPts val="900"/>
              </a:spcBef>
              <a:buSzPct val="100000"/>
            </a:pPr>
            <a:r>
              <a:rPr lang="en-IN" sz="2000" dirty="0"/>
              <a:t>Systems documentation</a:t>
            </a:r>
          </a:p>
          <a:p>
            <a:pPr lvl="0">
              <a:spcBef>
                <a:spcPts val="900"/>
              </a:spcBef>
              <a:buSzPct val="100000"/>
            </a:pPr>
            <a:r>
              <a:rPr lang="en-IN" sz="2000" dirty="0"/>
              <a:t>Physical models</a:t>
            </a:r>
          </a:p>
        </p:txBody>
      </p:sp>
      <p:sp>
        <p:nvSpPr>
          <p:cNvPr id="3" name="Content Placeholder 2"/>
          <p:cNvSpPr>
            <a:spLocks noGrp="1"/>
          </p:cNvSpPr>
          <p:nvPr>
            <p:ph idx="13"/>
          </p:nvPr>
        </p:nvSpPr>
        <p:spPr>
          <a:xfrm>
            <a:off x="5257800" y="855027"/>
            <a:ext cx="3429000" cy="1154162"/>
          </a:xfrm>
        </p:spPr>
        <p:txBody>
          <a:bodyPr>
            <a:noAutofit/>
          </a:bodyPr>
          <a:lstStyle/>
          <a:p>
            <a:pPr lvl="0">
              <a:spcBef>
                <a:spcPts val="0"/>
              </a:spcBef>
              <a:buSzPct val="100000"/>
            </a:pPr>
            <a:r>
              <a:rPr lang="en-IN" sz="2000" dirty="0"/>
              <a:t>Logical models</a:t>
            </a:r>
          </a:p>
          <a:p>
            <a:pPr lvl="0">
              <a:spcBef>
                <a:spcPts val="900"/>
              </a:spcBef>
              <a:buSzPct val="100000"/>
            </a:pPr>
            <a:r>
              <a:rPr lang="en-IN" sz="2000" dirty="0"/>
              <a:t>Systems survey report</a:t>
            </a:r>
          </a:p>
          <a:p>
            <a:pPr lvl="0">
              <a:spcBef>
                <a:spcPts val="900"/>
              </a:spcBef>
              <a:buSzPct val="100000"/>
            </a:pPr>
            <a:r>
              <a:rPr lang="en-IN" sz="2000" dirty="0"/>
              <a:t>Systems analysis report</a:t>
            </a:r>
          </a:p>
        </p:txBody>
      </p:sp>
    </p:spTree>
    <p:extLst>
      <p:ext uri="{BB962C8B-B14F-4D97-AF65-F5344CB8AC3E}">
        <p14:creationId xmlns:p14="http://schemas.microsoft.com/office/powerpoint/2010/main" val="17709145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9732"/>
            <a:ext cx="8229600" cy="553998"/>
          </a:xfrm>
        </p:spPr>
        <p:txBody>
          <a:bodyPr wrap="square">
            <a:spAutoFit/>
          </a:bodyPr>
          <a:lstStyle/>
          <a:p>
            <a:r>
              <a:rPr lang="en-US" sz="3600" dirty="0">
                <a:latin typeface="+mj-lt"/>
              </a:rPr>
              <a:t>Copyright</a:t>
            </a:r>
            <a:endParaRPr lang="en-US" sz="3600" b="0" dirty="0">
              <a:latin typeface="+mj-lt"/>
            </a:endParaRPr>
          </a:p>
        </p:txBody>
      </p:sp>
      <p:pic>
        <p:nvPicPr>
          <p:cNvPr id="10" name="Picture Placeholder 9" descr="Warning">
            <a:extLst>
              <a:ext uri="{FF2B5EF4-FFF2-40B4-BE49-F238E27FC236}">
                <a16:creationId xmlns:a16="http://schemas.microsoft.com/office/drawing/2014/main" id="{916ED080-4A7D-4795-B4C6-665358BE6EAE}"/>
              </a:ext>
            </a:extLst>
          </p:cNvPr>
          <p:cNvPicPr>
            <a:picLocks noGrp="1" noChangeAspect="1"/>
          </p:cNvPicPr>
          <p:nvPr>
            <p:ph type="pic" sz="quarter" idx="14"/>
          </p:nvPr>
        </p:nvPicPr>
        <p:blipFill>
          <a:blip r:embed="rId3">
            <a:extLst>
              <a:ext uri="{96DAC541-7B7A-43D3-8B79-37D633B846F1}">
                <asvg:svgBlip xmlns:asvg="http://schemas.microsoft.com/office/drawing/2016/SVG/main" r:embed="rId4"/>
              </a:ext>
            </a:extLst>
          </a:blip>
          <a:stretch>
            <a:fillRect/>
          </a:stretch>
        </p:blipFill>
        <p:spPr>
          <a:xfrm>
            <a:off x="557060" y="2286000"/>
            <a:ext cx="1347940" cy="1347940"/>
          </a:xfrm>
          <a:prstGeom prst="rect">
            <a:avLst/>
          </a:prstGeom>
        </p:spPr>
      </p:pic>
      <p:sp>
        <p:nvSpPr>
          <p:cNvPr id="3" name="Content Placeholder 2">
            <a:extLst>
              <a:ext uri="{FF2B5EF4-FFF2-40B4-BE49-F238E27FC236}">
                <a16:creationId xmlns:a16="http://schemas.microsoft.com/office/drawing/2014/main" id="{DF9C7A11-9888-4F7B-B711-91904077BD8C}"/>
              </a:ext>
            </a:extLst>
          </p:cNvPr>
          <p:cNvSpPr>
            <a:spLocks noGrp="1"/>
          </p:cNvSpPr>
          <p:nvPr>
            <p:ph idx="1"/>
          </p:nvPr>
        </p:nvSpPr>
        <p:spPr>
          <a:xfrm>
            <a:off x="2277035" y="1609165"/>
            <a:ext cx="6400800" cy="3262432"/>
          </a:xfrm>
          <a:ln w="28575">
            <a:solidFill>
              <a:schemeClr val="tx1"/>
            </a:solidFill>
          </a:ln>
        </p:spPr>
        <p:txBody>
          <a:bodyPr lIns="274320" tIns="274320" rIns="274320" bIns="274320"/>
          <a:lstStyle/>
          <a:p>
            <a:pPr marL="0" indent="0">
              <a:buNone/>
            </a:pPr>
            <a:r>
              <a:rPr lang="en-US" b="1" dirty="0"/>
              <a:t>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3651771386"/>
      </p:ext>
    </p:extLst>
  </p:cSld>
  <p:clrMapOvr>
    <a:masterClrMapping/>
  </p:clrMapOvr>
</p:sld>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1_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25921</TotalTime>
  <Words>2007</Words>
  <Application>Microsoft Macintosh PowerPoint</Application>
  <PresentationFormat>On-screen Show (4:3)</PresentationFormat>
  <Paragraphs>255</Paragraphs>
  <Slides>24</Slides>
  <Notes>13</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24</vt:i4>
      </vt:variant>
    </vt:vector>
  </HeadingPairs>
  <TitlesOfParts>
    <vt:vector size="32" baseType="lpstr">
      <vt:lpstr>Arial</vt:lpstr>
      <vt:lpstr>Arial(Body)</vt:lpstr>
      <vt:lpstr>Noto Sans Symbols</vt:lpstr>
      <vt:lpstr>Times New Roman</vt:lpstr>
      <vt:lpstr>Verdana</vt:lpstr>
      <vt:lpstr>Wingdings</vt:lpstr>
      <vt:lpstr>508 Lecture</vt:lpstr>
      <vt:lpstr>1_508 Lecture</vt:lpstr>
      <vt:lpstr>Accounting Information Systems</vt:lpstr>
      <vt:lpstr>Learning Objectives</vt:lpstr>
      <vt:lpstr>PowerPoint Presentation</vt:lpstr>
      <vt:lpstr>PowerPoint Presentation</vt:lpstr>
      <vt:lpstr>Figure 22.1 The Systems Development Life Cycle</vt:lpstr>
      <vt:lpstr>PowerPoint Presentation</vt:lpstr>
      <vt:lpstr>Why should we care about this?</vt:lpstr>
      <vt:lpstr>https://www.cio.com/article/278677/enterprise-resource-planning-10-famous-erp-disasters-dustups-and-disappointments.html</vt:lpstr>
      <vt:lpstr>https://www.cio.com/article/278677/enterprise-resource-planning-10-famous-erp-disasters-dustups-and-disappointments.html</vt:lpstr>
      <vt:lpstr>https://www.cio.com/article/278677/enterprise-resource-planning-10-famous-erp-disasters-dustups-and-disappointments.html</vt:lpstr>
      <vt:lpstr>How people resist change</vt:lpstr>
      <vt:lpstr>Why do Behavioural Problems Occur?</vt:lpstr>
      <vt:lpstr>How to Prevent Behavioural Problems</vt:lpstr>
      <vt:lpstr>PowerPoint Presentation</vt:lpstr>
      <vt:lpstr>Who Is Involved in the S D L C?</vt:lpstr>
      <vt:lpstr>Systems Development Planning</vt:lpstr>
      <vt:lpstr>Planning Techniques</vt:lpstr>
      <vt:lpstr>PowerPoint Presentation</vt:lpstr>
      <vt:lpstr>Business Case (Feasibility Analysis)</vt:lpstr>
      <vt:lpstr>Figure 22.4 Steps in Systems Analysis</vt:lpstr>
      <vt:lpstr>PowerPoint Presentation</vt:lpstr>
      <vt:lpstr>Key Terms (1 of 2)</vt:lpstr>
      <vt:lpstr>Key Terms (2 of 2)</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Accounting Information Systems, Fifteenth Edition, Chapter 22, Introduction to Systems Development and Systems Analysis</dc:title>
  <dc:subject/>
  <dc:creator>Romney</dc:creator>
  <cp:keywords>Automotive</cp:keywords>
  <cp:lastModifiedBy>Nathan Garrett</cp:lastModifiedBy>
  <cp:revision>5239</cp:revision>
  <dcterms:created xsi:type="dcterms:W3CDTF">2014-07-14T20:04:21Z</dcterms:created>
  <dcterms:modified xsi:type="dcterms:W3CDTF">2025-11-03T17:10:34Z</dcterms:modified>
</cp:coreProperties>
</file>