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7" r:id="rId2"/>
  </p:sldMasterIdLst>
  <p:notesMasterIdLst>
    <p:notesMasterId r:id="rId19"/>
  </p:notesMasterIdLst>
  <p:handoutMasterIdLst>
    <p:handoutMasterId r:id="rId20"/>
  </p:handoutMasterIdLst>
  <p:sldIdLst>
    <p:sldId id="330" r:id="rId3"/>
    <p:sldId id="1718" r:id="rId4"/>
    <p:sldId id="1808" r:id="rId5"/>
    <p:sldId id="1807" r:id="rId6"/>
    <p:sldId id="1818" r:id="rId7"/>
    <p:sldId id="1786" r:id="rId8"/>
    <p:sldId id="1798" r:id="rId9"/>
    <p:sldId id="1799" r:id="rId10"/>
    <p:sldId id="1800" r:id="rId11"/>
    <p:sldId id="1801" r:id="rId12"/>
    <p:sldId id="1802" r:id="rId13"/>
    <p:sldId id="1803" r:id="rId14"/>
    <p:sldId id="1804" r:id="rId15"/>
    <p:sldId id="1805" r:id="rId16"/>
    <p:sldId id="1796" r:id="rId17"/>
    <p:sldId id="1704"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4" orient="horz" pos="384">
          <p15:clr>
            <a:srgbClr val="A4A3A4"/>
          </p15:clr>
        </p15:guide>
        <p15:guide id="5" orient="horz" pos="144">
          <p15:clr>
            <a:srgbClr val="A4A3A4"/>
          </p15:clr>
        </p15:guide>
        <p15:guide id="7" orient="horz" pos="624">
          <p15:clr>
            <a:srgbClr val="A4A3A4"/>
          </p15:clr>
        </p15:guide>
        <p15:guide id="9" pos="288">
          <p15:clr>
            <a:srgbClr val="A4A3A4"/>
          </p15:clr>
        </p15:guide>
        <p15:guide id="10" pos="5472">
          <p15:clr>
            <a:srgbClr val="A4A3A4"/>
          </p15:clr>
        </p15:guide>
        <p15:guide id="11" orient="horz" pos="3984" userDrawn="1">
          <p15:clr>
            <a:srgbClr val="A4A3A4"/>
          </p15:clr>
        </p15:guide>
        <p15:guide id="1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Thamizharasan Dhanaseelan" initials="TD"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9401" autoAdjust="0"/>
    <p:restoredTop sz="86473" autoAdjust="0"/>
  </p:normalViewPr>
  <p:slideViewPr>
    <p:cSldViewPr>
      <p:cViewPr varScale="1">
        <p:scale>
          <a:sx n="101" d="100"/>
          <a:sy n="101" d="100"/>
        </p:scale>
        <p:origin x="192" y="2136"/>
      </p:cViewPr>
      <p:guideLst>
        <p:guide pos="2880"/>
        <p:guide orient="horz" pos="384"/>
        <p:guide orient="horz" pos="144"/>
        <p:guide orient="horz" pos="624"/>
        <p:guide pos="288"/>
        <p:guide pos="5472"/>
        <p:guide orient="horz" pos="3984"/>
        <p:guide orient="horz" pos="2160"/>
      </p:guideLst>
    </p:cSldViewPr>
  </p:slideViewPr>
  <p:outlineViewPr>
    <p:cViewPr>
      <p:scale>
        <a:sx n="33" d="100"/>
        <a:sy n="33" d="100"/>
      </p:scale>
      <p:origin x="0" y="-11106"/>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40799E-9170-4004-A1FD-2D7163D20FC8}" type="doc">
      <dgm:prSet loTypeId="urn:microsoft.com/office/officeart/2005/8/layout/hProcess9" loCatId="process" qsTypeId="urn:microsoft.com/office/officeart/2005/8/quickstyle/simple1" qsCatId="simple" csTypeId="urn:microsoft.com/office/officeart/2005/8/colors/accent1_2" csCatId="accent1" phldr="1"/>
      <dgm:spPr/>
    </dgm:pt>
    <dgm:pt modelId="{345A596B-8092-4202-8AA2-3F6AAC8486B5}">
      <dgm:prSet phldrT="[Text]"/>
      <dgm:spPr/>
      <dgm:t>
        <a:bodyPr/>
        <a:lstStyle/>
        <a:p>
          <a:r>
            <a:rPr lang="en-US" dirty="0"/>
            <a:t>Sales</a:t>
          </a:r>
        </a:p>
      </dgm:t>
    </dgm:pt>
    <dgm:pt modelId="{4AD198D9-A807-41EF-A9AB-C97BCD8E4923}" type="parTrans" cxnId="{3D560121-3DBD-49A3-8C5B-E86CD2B99F21}">
      <dgm:prSet/>
      <dgm:spPr/>
      <dgm:t>
        <a:bodyPr/>
        <a:lstStyle/>
        <a:p>
          <a:endParaRPr lang="en-US"/>
        </a:p>
      </dgm:t>
    </dgm:pt>
    <dgm:pt modelId="{DF2813F4-86DA-4E2D-B569-D155CEF1C991}" type="sibTrans" cxnId="{3D560121-3DBD-49A3-8C5B-E86CD2B99F21}">
      <dgm:prSet/>
      <dgm:spPr/>
      <dgm:t>
        <a:bodyPr/>
        <a:lstStyle/>
        <a:p>
          <a:endParaRPr lang="en-US"/>
        </a:p>
      </dgm:t>
    </dgm:pt>
    <dgm:pt modelId="{29B039C7-9A98-4997-BD25-0C7FE7D04FC5}">
      <dgm:prSet phldrT="[Text]"/>
      <dgm:spPr/>
      <dgm:t>
        <a:bodyPr/>
        <a:lstStyle/>
        <a:p>
          <a:r>
            <a:rPr lang="en-US" dirty="0"/>
            <a:t>Shipping</a:t>
          </a:r>
        </a:p>
      </dgm:t>
    </dgm:pt>
    <dgm:pt modelId="{32911F5B-321D-4830-8D9D-2994A75E9539}" type="parTrans" cxnId="{DB2AA694-F7DD-4072-BDB7-D3F46E89386D}">
      <dgm:prSet/>
      <dgm:spPr/>
      <dgm:t>
        <a:bodyPr/>
        <a:lstStyle/>
        <a:p>
          <a:endParaRPr lang="en-US"/>
        </a:p>
      </dgm:t>
    </dgm:pt>
    <dgm:pt modelId="{DCC55C5C-E88B-4F8C-8DDD-24C711F61C94}" type="sibTrans" cxnId="{DB2AA694-F7DD-4072-BDB7-D3F46E89386D}">
      <dgm:prSet/>
      <dgm:spPr/>
      <dgm:t>
        <a:bodyPr/>
        <a:lstStyle/>
        <a:p>
          <a:endParaRPr lang="en-US"/>
        </a:p>
      </dgm:t>
    </dgm:pt>
    <dgm:pt modelId="{3D9E3D5F-FD3F-4CDA-A0E8-FFE7BCE442E9}">
      <dgm:prSet phldrT="[Text]"/>
      <dgm:spPr/>
      <dgm:t>
        <a:bodyPr/>
        <a:lstStyle/>
        <a:p>
          <a:r>
            <a:rPr lang="en-US" dirty="0"/>
            <a:t>Billing</a:t>
          </a:r>
        </a:p>
      </dgm:t>
    </dgm:pt>
    <dgm:pt modelId="{18E7CC0E-7D89-4FAE-8958-99B5ED7AD215}" type="parTrans" cxnId="{9F1AFF90-294C-4B8D-A945-46200DC6D130}">
      <dgm:prSet/>
      <dgm:spPr/>
      <dgm:t>
        <a:bodyPr/>
        <a:lstStyle/>
        <a:p>
          <a:endParaRPr lang="en-US"/>
        </a:p>
      </dgm:t>
    </dgm:pt>
    <dgm:pt modelId="{5F609A84-8AA7-4967-BDB9-8C65739BAA8F}" type="sibTrans" cxnId="{9F1AFF90-294C-4B8D-A945-46200DC6D130}">
      <dgm:prSet/>
      <dgm:spPr/>
      <dgm:t>
        <a:bodyPr/>
        <a:lstStyle/>
        <a:p>
          <a:endParaRPr lang="en-US"/>
        </a:p>
      </dgm:t>
    </dgm:pt>
    <dgm:pt modelId="{231365E1-6F2D-4A44-A000-6EE8A84EAF95}">
      <dgm:prSet phldrT="[Text]"/>
      <dgm:spPr/>
      <dgm:t>
        <a:bodyPr/>
        <a:lstStyle/>
        <a:p>
          <a:r>
            <a:rPr lang="en-US" dirty="0"/>
            <a:t>Cash collection</a:t>
          </a:r>
        </a:p>
      </dgm:t>
    </dgm:pt>
    <dgm:pt modelId="{F06E61C6-F140-431B-B912-88C4885E4DC4}" type="parTrans" cxnId="{9ED16703-6056-4FDA-AC1B-9C534E0D5DCD}">
      <dgm:prSet/>
      <dgm:spPr/>
      <dgm:t>
        <a:bodyPr/>
        <a:lstStyle/>
        <a:p>
          <a:endParaRPr lang="en-US"/>
        </a:p>
      </dgm:t>
    </dgm:pt>
    <dgm:pt modelId="{FBC848A3-D7E6-4261-95F9-D856BBA33557}" type="sibTrans" cxnId="{9ED16703-6056-4FDA-AC1B-9C534E0D5DCD}">
      <dgm:prSet/>
      <dgm:spPr/>
      <dgm:t>
        <a:bodyPr/>
        <a:lstStyle/>
        <a:p>
          <a:endParaRPr lang="en-US"/>
        </a:p>
      </dgm:t>
    </dgm:pt>
    <dgm:pt modelId="{D6903259-AB7A-4207-A25B-71C91F5EC281}">
      <dgm:prSet phldrT="[Text]"/>
      <dgm:spPr/>
      <dgm:t>
        <a:bodyPr/>
        <a:lstStyle/>
        <a:p>
          <a:r>
            <a:rPr lang="en-US" dirty="0"/>
            <a:t>Buy X for $</a:t>
          </a:r>
        </a:p>
      </dgm:t>
    </dgm:pt>
    <dgm:pt modelId="{BB38AC7B-6146-4EE8-A7AB-526AA0097877}" type="parTrans" cxnId="{4161CA73-9036-42AF-A787-8FC8FFCB81F8}">
      <dgm:prSet/>
      <dgm:spPr/>
      <dgm:t>
        <a:bodyPr/>
        <a:lstStyle/>
        <a:p>
          <a:endParaRPr lang="en-US"/>
        </a:p>
      </dgm:t>
    </dgm:pt>
    <dgm:pt modelId="{C40C1BD2-A81D-489F-B5CC-2E5158C7D7BA}" type="sibTrans" cxnId="{4161CA73-9036-42AF-A787-8FC8FFCB81F8}">
      <dgm:prSet/>
      <dgm:spPr/>
      <dgm:t>
        <a:bodyPr/>
        <a:lstStyle/>
        <a:p>
          <a:endParaRPr lang="en-US"/>
        </a:p>
      </dgm:t>
    </dgm:pt>
    <dgm:pt modelId="{FEC267ED-D3EB-4ACE-A23A-19691A1E6FAE}">
      <dgm:prSet phldrT="[Text]"/>
      <dgm:spPr/>
      <dgm:t>
        <a:bodyPr/>
        <a:lstStyle/>
        <a:p>
          <a:r>
            <a:rPr lang="en-US" dirty="0"/>
            <a:t>Deliver X</a:t>
          </a:r>
        </a:p>
      </dgm:t>
    </dgm:pt>
    <dgm:pt modelId="{570C37CA-693A-4599-9B5E-73BE03297B65}" type="parTrans" cxnId="{44971EDC-98D4-4EA8-8B6A-E109EC834FD7}">
      <dgm:prSet/>
      <dgm:spPr/>
      <dgm:t>
        <a:bodyPr/>
        <a:lstStyle/>
        <a:p>
          <a:endParaRPr lang="en-US"/>
        </a:p>
      </dgm:t>
    </dgm:pt>
    <dgm:pt modelId="{E91B7268-65DB-4964-925F-CC57348A5E3E}" type="sibTrans" cxnId="{44971EDC-98D4-4EA8-8B6A-E109EC834FD7}">
      <dgm:prSet/>
      <dgm:spPr/>
      <dgm:t>
        <a:bodyPr/>
        <a:lstStyle/>
        <a:p>
          <a:endParaRPr lang="en-US"/>
        </a:p>
      </dgm:t>
    </dgm:pt>
    <dgm:pt modelId="{8E434C21-1746-4A87-8D1C-D29EABCFF475}">
      <dgm:prSet phldrT="[Text]"/>
      <dgm:spPr/>
      <dgm:t>
        <a:bodyPr/>
        <a:lstStyle/>
        <a:p>
          <a:r>
            <a:rPr lang="en-US" dirty="0"/>
            <a:t>Send invoice</a:t>
          </a:r>
        </a:p>
      </dgm:t>
    </dgm:pt>
    <dgm:pt modelId="{DD6B59C4-5E1A-44CF-814E-40BF82292773}" type="parTrans" cxnId="{6F6D439B-92DC-40BB-A833-68DCEBBD00AD}">
      <dgm:prSet/>
      <dgm:spPr/>
      <dgm:t>
        <a:bodyPr/>
        <a:lstStyle/>
        <a:p>
          <a:endParaRPr lang="en-US"/>
        </a:p>
      </dgm:t>
    </dgm:pt>
    <dgm:pt modelId="{58538767-4091-400E-83CB-E63F3B35E7CD}" type="sibTrans" cxnId="{6F6D439B-92DC-40BB-A833-68DCEBBD00AD}">
      <dgm:prSet/>
      <dgm:spPr/>
      <dgm:t>
        <a:bodyPr/>
        <a:lstStyle/>
        <a:p>
          <a:endParaRPr lang="en-US"/>
        </a:p>
      </dgm:t>
    </dgm:pt>
    <dgm:pt modelId="{97DEDB47-F347-4415-A8F6-E6F0EF125DC6}">
      <dgm:prSet phldrT="[Text]"/>
      <dgm:spPr/>
      <dgm:t>
        <a:bodyPr/>
        <a:lstStyle/>
        <a:p>
          <a:r>
            <a:rPr lang="en-US" dirty="0"/>
            <a:t>Get $</a:t>
          </a:r>
        </a:p>
      </dgm:t>
    </dgm:pt>
    <dgm:pt modelId="{58045AF2-17DF-488E-880A-1EBFC8E361EC}" type="parTrans" cxnId="{52424DBA-9F6A-4341-9EB2-602E285931B5}">
      <dgm:prSet/>
      <dgm:spPr/>
      <dgm:t>
        <a:bodyPr/>
        <a:lstStyle/>
        <a:p>
          <a:endParaRPr lang="en-US"/>
        </a:p>
      </dgm:t>
    </dgm:pt>
    <dgm:pt modelId="{DDB75086-ABFC-4F54-822E-9516FCBF51FF}" type="sibTrans" cxnId="{52424DBA-9F6A-4341-9EB2-602E285931B5}">
      <dgm:prSet/>
      <dgm:spPr/>
      <dgm:t>
        <a:bodyPr/>
        <a:lstStyle/>
        <a:p>
          <a:endParaRPr lang="en-US"/>
        </a:p>
      </dgm:t>
    </dgm:pt>
    <dgm:pt modelId="{BCD3AB12-A142-434D-8A39-B47E9A868D04}" type="pres">
      <dgm:prSet presAssocID="{1140799E-9170-4004-A1FD-2D7163D20FC8}" presName="CompostProcess" presStyleCnt="0">
        <dgm:presLayoutVars>
          <dgm:dir/>
          <dgm:resizeHandles val="exact"/>
        </dgm:presLayoutVars>
      </dgm:prSet>
      <dgm:spPr/>
    </dgm:pt>
    <dgm:pt modelId="{CED719FE-CB17-4390-A080-B8E09AC65E70}" type="pres">
      <dgm:prSet presAssocID="{1140799E-9170-4004-A1FD-2D7163D20FC8}" presName="arrow" presStyleLbl="bgShp" presStyleIdx="0" presStyleCnt="1"/>
      <dgm:spPr/>
    </dgm:pt>
    <dgm:pt modelId="{3063D48F-F484-409A-9835-D51C4668DCE1}" type="pres">
      <dgm:prSet presAssocID="{1140799E-9170-4004-A1FD-2D7163D20FC8}" presName="linearProcess" presStyleCnt="0"/>
      <dgm:spPr/>
    </dgm:pt>
    <dgm:pt modelId="{D37C3DE0-AA77-41EA-B426-419E86923044}" type="pres">
      <dgm:prSet presAssocID="{345A596B-8092-4202-8AA2-3F6AAC8486B5}" presName="textNode" presStyleLbl="node1" presStyleIdx="0" presStyleCnt="4">
        <dgm:presLayoutVars>
          <dgm:bulletEnabled val="1"/>
        </dgm:presLayoutVars>
      </dgm:prSet>
      <dgm:spPr/>
    </dgm:pt>
    <dgm:pt modelId="{D5F29E2D-3589-4159-A1E5-547CAE5B9CF4}" type="pres">
      <dgm:prSet presAssocID="{DF2813F4-86DA-4E2D-B569-D155CEF1C991}" presName="sibTrans" presStyleCnt="0"/>
      <dgm:spPr/>
    </dgm:pt>
    <dgm:pt modelId="{A4D1D176-CE80-459E-8702-135A04A55DEA}" type="pres">
      <dgm:prSet presAssocID="{29B039C7-9A98-4997-BD25-0C7FE7D04FC5}" presName="textNode" presStyleLbl="node1" presStyleIdx="1" presStyleCnt="4">
        <dgm:presLayoutVars>
          <dgm:bulletEnabled val="1"/>
        </dgm:presLayoutVars>
      </dgm:prSet>
      <dgm:spPr/>
    </dgm:pt>
    <dgm:pt modelId="{4DB6BEC3-0314-4DFA-BD88-7F8374F2AC8F}" type="pres">
      <dgm:prSet presAssocID="{DCC55C5C-E88B-4F8C-8DDD-24C711F61C94}" presName="sibTrans" presStyleCnt="0"/>
      <dgm:spPr/>
    </dgm:pt>
    <dgm:pt modelId="{82D5521F-577B-4833-892E-7BB18C064A7A}" type="pres">
      <dgm:prSet presAssocID="{3D9E3D5F-FD3F-4CDA-A0E8-FFE7BCE442E9}" presName="textNode" presStyleLbl="node1" presStyleIdx="2" presStyleCnt="4">
        <dgm:presLayoutVars>
          <dgm:bulletEnabled val="1"/>
        </dgm:presLayoutVars>
      </dgm:prSet>
      <dgm:spPr/>
    </dgm:pt>
    <dgm:pt modelId="{F01D519F-9A3F-4E23-B842-D3C2214133A1}" type="pres">
      <dgm:prSet presAssocID="{5F609A84-8AA7-4967-BDB9-8C65739BAA8F}" presName="sibTrans" presStyleCnt="0"/>
      <dgm:spPr/>
    </dgm:pt>
    <dgm:pt modelId="{1E9F6EA6-95A4-4AD8-8175-E61359326C1A}" type="pres">
      <dgm:prSet presAssocID="{231365E1-6F2D-4A44-A000-6EE8A84EAF95}" presName="textNode" presStyleLbl="node1" presStyleIdx="3" presStyleCnt="4">
        <dgm:presLayoutVars>
          <dgm:bulletEnabled val="1"/>
        </dgm:presLayoutVars>
      </dgm:prSet>
      <dgm:spPr/>
    </dgm:pt>
  </dgm:ptLst>
  <dgm:cxnLst>
    <dgm:cxn modelId="{9ED16703-6056-4FDA-AC1B-9C534E0D5DCD}" srcId="{1140799E-9170-4004-A1FD-2D7163D20FC8}" destId="{231365E1-6F2D-4A44-A000-6EE8A84EAF95}" srcOrd="3" destOrd="0" parTransId="{F06E61C6-F140-431B-B912-88C4885E4DC4}" sibTransId="{FBC848A3-D7E6-4261-95F9-D856BBA33557}"/>
    <dgm:cxn modelId="{12D8560B-BD62-407F-972E-D7F8F02E1D0A}" type="presOf" srcId="{1140799E-9170-4004-A1FD-2D7163D20FC8}" destId="{BCD3AB12-A142-434D-8A39-B47E9A868D04}" srcOrd="0" destOrd="0" presId="urn:microsoft.com/office/officeart/2005/8/layout/hProcess9"/>
    <dgm:cxn modelId="{3D560121-3DBD-49A3-8C5B-E86CD2B99F21}" srcId="{1140799E-9170-4004-A1FD-2D7163D20FC8}" destId="{345A596B-8092-4202-8AA2-3F6AAC8486B5}" srcOrd="0" destOrd="0" parTransId="{4AD198D9-A807-41EF-A9AB-C97BCD8E4923}" sibTransId="{DF2813F4-86DA-4E2D-B569-D155CEF1C991}"/>
    <dgm:cxn modelId="{3654A92F-DDC4-452C-92AE-61322081CDB9}" type="presOf" srcId="{FEC267ED-D3EB-4ACE-A23A-19691A1E6FAE}" destId="{A4D1D176-CE80-459E-8702-135A04A55DEA}" srcOrd="0" destOrd="1" presId="urn:microsoft.com/office/officeart/2005/8/layout/hProcess9"/>
    <dgm:cxn modelId="{0E612265-6706-4200-BA90-450A66F45F0F}" type="presOf" srcId="{D6903259-AB7A-4207-A25B-71C91F5EC281}" destId="{D37C3DE0-AA77-41EA-B426-419E86923044}" srcOrd="0" destOrd="1" presId="urn:microsoft.com/office/officeart/2005/8/layout/hProcess9"/>
    <dgm:cxn modelId="{DB5FB867-4C1E-40F9-B8D0-4F28197D9EFB}" type="presOf" srcId="{231365E1-6F2D-4A44-A000-6EE8A84EAF95}" destId="{1E9F6EA6-95A4-4AD8-8175-E61359326C1A}" srcOrd="0" destOrd="0" presId="urn:microsoft.com/office/officeart/2005/8/layout/hProcess9"/>
    <dgm:cxn modelId="{4161CA73-9036-42AF-A787-8FC8FFCB81F8}" srcId="{345A596B-8092-4202-8AA2-3F6AAC8486B5}" destId="{D6903259-AB7A-4207-A25B-71C91F5EC281}" srcOrd="0" destOrd="0" parTransId="{BB38AC7B-6146-4EE8-A7AB-526AA0097877}" sibTransId="{C40C1BD2-A81D-489F-B5CC-2E5158C7D7BA}"/>
    <dgm:cxn modelId="{9F1AFF90-294C-4B8D-A945-46200DC6D130}" srcId="{1140799E-9170-4004-A1FD-2D7163D20FC8}" destId="{3D9E3D5F-FD3F-4CDA-A0E8-FFE7BCE442E9}" srcOrd="2" destOrd="0" parTransId="{18E7CC0E-7D89-4FAE-8958-99B5ED7AD215}" sibTransId="{5F609A84-8AA7-4967-BDB9-8C65739BAA8F}"/>
    <dgm:cxn modelId="{DB2AA694-F7DD-4072-BDB7-D3F46E89386D}" srcId="{1140799E-9170-4004-A1FD-2D7163D20FC8}" destId="{29B039C7-9A98-4997-BD25-0C7FE7D04FC5}" srcOrd="1" destOrd="0" parTransId="{32911F5B-321D-4830-8D9D-2994A75E9539}" sibTransId="{DCC55C5C-E88B-4F8C-8DDD-24C711F61C94}"/>
    <dgm:cxn modelId="{3B520998-07A2-41C0-8E6E-2E81692E1259}" type="presOf" srcId="{29B039C7-9A98-4997-BD25-0C7FE7D04FC5}" destId="{A4D1D176-CE80-459E-8702-135A04A55DEA}" srcOrd="0" destOrd="0" presId="urn:microsoft.com/office/officeart/2005/8/layout/hProcess9"/>
    <dgm:cxn modelId="{6F6D439B-92DC-40BB-A833-68DCEBBD00AD}" srcId="{3D9E3D5F-FD3F-4CDA-A0E8-FFE7BCE442E9}" destId="{8E434C21-1746-4A87-8D1C-D29EABCFF475}" srcOrd="0" destOrd="0" parTransId="{DD6B59C4-5E1A-44CF-814E-40BF82292773}" sibTransId="{58538767-4091-400E-83CB-E63F3B35E7CD}"/>
    <dgm:cxn modelId="{28593C9D-B56E-4837-B045-2A5135B80678}" type="presOf" srcId="{3D9E3D5F-FD3F-4CDA-A0E8-FFE7BCE442E9}" destId="{82D5521F-577B-4833-892E-7BB18C064A7A}" srcOrd="0" destOrd="0" presId="urn:microsoft.com/office/officeart/2005/8/layout/hProcess9"/>
    <dgm:cxn modelId="{52424DBA-9F6A-4341-9EB2-602E285931B5}" srcId="{231365E1-6F2D-4A44-A000-6EE8A84EAF95}" destId="{97DEDB47-F347-4415-A8F6-E6F0EF125DC6}" srcOrd="0" destOrd="0" parTransId="{58045AF2-17DF-488E-880A-1EBFC8E361EC}" sibTransId="{DDB75086-ABFC-4F54-822E-9516FCBF51FF}"/>
    <dgm:cxn modelId="{84F2CCD9-400B-45A9-8D24-F6D7DB8538D1}" type="presOf" srcId="{97DEDB47-F347-4415-A8F6-E6F0EF125DC6}" destId="{1E9F6EA6-95A4-4AD8-8175-E61359326C1A}" srcOrd="0" destOrd="1" presId="urn:microsoft.com/office/officeart/2005/8/layout/hProcess9"/>
    <dgm:cxn modelId="{44971EDC-98D4-4EA8-8B6A-E109EC834FD7}" srcId="{29B039C7-9A98-4997-BD25-0C7FE7D04FC5}" destId="{FEC267ED-D3EB-4ACE-A23A-19691A1E6FAE}" srcOrd="0" destOrd="0" parTransId="{570C37CA-693A-4599-9B5E-73BE03297B65}" sibTransId="{E91B7268-65DB-4964-925F-CC57348A5E3E}"/>
    <dgm:cxn modelId="{0B49C6E0-ED17-40FA-9CB6-1DA9F33A1657}" type="presOf" srcId="{345A596B-8092-4202-8AA2-3F6AAC8486B5}" destId="{D37C3DE0-AA77-41EA-B426-419E86923044}" srcOrd="0" destOrd="0" presId="urn:microsoft.com/office/officeart/2005/8/layout/hProcess9"/>
    <dgm:cxn modelId="{C675EBE6-E3ED-47E1-87B7-EA4272131D97}" type="presOf" srcId="{8E434C21-1746-4A87-8D1C-D29EABCFF475}" destId="{82D5521F-577B-4833-892E-7BB18C064A7A}" srcOrd="0" destOrd="1" presId="urn:microsoft.com/office/officeart/2005/8/layout/hProcess9"/>
    <dgm:cxn modelId="{FF89D7D9-2713-4772-998F-A5665A58D51C}" type="presParOf" srcId="{BCD3AB12-A142-434D-8A39-B47E9A868D04}" destId="{CED719FE-CB17-4390-A080-B8E09AC65E70}" srcOrd="0" destOrd="0" presId="urn:microsoft.com/office/officeart/2005/8/layout/hProcess9"/>
    <dgm:cxn modelId="{ADAB846D-A0BD-4EC2-A083-87B065B0E421}" type="presParOf" srcId="{BCD3AB12-A142-434D-8A39-B47E9A868D04}" destId="{3063D48F-F484-409A-9835-D51C4668DCE1}" srcOrd="1" destOrd="0" presId="urn:microsoft.com/office/officeart/2005/8/layout/hProcess9"/>
    <dgm:cxn modelId="{7062822B-6E31-43D8-89D4-553A4390FF05}" type="presParOf" srcId="{3063D48F-F484-409A-9835-D51C4668DCE1}" destId="{D37C3DE0-AA77-41EA-B426-419E86923044}" srcOrd="0" destOrd="0" presId="urn:microsoft.com/office/officeart/2005/8/layout/hProcess9"/>
    <dgm:cxn modelId="{69C79FA8-5184-46E1-9654-506A967090E6}" type="presParOf" srcId="{3063D48F-F484-409A-9835-D51C4668DCE1}" destId="{D5F29E2D-3589-4159-A1E5-547CAE5B9CF4}" srcOrd="1" destOrd="0" presId="urn:microsoft.com/office/officeart/2005/8/layout/hProcess9"/>
    <dgm:cxn modelId="{A2F500E8-D806-4395-9D10-756B66B7D663}" type="presParOf" srcId="{3063D48F-F484-409A-9835-D51C4668DCE1}" destId="{A4D1D176-CE80-459E-8702-135A04A55DEA}" srcOrd="2" destOrd="0" presId="urn:microsoft.com/office/officeart/2005/8/layout/hProcess9"/>
    <dgm:cxn modelId="{EFC7044D-C7EC-40BB-B88B-738BF52E3859}" type="presParOf" srcId="{3063D48F-F484-409A-9835-D51C4668DCE1}" destId="{4DB6BEC3-0314-4DFA-BD88-7F8374F2AC8F}" srcOrd="3" destOrd="0" presId="urn:microsoft.com/office/officeart/2005/8/layout/hProcess9"/>
    <dgm:cxn modelId="{CDFF2DC8-BD67-4C35-AFDF-532B675FF72B}" type="presParOf" srcId="{3063D48F-F484-409A-9835-D51C4668DCE1}" destId="{82D5521F-577B-4833-892E-7BB18C064A7A}" srcOrd="4" destOrd="0" presId="urn:microsoft.com/office/officeart/2005/8/layout/hProcess9"/>
    <dgm:cxn modelId="{392AC96D-FAEF-4314-B0FC-A93903082ECF}" type="presParOf" srcId="{3063D48F-F484-409A-9835-D51C4668DCE1}" destId="{F01D519F-9A3F-4E23-B842-D3C2214133A1}" srcOrd="5" destOrd="0" presId="urn:microsoft.com/office/officeart/2005/8/layout/hProcess9"/>
    <dgm:cxn modelId="{22C53126-429A-4228-8630-75899C1A492E}" type="presParOf" srcId="{3063D48F-F484-409A-9835-D51C4668DCE1}" destId="{1E9F6EA6-95A4-4AD8-8175-E61359326C1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40799E-9170-4004-A1FD-2D7163D20FC8}" type="doc">
      <dgm:prSet loTypeId="urn:microsoft.com/office/officeart/2005/8/layout/hProcess9" loCatId="process" qsTypeId="urn:microsoft.com/office/officeart/2005/8/quickstyle/simple1" qsCatId="simple" csTypeId="urn:microsoft.com/office/officeart/2005/8/colors/accent1_2" csCatId="accent1" phldr="1"/>
      <dgm:spPr/>
    </dgm:pt>
    <dgm:pt modelId="{345A596B-8092-4202-8AA2-3F6AAC8486B5}">
      <dgm:prSet phldrT="[Text]"/>
      <dgm:spPr/>
      <dgm:t>
        <a:bodyPr/>
        <a:lstStyle/>
        <a:p>
          <a:r>
            <a:rPr lang="en-US" dirty="0"/>
            <a:t>Sales</a:t>
          </a:r>
        </a:p>
      </dgm:t>
    </dgm:pt>
    <dgm:pt modelId="{4AD198D9-A807-41EF-A9AB-C97BCD8E4923}" type="parTrans" cxnId="{3D560121-3DBD-49A3-8C5B-E86CD2B99F21}">
      <dgm:prSet/>
      <dgm:spPr/>
      <dgm:t>
        <a:bodyPr/>
        <a:lstStyle/>
        <a:p>
          <a:endParaRPr lang="en-US"/>
        </a:p>
      </dgm:t>
    </dgm:pt>
    <dgm:pt modelId="{DF2813F4-86DA-4E2D-B569-D155CEF1C991}" type="sibTrans" cxnId="{3D560121-3DBD-49A3-8C5B-E86CD2B99F21}">
      <dgm:prSet/>
      <dgm:spPr/>
      <dgm:t>
        <a:bodyPr/>
        <a:lstStyle/>
        <a:p>
          <a:endParaRPr lang="en-US"/>
        </a:p>
      </dgm:t>
    </dgm:pt>
    <dgm:pt modelId="{29B039C7-9A98-4997-BD25-0C7FE7D04FC5}">
      <dgm:prSet phldrT="[Text]"/>
      <dgm:spPr/>
      <dgm:t>
        <a:bodyPr/>
        <a:lstStyle/>
        <a:p>
          <a:r>
            <a:rPr lang="en-US" dirty="0"/>
            <a:t>Shipping</a:t>
          </a:r>
        </a:p>
      </dgm:t>
    </dgm:pt>
    <dgm:pt modelId="{32911F5B-321D-4830-8D9D-2994A75E9539}" type="parTrans" cxnId="{DB2AA694-F7DD-4072-BDB7-D3F46E89386D}">
      <dgm:prSet/>
      <dgm:spPr/>
      <dgm:t>
        <a:bodyPr/>
        <a:lstStyle/>
        <a:p>
          <a:endParaRPr lang="en-US"/>
        </a:p>
      </dgm:t>
    </dgm:pt>
    <dgm:pt modelId="{DCC55C5C-E88B-4F8C-8DDD-24C711F61C94}" type="sibTrans" cxnId="{DB2AA694-F7DD-4072-BDB7-D3F46E89386D}">
      <dgm:prSet/>
      <dgm:spPr/>
      <dgm:t>
        <a:bodyPr/>
        <a:lstStyle/>
        <a:p>
          <a:endParaRPr lang="en-US"/>
        </a:p>
      </dgm:t>
    </dgm:pt>
    <dgm:pt modelId="{3D9E3D5F-FD3F-4CDA-A0E8-FFE7BCE442E9}">
      <dgm:prSet phldrT="[Text]"/>
      <dgm:spPr/>
      <dgm:t>
        <a:bodyPr/>
        <a:lstStyle/>
        <a:p>
          <a:r>
            <a:rPr lang="en-US" dirty="0"/>
            <a:t>Billing</a:t>
          </a:r>
        </a:p>
      </dgm:t>
    </dgm:pt>
    <dgm:pt modelId="{18E7CC0E-7D89-4FAE-8958-99B5ED7AD215}" type="parTrans" cxnId="{9F1AFF90-294C-4B8D-A945-46200DC6D130}">
      <dgm:prSet/>
      <dgm:spPr/>
      <dgm:t>
        <a:bodyPr/>
        <a:lstStyle/>
        <a:p>
          <a:endParaRPr lang="en-US"/>
        </a:p>
      </dgm:t>
    </dgm:pt>
    <dgm:pt modelId="{5F609A84-8AA7-4967-BDB9-8C65739BAA8F}" type="sibTrans" cxnId="{9F1AFF90-294C-4B8D-A945-46200DC6D130}">
      <dgm:prSet/>
      <dgm:spPr/>
      <dgm:t>
        <a:bodyPr/>
        <a:lstStyle/>
        <a:p>
          <a:endParaRPr lang="en-US"/>
        </a:p>
      </dgm:t>
    </dgm:pt>
    <dgm:pt modelId="{231365E1-6F2D-4A44-A000-6EE8A84EAF95}">
      <dgm:prSet phldrT="[Text]"/>
      <dgm:spPr/>
      <dgm:t>
        <a:bodyPr/>
        <a:lstStyle/>
        <a:p>
          <a:r>
            <a:rPr lang="en-US" dirty="0"/>
            <a:t>Cash collection</a:t>
          </a:r>
        </a:p>
      </dgm:t>
    </dgm:pt>
    <dgm:pt modelId="{F06E61C6-F140-431B-B912-88C4885E4DC4}" type="parTrans" cxnId="{9ED16703-6056-4FDA-AC1B-9C534E0D5DCD}">
      <dgm:prSet/>
      <dgm:spPr/>
      <dgm:t>
        <a:bodyPr/>
        <a:lstStyle/>
        <a:p>
          <a:endParaRPr lang="en-US"/>
        </a:p>
      </dgm:t>
    </dgm:pt>
    <dgm:pt modelId="{FBC848A3-D7E6-4261-95F9-D856BBA33557}" type="sibTrans" cxnId="{9ED16703-6056-4FDA-AC1B-9C534E0D5DCD}">
      <dgm:prSet/>
      <dgm:spPr/>
      <dgm:t>
        <a:bodyPr/>
        <a:lstStyle/>
        <a:p>
          <a:endParaRPr lang="en-US"/>
        </a:p>
      </dgm:t>
    </dgm:pt>
    <dgm:pt modelId="{D6903259-AB7A-4207-A25B-71C91F5EC281}">
      <dgm:prSet phldrT="[Text]"/>
      <dgm:spPr/>
      <dgm:t>
        <a:bodyPr/>
        <a:lstStyle/>
        <a:p>
          <a:r>
            <a:rPr lang="en-US" dirty="0"/>
            <a:t>Buy X for $</a:t>
          </a:r>
        </a:p>
      </dgm:t>
    </dgm:pt>
    <dgm:pt modelId="{BB38AC7B-6146-4EE8-A7AB-526AA0097877}" type="parTrans" cxnId="{4161CA73-9036-42AF-A787-8FC8FFCB81F8}">
      <dgm:prSet/>
      <dgm:spPr/>
      <dgm:t>
        <a:bodyPr/>
        <a:lstStyle/>
        <a:p>
          <a:endParaRPr lang="en-US"/>
        </a:p>
      </dgm:t>
    </dgm:pt>
    <dgm:pt modelId="{C40C1BD2-A81D-489F-B5CC-2E5158C7D7BA}" type="sibTrans" cxnId="{4161CA73-9036-42AF-A787-8FC8FFCB81F8}">
      <dgm:prSet/>
      <dgm:spPr/>
      <dgm:t>
        <a:bodyPr/>
        <a:lstStyle/>
        <a:p>
          <a:endParaRPr lang="en-US"/>
        </a:p>
      </dgm:t>
    </dgm:pt>
    <dgm:pt modelId="{FEC267ED-D3EB-4ACE-A23A-19691A1E6FAE}">
      <dgm:prSet phldrT="[Text]"/>
      <dgm:spPr/>
      <dgm:t>
        <a:bodyPr/>
        <a:lstStyle/>
        <a:p>
          <a:r>
            <a:rPr lang="en-US" dirty="0"/>
            <a:t>Deliver X</a:t>
          </a:r>
        </a:p>
      </dgm:t>
    </dgm:pt>
    <dgm:pt modelId="{570C37CA-693A-4599-9B5E-73BE03297B65}" type="parTrans" cxnId="{44971EDC-98D4-4EA8-8B6A-E109EC834FD7}">
      <dgm:prSet/>
      <dgm:spPr/>
      <dgm:t>
        <a:bodyPr/>
        <a:lstStyle/>
        <a:p>
          <a:endParaRPr lang="en-US"/>
        </a:p>
      </dgm:t>
    </dgm:pt>
    <dgm:pt modelId="{E91B7268-65DB-4964-925F-CC57348A5E3E}" type="sibTrans" cxnId="{44971EDC-98D4-4EA8-8B6A-E109EC834FD7}">
      <dgm:prSet/>
      <dgm:spPr/>
      <dgm:t>
        <a:bodyPr/>
        <a:lstStyle/>
        <a:p>
          <a:endParaRPr lang="en-US"/>
        </a:p>
      </dgm:t>
    </dgm:pt>
    <dgm:pt modelId="{8E434C21-1746-4A87-8D1C-D29EABCFF475}">
      <dgm:prSet phldrT="[Text]"/>
      <dgm:spPr/>
      <dgm:t>
        <a:bodyPr/>
        <a:lstStyle/>
        <a:p>
          <a:r>
            <a:rPr lang="en-US" dirty="0"/>
            <a:t>Send invoice</a:t>
          </a:r>
        </a:p>
      </dgm:t>
    </dgm:pt>
    <dgm:pt modelId="{DD6B59C4-5E1A-44CF-814E-40BF82292773}" type="parTrans" cxnId="{6F6D439B-92DC-40BB-A833-68DCEBBD00AD}">
      <dgm:prSet/>
      <dgm:spPr/>
      <dgm:t>
        <a:bodyPr/>
        <a:lstStyle/>
        <a:p>
          <a:endParaRPr lang="en-US"/>
        </a:p>
      </dgm:t>
    </dgm:pt>
    <dgm:pt modelId="{58538767-4091-400E-83CB-E63F3B35E7CD}" type="sibTrans" cxnId="{6F6D439B-92DC-40BB-A833-68DCEBBD00AD}">
      <dgm:prSet/>
      <dgm:spPr/>
      <dgm:t>
        <a:bodyPr/>
        <a:lstStyle/>
        <a:p>
          <a:endParaRPr lang="en-US"/>
        </a:p>
      </dgm:t>
    </dgm:pt>
    <dgm:pt modelId="{97DEDB47-F347-4415-A8F6-E6F0EF125DC6}">
      <dgm:prSet phldrT="[Text]"/>
      <dgm:spPr/>
      <dgm:t>
        <a:bodyPr/>
        <a:lstStyle/>
        <a:p>
          <a:r>
            <a:rPr lang="en-US" dirty="0"/>
            <a:t>Get $</a:t>
          </a:r>
        </a:p>
      </dgm:t>
    </dgm:pt>
    <dgm:pt modelId="{58045AF2-17DF-488E-880A-1EBFC8E361EC}" type="parTrans" cxnId="{52424DBA-9F6A-4341-9EB2-602E285931B5}">
      <dgm:prSet/>
      <dgm:spPr/>
      <dgm:t>
        <a:bodyPr/>
        <a:lstStyle/>
        <a:p>
          <a:endParaRPr lang="en-US"/>
        </a:p>
      </dgm:t>
    </dgm:pt>
    <dgm:pt modelId="{DDB75086-ABFC-4F54-822E-9516FCBF51FF}" type="sibTrans" cxnId="{52424DBA-9F6A-4341-9EB2-602E285931B5}">
      <dgm:prSet/>
      <dgm:spPr/>
      <dgm:t>
        <a:bodyPr/>
        <a:lstStyle/>
        <a:p>
          <a:endParaRPr lang="en-US"/>
        </a:p>
      </dgm:t>
    </dgm:pt>
    <dgm:pt modelId="{BCD3AB12-A142-434D-8A39-B47E9A868D04}" type="pres">
      <dgm:prSet presAssocID="{1140799E-9170-4004-A1FD-2D7163D20FC8}" presName="CompostProcess" presStyleCnt="0">
        <dgm:presLayoutVars>
          <dgm:dir/>
          <dgm:resizeHandles val="exact"/>
        </dgm:presLayoutVars>
      </dgm:prSet>
      <dgm:spPr/>
    </dgm:pt>
    <dgm:pt modelId="{CED719FE-CB17-4390-A080-B8E09AC65E70}" type="pres">
      <dgm:prSet presAssocID="{1140799E-9170-4004-A1FD-2D7163D20FC8}" presName="arrow" presStyleLbl="bgShp" presStyleIdx="0" presStyleCnt="1"/>
      <dgm:spPr/>
    </dgm:pt>
    <dgm:pt modelId="{3063D48F-F484-409A-9835-D51C4668DCE1}" type="pres">
      <dgm:prSet presAssocID="{1140799E-9170-4004-A1FD-2D7163D20FC8}" presName="linearProcess" presStyleCnt="0"/>
      <dgm:spPr/>
    </dgm:pt>
    <dgm:pt modelId="{D37C3DE0-AA77-41EA-B426-419E86923044}" type="pres">
      <dgm:prSet presAssocID="{345A596B-8092-4202-8AA2-3F6AAC8486B5}" presName="textNode" presStyleLbl="node1" presStyleIdx="0" presStyleCnt="4">
        <dgm:presLayoutVars>
          <dgm:bulletEnabled val="1"/>
        </dgm:presLayoutVars>
      </dgm:prSet>
      <dgm:spPr/>
    </dgm:pt>
    <dgm:pt modelId="{D5F29E2D-3589-4159-A1E5-547CAE5B9CF4}" type="pres">
      <dgm:prSet presAssocID="{DF2813F4-86DA-4E2D-B569-D155CEF1C991}" presName="sibTrans" presStyleCnt="0"/>
      <dgm:spPr/>
    </dgm:pt>
    <dgm:pt modelId="{A4D1D176-CE80-459E-8702-135A04A55DEA}" type="pres">
      <dgm:prSet presAssocID="{29B039C7-9A98-4997-BD25-0C7FE7D04FC5}" presName="textNode" presStyleLbl="node1" presStyleIdx="1" presStyleCnt="4">
        <dgm:presLayoutVars>
          <dgm:bulletEnabled val="1"/>
        </dgm:presLayoutVars>
      </dgm:prSet>
      <dgm:spPr/>
    </dgm:pt>
    <dgm:pt modelId="{4DB6BEC3-0314-4DFA-BD88-7F8374F2AC8F}" type="pres">
      <dgm:prSet presAssocID="{DCC55C5C-E88B-4F8C-8DDD-24C711F61C94}" presName="sibTrans" presStyleCnt="0"/>
      <dgm:spPr/>
    </dgm:pt>
    <dgm:pt modelId="{82D5521F-577B-4833-892E-7BB18C064A7A}" type="pres">
      <dgm:prSet presAssocID="{3D9E3D5F-FD3F-4CDA-A0E8-FFE7BCE442E9}" presName="textNode" presStyleLbl="node1" presStyleIdx="2" presStyleCnt="4">
        <dgm:presLayoutVars>
          <dgm:bulletEnabled val="1"/>
        </dgm:presLayoutVars>
      </dgm:prSet>
      <dgm:spPr/>
    </dgm:pt>
    <dgm:pt modelId="{F01D519F-9A3F-4E23-B842-D3C2214133A1}" type="pres">
      <dgm:prSet presAssocID="{5F609A84-8AA7-4967-BDB9-8C65739BAA8F}" presName="sibTrans" presStyleCnt="0"/>
      <dgm:spPr/>
    </dgm:pt>
    <dgm:pt modelId="{1E9F6EA6-95A4-4AD8-8175-E61359326C1A}" type="pres">
      <dgm:prSet presAssocID="{231365E1-6F2D-4A44-A000-6EE8A84EAF95}" presName="textNode" presStyleLbl="node1" presStyleIdx="3" presStyleCnt="4">
        <dgm:presLayoutVars>
          <dgm:bulletEnabled val="1"/>
        </dgm:presLayoutVars>
      </dgm:prSet>
      <dgm:spPr/>
    </dgm:pt>
  </dgm:ptLst>
  <dgm:cxnLst>
    <dgm:cxn modelId="{9ED16703-6056-4FDA-AC1B-9C534E0D5DCD}" srcId="{1140799E-9170-4004-A1FD-2D7163D20FC8}" destId="{231365E1-6F2D-4A44-A000-6EE8A84EAF95}" srcOrd="3" destOrd="0" parTransId="{F06E61C6-F140-431B-B912-88C4885E4DC4}" sibTransId="{FBC848A3-D7E6-4261-95F9-D856BBA33557}"/>
    <dgm:cxn modelId="{12D8560B-BD62-407F-972E-D7F8F02E1D0A}" type="presOf" srcId="{1140799E-9170-4004-A1FD-2D7163D20FC8}" destId="{BCD3AB12-A142-434D-8A39-B47E9A868D04}" srcOrd="0" destOrd="0" presId="urn:microsoft.com/office/officeart/2005/8/layout/hProcess9"/>
    <dgm:cxn modelId="{3D560121-3DBD-49A3-8C5B-E86CD2B99F21}" srcId="{1140799E-9170-4004-A1FD-2D7163D20FC8}" destId="{345A596B-8092-4202-8AA2-3F6AAC8486B5}" srcOrd="0" destOrd="0" parTransId="{4AD198D9-A807-41EF-A9AB-C97BCD8E4923}" sibTransId="{DF2813F4-86DA-4E2D-B569-D155CEF1C991}"/>
    <dgm:cxn modelId="{3654A92F-DDC4-452C-92AE-61322081CDB9}" type="presOf" srcId="{FEC267ED-D3EB-4ACE-A23A-19691A1E6FAE}" destId="{A4D1D176-CE80-459E-8702-135A04A55DEA}" srcOrd="0" destOrd="1" presId="urn:microsoft.com/office/officeart/2005/8/layout/hProcess9"/>
    <dgm:cxn modelId="{0E612265-6706-4200-BA90-450A66F45F0F}" type="presOf" srcId="{D6903259-AB7A-4207-A25B-71C91F5EC281}" destId="{D37C3DE0-AA77-41EA-B426-419E86923044}" srcOrd="0" destOrd="1" presId="urn:microsoft.com/office/officeart/2005/8/layout/hProcess9"/>
    <dgm:cxn modelId="{DB5FB867-4C1E-40F9-B8D0-4F28197D9EFB}" type="presOf" srcId="{231365E1-6F2D-4A44-A000-6EE8A84EAF95}" destId="{1E9F6EA6-95A4-4AD8-8175-E61359326C1A}" srcOrd="0" destOrd="0" presId="urn:microsoft.com/office/officeart/2005/8/layout/hProcess9"/>
    <dgm:cxn modelId="{4161CA73-9036-42AF-A787-8FC8FFCB81F8}" srcId="{345A596B-8092-4202-8AA2-3F6AAC8486B5}" destId="{D6903259-AB7A-4207-A25B-71C91F5EC281}" srcOrd="0" destOrd="0" parTransId="{BB38AC7B-6146-4EE8-A7AB-526AA0097877}" sibTransId="{C40C1BD2-A81D-489F-B5CC-2E5158C7D7BA}"/>
    <dgm:cxn modelId="{9F1AFF90-294C-4B8D-A945-46200DC6D130}" srcId="{1140799E-9170-4004-A1FD-2D7163D20FC8}" destId="{3D9E3D5F-FD3F-4CDA-A0E8-FFE7BCE442E9}" srcOrd="2" destOrd="0" parTransId="{18E7CC0E-7D89-4FAE-8958-99B5ED7AD215}" sibTransId="{5F609A84-8AA7-4967-BDB9-8C65739BAA8F}"/>
    <dgm:cxn modelId="{DB2AA694-F7DD-4072-BDB7-D3F46E89386D}" srcId="{1140799E-9170-4004-A1FD-2D7163D20FC8}" destId="{29B039C7-9A98-4997-BD25-0C7FE7D04FC5}" srcOrd="1" destOrd="0" parTransId="{32911F5B-321D-4830-8D9D-2994A75E9539}" sibTransId="{DCC55C5C-E88B-4F8C-8DDD-24C711F61C94}"/>
    <dgm:cxn modelId="{3B520998-07A2-41C0-8E6E-2E81692E1259}" type="presOf" srcId="{29B039C7-9A98-4997-BD25-0C7FE7D04FC5}" destId="{A4D1D176-CE80-459E-8702-135A04A55DEA}" srcOrd="0" destOrd="0" presId="urn:microsoft.com/office/officeart/2005/8/layout/hProcess9"/>
    <dgm:cxn modelId="{6F6D439B-92DC-40BB-A833-68DCEBBD00AD}" srcId="{3D9E3D5F-FD3F-4CDA-A0E8-FFE7BCE442E9}" destId="{8E434C21-1746-4A87-8D1C-D29EABCFF475}" srcOrd="0" destOrd="0" parTransId="{DD6B59C4-5E1A-44CF-814E-40BF82292773}" sibTransId="{58538767-4091-400E-83CB-E63F3B35E7CD}"/>
    <dgm:cxn modelId="{28593C9D-B56E-4837-B045-2A5135B80678}" type="presOf" srcId="{3D9E3D5F-FD3F-4CDA-A0E8-FFE7BCE442E9}" destId="{82D5521F-577B-4833-892E-7BB18C064A7A}" srcOrd="0" destOrd="0" presId="urn:microsoft.com/office/officeart/2005/8/layout/hProcess9"/>
    <dgm:cxn modelId="{52424DBA-9F6A-4341-9EB2-602E285931B5}" srcId="{231365E1-6F2D-4A44-A000-6EE8A84EAF95}" destId="{97DEDB47-F347-4415-A8F6-E6F0EF125DC6}" srcOrd="0" destOrd="0" parTransId="{58045AF2-17DF-488E-880A-1EBFC8E361EC}" sibTransId="{DDB75086-ABFC-4F54-822E-9516FCBF51FF}"/>
    <dgm:cxn modelId="{84F2CCD9-400B-45A9-8D24-F6D7DB8538D1}" type="presOf" srcId="{97DEDB47-F347-4415-A8F6-E6F0EF125DC6}" destId="{1E9F6EA6-95A4-4AD8-8175-E61359326C1A}" srcOrd="0" destOrd="1" presId="urn:microsoft.com/office/officeart/2005/8/layout/hProcess9"/>
    <dgm:cxn modelId="{44971EDC-98D4-4EA8-8B6A-E109EC834FD7}" srcId="{29B039C7-9A98-4997-BD25-0C7FE7D04FC5}" destId="{FEC267ED-D3EB-4ACE-A23A-19691A1E6FAE}" srcOrd="0" destOrd="0" parTransId="{570C37CA-693A-4599-9B5E-73BE03297B65}" sibTransId="{E91B7268-65DB-4964-925F-CC57348A5E3E}"/>
    <dgm:cxn modelId="{0B49C6E0-ED17-40FA-9CB6-1DA9F33A1657}" type="presOf" srcId="{345A596B-8092-4202-8AA2-3F6AAC8486B5}" destId="{D37C3DE0-AA77-41EA-B426-419E86923044}" srcOrd="0" destOrd="0" presId="urn:microsoft.com/office/officeart/2005/8/layout/hProcess9"/>
    <dgm:cxn modelId="{C675EBE6-E3ED-47E1-87B7-EA4272131D97}" type="presOf" srcId="{8E434C21-1746-4A87-8D1C-D29EABCFF475}" destId="{82D5521F-577B-4833-892E-7BB18C064A7A}" srcOrd="0" destOrd="1" presId="urn:microsoft.com/office/officeart/2005/8/layout/hProcess9"/>
    <dgm:cxn modelId="{FF89D7D9-2713-4772-998F-A5665A58D51C}" type="presParOf" srcId="{BCD3AB12-A142-434D-8A39-B47E9A868D04}" destId="{CED719FE-CB17-4390-A080-B8E09AC65E70}" srcOrd="0" destOrd="0" presId="urn:microsoft.com/office/officeart/2005/8/layout/hProcess9"/>
    <dgm:cxn modelId="{ADAB846D-A0BD-4EC2-A083-87B065B0E421}" type="presParOf" srcId="{BCD3AB12-A142-434D-8A39-B47E9A868D04}" destId="{3063D48F-F484-409A-9835-D51C4668DCE1}" srcOrd="1" destOrd="0" presId="urn:microsoft.com/office/officeart/2005/8/layout/hProcess9"/>
    <dgm:cxn modelId="{7062822B-6E31-43D8-89D4-553A4390FF05}" type="presParOf" srcId="{3063D48F-F484-409A-9835-D51C4668DCE1}" destId="{D37C3DE0-AA77-41EA-B426-419E86923044}" srcOrd="0" destOrd="0" presId="urn:microsoft.com/office/officeart/2005/8/layout/hProcess9"/>
    <dgm:cxn modelId="{69C79FA8-5184-46E1-9654-506A967090E6}" type="presParOf" srcId="{3063D48F-F484-409A-9835-D51C4668DCE1}" destId="{D5F29E2D-3589-4159-A1E5-547CAE5B9CF4}" srcOrd="1" destOrd="0" presId="urn:microsoft.com/office/officeart/2005/8/layout/hProcess9"/>
    <dgm:cxn modelId="{A2F500E8-D806-4395-9D10-756B66B7D663}" type="presParOf" srcId="{3063D48F-F484-409A-9835-D51C4668DCE1}" destId="{A4D1D176-CE80-459E-8702-135A04A55DEA}" srcOrd="2" destOrd="0" presId="urn:microsoft.com/office/officeart/2005/8/layout/hProcess9"/>
    <dgm:cxn modelId="{EFC7044D-C7EC-40BB-B88B-738BF52E3859}" type="presParOf" srcId="{3063D48F-F484-409A-9835-D51C4668DCE1}" destId="{4DB6BEC3-0314-4DFA-BD88-7F8374F2AC8F}" srcOrd="3" destOrd="0" presId="urn:microsoft.com/office/officeart/2005/8/layout/hProcess9"/>
    <dgm:cxn modelId="{CDFF2DC8-BD67-4C35-AFDF-532B675FF72B}" type="presParOf" srcId="{3063D48F-F484-409A-9835-D51C4668DCE1}" destId="{82D5521F-577B-4833-892E-7BB18C064A7A}" srcOrd="4" destOrd="0" presId="urn:microsoft.com/office/officeart/2005/8/layout/hProcess9"/>
    <dgm:cxn modelId="{392AC96D-FAEF-4314-B0FC-A93903082ECF}" type="presParOf" srcId="{3063D48F-F484-409A-9835-D51C4668DCE1}" destId="{F01D519F-9A3F-4E23-B842-D3C2214133A1}" srcOrd="5" destOrd="0" presId="urn:microsoft.com/office/officeart/2005/8/layout/hProcess9"/>
    <dgm:cxn modelId="{22C53126-429A-4228-8630-75899C1A492E}" type="presParOf" srcId="{3063D48F-F484-409A-9835-D51C4668DCE1}" destId="{1E9F6EA6-95A4-4AD8-8175-E61359326C1A}"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19FE-CB17-4390-A080-B8E09AC65E70}">
      <dsp:nvSpPr>
        <dsp:cNvPr id="0" name=""/>
        <dsp:cNvSpPr/>
      </dsp:nvSpPr>
      <dsp:spPr>
        <a:xfrm>
          <a:off x="594359" y="0"/>
          <a:ext cx="6736080" cy="4165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7C3DE0-AA77-41EA-B426-419E86923044}">
      <dsp:nvSpPr>
        <dsp:cNvPr id="0" name=""/>
        <dsp:cNvSpPr/>
      </dsp:nvSpPr>
      <dsp:spPr>
        <a:xfrm>
          <a:off x="2781"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Sales</a:t>
          </a:r>
        </a:p>
        <a:p>
          <a:pPr marL="228600" lvl="1" indent="-228600" algn="l" defTabSz="933450">
            <a:lnSpc>
              <a:spcPct val="90000"/>
            </a:lnSpc>
            <a:spcBef>
              <a:spcPct val="0"/>
            </a:spcBef>
            <a:spcAft>
              <a:spcPct val="15000"/>
            </a:spcAft>
            <a:buChar char="•"/>
          </a:pPr>
          <a:r>
            <a:rPr lang="en-US" sz="2100" kern="1200" dirty="0"/>
            <a:t>Buy X for $</a:t>
          </a:r>
        </a:p>
      </dsp:txBody>
      <dsp:txXfrm>
        <a:off x="84120" y="1331019"/>
        <a:ext cx="1688711" cy="1503562"/>
      </dsp:txXfrm>
    </dsp:sp>
    <dsp:sp modelId="{A4D1D176-CE80-459E-8702-135A04A55DEA}">
      <dsp:nvSpPr>
        <dsp:cNvPr id="0" name=""/>
        <dsp:cNvSpPr/>
      </dsp:nvSpPr>
      <dsp:spPr>
        <a:xfrm>
          <a:off x="2025397"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Shipping</a:t>
          </a:r>
        </a:p>
        <a:p>
          <a:pPr marL="228600" lvl="1" indent="-228600" algn="l" defTabSz="933450">
            <a:lnSpc>
              <a:spcPct val="90000"/>
            </a:lnSpc>
            <a:spcBef>
              <a:spcPct val="0"/>
            </a:spcBef>
            <a:spcAft>
              <a:spcPct val="15000"/>
            </a:spcAft>
            <a:buChar char="•"/>
          </a:pPr>
          <a:r>
            <a:rPr lang="en-US" sz="2100" kern="1200" dirty="0"/>
            <a:t>Deliver X</a:t>
          </a:r>
        </a:p>
      </dsp:txBody>
      <dsp:txXfrm>
        <a:off x="2106736" y="1331019"/>
        <a:ext cx="1688711" cy="1503562"/>
      </dsp:txXfrm>
    </dsp:sp>
    <dsp:sp modelId="{82D5521F-577B-4833-892E-7BB18C064A7A}">
      <dsp:nvSpPr>
        <dsp:cNvPr id="0" name=""/>
        <dsp:cNvSpPr/>
      </dsp:nvSpPr>
      <dsp:spPr>
        <a:xfrm>
          <a:off x="4048013"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Billing</a:t>
          </a:r>
        </a:p>
        <a:p>
          <a:pPr marL="228600" lvl="1" indent="-228600" algn="l" defTabSz="933450">
            <a:lnSpc>
              <a:spcPct val="90000"/>
            </a:lnSpc>
            <a:spcBef>
              <a:spcPct val="0"/>
            </a:spcBef>
            <a:spcAft>
              <a:spcPct val="15000"/>
            </a:spcAft>
            <a:buChar char="•"/>
          </a:pPr>
          <a:r>
            <a:rPr lang="en-US" sz="2100" kern="1200" dirty="0"/>
            <a:t>Send invoice</a:t>
          </a:r>
        </a:p>
      </dsp:txBody>
      <dsp:txXfrm>
        <a:off x="4129352" y="1331019"/>
        <a:ext cx="1688711" cy="1503562"/>
      </dsp:txXfrm>
    </dsp:sp>
    <dsp:sp modelId="{1E9F6EA6-95A4-4AD8-8175-E61359326C1A}">
      <dsp:nvSpPr>
        <dsp:cNvPr id="0" name=""/>
        <dsp:cNvSpPr/>
      </dsp:nvSpPr>
      <dsp:spPr>
        <a:xfrm>
          <a:off x="6070629"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Cash collection</a:t>
          </a:r>
        </a:p>
        <a:p>
          <a:pPr marL="228600" lvl="1" indent="-228600" algn="l" defTabSz="933450">
            <a:lnSpc>
              <a:spcPct val="90000"/>
            </a:lnSpc>
            <a:spcBef>
              <a:spcPct val="0"/>
            </a:spcBef>
            <a:spcAft>
              <a:spcPct val="15000"/>
            </a:spcAft>
            <a:buChar char="•"/>
          </a:pPr>
          <a:r>
            <a:rPr lang="en-US" sz="2100" kern="1200" dirty="0"/>
            <a:t>Get $</a:t>
          </a:r>
        </a:p>
      </dsp:txBody>
      <dsp:txXfrm>
        <a:off x="6151968" y="1331019"/>
        <a:ext cx="1688711" cy="1503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D719FE-CB17-4390-A080-B8E09AC65E70}">
      <dsp:nvSpPr>
        <dsp:cNvPr id="0" name=""/>
        <dsp:cNvSpPr/>
      </dsp:nvSpPr>
      <dsp:spPr>
        <a:xfrm>
          <a:off x="594359" y="0"/>
          <a:ext cx="6736080" cy="4165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7C3DE0-AA77-41EA-B426-419E86923044}">
      <dsp:nvSpPr>
        <dsp:cNvPr id="0" name=""/>
        <dsp:cNvSpPr/>
      </dsp:nvSpPr>
      <dsp:spPr>
        <a:xfrm>
          <a:off x="2781"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Sales</a:t>
          </a:r>
        </a:p>
        <a:p>
          <a:pPr marL="228600" lvl="1" indent="-228600" algn="l" defTabSz="933450">
            <a:lnSpc>
              <a:spcPct val="90000"/>
            </a:lnSpc>
            <a:spcBef>
              <a:spcPct val="0"/>
            </a:spcBef>
            <a:spcAft>
              <a:spcPct val="15000"/>
            </a:spcAft>
            <a:buChar char="•"/>
          </a:pPr>
          <a:r>
            <a:rPr lang="en-US" sz="2100" kern="1200" dirty="0"/>
            <a:t>Buy X for $</a:t>
          </a:r>
        </a:p>
      </dsp:txBody>
      <dsp:txXfrm>
        <a:off x="84120" y="1331019"/>
        <a:ext cx="1688711" cy="1503562"/>
      </dsp:txXfrm>
    </dsp:sp>
    <dsp:sp modelId="{A4D1D176-CE80-459E-8702-135A04A55DEA}">
      <dsp:nvSpPr>
        <dsp:cNvPr id="0" name=""/>
        <dsp:cNvSpPr/>
      </dsp:nvSpPr>
      <dsp:spPr>
        <a:xfrm>
          <a:off x="2025397"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Shipping</a:t>
          </a:r>
        </a:p>
        <a:p>
          <a:pPr marL="228600" lvl="1" indent="-228600" algn="l" defTabSz="933450">
            <a:lnSpc>
              <a:spcPct val="90000"/>
            </a:lnSpc>
            <a:spcBef>
              <a:spcPct val="0"/>
            </a:spcBef>
            <a:spcAft>
              <a:spcPct val="15000"/>
            </a:spcAft>
            <a:buChar char="•"/>
          </a:pPr>
          <a:r>
            <a:rPr lang="en-US" sz="2100" kern="1200" dirty="0"/>
            <a:t>Deliver X</a:t>
          </a:r>
        </a:p>
      </dsp:txBody>
      <dsp:txXfrm>
        <a:off x="2106736" y="1331019"/>
        <a:ext cx="1688711" cy="1503562"/>
      </dsp:txXfrm>
    </dsp:sp>
    <dsp:sp modelId="{82D5521F-577B-4833-892E-7BB18C064A7A}">
      <dsp:nvSpPr>
        <dsp:cNvPr id="0" name=""/>
        <dsp:cNvSpPr/>
      </dsp:nvSpPr>
      <dsp:spPr>
        <a:xfrm>
          <a:off x="4048013"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Billing</a:t>
          </a:r>
        </a:p>
        <a:p>
          <a:pPr marL="228600" lvl="1" indent="-228600" algn="l" defTabSz="933450">
            <a:lnSpc>
              <a:spcPct val="90000"/>
            </a:lnSpc>
            <a:spcBef>
              <a:spcPct val="0"/>
            </a:spcBef>
            <a:spcAft>
              <a:spcPct val="15000"/>
            </a:spcAft>
            <a:buChar char="•"/>
          </a:pPr>
          <a:r>
            <a:rPr lang="en-US" sz="2100" kern="1200" dirty="0"/>
            <a:t>Send invoice</a:t>
          </a:r>
        </a:p>
      </dsp:txBody>
      <dsp:txXfrm>
        <a:off x="4129352" y="1331019"/>
        <a:ext cx="1688711" cy="1503562"/>
      </dsp:txXfrm>
    </dsp:sp>
    <dsp:sp modelId="{1E9F6EA6-95A4-4AD8-8175-E61359326C1A}">
      <dsp:nvSpPr>
        <dsp:cNvPr id="0" name=""/>
        <dsp:cNvSpPr/>
      </dsp:nvSpPr>
      <dsp:spPr>
        <a:xfrm>
          <a:off x="6070629" y="1249680"/>
          <a:ext cx="1851389" cy="16662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Cash collection</a:t>
          </a:r>
        </a:p>
        <a:p>
          <a:pPr marL="228600" lvl="1" indent="-228600" algn="l" defTabSz="933450">
            <a:lnSpc>
              <a:spcPct val="90000"/>
            </a:lnSpc>
            <a:spcBef>
              <a:spcPct val="0"/>
            </a:spcBef>
            <a:spcAft>
              <a:spcPct val="15000"/>
            </a:spcAft>
            <a:buChar char="•"/>
          </a:pPr>
          <a:r>
            <a:rPr lang="en-US" sz="2100" kern="1200" dirty="0"/>
            <a:t>Get $</a:t>
          </a:r>
        </a:p>
      </dsp:txBody>
      <dsp:txXfrm>
        <a:off x="6151968" y="1331019"/>
        <a:ext cx="1688711" cy="150356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7/22/25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7/22/25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If this PowerPoint presentation contains mathematical equations, you may need to check that your computer has the following installed:</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1) </a:t>
            </a:r>
            <a:r>
              <a:rPr lang="en-US" sz="1200" b="0" i="0" u="none" strike="noStrike" cap="none" dirty="0" err="1">
                <a:solidFill>
                  <a:schemeClr val="dk1"/>
                </a:solidFill>
                <a:latin typeface="Arial"/>
                <a:ea typeface="Arial"/>
                <a:cs typeface="Arial"/>
                <a:sym typeface="Arial"/>
              </a:rPr>
              <a:t>MathType</a:t>
            </a:r>
            <a:r>
              <a:rPr lang="en-US" sz="1200" b="0" i="0" u="none" strike="noStrike" cap="none" dirty="0">
                <a:solidFill>
                  <a:schemeClr val="dk1"/>
                </a:solidFill>
                <a:latin typeface="Arial"/>
                <a:ea typeface="Arial"/>
                <a:cs typeface="Arial"/>
                <a:sym typeface="Arial"/>
              </a:rPr>
              <a:t> Plugin</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2) Math Player (free versions available)</a:t>
            </a:r>
            <a:endParaRPr lang="en-US" dirty="0"/>
          </a:p>
          <a:p>
            <a:pPr marL="0" lvl="0" indent="0" algn="l" rtl="0">
              <a:spcBef>
                <a:spcPts val="0"/>
              </a:spcBef>
              <a:spcAft>
                <a:spcPts val="0"/>
              </a:spcAft>
              <a:buNone/>
            </a:pPr>
            <a:r>
              <a:rPr lang="en-US" sz="1200" b="0" i="0" u="none" strike="noStrike"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5123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four activity stages in the revenue cycle, many specific accounting information items are affected. These informational items may be directly related to the general ledger account, or just be informational only.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It is important to note that the revenue cycle is a transaction cycle from which the organization conducts business with its customers.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General threats to the revenue cycle.</a:t>
            </a:r>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1465096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four activity stages in the revenue cycle, many specific accounting information items are affected. These informational items may be directly related to the general ledger account, or just be informational only.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It is important to note that the revenue cycle is a transaction cycle from which the organization conducts business with its customers.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General threats to the revenue cycle.</a:t>
            </a:r>
          </a:p>
        </p:txBody>
      </p:sp>
      <p:sp>
        <p:nvSpPr>
          <p:cNvPr id="4" name="Slide Number Placeholder 3"/>
          <p:cNvSpPr>
            <a:spLocks noGrp="1"/>
          </p:cNvSpPr>
          <p:nvPr>
            <p:ph type="sldNum" sz="quarter" idx="10"/>
          </p:nvPr>
        </p:nvSpPr>
        <p:spPr/>
        <p:txBody>
          <a:bodyPr/>
          <a:lstStyle/>
          <a:p>
            <a:fld id="{A73D6722-9B4D-4E29-B226-C325925A8118}" type="slidenum">
              <a:rPr lang="en-US" smtClean="0"/>
              <a:t>4</a:t>
            </a:fld>
            <a:endParaRPr lang="en-US" dirty="0"/>
          </a:p>
        </p:txBody>
      </p:sp>
    </p:spTree>
    <p:extLst>
      <p:ext uri="{BB962C8B-B14F-4D97-AF65-F5344CB8AC3E}">
        <p14:creationId xmlns:p14="http://schemas.microsoft.com/office/powerpoint/2010/main" val="3589328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At each of these cycle activity levels, accounting information may be affected as well as general ledger account information.</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expenditure cycle is concerned with transacting business between the organization and its suppliers (vendors) for goods and services.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Sometimes students can get confused in understanding if they are answering questions about the revenue or the expenditure cycle. Table 15-1 in the book is a good reference as it shows the comparison between the two cycles.</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The primary objective of the expenditure cycle is to minimize the total cost of acquiring and maintaining inventories, supplies, and various services the organization needs to function.</a:t>
            </a:r>
          </a:p>
        </p:txBody>
      </p:sp>
      <p:sp>
        <p:nvSpPr>
          <p:cNvPr id="4" name="Slide Number Placeholder 3"/>
          <p:cNvSpPr>
            <a:spLocks noGrp="1"/>
          </p:cNvSpPr>
          <p:nvPr>
            <p:ph type="sldNum" sz="quarter" idx="10"/>
          </p:nvPr>
        </p:nvSpPr>
        <p:spPr/>
        <p:txBody>
          <a:bodyPr/>
          <a:lstStyle/>
          <a:p>
            <a:fld id="{A73D6722-9B4D-4E29-B226-C325925A8118}" type="slidenum">
              <a:rPr lang="en-US" smtClean="0"/>
              <a:t>5</a:t>
            </a:fld>
            <a:endParaRPr lang="en-US" dirty="0"/>
          </a:p>
        </p:txBody>
      </p:sp>
    </p:spTree>
    <p:extLst>
      <p:ext uri="{BB962C8B-B14F-4D97-AF65-F5344CB8AC3E}">
        <p14:creationId xmlns:p14="http://schemas.microsoft.com/office/powerpoint/2010/main" val="2802479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6</a:t>
            </a:fld>
            <a:endParaRPr lang="en-US" dirty="0"/>
          </a:p>
        </p:txBody>
      </p:sp>
    </p:spTree>
    <p:extLst>
      <p:ext uri="{BB962C8B-B14F-4D97-AF65-F5344CB8AC3E}">
        <p14:creationId xmlns:p14="http://schemas.microsoft.com/office/powerpoint/2010/main" val="1015738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Key objective of the sales order processing step is to make sure that the customer sale is legitimate (authorized) and accurate.</a:t>
            </a:r>
          </a:p>
          <a:p>
            <a:pPr marL="0" lvl="0" indent="0" algn="l" rtl="0">
              <a:spcBef>
                <a:spcPts val="0"/>
              </a:spcBef>
              <a:spcAft>
                <a:spcPts val="0"/>
              </a:spcAft>
              <a:buNone/>
            </a:pPr>
            <a:r>
              <a:rPr lang="en-IN" dirty="0"/>
              <a:t>Key information collected at this stage is information about the availability of goods, the customer sales order information, and the customer’s credit information. At this stage, no general ledger accounts (e.g., sales and inventory) are affected.</a:t>
            </a:r>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521926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Controls to mitigate loss of customers include</a:t>
            </a:r>
          </a:p>
          <a:p>
            <a:pPr marL="0" lvl="0" indent="0" algn="l" rtl="0">
              <a:spcBef>
                <a:spcPts val="0"/>
              </a:spcBef>
              <a:spcAft>
                <a:spcPts val="0"/>
              </a:spcAft>
              <a:buNone/>
            </a:pPr>
            <a:r>
              <a:rPr lang="en-IN" dirty="0"/>
              <a:t>CRM systems, self-help websites, and proper evaluation of customer service ratings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3054869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Key objective is to make sure that the customer order has the correct inventory item and the correct quantity. </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At this stage, because inventory is leaving the warehouse, the general ledger account is affected (inventory is decreased once it is shipped). The other side of the entry of course is that the cost of sales general ledger account has increased.</a:t>
            </a:r>
          </a:p>
          <a:p>
            <a:pPr marL="0" lvl="0" indent="0" algn="l" rtl="0">
              <a:spcBef>
                <a:spcPts val="0"/>
              </a:spcBef>
              <a:spcAft>
                <a:spcPts val="0"/>
              </a:spcAft>
              <a:buNone/>
            </a:pPr>
            <a:endParaRPr lang="en-IN" dirty="0"/>
          </a:p>
          <a:p>
            <a:pPr marL="0" lvl="0" indent="0" algn="l" rtl="0">
              <a:spcBef>
                <a:spcPts val="0"/>
              </a:spcBef>
              <a:spcAft>
                <a:spcPts val="0"/>
              </a:spcAft>
              <a:buNone/>
            </a:pPr>
            <a:r>
              <a:rPr lang="en-IN" dirty="0"/>
              <a:t>At this point, it may be interesting to examine the source documents from the first two stages: sales order, picking list, packing slip, and bill of lading. What information is similar, and what informational elements are unique to the source documents?</a:t>
            </a:r>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983578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637955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Key objective here is to make sure that the customer is invoiced for items shipped and that the invoice is accurate (customer is billed only for those items ordered and shipped as well as quantity).</a:t>
            </a:r>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2961573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33254716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IN" dirty="0"/>
              <a:t>Key objective for this activity is to reduce the risk of theft and to make sure that the customer account is properly updated with the payment.</a:t>
            </a:r>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dirty="0"/>
          </a:p>
        </p:txBody>
      </p:sp>
    </p:spTree>
    <p:extLst>
      <p:ext uri="{BB962C8B-B14F-4D97-AF65-F5344CB8AC3E}">
        <p14:creationId xmlns:p14="http://schemas.microsoft.com/office/powerpoint/2010/main" val="2017958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dirty="0"/>
          </a:p>
        </p:txBody>
      </p:sp>
    </p:spTree>
    <p:extLst>
      <p:ext uri="{BB962C8B-B14F-4D97-AF65-F5344CB8AC3E}">
        <p14:creationId xmlns:p14="http://schemas.microsoft.com/office/powerpoint/2010/main" val="2431720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402428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18907887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3046453"/>
            <a:ext cx="7772400" cy="553998"/>
          </a:xfrm>
        </p:spPr>
        <p:txBody>
          <a:bodyPr anchor="b">
            <a:sp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276999"/>
          </a:xfrm>
        </p:spPr>
        <p:txBody>
          <a:bodyPr>
            <a:sp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TextBox 8"/>
          <p:cNvSpPr txBox="1"/>
          <p:nvPr userDrawn="1"/>
        </p:nvSpPr>
        <p:spPr>
          <a:xfrm>
            <a:off x="1533525" y="6374626"/>
            <a:ext cx="7162800" cy="276999"/>
          </a:xfrm>
          <a:prstGeom prst="rect">
            <a:avLst/>
          </a:prstGeom>
          <a:noFill/>
        </p:spPr>
        <p:txBody>
          <a:bodyPr wrap="square" rtlCol="0">
            <a:spAutoFit/>
          </a:bodyPr>
          <a:lstStyle/>
          <a:p>
            <a:pPr marL="0" indent="0" algn="r">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spAutoFit/>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p:txBody>
          <a:bodyPr>
            <a:spAutoFit/>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spAutoFit/>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5181600"/>
            <a:ext cx="8229600" cy="1066800"/>
          </a:xfrm>
        </p:spPr>
        <p:txBody>
          <a:bodyPr/>
          <a:lstStyle/>
          <a:p>
            <a:endParaRPr lang="en-IN"/>
          </a:p>
        </p:txBody>
      </p:sp>
    </p:spTree>
    <p:extLst>
      <p:ext uri="{BB962C8B-B14F-4D97-AF65-F5344CB8AC3E}">
        <p14:creationId xmlns:p14="http://schemas.microsoft.com/office/powerpoint/2010/main" val="230213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3077231"/>
            <a:ext cx="7772400" cy="523220"/>
          </a:xfrm>
        </p:spPr>
        <p:txBody>
          <a:bodyPr anchor="b">
            <a:sp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Footer Placeholder 4"/>
          <p:cNvSpPr>
            <a:spLocks noGrp="1"/>
          </p:cNvSpPr>
          <p:nvPr>
            <p:ph type="ftr" sz="quarter" idx="3"/>
          </p:nvPr>
        </p:nvSpPr>
        <p:spPr>
          <a:xfrm>
            <a:off x="2819401" y="6424902"/>
            <a:ext cx="5857188" cy="231802"/>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a:xfrm>
            <a:off x="489408" y="0"/>
            <a:ext cx="8229600" cy="5334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4" name="Text Placeholder 3"/>
          <p:cNvSpPr>
            <a:spLocks noGrp="1"/>
          </p:cNvSpPr>
          <p:nvPr>
            <p:ph type="body" sz="quarter" idx="13"/>
          </p:nvPr>
        </p:nvSpPr>
        <p:spPr>
          <a:xfrm>
            <a:off x="533400" y="685800"/>
            <a:ext cx="80772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p:cNvSpPr>
            <a:spLocks noGrp="1"/>
          </p:cNvSpPr>
          <p:nvPr>
            <p:ph type="body" sz="quarter" idx="14"/>
          </p:nvPr>
        </p:nvSpPr>
        <p:spPr>
          <a:xfrm>
            <a:off x="609600" y="1295400"/>
            <a:ext cx="7924800" cy="45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Text Placeholder 14"/>
          <p:cNvSpPr>
            <a:spLocks noGrp="1"/>
          </p:cNvSpPr>
          <p:nvPr>
            <p:ph type="body" sz="quarter" idx="15"/>
          </p:nvPr>
        </p:nvSpPr>
        <p:spPr>
          <a:xfrm>
            <a:off x="685800" y="1828800"/>
            <a:ext cx="7848600" cy="45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7" name="Text Placeholder 16"/>
          <p:cNvSpPr>
            <a:spLocks noGrp="1"/>
          </p:cNvSpPr>
          <p:nvPr>
            <p:ph type="body" sz="quarter" idx="16"/>
          </p:nvPr>
        </p:nvSpPr>
        <p:spPr>
          <a:xfrm>
            <a:off x="762000" y="2514600"/>
            <a:ext cx="7924800" cy="30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Picture Placeholder 18"/>
          <p:cNvSpPr>
            <a:spLocks noGrp="1"/>
          </p:cNvSpPr>
          <p:nvPr>
            <p:ph type="pic" sz="quarter" idx="17"/>
          </p:nvPr>
        </p:nvSpPr>
        <p:spPr>
          <a:xfrm>
            <a:off x="838200" y="3352800"/>
            <a:ext cx="7848600" cy="685800"/>
          </a:xfrm>
        </p:spPr>
        <p:txBody>
          <a:bodyPr/>
          <a:lstStyle/>
          <a:p>
            <a:endParaRPr lang="en-IN" dirty="0"/>
          </a:p>
        </p:txBody>
      </p:sp>
    </p:spTree>
    <p:extLst>
      <p:ext uri="{BB962C8B-B14F-4D97-AF65-F5344CB8AC3E}">
        <p14:creationId xmlns:p14="http://schemas.microsoft.com/office/powerpoint/2010/main" val="1128581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r>
              <a:rPr lang="en-US" sz="900" dirty="0"/>
              <a:t>1-2</a:t>
            </a:r>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2396118415"/>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6558436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1"/>
          </p:nvPr>
        </p:nvSpPr>
        <p:spPr/>
        <p:txBody>
          <a:bodyPr/>
          <a:lstStyle/>
          <a:p>
            <a:fld id="{A9DF6EFB-3F44-496C-A842-1E0B3D3B975A}" type="datetimeFigureOut">
              <a:rPr lang="en-US" smtClean="0"/>
              <a:pPr/>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187741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48189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10175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787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9999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025896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457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0"/>
            <a:ext cx="8229600" cy="137160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60248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p:cNvSpPr txBox="1">
            <a:spLocks/>
          </p:cNvSpPr>
          <p:nvPr userDrawn="1"/>
        </p:nvSpPr>
        <p:spPr>
          <a:xfrm>
            <a:off x="3810000" y="6425684"/>
            <a:ext cx="4866589" cy="184666"/>
          </a:xfrm>
          <a:prstGeom prst="rect">
            <a:avLst/>
          </a:prstGeom>
        </p:spPr>
        <p:txBody>
          <a:bodyPr vert="horz" lIns="0" tIns="0" rIns="0" bIns="0" rtlCol="0" anchor="b">
            <a:noAutofit/>
          </a:bodyPr>
          <a:lstStyle>
            <a:defPPr>
              <a:defRPr lang="en-US"/>
            </a:defPPr>
            <a:lvl1pPr marL="0" indent="0" algn="r" defTabSz="914400" rtl="0" eaLnBrk="1" latinLnBrk="0" hangingPunct="1">
              <a:buNone/>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latin typeface="Verdana" panose="020B0604030504040204" pitchFamily="34" charset="0"/>
              <a:ea typeface="Verdana" panose="020B0604030504040204" pitchFamily="34" charset="0"/>
              <a:cs typeface="Verdana" panose="020B0604030504040204" pitchFamily="34" charset="0"/>
            </a:endParaRPr>
          </a:p>
        </p:txBody>
      </p:sp>
      <p:sp>
        <p:nvSpPr>
          <p:cNvPr id="5" name="Content Placeholder 4">
            <a:extLst>
              <a:ext uri="{FF2B5EF4-FFF2-40B4-BE49-F238E27FC236}">
                <a16:creationId xmlns:a16="http://schemas.microsoft.com/office/drawing/2014/main" id="{EA13232C-DF31-4CED-AB61-62F26E3165BA}"/>
              </a:ext>
            </a:extLst>
          </p:cNvPr>
          <p:cNvSpPr>
            <a:spLocks noGrp="1"/>
          </p:cNvSpPr>
          <p:nvPr>
            <p:ph sz="quarter" idx="15"/>
          </p:nvPr>
        </p:nvSpPr>
        <p:spPr>
          <a:xfrm>
            <a:off x="533400" y="3733800"/>
            <a:ext cx="8077200" cy="533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25DD6962-3095-446C-A57F-4E808E224A95}"/>
              </a:ext>
            </a:extLst>
          </p:cNvPr>
          <p:cNvSpPr>
            <a:spLocks noGrp="1"/>
          </p:cNvSpPr>
          <p:nvPr>
            <p:ph sz="quarter" idx="16"/>
          </p:nvPr>
        </p:nvSpPr>
        <p:spPr>
          <a:xfrm>
            <a:off x="762000" y="5619750"/>
            <a:ext cx="7848600" cy="3238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a:extLst>
              <a:ext uri="{FF2B5EF4-FFF2-40B4-BE49-F238E27FC236}">
                <a16:creationId xmlns:a16="http://schemas.microsoft.com/office/drawing/2014/main" id="{FD058FF3-6114-471E-A9AA-A3D250496F47}"/>
              </a:ext>
            </a:extLst>
          </p:cNvPr>
          <p:cNvSpPr>
            <a:spLocks noGrp="1"/>
          </p:cNvSpPr>
          <p:nvPr>
            <p:ph sz="quarter" idx="17"/>
          </p:nvPr>
        </p:nvSpPr>
        <p:spPr>
          <a:xfrm>
            <a:off x="381000" y="2255838"/>
            <a:ext cx="8458200" cy="3349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5157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9DF6EFB-3F44-496C-A842-1E0B3D3B975A}" type="datetimeFigureOut">
              <a:rPr lang="en-US" smtClean="0"/>
              <a:t>7/22/25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5157198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Date Placeholder 2"/>
          <p:cNvSpPr>
            <a:spLocks noGrp="1"/>
          </p:cNvSpPr>
          <p:nvPr>
            <p:ph type="dt" sz="half" idx="10"/>
          </p:nvPr>
        </p:nvSpPr>
        <p:spPr/>
        <p:txBody>
          <a:bodyPr/>
          <a:lstStyle/>
          <a:p>
            <a:fld id="{A9DF6EFB-3F44-496C-A842-1E0B3D3B975A}" type="datetimeFigureOut">
              <a:rPr lang="en-US" smtClean="0"/>
              <a:t>7/22/25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
        <p:nvSpPr>
          <p:cNvPr id="12" name="Picture Placeholder 11"/>
          <p:cNvSpPr>
            <a:spLocks noGrp="1"/>
          </p:cNvSpPr>
          <p:nvPr>
            <p:ph type="pic" sz="quarter" idx="13"/>
          </p:nvPr>
        </p:nvSpPr>
        <p:spPr>
          <a:xfrm>
            <a:off x="533400" y="2514600"/>
            <a:ext cx="8153400" cy="1066800"/>
          </a:xfrm>
        </p:spPr>
        <p:txBody>
          <a:bodyPr/>
          <a:lstStyle/>
          <a:p>
            <a:endParaRPr lang="en-IN"/>
          </a:p>
        </p:txBody>
      </p:sp>
      <p:sp>
        <p:nvSpPr>
          <p:cNvPr id="14" name="Text Placeholder 13"/>
          <p:cNvSpPr>
            <a:spLocks noGrp="1"/>
          </p:cNvSpPr>
          <p:nvPr>
            <p:ph type="body" sz="quarter" idx="14"/>
          </p:nvPr>
        </p:nvSpPr>
        <p:spPr>
          <a:xfrm>
            <a:off x="1066800" y="3810000"/>
            <a:ext cx="6858000" cy="137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5"/>
          <p:cNvSpPr>
            <a:spLocks noGrp="1"/>
          </p:cNvSpPr>
          <p:nvPr>
            <p:ph sz="quarter" idx="15"/>
          </p:nvPr>
        </p:nvSpPr>
        <p:spPr>
          <a:xfrm>
            <a:off x="1143000" y="5257800"/>
            <a:ext cx="4648200" cy="6096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578532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7/22/25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93874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98_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Body)"/>
                <a:ea typeface="Arial(Body)"/>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51" name="Shape 5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Body)"/>
                <a:ea typeface="Arial(Body)"/>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lang="en-IN" dirty="0"/>
          </a:p>
        </p:txBody>
      </p:sp>
      <p:sp>
        <p:nvSpPr>
          <p:cNvPr id="52" name="Shape 5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latin typeface="Arial(Body)"/>
              </a:defRPr>
            </a:lvl1pPr>
          </a:lstStyle>
          <a:p>
            <a:pPr algn="r">
              <a:buSzPct val="25000"/>
            </a:pPr>
            <a:fld id="{00000000-1234-1234-1234-123412341234}" type="slidenum">
              <a:rPr lang="en-US" sz="900" smtClean="0">
                <a:solidFill>
                  <a:schemeClr val="lt1"/>
                </a:solidFill>
              </a:rPr>
              <a:pPr algn="r">
                <a:buSzPct val="25000"/>
              </a:pPr>
              <a:t>‹#›</a:t>
            </a:fld>
            <a:endParaRPr lang="en-US" sz="900" dirty="0">
              <a:solidFill>
                <a:schemeClr val="lt1"/>
              </a:solidFill>
            </a:endParaRPr>
          </a:p>
        </p:txBody>
      </p:sp>
      <p:sp>
        <p:nvSpPr>
          <p:cNvPr id="7" name="Footer Placeholder 4"/>
          <p:cNvSpPr>
            <a:spLocks noGrp="1"/>
          </p:cNvSpPr>
          <p:nvPr>
            <p:ph type="ftr" sz="quarter" idx="3"/>
          </p:nvPr>
        </p:nvSpPr>
        <p:spPr>
          <a:xfrm>
            <a:off x="2819401" y="6424902"/>
            <a:ext cx="5857188" cy="204498"/>
          </a:xfrm>
          <a:prstGeom prst="rect">
            <a:avLst/>
          </a:prstGeom>
        </p:spPr>
        <p:txBody>
          <a:bodyPr vert="horz" lIns="0" tIns="0" rIns="0" bIns="0" rtlCol="0" anchor="b">
            <a:noAutofit/>
          </a:bodyPr>
          <a:lstStyle>
            <a:lvl1pPr marL="0" indent="0" algn="r">
              <a:buNone/>
              <a:defRPr sz="1200">
                <a:solidFill>
                  <a:schemeClr val="tx1"/>
                </a:solidFill>
              </a:defRPr>
            </a:lvl1pPr>
          </a:lstStyle>
          <a:p>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21705162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opy">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7/22/25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
        <p:nvSpPr>
          <p:cNvPr id="4" name="Picture Placeholder 3">
            <a:extLst>
              <a:ext uri="{FF2B5EF4-FFF2-40B4-BE49-F238E27FC236}">
                <a16:creationId xmlns:a16="http://schemas.microsoft.com/office/drawing/2014/main" id="{49B1A741-EFA1-4984-B2F6-EC6B322134D1}"/>
              </a:ext>
            </a:extLst>
          </p:cNvPr>
          <p:cNvSpPr>
            <a:spLocks noGrp="1"/>
          </p:cNvSpPr>
          <p:nvPr>
            <p:ph type="pic" sz="quarter" idx="13"/>
          </p:nvPr>
        </p:nvSpPr>
        <p:spPr>
          <a:xfrm>
            <a:off x="457200" y="3276600"/>
            <a:ext cx="8229600" cy="1447800"/>
          </a:xfrm>
        </p:spPr>
        <p:txBody>
          <a:bodyPr/>
          <a:lstStyle/>
          <a:p>
            <a:endParaRPr lang="en-IN"/>
          </a:p>
        </p:txBody>
      </p:sp>
    </p:spTree>
    <p:extLst>
      <p:ext uri="{BB962C8B-B14F-4D97-AF65-F5344CB8AC3E}">
        <p14:creationId xmlns:p14="http://schemas.microsoft.com/office/powerpoint/2010/main" val="335575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emf"/><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58654"/>
            <a:ext cx="8229600" cy="553998"/>
          </a:xfrm>
          <a:prstGeom prst="rect">
            <a:avLst/>
          </a:prstGeom>
        </p:spPr>
        <p:txBody>
          <a:bodyPr vert="horz" lIns="0" tIns="0" rIns="0" bIns="0" rtlCol="0" anchor="b">
            <a:spAutoFit/>
          </a:bodyPr>
          <a:lstStyle/>
          <a:p>
            <a:r>
              <a:rPr lang="en-US" dirty="0"/>
              <a:t>Click to edit Master title style</a:t>
            </a:r>
          </a:p>
        </p:txBody>
      </p:sp>
      <p:sp>
        <p:nvSpPr>
          <p:cNvPr id="3" name="Text Placeholder 2"/>
          <p:cNvSpPr>
            <a:spLocks noGrp="1"/>
          </p:cNvSpPr>
          <p:nvPr>
            <p:ph type="body" idx="1"/>
          </p:nvPr>
        </p:nvSpPr>
        <p:spPr>
          <a:xfrm>
            <a:off x="457200" y="1600200"/>
            <a:ext cx="8229600" cy="2677656"/>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2021, 2018, 2015 </a:t>
            </a:r>
            <a:r>
              <a:rPr lang="en-IN" sz="1200" dirty="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9" r:id="rId3"/>
    <p:sldLayoutId id="2147483660" r:id="rId4"/>
    <p:sldLayoutId id="2147483662" r:id="rId5"/>
    <p:sldLayoutId id="2147483661" r:id="rId6"/>
    <p:sldLayoutId id="2147483663" r:id="rId7"/>
    <p:sldLayoutId id="2147483651" r:id="rId8"/>
    <p:sldLayoutId id="2147483654" r:id="rId9"/>
    <p:sldLayoutId id="2147483655" r:id="rId10"/>
    <p:sldLayoutId id="2147483696" r:id="rId11"/>
    <p:sldLayoutId id="2147483698" r:id="rId12"/>
  </p:sldLayoutIdLst>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7/22/25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10" name="Picture 9"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 Placeholder 4"/>
          <p:cNvSpPr txBox="1">
            <a:spLocks/>
          </p:cNvSpPr>
          <p:nvPr userDrawn="1"/>
        </p:nvSpPr>
        <p:spPr>
          <a:xfrm>
            <a:off x="2743200" y="6451395"/>
            <a:ext cx="5933357" cy="201755"/>
          </a:xfrm>
          <a:prstGeom prst="rect">
            <a:avLst/>
          </a:prstGeom>
        </p:spPr>
        <p:txBody>
          <a:bodyPr vert="horz" wrap="square"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Font typeface="Arial" panose="020B0604020202020204" pitchFamily="34" charset="0"/>
              <a:buNone/>
            </a:pPr>
            <a:r>
              <a:rPr lang="en-IN" sz="1200">
                <a:latin typeface="Verdana" panose="020B0604030504040204" pitchFamily="34" charset="0"/>
                <a:ea typeface="Verdana" panose="020B0604030504040204" pitchFamily="34" charset="0"/>
                <a:cs typeface="Verdana" panose="020B0604030504040204" pitchFamily="34" charset="0"/>
              </a:rPr>
              <a:t>Copyright © </a:t>
            </a:r>
            <a:r>
              <a:rPr lang="en-US" sz="1200">
                <a:latin typeface="Verdana" panose="020B0604030504040204" pitchFamily="34" charset="0"/>
                <a:ea typeface="Verdana" panose="020B0604030504040204" pitchFamily="34" charset="0"/>
                <a:cs typeface="Verdana" panose="020B0604030504040204" pitchFamily="34" charset="0"/>
              </a:rPr>
              <a:t>2021, 2018, 2015 </a:t>
            </a:r>
            <a:r>
              <a:rPr lang="en-IN" sz="1200">
                <a:latin typeface="Verdana" panose="020B0604030504040204" pitchFamily="34" charset="0"/>
                <a:ea typeface="Verdana" panose="020B0604030504040204" pitchFamily="34" charset="0"/>
                <a:cs typeface="Verdana" panose="020B0604030504040204" pitchFamily="34" charset="0"/>
              </a:rPr>
              <a:t>Pearson Education, Inc. All Rights Reserved</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547644696"/>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97" r:id="rId13"/>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361934" y="117302"/>
            <a:ext cx="8272730" cy="590349"/>
          </a:xfrm>
        </p:spPr>
        <p:txBody>
          <a:bodyPr wrap="square" lIns="0" tIns="18000" rIns="0" bIns="18000" anchor="ctr" anchorCtr="0">
            <a:spAutoFit/>
          </a:bodyPr>
          <a:lstStyle/>
          <a:p>
            <a:r>
              <a:rPr lang="en-US" dirty="0"/>
              <a:t>Accounting Information Systems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364643" y="932927"/>
            <a:ext cx="1958194" cy="344128"/>
          </a:xfrm>
        </p:spPr>
        <p:txBody>
          <a:bodyPr wrap="square" lIns="0" tIns="18000" rIns="0" bIns="18000" anchor="ctr" anchorCtr="0">
            <a:spAutoFit/>
          </a:bodyPr>
          <a:lstStyle/>
          <a:p>
            <a:r>
              <a:rPr lang="en-US" sz="2000" dirty="0">
                <a:solidFill>
                  <a:srgbClr val="007FA3"/>
                </a:solidFill>
                <a:latin typeface="Arial" panose="020B0604020202020204" pitchFamily="34" charset="0"/>
                <a:cs typeface="Arial" panose="020B0604020202020204" pitchFamily="34" charset="0"/>
              </a:rPr>
              <a:t>Sixteenth Edition</a:t>
            </a:r>
            <a:endParaRPr lang="en-US" dirty="0">
              <a:latin typeface="Arial" panose="020B0604020202020204" pitchFamily="34" charset="0"/>
              <a:cs typeface="Arial" panose="020B0604020202020204" pitchFamily="34" charset="0"/>
            </a:endParaRPr>
          </a:p>
        </p:txBody>
      </p:sp>
      <p:pic>
        <p:nvPicPr>
          <p:cNvPr id="9" name="Picture 8" descr="Front Cover: Accounting Information Systems, Sixteenth Edition by Romney, Steinbart, Summers and Wood.">
            <a:extLst>
              <a:ext uri="{FF2B5EF4-FFF2-40B4-BE49-F238E27FC236}">
                <a16:creationId xmlns:a16="http://schemas.microsoft.com/office/drawing/2014/main" id="{474D169D-DDD8-4DAB-92C6-0DAC8CD369D1}"/>
              </a:ext>
            </a:extLst>
          </p:cNvPr>
          <p:cNvPicPr>
            <a:picLocks noChangeAspect="1"/>
          </p:cNvPicPr>
          <p:nvPr/>
        </p:nvPicPr>
        <p:blipFill>
          <a:blip r:embed="rId3"/>
          <a:stretch>
            <a:fillRect/>
          </a:stretch>
        </p:blipFill>
        <p:spPr>
          <a:xfrm>
            <a:off x="384200" y="1386673"/>
            <a:ext cx="3892191" cy="4978953"/>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1999" y="2430301"/>
            <a:ext cx="2104845" cy="498016"/>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Chapter 14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82048" y="3083896"/>
            <a:ext cx="3751069" cy="713460"/>
          </a:xfrm>
        </p:spPr>
        <p:txBody>
          <a:bodyPr wrap="square" lIns="0" tIns="18000" rIns="0" bIns="18000" anchor="ctr" anchorCtr="0">
            <a:spAutoFit/>
          </a:bodyPr>
          <a:lstStyle/>
          <a:p>
            <a:pPr marL="0"/>
            <a:r>
              <a:rPr lang="en-US" dirty="0">
                <a:latin typeface="Arial" panose="020B0604020202020204" pitchFamily="34" charset="0"/>
                <a:cs typeface="Arial" panose="020B0604020202020204" pitchFamily="34" charset="0"/>
              </a:rPr>
              <a:t>The Revenue Cycle: Sales to Cash Collections</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32508" y="6431973"/>
            <a:ext cx="1153391" cy="290602"/>
          </a:xfr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169825" y="6425373"/>
            <a:ext cx="6589712" cy="221018"/>
          </a:xfrm>
        </p:spPr>
        <p:txBody>
          <a:bodyPr lIns="0" tIns="18000" rIns="0" bIns="18000" anchor="ctr" anchorCtr="0">
            <a:spAutoFit/>
          </a:bodyPr>
          <a:lstStyle/>
          <a:p>
            <a:r>
              <a:rPr lang="en-US" altLang="en-US" sz="1200" b="0" dirty="0">
                <a:latin typeface="Verdana"/>
                <a:ea typeface="Verdana" panose="020B0604030504040204" pitchFamily="34" charset="0"/>
                <a:cs typeface="Verdana" panose="020B0604030504040204" pitchFamily="34" charset="0"/>
              </a:rPr>
              <a:t>Copyright © 2024, 2021, 2018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24983"/>
            <a:ext cx="8229600" cy="618079"/>
          </a:xfrm>
        </p:spPr>
        <p:txBody>
          <a:bodyPr anchor="ctr">
            <a:noAutofit/>
          </a:bodyPr>
          <a:lstStyle/>
          <a:p>
            <a:r>
              <a:rPr lang="en-IN" sz="3600" dirty="0">
                <a:latin typeface="+mj-lt"/>
              </a:rPr>
              <a:t>Learning Objectives </a:t>
            </a:r>
          </a:p>
        </p:txBody>
      </p:sp>
      <p:sp>
        <p:nvSpPr>
          <p:cNvPr id="2" name="Content Placeholder 1"/>
          <p:cNvSpPr>
            <a:spLocks noGrp="1"/>
          </p:cNvSpPr>
          <p:nvPr>
            <p:ph idx="13"/>
          </p:nvPr>
        </p:nvSpPr>
        <p:spPr>
          <a:xfrm>
            <a:off x="477115" y="999226"/>
            <a:ext cx="8229600" cy="3708708"/>
          </a:xfrm>
        </p:spPr>
        <p:txBody>
          <a:bodyPr>
            <a:noAutofit/>
          </a:bodyPr>
          <a:lstStyle/>
          <a:p>
            <a:pPr lvl="0">
              <a:buSzPts val="2400"/>
            </a:pPr>
            <a:r>
              <a:rPr lang="en-IN" sz="2400" dirty="0"/>
              <a:t>Explain the </a:t>
            </a:r>
            <a:r>
              <a:rPr lang="en-IN" sz="2400" b="1" i="1" dirty="0"/>
              <a:t>sales order entry </a:t>
            </a:r>
            <a:r>
              <a:rPr lang="en-IN" sz="2400" dirty="0"/>
              <a:t>process</a:t>
            </a:r>
          </a:p>
          <a:p>
            <a:pPr lvl="0">
              <a:buSzPts val="2400"/>
            </a:pPr>
            <a:r>
              <a:rPr lang="en-IN" sz="2400" dirty="0"/>
              <a:t>Explain the </a:t>
            </a:r>
            <a:r>
              <a:rPr lang="en-IN" sz="2400" b="1" i="1" dirty="0"/>
              <a:t>shipping </a:t>
            </a:r>
            <a:r>
              <a:rPr lang="en-IN" sz="2400" dirty="0"/>
              <a:t>process</a:t>
            </a:r>
          </a:p>
          <a:p>
            <a:pPr lvl="0">
              <a:buSzPts val="2400"/>
            </a:pPr>
            <a:r>
              <a:rPr lang="en-IN" sz="2400" dirty="0"/>
              <a:t>Explain the </a:t>
            </a:r>
            <a:r>
              <a:rPr lang="en-IN" sz="2400" b="1" i="1" dirty="0"/>
              <a:t>billing </a:t>
            </a:r>
            <a:r>
              <a:rPr lang="en-IN" sz="2400" dirty="0"/>
              <a:t>process</a:t>
            </a:r>
          </a:p>
          <a:p>
            <a:pPr lvl="0">
              <a:buSzPts val="2400"/>
            </a:pPr>
            <a:r>
              <a:rPr lang="en-IN" sz="2400" dirty="0"/>
              <a:t>Explain the </a:t>
            </a:r>
            <a:r>
              <a:rPr lang="en-IN" sz="2400" b="1" i="1" dirty="0"/>
              <a:t>cash collections</a:t>
            </a:r>
            <a:r>
              <a:rPr lang="en-IN" sz="2400" i="1" dirty="0"/>
              <a:t> </a:t>
            </a:r>
            <a:r>
              <a:rPr lang="en-IN" sz="2400" dirty="0"/>
              <a:t>process</a:t>
            </a:r>
          </a:p>
        </p:txBody>
      </p:sp>
    </p:spTree>
    <p:extLst>
      <p:ext uri="{BB962C8B-B14F-4D97-AF65-F5344CB8AC3E}">
        <p14:creationId xmlns:p14="http://schemas.microsoft.com/office/powerpoint/2010/main" val="2560582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52277"/>
            <a:ext cx="8229600" cy="553998"/>
          </a:xfrm>
        </p:spPr>
        <p:txBody>
          <a:bodyPr anchor="ctr">
            <a:noAutofit/>
          </a:bodyPr>
          <a:lstStyle/>
          <a:p>
            <a:r>
              <a:rPr lang="en-IN" sz="3600" dirty="0">
                <a:latin typeface="+mj-lt"/>
              </a:rPr>
              <a:t>Revenue Cycle Artifacts</a:t>
            </a:r>
          </a:p>
        </p:txBody>
      </p:sp>
      <p:graphicFrame>
        <p:nvGraphicFramePr>
          <p:cNvPr id="3" name="Diagram 2">
            <a:extLst>
              <a:ext uri="{FF2B5EF4-FFF2-40B4-BE49-F238E27FC236}">
                <a16:creationId xmlns:a16="http://schemas.microsoft.com/office/drawing/2014/main" id="{D730D1A7-AF41-090B-F8F6-8909557764F0}"/>
              </a:ext>
            </a:extLst>
          </p:cNvPr>
          <p:cNvGraphicFramePr/>
          <p:nvPr>
            <p:extLst>
              <p:ext uri="{D42A27DB-BD31-4B8C-83A1-F6EECF244321}">
                <p14:modId xmlns:p14="http://schemas.microsoft.com/office/powerpoint/2010/main" val="2185875709"/>
              </p:ext>
            </p:extLst>
          </p:nvPr>
        </p:nvGraphicFramePr>
        <p:xfrm>
          <a:off x="607888" y="228600"/>
          <a:ext cx="7924800" cy="416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lowchart: Document 3">
            <a:extLst>
              <a:ext uri="{FF2B5EF4-FFF2-40B4-BE49-F238E27FC236}">
                <a16:creationId xmlns:a16="http://schemas.microsoft.com/office/drawing/2014/main" id="{36ED502F-8043-3FF1-79E1-C0641F36E50B}"/>
              </a:ext>
            </a:extLst>
          </p:cNvPr>
          <p:cNvSpPr/>
          <p:nvPr/>
        </p:nvSpPr>
        <p:spPr>
          <a:xfrm>
            <a:off x="211048" y="3756061"/>
            <a:ext cx="2151151" cy="762000"/>
          </a:xfrm>
          <a:prstGeom prst="flowChartDocumen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Sales Offer</a:t>
            </a:r>
            <a:br>
              <a:rPr lang="en-US" sz="2000" dirty="0">
                <a:solidFill>
                  <a:schemeClr val="tx1"/>
                </a:solidFill>
              </a:rPr>
            </a:br>
            <a:r>
              <a:rPr lang="en-US" sz="2000" dirty="0">
                <a:solidFill>
                  <a:schemeClr val="tx1"/>
                </a:solidFill>
              </a:rPr>
              <a:t>Purchase Order</a:t>
            </a:r>
          </a:p>
        </p:txBody>
      </p:sp>
      <p:sp>
        <p:nvSpPr>
          <p:cNvPr id="5" name="Flowchart: Document 4">
            <a:extLst>
              <a:ext uri="{FF2B5EF4-FFF2-40B4-BE49-F238E27FC236}">
                <a16:creationId xmlns:a16="http://schemas.microsoft.com/office/drawing/2014/main" id="{EC3FDB13-9B37-BA8B-1D15-CE51BEDF468D}"/>
              </a:ext>
            </a:extLst>
          </p:cNvPr>
          <p:cNvSpPr/>
          <p:nvPr/>
        </p:nvSpPr>
        <p:spPr>
          <a:xfrm>
            <a:off x="2667000" y="3756061"/>
            <a:ext cx="1143000" cy="762000"/>
          </a:xfrm>
          <a:prstGeom prst="flowChartDocumen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Bill of lading</a:t>
            </a:r>
          </a:p>
        </p:txBody>
      </p:sp>
      <p:sp>
        <p:nvSpPr>
          <p:cNvPr id="6" name="Flowchart: Document 5">
            <a:extLst>
              <a:ext uri="{FF2B5EF4-FFF2-40B4-BE49-F238E27FC236}">
                <a16:creationId xmlns:a16="http://schemas.microsoft.com/office/drawing/2014/main" id="{8BB30B5D-61E9-5904-EBEA-753FB90239FC}"/>
              </a:ext>
            </a:extLst>
          </p:cNvPr>
          <p:cNvSpPr/>
          <p:nvPr/>
        </p:nvSpPr>
        <p:spPr>
          <a:xfrm>
            <a:off x="4591915" y="3756061"/>
            <a:ext cx="1143000" cy="762000"/>
          </a:xfrm>
          <a:prstGeom prst="flowChartDocumen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Invoice</a:t>
            </a:r>
          </a:p>
        </p:txBody>
      </p:sp>
      <p:sp>
        <p:nvSpPr>
          <p:cNvPr id="7" name="Flowchart: Document 6">
            <a:extLst>
              <a:ext uri="{FF2B5EF4-FFF2-40B4-BE49-F238E27FC236}">
                <a16:creationId xmlns:a16="http://schemas.microsoft.com/office/drawing/2014/main" id="{5ADEB02B-D2ED-C1C6-89D7-9BE53A290F61}"/>
              </a:ext>
            </a:extLst>
          </p:cNvPr>
          <p:cNvSpPr/>
          <p:nvPr/>
        </p:nvSpPr>
        <p:spPr>
          <a:xfrm>
            <a:off x="6856288" y="3756061"/>
            <a:ext cx="1676400" cy="762000"/>
          </a:xfrm>
          <a:prstGeom prst="flowChartDocumen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Remittance</a:t>
            </a:r>
          </a:p>
        </p:txBody>
      </p:sp>
      <p:sp>
        <p:nvSpPr>
          <p:cNvPr id="8" name="Flowchart: Magnetic Disk 7">
            <a:extLst>
              <a:ext uri="{FF2B5EF4-FFF2-40B4-BE49-F238E27FC236}">
                <a16:creationId xmlns:a16="http://schemas.microsoft.com/office/drawing/2014/main" id="{BF1DD2EF-484B-AED2-9738-284F16F5F6A9}"/>
              </a:ext>
            </a:extLst>
          </p:cNvPr>
          <p:cNvSpPr/>
          <p:nvPr/>
        </p:nvSpPr>
        <p:spPr>
          <a:xfrm>
            <a:off x="211049" y="4811159"/>
            <a:ext cx="1295400" cy="457200"/>
          </a:xfrm>
          <a:prstGeom prst="flowChartMagneticDisk">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Orders</a:t>
            </a:r>
          </a:p>
        </p:txBody>
      </p:sp>
      <p:sp>
        <p:nvSpPr>
          <p:cNvPr id="9" name="Flowchart: Magnetic Disk 8">
            <a:extLst>
              <a:ext uri="{FF2B5EF4-FFF2-40B4-BE49-F238E27FC236}">
                <a16:creationId xmlns:a16="http://schemas.microsoft.com/office/drawing/2014/main" id="{3428BCBC-BBF2-4771-2D80-C4E167FD0578}"/>
              </a:ext>
            </a:extLst>
          </p:cNvPr>
          <p:cNvSpPr/>
          <p:nvPr/>
        </p:nvSpPr>
        <p:spPr>
          <a:xfrm>
            <a:off x="2667000" y="4794321"/>
            <a:ext cx="1295400" cy="457200"/>
          </a:xfrm>
          <a:prstGeom prst="flowChartMagneticDisk">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Inventory</a:t>
            </a:r>
          </a:p>
        </p:txBody>
      </p:sp>
      <p:sp>
        <p:nvSpPr>
          <p:cNvPr id="10" name="Flowchart: Magnetic Disk 9">
            <a:extLst>
              <a:ext uri="{FF2B5EF4-FFF2-40B4-BE49-F238E27FC236}">
                <a16:creationId xmlns:a16="http://schemas.microsoft.com/office/drawing/2014/main" id="{94D6AAD4-9454-93E5-1CFF-3D1B49D8CE27}"/>
              </a:ext>
            </a:extLst>
          </p:cNvPr>
          <p:cNvSpPr/>
          <p:nvPr/>
        </p:nvSpPr>
        <p:spPr>
          <a:xfrm>
            <a:off x="4592771" y="4794321"/>
            <a:ext cx="1295400" cy="457200"/>
          </a:xfrm>
          <a:prstGeom prst="flowChartMagneticDisk">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A/R</a:t>
            </a:r>
          </a:p>
        </p:txBody>
      </p:sp>
      <p:sp>
        <p:nvSpPr>
          <p:cNvPr id="12" name="Flowchart: Magnetic Disk 11">
            <a:extLst>
              <a:ext uri="{FF2B5EF4-FFF2-40B4-BE49-F238E27FC236}">
                <a16:creationId xmlns:a16="http://schemas.microsoft.com/office/drawing/2014/main" id="{346958AC-26BF-4D68-7F12-D9B6925356F2}"/>
              </a:ext>
            </a:extLst>
          </p:cNvPr>
          <p:cNvSpPr/>
          <p:nvPr/>
        </p:nvSpPr>
        <p:spPr>
          <a:xfrm>
            <a:off x="6888823" y="4794321"/>
            <a:ext cx="1295400" cy="457200"/>
          </a:xfrm>
          <a:prstGeom prst="flowChartMagneticDisk">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Cash</a:t>
            </a:r>
          </a:p>
        </p:txBody>
      </p:sp>
    </p:spTree>
    <p:extLst>
      <p:ext uri="{BB962C8B-B14F-4D97-AF65-F5344CB8AC3E}">
        <p14:creationId xmlns:p14="http://schemas.microsoft.com/office/powerpoint/2010/main" val="302013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77115" y="152277"/>
            <a:ext cx="8229600" cy="553998"/>
          </a:xfrm>
        </p:spPr>
        <p:txBody>
          <a:bodyPr anchor="ctr">
            <a:noAutofit/>
          </a:bodyPr>
          <a:lstStyle/>
          <a:p>
            <a:r>
              <a:rPr lang="en-IN" sz="3600" dirty="0">
                <a:latin typeface="+mj-lt"/>
              </a:rPr>
              <a:t>Revenue Cycle Activities</a:t>
            </a:r>
          </a:p>
        </p:txBody>
      </p:sp>
      <p:graphicFrame>
        <p:nvGraphicFramePr>
          <p:cNvPr id="3" name="Diagram 2">
            <a:extLst>
              <a:ext uri="{FF2B5EF4-FFF2-40B4-BE49-F238E27FC236}">
                <a16:creationId xmlns:a16="http://schemas.microsoft.com/office/drawing/2014/main" id="{D730D1A7-AF41-090B-F8F6-8909557764F0}"/>
              </a:ext>
            </a:extLst>
          </p:cNvPr>
          <p:cNvGraphicFramePr/>
          <p:nvPr>
            <p:extLst>
              <p:ext uri="{D42A27DB-BD31-4B8C-83A1-F6EECF244321}">
                <p14:modId xmlns:p14="http://schemas.microsoft.com/office/powerpoint/2010/main" val="1029257335"/>
              </p:ext>
            </p:extLst>
          </p:nvPr>
        </p:nvGraphicFramePr>
        <p:xfrm>
          <a:off x="609600" y="1295400"/>
          <a:ext cx="7924800" cy="416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7632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rrow: Right 2">
            <a:extLst>
              <a:ext uri="{FF2B5EF4-FFF2-40B4-BE49-F238E27FC236}">
                <a16:creationId xmlns:a16="http://schemas.microsoft.com/office/drawing/2014/main" id="{1AF66C02-65A6-EDFC-F641-ED5C402E3785}"/>
              </a:ext>
            </a:extLst>
          </p:cNvPr>
          <p:cNvSpPr/>
          <p:nvPr/>
        </p:nvSpPr>
        <p:spPr>
          <a:xfrm>
            <a:off x="2121880" y="811778"/>
            <a:ext cx="3720574"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Can you sell us x?</a:t>
            </a:r>
          </a:p>
        </p:txBody>
      </p:sp>
      <p:sp>
        <p:nvSpPr>
          <p:cNvPr id="5" name="Arrow: Right 4">
            <a:extLst>
              <a:ext uri="{FF2B5EF4-FFF2-40B4-BE49-F238E27FC236}">
                <a16:creationId xmlns:a16="http://schemas.microsoft.com/office/drawing/2014/main" id="{288E0869-4BDE-6F28-9C53-6BA7B62B171B}"/>
              </a:ext>
            </a:extLst>
          </p:cNvPr>
          <p:cNvSpPr/>
          <p:nvPr/>
        </p:nvSpPr>
        <p:spPr>
          <a:xfrm>
            <a:off x="2284770" y="2060231"/>
            <a:ext cx="3457388" cy="6400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200" dirty="0"/>
              <a:t>Sell us X</a:t>
            </a:r>
          </a:p>
        </p:txBody>
      </p:sp>
      <p:sp>
        <p:nvSpPr>
          <p:cNvPr id="6" name="Arrow: Left 5">
            <a:extLst>
              <a:ext uri="{FF2B5EF4-FFF2-40B4-BE49-F238E27FC236}">
                <a16:creationId xmlns:a16="http://schemas.microsoft.com/office/drawing/2014/main" id="{18206699-86C8-1DA8-4086-BDA5683543C8}"/>
              </a:ext>
            </a:extLst>
          </p:cNvPr>
          <p:cNvSpPr/>
          <p:nvPr/>
        </p:nvSpPr>
        <p:spPr>
          <a:xfrm>
            <a:off x="2719500" y="1433937"/>
            <a:ext cx="2778617" cy="640080"/>
          </a:xfrm>
          <a:prstGeom prst="lef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Yes, price is $40      </a:t>
            </a:r>
          </a:p>
        </p:txBody>
      </p:sp>
      <p:sp>
        <p:nvSpPr>
          <p:cNvPr id="10" name="Oval 9">
            <a:extLst>
              <a:ext uri="{FF2B5EF4-FFF2-40B4-BE49-F238E27FC236}">
                <a16:creationId xmlns:a16="http://schemas.microsoft.com/office/drawing/2014/main" id="{AD778BBE-7F2E-5559-7007-A02B04CFC8A5}"/>
              </a:ext>
            </a:extLst>
          </p:cNvPr>
          <p:cNvSpPr/>
          <p:nvPr/>
        </p:nvSpPr>
        <p:spPr>
          <a:xfrm>
            <a:off x="681345" y="757523"/>
            <a:ext cx="2088178" cy="208329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Buyer</a:t>
            </a:r>
          </a:p>
        </p:txBody>
      </p:sp>
      <p:sp>
        <p:nvSpPr>
          <p:cNvPr id="12" name="Oval 11">
            <a:extLst>
              <a:ext uri="{FF2B5EF4-FFF2-40B4-BE49-F238E27FC236}">
                <a16:creationId xmlns:a16="http://schemas.microsoft.com/office/drawing/2014/main" id="{74C403C6-EFBD-5037-E15D-48C9AC62413D}"/>
              </a:ext>
            </a:extLst>
          </p:cNvPr>
          <p:cNvSpPr/>
          <p:nvPr/>
        </p:nvSpPr>
        <p:spPr>
          <a:xfrm>
            <a:off x="5498117" y="865326"/>
            <a:ext cx="2207973" cy="1733849"/>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Sales Department</a:t>
            </a:r>
          </a:p>
        </p:txBody>
      </p:sp>
      <p:sp>
        <p:nvSpPr>
          <p:cNvPr id="13" name="Oval 12">
            <a:extLst>
              <a:ext uri="{FF2B5EF4-FFF2-40B4-BE49-F238E27FC236}">
                <a16:creationId xmlns:a16="http://schemas.microsoft.com/office/drawing/2014/main" id="{9E0CB013-DF74-ED7A-3C26-541035A49F99}"/>
              </a:ext>
            </a:extLst>
          </p:cNvPr>
          <p:cNvSpPr/>
          <p:nvPr/>
        </p:nvSpPr>
        <p:spPr>
          <a:xfrm>
            <a:off x="1557287" y="3432883"/>
            <a:ext cx="2209800" cy="893925"/>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Shipper</a:t>
            </a:r>
          </a:p>
        </p:txBody>
      </p:sp>
      <p:sp>
        <p:nvSpPr>
          <p:cNvPr id="14" name="Arrow: Left 13">
            <a:extLst>
              <a:ext uri="{FF2B5EF4-FFF2-40B4-BE49-F238E27FC236}">
                <a16:creationId xmlns:a16="http://schemas.microsoft.com/office/drawing/2014/main" id="{4B9D90F2-D5C9-D82E-C3EC-903AFF844F25}"/>
              </a:ext>
            </a:extLst>
          </p:cNvPr>
          <p:cNvSpPr/>
          <p:nvPr/>
        </p:nvSpPr>
        <p:spPr>
          <a:xfrm rot="20901604">
            <a:off x="3596192" y="3240238"/>
            <a:ext cx="2040256" cy="556349"/>
          </a:xfrm>
          <a:prstGeom prst="lef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t>    Stuff</a:t>
            </a:r>
          </a:p>
        </p:txBody>
      </p:sp>
      <p:sp>
        <p:nvSpPr>
          <p:cNvPr id="15" name="Arrow: Left 14">
            <a:extLst>
              <a:ext uri="{FF2B5EF4-FFF2-40B4-BE49-F238E27FC236}">
                <a16:creationId xmlns:a16="http://schemas.microsoft.com/office/drawing/2014/main" id="{2E9C5026-EFD7-224A-C59C-3BE9EE2DDE0E}"/>
              </a:ext>
            </a:extLst>
          </p:cNvPr>
          <p:cNvSpPr/>
          <p:nvPr/>
        </p:nvSpPr>
        <p:spPr>
          <a:xfrm rot="5400000">
            <a:off x="1595788" y="2730683"/>
            <a:ext cx="956551" cy="743129"/>
          </a:xfrm>
          <a:prstGeom prst="lef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Stuff</a:t>
            </a:r>
          </a:p>
        </p:txBody>
      </p:sp>
      <p:sp>
        <p:nvSpPr>
          <p:cNvPr id="16" name="Oval 15">
            <a:extLst>
              <a:ext uri="{FF2B5EF4-FFF2-40B4-BE49-F238E27FC236}">
                <a16:creationId xmlns:a16="http://schemas.microsoft.com/office/drawing/2014/main" id="{8F892B17-FD28-29ED-0BD2-2843F6480853}"/>
              </a:ext>
            </a:extLst>
          </p:cNvPr>
          <p:cNvSpPr/>
          <p:nvPr/>
        </p:nvSpPr>
        <p:spPr>
          <a:xfrm>
            <a:off x="5500740" y="2836249"/>
            <a:ext cx="2209800" cy="893925"/>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Shipping Dept</a:t>
            </a:r>
          </a:p>
        </p:txBody>
      </p:sp>
      <p:sp>
        <p:nvSpPr>
          <p:cNvPr id="21" name="Oval 20">
            <a:extLst>
              <a:ext uri="{FF2B5EF4-FFF2-40B4-BE49-F238E27FC236}">
                <a16:creationId xmlns:a16="http://schemas.microsoft.com/office/drawing/2014/main" id="{27FD5BBB-84B1-660E-A48F-856E4EF9E1D2}"/>
              </a:ext>
            </a:extLst>
          </p:cNvPr>
          <p:cNvSpPr/>
          <p:nvPr/>
        </p:nvSpPr>
        <p:spPr>
          <a:xfrm>
            <a:off x="5930469" y="4032508"/>
            <a:ext cx="1656243" cy="1305839"/>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AR</a:t>
            </a:r>
          </a:p>
        </p:txBody>
      </p:sp>
      <p:sp>
        <p:nvSpPr>
          <p:cNvPr id="23" name="Arrow: Left 22">
            <a:extLst>
              <a:ext uri="{FF2B5EF4-FFF2-40B4-BE49-F238E27FC236}">
                <a16:creationId xmlns:a16="http://schemas.microsoft.com/office/drawing/2014/main" id="{E68C7CA9-7053-BAEE-1766-316EB8FEB231}"/>
              </a:ext>
            </a:extLst>
          </p:cNvPr>
          <p:cNvSpPr/>
          <p:nvPr/>
        </p:nvSpPr>
        <p:spPr>
          <a:xfrm rot="5400000">
            <a:off x="224496" y="3313614"/>
            <a:ext cx="2315926" cy="640080"/>
          </a:xfrm>
          <a:prstGeom prst="lef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4" name="Arrow: Right 23">
            <a:extLst>
              <a:ext uri="{FF2B5EF4-FFF2-40B4-BE49-F238E27FC236}">
                <a16:creationId xmlns:a16="http://schemas.microsoft.com/office/drawing/2014/main" id="{09A27453-9117-1AB6-C625-23917FC8D58A}"/>
              </a:ext>
            </a:extLst>
          </p:cNvPr>
          <p:cNvSpPr/>
          <p:nvPr/>
        </p:nvSpPr>
        <p:spPr>
          <a:xfrm>
            <a:off x="775585" y="4754701"/>
            <a:ext cx="5422490" cy="76466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dirty="0"/>
              <a:t>This is for order #5 </a:t>
            </a:r>
          </a:p>
        </p:txBody>
      </p:sp>
      <p:sp>
        <p:nvSpPr>
          <p:cNvPr id="27" name="Rectangle 26">
            <a:extLst>
              <a:ext uri="{FF2B5EF4-FFF2-40B4-BE49-F238E27FC236}">
                <a16:creationId xmlns:a16="http://schemas.microsoft.com/office/drawing/2014/main" id="{A796556D-5092-4731-34BC-A80217C80929}"/>
              </a:ext>
            </a:extLst>
          </p:cNvPr>
          <p:cNvSpPr/>
          <p:nvPr/>
        </p:nvSpPr>
        <p:spPr>
          <a:xfrm rot="5400000">
            <a:off x="-872466" y="3773142"/>
            <a:ext cx="3666111" cy="3700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err="1"/>
          </a:p>
        </p:txBody>
      </p:sp>
      <p:sp>
        <p:nvSpPr>
          <p:cNvPr id="7" name="Rectangle: Rounded Corners 6">
            <a:extLst>
              <a:ext uri="{FF2B5EF4-FFF2-40B4-BE49-F238E27FC236}">
                <a16:creationId xmlns:a16="http://schemas.microsoft.com/office/drawing/2014/main" id="{1174DD27-1210-1649-E52D-52C99947332D}"/>
              </a:ext>
            </a:extLst>
          </p:cNvPr>
          <p:cNvSpPr/>
          <p:nvPr/>
        </p:nvSpPr>
        <p:spPr>
          <a:xfrm>
            <a:off x="4574146" y="1407981"/>
            <a:ext cx="811964" cy="64982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Sales Quote</a:t>
            </a:r>
          </a:p>
        </p:txBody>
      </p:sp>
      <p:sp>
        <p:nvSpPr>
          <p:cNvPr id="8" name="Rectangle: Rounded Corners 7">
            <a:extLst>
              <a:ext uri="{FF2B5EF4-FFF2-40B4-BE49-F238E27FC236}">
                <a16:creationId xmlns:a16="http://schemas.microsoft.com/office/drawing/2014/main" id="{BB1340F6-D5DB-1532-2338-4C8DF030591A}"/>
              </a:ext>
            </a:extLst>
          </p:cNvPr>
          <p:cNvSpPr/>
          <p:nvPr/>
        </p:nvSpPr>
        <p:spPr>
          <a:xfrm>
            <a:off x="3223489" y="2125091"/>
            <a:ext cx="1032351" cy="649825"/>
          </a:xfrm>
          <a:prstGeom prst="roundRect">
            <a:avLst/>
          </a:prstGeom>
          <a:solidFill>
            <a:schemeClr val="accent4">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Purchase Order</a:t>
            </a:r>
          </a:p>
        </p:txBody>
      </p:sp>
      <p:sp>
        <p:nvSpPr>
          <p:cNvPr id="29" name="Rectangle: Rounded Corners 28">
            <a:extLst>
              <a:ext uri="{FF2B5EF4-FFF2-40B4-BE49-F238E27FC236}">
                <a16:creationId xmlns:a16="http://schemas.microsoft.com/office/drawing/2014/main" id="{5AFD274C-908D-E27F-770C-4EF3E4AFE6B5}"/>
              </a:ext>
            </a:extLst>
          </p:cNvPr>
          <p:cNvSpPr/>
          <p:nvPr/>
        </p:nvSpPr>
        <p:spPr>
          <a:xfrm>
            <a:off x="4616320" y="2908950"/>
            <a:ext cx="1081935" cy="69937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Packing Slip / Bill of Lading</a:t>
            </a:r>
          </a:p>
        </p:txBody>
      </p:sp>
      <p:sp>
        <p:nvSpPr>
          <p:cNvPr id="30" name="Rectangle 29">
            <a:extLst>
              <a:ext uri="{FF2B5EF4-FFF2-40B4-BE49-F238E27FC236}">
                <a16:creationId xmlns:a16="http://schemas.microsoft.com/office/drawing/2014/main" id="{95D26FB5-3696-D391-C49D-D63951F79F87}"/>
              </a:ext>
            </a:extLst>
          </p:cNvPr>
          <p:cNvSpPr/>
          <p:nvPr/>
        </p:nvSpPr>
        <p:spPr>
          <a:xfrm>
            <a:off x="1370371" y="4452367"/>
            <a:ext cx="4678592" cy="33925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Please pay us</a:t>
            </a:r>
          </a:p>
        </p:txBody>
      </p:sp>
      <p:sp>
        <p:nvSpPr>
          <p:cNvPr id="11" name="Rectangle: Rounded Corners 10">
            <a:extLst>
              <a:ext uri="{FF2B5EF4-FFF2-40B4-BE49-F238E27FC236}">
                <a16:creationId xmlns:a16="http://schemas.microsoft.com/office/drawing/2014/main" id="{11F8F3E0-AD40-E1AF-30C7-7C95AC80DEC3}"/>
              </a:ext>
            </a:extLst>
          </p:cNvPr>
          <p:cNvSpPr/>
          <p:nvPr/>
        </p:nvSpPr>
        <p:spPr>
          <a:xfrm>
            <a:off x="4676429" y="4099668"/>
            <a:ext cx="878943" cy="649825"/>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t>Sales Invoice</a:t>
            </a:r>
          </a:p>
        </p:txBody>
      </p:sp>
      <p:sp>
        <p:nvSpPr>
          <p:cNvPr id="31" name="Oval 30">
            <a:extLst>
              <a:ext uri="{FF2B5EF4-FFF2-40B4-BE49-F238E27FC236}">
                <a16:creationId xmlns:a16="http://schemas.microsoft.com/office/drawing/2014/main" id="{F44BD2D8-672D-3C1C-59C8-AD934FEF2397}"/>
              </a:ext>
            </a:extLst>
          </p:cNvPr>
          <p:cNvSpPr/>
          <p:nvPr/>
        </p:nvSpPr>
        <p:spPr>
          <a:xfrm>
            <a:off x="6067721" y="5483179"/>
            <a:ext cx="1803853" cy="1018990"/>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Cashier</a:t>
            </a:r>
          </a:p>
        </p:txBody>
      </p:sp>
      <p:sp>
        <p:nvSpPr>
          <p:cNvPr id="32" name="Arrow: Right 31">
            <a:extLst>
              <a:ext uri="{FF2B5EF4-FFF2-40B4-BE49-F238E27FC236}">
                <a16:creationId xmlns:a16="http://schemas.microsoft.com/office/drawing/2014/main" id="{FADD0AFB-3F7F-3333-3A6A-0DC3A4DAAEDB}"/>
              </a:ext>
            </a:extLst>
          </p:cNvPr>
          <p:cNvSpPr/>
          <p:nvPr/>
        </p:nvSpPr>
        <p:spPr>
          <a:xfrm>
            <a:off x="775585" y="5354301"/>
            <a:ext cx="5422490" cy="76466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dirty="0"/>
              <a:t>Check</a:t>
            </a:r>
          </a:p>
        </p:txBody>
      </p:sp>
      <p:sp>
        <p:nvSpPr>
          <p:cNvPr id="33" name="Rectangle: Rounded Corners 32">
            <a:extLst>
              <a:ext uri="{FF2B5EF4-FFF2-40B4-BE49-F238E27FC236}">
                <a16:creationId xmlns:a16="http://schemas.microsoft.com/office/drawing/2014/main" id="{B8DC3140-C04F-65FC-A304-8A268D7EB1C1}"/>
              </a:ext>
            </a:extLst>
          </p:cNvPr>
          <p:cNvSpPr/>
          <p:nvPr/>
        </p:nvSpPr>
        <p:spPr>
          <a:xfrm>
            <a:off x="2167358" y="4875275"/>
            <a:ext cx="1319472" cy="649825"/>
          </a:xfrm>
          <a:prstGeom prst="roundRect">
            <a:avLst/>
          </a:prstGeom>
          <a:solidFill>
            <a:schemeClr val="accent4">
              <a:lumMod val="20000"/>
              <a:lumOff val="8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Remittance Memo</a:t>
            </a:r>
          </a:p>
        </p:txBody>
      </p:sp>
    </p:spTree>
    <p:extLst>
      <p:ext uri="{BB962C8B-B14F-4D97-AF65-F5344CB8AC3E}">
        <p14:creationId xmlns:p14="http://schemas.microsoft.com/office/powerpoint/2010/main" val="3437997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39305"/>
            <a:ext cx="8229600" cy="1107996"/>
          </a:xfrm>
        </p:spPr>
        <p:txBody>
          <a:bodyPr anchor="ctr">
            <a:noAutofit/>
          </a:bodyPr>
          <a:lstStyle/>
          <a:p>
            <a:r>
              <a:rPr lang="en-IN" sz="3600" dirty="0">
                <a:latin typeface="+mj-lt"/>
              </a:rPr>
              <a:t>General Threats and Controls to Revenue Cycle</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402644"/>
            <a:ext cx="3962400" cy="307777"/>
          </a:xfrm>
          <a:solidFill>
            <a:schemeClr val="bg2"/>
          </a:solidFill>
        </p:spPr>
        <p:txBody>
          <a:bodyPr>
            <a:noAutofit/>
          </a:bodyPr>
          <a:lstStyle/>
          <a:p>
            <a:pPr marL="0" indent="92075">
              <a:buNone/>
            </a:pPr>
            <a:r>
              <a:rPr lang="en-US" sz="20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828800"/>
            <a:ext cx="3962400" cy="2077492"/>
          </a:xfrm>
        </p:spPr>
        <p:txBody>
          <a:bodyPr>
            <a:noAutofit/>
          </a:bodyPr>
          <a:lstStyle/>
          <a:p>
            <a:pPr marL="347663" lvl="0" indent="-347663">
              <a:spcBef>
                <a:spcPts val="0"/>
              </a:spcBef>
              <a:buSzPts val="2000"/>
              <a:buFont typeface="Arial"/>
              <a:buAutoNum type="arabicPeriod"/>
            </a:pPr>
            <a:r>
              <a:rPr lang="en-IN" sz="2000" dirty="0"/>
              <a:t>Inaccurate or invalid master data</a:t>
            </a:r>
          </a:p>
          <a:p>
            <a:pPr marL="347663" lvl="0" indent="-347663">
              <a:spcBef>
                <a:spcPts val="600"/>
              </a:spcBef>
              <a:buSzPts val="2000"/>
              <a:buFont typeface="Arial"/>
              <a:buAutoNum type="arabicPeriod"/>
            </a:pPr>
            <a:r>
              <a:rPr lang="en-IN" sz="2000" dirty="0"/>
              <a:t>Unauthorized disclosure of sensitive information</a:t>
            </a:r>
          </a:p>
          <a:p>
            <a:pPr marL="347663" lvl="0" indent="-347663">
              <a:spcBef>
                <a:spcPts val="600"/>
              </a:spcBef>
              <a:buSzPts val="2000"/>
              <a:buFont typeface="Arial"/>
              <a:buAutoNum type="arabicPeriod"/>
            </a:pPr>
            <a:r>
              <a:rPr lang="en-IN" sz="2000" dirty="0"/>
              <a:t>Loss or destruction of data</a:t>
            </a:r>
          </a:p>
          <a:p>
            <a:pPr marL="347663" lvl="0" indent="-347663">
              <a:spcBef>
                <a:spcPts val="600"/>
              </a:spcBef>
              <a:buSzPts val="2000"/>
              <a:buFont typeface="Arial"/>
              <a:buAutoNum type="arabicPeriod"/>
            </a:pPr>
            <a:r>
              <a:rPr lang="en-IN" sz="2000" dirty="0"/>
              <a:t>Poor performance</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402882"/>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832342"/>
            <a:ext cx="3939540" cy="4339858"/>
          </a:xfrm>
        </p:spPr>
        <p:txBody>
          <a:bodyPr>
            <a:noAutofit/>
          </a:bodyPr>
          <a:lstStyle/>
          <a:p>
            <a:pPr marL="344488" lvl="0" indent="-344488">
              <a:spcBef>
                <a:spcPts val="0"/>
              </a:spcBef>
              <a:buSzPts val="2000"/>
              <a:buFont typeface="+mj-lt"/>
              <a:buAutoNum type="arabicPeriod"/>
              <a:tabLst>
                <a:tab pos="708025" algn="l"/>
              </a:tabLst>
            </a:pPr>
            <a:r>
              <a:rPr lang="en-IN" sz="2000" dirty="0">
                <a:solidFill>
                  <a:srgbClr val="007FA3"/>
                </a:solidFill>
              </a:rPr>
              <a:t>a.	</a:t>
            </a:r>
            <a:r>
              <a:rPr lang="en-IN" sz="2000" dirty="0"/>
              <a:t>Data processing integrity 	controls</a:t>
            </a:r>
          </a:p>
          <a:p>
            <a:pPr marL="717550" lvl="0" indent="-373063">
              <a:spcBef>
                <a:spcPts val="400"/>
              </a:spcBef>
              <a:buSzPts val="2000"/>
              <a:buNone/>
            </a:pPr>
            <a:r>
              <a:rPr lang="en-IN" sz="2000" dirty="0">
                <a:solidFill>
                  <a:srgbClr val="007FA3"/>
                </a:solidFill>
              </a:rPr>
              <a:t>b.</a:t>
            </a:r>
            <a:r>
              <a:rPr lang="en-IN" sz="2000" dirty="0"/>
              <a:t>	Restrict access to master data</a:t>
            </a:r>
          </a:p>
          <a:p>
            <a:pPr marL="717550" lvl="0" indent="-373063">
              <a:spcBef>
                <a:spcPts val="400"/>
              </a:spcBef>
              <a:buSzPts val="2000"/>
              <a:buNone/>
            </a:pPr>
            <a:r>
              <a:rPr lang="en-IN" sz="2000" dirty="0">
                <a:solidFill>
                  <a:srgbClr val="007FA3"/>
                </a:solidFill>
              </a:rPr>
              <a:t>c.</a:t>
            </a:r>
            <a:r>
              <a:rPr lang="en-IN" sz="2000" dirty="0"/>
              <a:t>	Review of all changes to master data</a:t>
            </a:r>
          </a:p>
          <a:p>
            <a:pPr marL="344488" lvl="0" indent="-344488">
              <a:spcBef>
                <a:spcPts val="400"/>
              </a:spcBef>
              <a:buSzPts val="2000"/>
              <a:buFont typeface="+mj-lt"/>
              <a:buAutoNum type="arabicPeriod" startAt="2"/>
              <a:tabLst>
                <a:tab pos="708025" algn="l"/>
              </a:tabLst>
            </a:pPr>
            <a:r>
              <a:rPr lang="en-IN" sz="2000" dirty="0">
                <a:solidFill>
                  <a:srgbClr val="007FA3"/>
                </a:solidFill>
              </a:rPr>
              <a:t>a.</a:t>
            </a:r>
            <a:r>
              <a:rPr lang="en-IN" sz="2000" dirty="0"/>
              <a:t>	Access controls</a:t>
            </a:r>
          </a:p>
          <a:p>
            <a:pPr marL="717550" lvl="0" indent="-373063">
              <a:spcBef>
                <a:spcPts val="400"/>
              </a:spcBef>
              <a:buSzPts val="2000"/>
              <a:buNone/>
            </a:pPr>
            <a:r>
              <a:rPr lang="en-IN" sz="2000" dirty="0">
                <a:solidFill>
                  <a:srgbClr val="007FA3"/>
                </a:solidFill>
              </a:rPr>
              <a:t>b.</a:t>
            </a:r>
            <a:r>
              <a:rPr lang="en-IN" sz="2000" dirty="0"/>
              <a:t>	Encryption</a:t>
            </a:r>
          </a:p>
          <a:p>
            <a:pPr marL="717550" lvl="0" indent="-373063">
              <a:spcBef>
                <a:spcPts val="400"/>
              </a:spcBef>
              <a:buSzPts val="2000"/>
              <a:buNone/>
            </a:pPr>
            <a:r>
              <a:rPr lang="en-IN" sz="2000" dirty="0"/>
              <a:t>c.	Tokenization of customer personal information</a:t>
            </a:r>
          </a:p>
          <a:p>
            <a:pPr marL="344488" lvl="0" indent="-344488">
              <a:spcBef>
                <a:spcPts val="400"/>
              </a:spcBef>
              <a:buSzPts val="2000"/>
              <a:buFont typeface="+mj-lt"/>
              <a:buAutoNum type="arabicPeriod" startAt="3"/>
              <a:tabLst>
                <a:tab pos="708025" algn="l"/>
              </a:tabLst>
            </a:pPr>
            <a:r>
              <a:rPr lang="en-IN" sz="2000" dirty="0">
                <a:solidFill>
                  <a:srgbClr val="007FA3"/>
                </a:solidFill>
              </a:rPr>
              <a:t>a.	</a:t>
            </a:r>
            <a:r>
              <a:rPr lang="en-IN" sz="2000" dirty="0"/>
              <a:t>Backup and disaster 	recovery procedures</a:t>
            </a:r>
          </a:p>
          <a:p>
            <a:pPr marL="344488" lvl="0" indent="-344488">
              <a:spcBef>
                <a:spcPts val="400"/>
              </a:spcBef>
              <a:buSzPts val="2000"/>
              <a:buFont typeface="+mj-lt"/>
              <a:buAutoNum type="arabicPeriod" startAt="3"/>
              <a:tabLst>
                <a:tab pos="738188" algn="l"/>
              </a:tabLst>
            </a:pPr>
            <a:r>
              <a:rPr lang="en-IN" sz="2000" dirty="0">
                <a:solidFill>
                  <a:srgbClr val="007FA3"/>
                </a:solidFill>
              </a:rPr>
              <a:t>a. </a:t>
            </a:r>
            <a:r>
              <a:rPr lang="en-IN" sz="2000" dirty="0"/>
              <a:t>	Managerial reports</a:t>
            </a:r>
          </a:p>
        </p:txBody>
      </p:sp>
    </p:spTree>
    <p:extLst>
      <p:ext uri="{BB962C8B-B14F-4D97-AF65-F5344CB8AC3E}">
        <p14:creationId xmlns:p14="http://schemas.microsoft.com/office/powerpoint/2010/main" val="1456230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7176" y="152277"/>
            <a:ext cx="8229600" cy="553998"/>
          </a:xfrm>
        </p:spPr>
        <p:txBody>
          <a:bodyPr anchor="ctr">
            <a:noAutofit/>
          </a:bodyPr>
          <a:lstStyle/>
          <a:p>
            <a:r>
              <a:rPr lang="en-IN" sz="3600" dirty="0">
                <a:latin typeface="+mj-lt"/>
              </a:rPr>
              <a:t>Sales Order Entry Processing Steps</a:t>
            </a:r>
          </a:p>
        </p:txBody>
      </p:sp>
      <p:sp>
        <p:nvSpPr>
          <p:cNvPr id="2" name="Content Placeholder 1"/>
          <p:cNvSpPr>
            <a:spLocks noGrp="1"/>
          </p:cNvSpPr>
          <p:nvPr>
            <p:ph idx="13"/>
          </p:nvPr>
        </p:nvSpPr>
        <p:spPr>
          <a:xfrm>
            <a:off x="477115" y="1010355"/>
            <a:ext cx="3256685" cy="2462213"/>
          </a:xfrm>
        </p:spPr>
        <p:txBody>
          <a:bodyPr>
            <a:noAutofit/>
          </a:bodyPr>
          <a:lstStyle/>
          <a:p>
            <a:pPr lvl="0">
              <a:spcBef>
                <a:spcPts val="0"/>
              </a:spcBef>
              <a:buSzPts val="2400"/>
            </a:pPr>
            <a:r>
              <a:rPr lang="en-IN" sz="2000" dirty="0"/>
              <a:t>Take the customer order </a:t>
            </a:r>
          </a:p>
          <a:p>
            <a:pPr lvl="1">
              <a:spcBef>
                <a:spcPts val="1200"/>
              </a:spcBef>
              <a:buSzPts val="2000"/>
            </a:pPr>
            <a:r>
              <a:rPr lang="en-IN" sz="2000" b="1" dirty="0"/>
              <a:t>Source document: sales quote</a:t>
            </a:r>
          </a:p>
          <a:p>
            <a:pPr lvl="0">
              <a:spcBef>
                <a:spcPts val="1200"/>
              </a:spcBef>
              <a:buSzPts val="2400"/>
            </a:pPr>
            <a:r>
              <a:rPr lang="en-IN" sz="2000" dirty="0"/>
              <a:t>Approve customer credit</a:t>
            </a:r>
          </a:p>
          <a:p>
            <a:pPr lvl="0">
              <a:spcBef>
                <a:spcPts val="1200"/>
              </a:spcBef>
              <a:buSzPts val="2400"/>
            </a:pPr>
            <a:r>
              <a:rPr lang="en-IN" sz="2000" dirty="0"/>
              <a:t>Check inventory availability</a:t>
            </a:r>
          </a:p>
          <a:p>
            <a:pPr lvl="0">
              <a:spcBef>
                <a:spcPts val="1200"/>
              </a:spcBef>
              <a:buSzPts val="2400"/>
            </a:pPr>
            <a:r>
              <a:rPr lang="en-IN" sz="2000" dirty="0"/>
              <a:t>Respond to customer inquiries</a:t>
            </a:r>
          </a:p>
        </p:txBody>
      </p:sp>
      <p:sp>
        <p:nvSpPr>
          <p:cNvPr id="6" name="TextBox 5">
            <a:extLst>
              <a:ext uri="{FF2B5EF4-FFF2-40B4-BE49-F238E27FC236}">
                <a16:creationId xmlns:a16="http://schemas.microsoft.com/office/drawing/2014/main" id="{6932F491-32B6-A948-F6C5-D2283831D214}"/>
              </a:ext>
            </a:extLst>
          </p:cNvPr>
          <p:cNvSpPr txBox="1"/>
          <p:nvPr/>
        </p:nvSpPr>
        <p:spPr>
          <a:xfrm>
            <a:off x="990600" y="6075444"/>
            <a:ext cx="7561736" cy="276999"/>
          </a:xfrm>
          <a:prstGeom prst="rect">
            <a:avLst/>
          </a:prstGeom>
          <a:noFill/>
        </p:spPr>
        <p:txBody>
          <a:bodyPr wrap="square">
            <a:spAutoFit/>
          </a:bodyPr>
          <a:lstStyle/>
          <a:p>
            <a:r>
              <a:rPr lang="en-US" sz="1200" dirty="0"/>
              <a:t>https://officetemplatesonline.com/free-quotation-templates-for-businesses-and-individuals/</a:t>
            </a:r>
          </a:p>
        </p:txBody>
      </p:sp>
      <p:pic>
        <p:nvPicPr>
          <p:cNvPr id="8" name="Picture 7" descr="A document with a blue and white design&#10;&#10;Description automatically generated with medium confidence">
            <a:extLst>
              <a:ext uri="{FF2B5EF4-FFF2-40B4-BE49-F238E27FC236}">
                <a16:creationId xmlns:a16="http://schemas.microsoft.com/office/drawing/2014/main" id="{AE15B87A-A2FD-496E-14FC-DB49D4CF1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9193" y="838200"/>
            <a:ext cx="4312704" cy="6109665"/>
          </a:xfrm>
          <a:prstGeom prst="rect">
            <a:avLst/>
          </a:prstGeom>
        </p:spPr>
      </p:pic>
    </p:spTree>
    <p:extLst>
      <p:ext uri="{BB962C8B-B14F-4D97-AF65-F5344CB8AC3E}">
        <p14:creationId xmlns:p14="http://schemas.microsoft.com/office/powerpoint/2010/main" val="1257554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Sales Order Entry Processing</a:t>
            </a: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983682"/>
            <a:ext cx="3962400" cy="307777"/>
          </a:xfrm>
          <a:solidFill>
            <a:schemeClr val="bg2"/>
          </a:solidFill>
        </p:spPr>
        <p:txBody>
          <a:bodyPr>
            <a:noAutofit/>
          </a:bodyPr>
          <a:lstStyle/>
          <a:p>
            <a:pPr marL="0" indent="92075">
              <a:buNone/>
            </a:pPr>
            <a:r>
              <a:rPr lang="en-US" sz="18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07015"/>
            <a:ext cx="3962400" cy="1846659"/>
          </a:xfrm>
        </p:spPr>
        <p:txBody>
          <a:bodyPr>
            <a:noAutofit/>
          </a:bodyPr>
          <a:lstStyle/>
          <a:p>
            <a:pPr marL="342900" lvl="0" indent="-342900">
              <a:spcBef>
                <a:spcPts val="0"/>
              </a:spcBef>
              <a:buSzPts val="2000"/>
              <a:buFont typeface="Arial"/>
              <a:buAutoNum type="arabicPeriod"/>
            </a:pPr>
            <a:r>
              <a:rPr lang="en-IN" sz="1800" dirty="0"/>
              <a:t>Incomplete/inaccurate orders</a:t>
            </a:r>
          </a:p>
          <a:p>
            <a:pPr marL="342900" lvl="0" indent="-342900">
              <a:spcBef>
                <a:spcPts val="600"/>
              </a:spcBef>
              <a:buSzPts val="2000"/>
              <a:buFont typeface="Arial"/>
              <a:buAutoNum type="arabicPeriod"/>
            </a:pPr>
            <a:r>
              <a:rPr lang="en-IN" sz="1800" dirty="0"/>
              <a:t>Invalid orders</a:t>
            </a:r>
          </a:p>
          <a:p>
            <a:pPr marL="342900" lvl="0" indent="-342900">
              <a:spcBef>
                <a:spcPts val="600"/>
              </a:spcBef>
              <a:buSzPts val="2000"/>
              <a:buFont typeface="Arial"/>
              <a:buAutoNum type="arabicPeriod"/>
            </a:pPr>
            <a:r>
              <a:rPr lang="en-IN" sz="1800" dirty="0"/>
              <a:t>Uncollectible accounts</a:t>
            </a:r>
          </a:p>
          <a:p>
            <a:pPr marL="342900" lvl="0" indent="-342900">
              <a:spcBef>
                <a:spcPts val="600"/>
              </a:spcBef>
              <a:buSzPts val="2000"/>
              <a:buFont typeface="Arial"/>
              <a:buAutoNum type="arabicPeriod"/>
            </a:pPr>
            <a:r>
              <a:rPr lang="en-IN" sz="1800" dirty="0"/>
              <a:t>Stockouts and excess inventory</a:t>
            </a:r>
          </a:p>
          <a:p>
            <a:pPr marL="342900" lvl="0" indent="-342900">
              <a:spcBef>
                <a:spcPts val="600"/>
              </a:spcBef>
              <a:buSzPts val="2000"/>
              <a:buFont typeface="Arial"/>
              <a:buAutoNum type="arabicPeriod"/>
            </a:pPr>
            <a:r>
              <a:rPr lang="en-IN" sz="1800" dirty="0"/>
              <a:t>Loss of customers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983920"/>
            <a:ext cx="3939540" cy="307777"/>
          </a:xfrm>
          <a:solidFill>
            <a:schemeClr val="bg2"/>
          </a:solidFill>
        </p:spPr>
        <p:txBody>
          <a:bodyPr>
            <a:noAutofit/>
          </a:bodyPr>
          <a:lstStyle/>
          <a:p>
            <a:pPr marL="0" indent="92075">
              <a:spcBef>
                <a:spcPts val="0"/>
              </a:spcBef>
              <a:buSzPts val="2400"/>
              <a:buNone/>
            </a:pPr>
            <a:r>
              <a:rPr lang="en-US" sz="18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10557"/>
            <a:ext cx="3939540" cy="3999644"/>
          </a:xfrm>
        </p:spPr>
        <p:txBody>
          <a:bodyPr>
            <a:noAutofit/>
          </a:bodyPr>
          <a:lstStyle/>
          <a:p>
            <a:pPr marL="344488" lvl="0" indent="-344488">
              <a:spcBef>
                <a:spcPts val="0"/>
              </a:spcBef>
              <a:buSzPts val="2000"/>
              <a:buFont typeface="+mj-lt"/>
              <a:buAutoNum type="arabicPeriod"/>
              <a:tabLst>
                <a:tab pos="717550" algn="l"/>
              </a:tabLst>
            </a:pPr>
            <a:r>
              <a:rPr lang="en-IN" sz="1800" dirty="0">
                <a:solidFill>
                  <a:srgbClr val="007FA3"/>
                </a:solidFill>
              </a:rPr>
              <a:t>a.	</a:t>
            </a:r>
            <a:r>
              <a:rPr lang="en-IN" sz="1800" dirty="0"/>
              <a:t>Data entry edit controls</a:t>
            </a:r>
          </a:p>
          <a:p>
            <a:pPr marL="738188" lvl="0" indent="-393700">
              <a:spcBef>
                <a:spcPts val="400"/>
              </a:spcBef>
              <a:buSzPts val="2000"/>
              <a:buNone/>
            </a:pPr>
            <a:r>
              <a:rPr lang="en-IN" sz="1800" dirty="0">
                <a:solidFill>
                  <a:srgbClr val="007FA3"/>
                </a:solidFill>
              </a:rPr>
              <a:t>b.</a:t>
            </a:r>
            <a:r>
              <a:rPr lang="en-IN" sz="1800" dirty="0"/>
              <a:t>	Restrict access to master data to maintain accuracy</a:t>
            </a:r>
          </a:p>
          <a:p>
            <a:pPr marL="344488" lvl="0" indent="-344488">
              <a:spcBef>
                <a:spcPts val="400"/>
              </a:spcBef>
              <a:buSzPts val="2000"/>
              <a:buFont typeface="+mj-lt"/>
              <a:buAutoNum type="arabicPeriod" startAt="2"/>
              <a:tabLst>
                <a:tab pos="717550" algn="l"/>
              </a:tabLst>
            </a:pPr>
            <a:r>
              <a:rPr lang="en-IN" sz="1800" dirty="0">
                <a:solidFill>
                  <a:srgbClr val="007FA3"/>
                </a:solidFill>
              </a:rPr>
              <a:t>a.	</a:t>
            </a:r>
            <a:r>
              <a:rPr lang="en-IN" sz="1800" dirty="0"/>
              <a:t>Signature to authorize sale</a:t>
            </a:r>
          </a:p>
          <a:p>
            <a:pPr marL="344488" lvl="0" indent="-344488">
              <a:spcBef>
                <a:spcPts val="400"/>
              </a:spcBef>
              <a:buSzPts val="2000"/>
              <a:buFont typeface="+mj-lt"/>
              <a:buAutoNum type="arabicPeriod" startAt="3"/>
              <a:tabLst>
                <a:tab pos="717550" algn="l"/>
              </a:tabLst>
            </a:pPr>
            <a:r>
              <a:rPr lang="en-IN" sz="1800" dirty="0">
                <a:solidFill>
                  <a:srgbClr val="007FA3"/>
                </a:solidFill>
              </a:rPr>
              <a:t>a.</a:t>
            </a:r>
            <a:r>
              <a:rPr lang="en-IN" sz="1800" dirty="0"/>
              <a:t>	Credit limits checked and if 	sale exceeds limit, specific 	authorization needed</a:t>
            </a:r>
          </a:p>
          <a:p>
            <a:pPr marL="708025" lvl="0" indent="-363538">
              <a:spcBef>
                <a:spcPts val="400"/>
              </a:spcBef>
              <a:buSzPts val="2000"/>
              <a:buNone/>
            </a:pPr>
            <a:r>
              <a:rPr lang="en-IN" sz="1800" dirty="0">
                <a:solidFill>
                  <a:srgbClr val="007FA3"/>
                </a:solidFill>
              </a:rPr>
              <a:t>b.</a:t>
            </a:r>
            <a:r>
              <a:rPr lang="en-IN" sz="1800" dirty="0"/>
              <a:t>	Aging of accounts receivable</a:t>
            </a:r>
          </a:p>
          <a:p>
            <a:pPr marL="344488" lvl="0" indent="-344488">
              <a:spcBef>
                <a:spcPts val="400"/>
              </a:spcBef>
              <a:buSzPts val="2000"/>
              <a:buFont typeface="+mj-lt"/>
              <a:buAutoNum type="arabicPeriod" startAt="4"/>
              <a:tabLst>
                <a:tab pos="717550" algn="l"/>
              </a:tabLst>
            </a:pPr>
            <a:r>
              <a:rPr lang="en-IN" sz="1800" dirty="0">
                <a:solidFill>
                  <a:srgbClr val="007FA3"/>
                </a:solidFill>
              </a:rPr>
              <a:t>a.</a:t>
            </a:r>
            <a:r>
              <a:rPr lang="en-IN" sz="1800" dirty="0"/>
              <a:t>	Perpetual inventory system</a:t>
            </a:r>
          </a:p>
          <a:p>
            <a:pPr marL="708025" lvl="0" indent="-363538">
              <a:spcBef>
                <a:spcPts val="400"/>
              </a:spcBef>
              <a:buSzPts val="2000"/>
              <a:buNone/>
            </a:pPr>
            <a:r>
              <a:rPr lang="en-IN" sz="1800" dirty="0">
                <a:solidFill>
                  <a:srgbClr val="007FA3"/>
                </a:solidFill>
              </a:rPr>
              <a:t>b.	</a:t>
            </a:r>
            <a:r>
              <a:rPr lang="en-IN" sz="1800" dirty="0"/>
              <a:t>RFID or bar code technology</a:t>
            </a:r>
          </a:p>
          <a:p>
            <a:pPr marL="708025" lvl="0" indent="-363538">
              <a:spcBef>
                <a:spcPts val="400"/>
              </a:spcBef>
              <a:buSzPts val="2000"/>
              <a:buNone/>
            </a:pPr>
            <a:r>
              <a:rPr lang="en-IN" sz="1800" dirty="0">
                <a:solidFill>
                  <a:srgbClr val="007FA3"/>
                </a:solidFill>
              </a:rPr>
              <a:t>c. </a:t>
            </a:r>
            <a:r>
              <a:rPr lang="en-IN" sz="1800" dirty="0"/>
              <a:t>	Physical inventory counts</a:t>
            </a:r>
          </a:p>
          <a:p>
            <a:pPr marL="708025" lvl="0" indent="-363538">
              <a:spcBef>
                <a:spcPts val="400"/>
              </a:spcBef>
              <a:buSzPts val="2000"/>
              <a:buNone/>
            </a:pPr>
            <a:r>
              <a:rPr lang="en-IN" sz="1800" dirty="0">
                <a:solidFill>
                  <a:srgbClr val="007FA3"/>
                </a:solidFill>
              </a:rPr>
              <a:t>d.</a:t>
            </a:r>
            <a:r>
              <a:rPr lang="en-IN" sz="1800" dirty="0"/>
              <a:t>	Sales forecast and activity reports</a:t>
            </a:r>
          </a:p>
        </p:txBody>
      </p:sp>
    </p:spTree>
    <p:extLst>
      <p:ext uri="{BB962C8B-B14F-4D97-AF65-F5344CB8AC3E}">
        <p14:creationId xmlns:p14="http://schemas.microsoft.com/office/powerpoint/2010/main" val="192715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7176" y="152276"/>
            <a:ext cx="3190424" cy="1143123"/>
          </a:xfrm>
        </p:spPr>
        <p:txBody>
          <a:bodyPr anchor="ctr">
            <a:noAutofit/>
          </a:bodyPr>
          <a:lstStyle/>
          <a:p>
            <a:r>
              <a:rPr lang="en-IN" sz="3600" dirty="0">
                <a:latin typeface="+mj-lt"/>
              </a:rPr>
              <a:t>Shipping Process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67176" y="1575575"/>
            <a:ext cx="3409085" cy="5314245"/>
          </a:xfrm>
        </p:spPr>
        <p:txBody>
          <a:bodyPr>
            <a:noAutofit/>
          </a:bodyPr>
          <a:lstStyle/>
          <a:p>
            <a:pPr lvl="0">
              <a:spcBef>
                <a:spcPts val="0"/>
              </a:spcBef>
              <a:buSzPts val="2400"/>
            </a:pPr>
            <a:r>
              <a:rPr lang="en-IN" sz="2000" dirty="0"/>
              <a:t>Pick and pack the order</a:t>
            </a:r>
          </a:p>
          <a:p>
            <a:pPr lvl="1">
              <a:spcBef>
                <a:spcPts val="900"/>
              </a:spcBef>
              <a:buSzPts val="2000"/>
            </a:pPr>
            <a:r>
              <a:rPr lang="en-IN" sz="2000" dirty="0"/>
              <a:t>Source documents: picking ticket</a:t>
            </a:r>
          </a:p>
          <a:p>
            <a:pPr lvl="0">
              <a:spcBef>
                <a:spcPts val="900"/>
              </a:spcBef>
              <a:buSzPts val="2400"/>
            </a:pPr>
            <a:r>
              <a:rPr lang="en-IN" sz="2000" dirty="0"/>
              <a:t>Ship the order</a:t>
            </a:r>
          </a:p>
          <a:p>
            <a:pPr lvl="1">
              <a:spcBef>
                <a:spcPts val="900"/>
              </a:spcBef>
              <a:buSzPts val="2000"/>
            </a:pPr>
            <a:r>
              <a:rPr lang="en-IN" sz="2000" dirty="0"/>
              <a:t>Source documents: </a:t>
            </a:r>
          </a:p>
          <a:p>
            <a:pPr lvl="1">
              <a:spcBef>
                <a:spcPts val="900"/>
              </a:spcBef>
              <a:buSzPts val="2000"/>
            </a:pPr>
            <a:r>
              <a:rPr lang="en-IN" sz="2000" dirty="0"/>
              <a:t>Packing slip (contents of shipment) </a:t>
            </a:r>
          </a:p>
          <a:p>
            <a:pPr lvl="1">
              <a:spcBef>
                <a:spcPts val="900"/>
              </a:spcBef>
              <a:buSzPts val="2000"/>
            </a:pPr>
            <a:r>
              <a:rPr lang="en-IN" sz="2000" dirty="0"/>
              <a:t>Bill of lading (legal transfer of ownership)</a:t>
            </a:r>
          </a:p>
        </p:txBody>
      </p:sp>
      <p:pic>
        <p:nvPicPr>
          <p:cNvPr id="4" name="Picture 3" descr="A close-up of a receipt&#10;&#10;Description automatically generated">
            <a:extLst>
              <a:ext uri="{FF2B5EF4-FFF2-40B4-BE49-F238E27FC236}">
                <a16:creationId xmlns:a16="http://schemas.microsoft.com/office/drawing/2014/main" id="{CE814762-A8DF-F9A3-8E95-3845298D5B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31820"/>
            <a:ext cx="5350343" cy="6858000"/>
          </a:xfrm>
          <a:prstGeom prst="rect">
            <a:avLst/>
          </a:prstGeom>
        </p:spPr>
      </p:pic>
      <p:sp>
        <p:nvSpPr>
          <p:cNvPr id="6" name="TextBox 5">
            <a:extLst>
              <a:ext uri="{FF2B5EF4-FFF2-40B4-BE49-F238E27FC236}">
                <a16:creationId xmlns:a16="http://schemas.microsoft.com/office/drawing/2014/main" id="{BD591433-5B84-B4F3-5CFA-516F15FA83AB}"/>
              </a:ext>
            </a:extLst>
          </p:cNvPr>
          <p:cNvSpPr txBox="1"/>
          <p:nvPr/>
        </p:nvSpPr>
        <p:spPr>
          <a:xfrm>
            <a:off x="36007" y="5943600"/>
            <a:ext cx="4617216" cy="276999"/>
          </a:xfrm>
          <a:prstGeom prst="rect">
            <a:avLst/>
          </a:prstGeom>
          <a:noFill/>
        </p:spPr>
        <p:txBody>
          <a:bodyPr wrap="square">
            <a:spAutoFit/>
          </a:bodyPr>
          <a:lstStyle/>
          <a:p>
            <a:r>
              <a:rPr lang="en-US" sz="1200" dirty="0"/>
              <a:t>https://www.vertex42.com/ExcelTemplates/packing-slip.html</a:t>
            </a:r>
          </a:p>
        </p:txBody>
      </p:sp>
    </p:spTree>
    <p:extLst>
      <p:ext uri="{BB962C8B-B14F-4D97-AF65-F5344CB8AC3E}">
        <p14:creationId xmlns:p14="http://schemas.microsoft.com/office/powerpoint/2010/main" val="276153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Shipping Process </a:t>
            </a:r>
            <a:r>
              <a:rPr lang="en-IN" sz="2800" dirty="0">
                <a:latin typeface="+mj-lt"/>
              </a:rPr>
              <a:t>(2 of 2)</a:t>
            </a:r>
            <a:endParaRPr lang="en-IN" sz="3600" dirty="0">
              <a:latin typeface="+mj-lt"/>
            </a:endParaRP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914400"/>
            <a:ext cx="3962400" cy="307777"/>
          </a:xfrm>
          <a:solidFill>
            <a:schemeClr val="bg2"/>
          </a:solidFill>
        </p:spPr>
        <p:txBody>
          <a:bodyPr>
            <a:noAutofit/>
          </a:bodyPr>
          <a:lstStyle/>
          <a:p>
            <a:pPr marL="0" indent="92075">
              <a:buNone/>
            </a:pPr>
            <a:r>
              <a:rPr lang="en-US" sz="20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337733"/>
            <a:ext cx="3962400" cy="2308324"/>
          </a:xfrm>
        </p:spPr>
        <p:txBody>
          <a:bodyPr>
            <a:noAutofit/>
          </a:bodyPr>
          <a:lstStyle/>
          <a:p>
            <a:pPr marL="342900" lvl="0" indent="-342900">
              <a:spcBef>
                <a:spcPts val="0"/>
              </a:spcBef>
              <a:buSzPts val="2000"/>
              <a:buFont typeface="Arial"/>
              <a:buAutoNum type="arabicPeriod"/>
            </a:pPr>
            <a:r>
              <a:rPr lang="en-IN" sz="2000" dirty="0"/>
              <a:t>Picking wrong item or quantity to ship</a:t>
            </a:r>
          </a:p>
          <a:p>
            <a:pPr marL="342900" lvl="0" indent="-342900">
              <a:spcBef>
                <a:spcPts val="600"/>
              </a:spcBef>
              <a:buSzPts val="2000"/>
              <a:buFont typeface="Arial"/>
              <a:buAutoNum type="arabicPeriod"/>
            </a:pPr>
            <a:r>
              <a:rPr lang="en-IN" sz="2000" dirty="0"/>
              <a:t>Theft of inventory</a:t>
            </a:r>
          </a:p>
          <a:p>
            <a:pPr marL="342900" lvl="0" indent="-342900">
              <a:spcBef>
                <a:spcPts val="600"/>
              </a:spcBef>
              <a:buSzPts val="2000"/>
              <a:buFont typeface="Arial"/>
              <a:buAutoNum type="arabicPeriod"/>
            </a:pPr>
            <a:r>
              <a:rPr lang="en-IN" sz="2000" dirty="0"/>
              <a:t>Shipping errors (fail to ship the goods, wrong quantities, wrong items, ship to wrong address, duplication)</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914638"/>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336515"/>
            <a:ext cx="3939540" cy="4933392"/>
          </a:xfrm>
        </p:spPr>
        <p:txBody>
          <a:bodyPr>
            <a:noAutofit/>
          </a:bodyPr>
          <a:lstStyle/>
          <a:p>
            <a:pPr marL="393700" indent="-393700">
              <a:spcBef>
                <a:spcPts val="0"/>
              </a:spcBef>
              <a:buSzPts val="2000"/>
              <a:buFont typeface="+mj-lt"/>
              <a:buAutoNum type="arabicPeriod"/>
              <a:tabLst>
                <a:tab pos="747713" algn="l"/>
              </a:tabLst>
            </a:pPr>
            <a:r>
              <a:rPr lang="en-IN" sz="2000" dirty="0">
                <a:solidFill>
                  <a:srgbClr val="007FA3"/>
                </a:solidFill>
              </a:rPr>
              <a:t>a. </a:t>
            </a:r>
            <a:r>
              <a:rPr lang="en-IN" sz="2000" dirty="0"/>
              <a:t>	Bar code technology</a:t>
            </a:r>
          </a:p>
          <a:p>
            <a:pPr marL="766763" indent="-382588">
              <a:spcBef>
                <a:spcPts val="400"/>
              </a:spcBef>
              <a:buSzPts val="2000"/>
              <a:buNone/>
            </a:pPr>
            <a:r>
              <a:rPr lang="en-IN" sz="2000" dirty="0">
                <a:solidFill>
                  <a:srgbClr val="007FA3"/>
                </a:solidFill>
              </a:rPr>
              <a:t>b. </a:t>
            </a:r>
            <a:r>
              <a:rPr lang="en-IN" sz="2000" dirty="0"/>
              <a:t>	Reconcile picking list to sales order</a:t>
            </a:r>
          </a:p>
          <a:p>
            <a:pPr marL="393700" indent="-393700">
              <a:spcBef>
                <a:spcPts val="400"/>
              </a:spcBef>
              <a:buSzPts val="2000"/>
              <a:buFont typeface="+mj-lt"/>
              <a:buAutoNum type="arabicPeriod" startAt="2"/>
              <a:tabLst>
                <a:tab pos="727075" algn="l"/>
              </a:tabLst>
            </a:pPr>
            <a:r>
              <a:rPr lang="en-IN" sz="2000" dirty="0">
                <a:solidFill>
                  <a:srgbClr val="007FA3"/>
                </a:solidFill>
              </a:rPr>
              <a:t>a.</a:t>
            </a:r>
            <a:r>
              <a:rPr lang="en-IN" sz="2000" dirty="0"/>
              <a:t>	Restrict physical access to 	inventory</a:t>
            </a:r>
          </a:p>
          <a:p>
            <a:pPr marL="747713" indent="-363538">
              <a:spcBef>
                <a:spcPts val="400"/>
              </a:spcBef>
              <a:buSzPts val="2000"/>
              <a:buNone/>
            </a:pPr>
            <a:r>
              <a:rPr lang="en-IN" sz="2000" dirty="0">
                <a:solidFill>
                  <a:srgbClr val="007FA3"/>
                </a:solidFill>
              </a:rPr>
              <a:t>b.</a:t>
            </a:r>
            <a:r>
              <a:rPr lang="en-IN" sz="2000" dirty="0"/>
              <a:t>	 Document inventory transfers</a:t>
            </a:r>
          </a:p>
          <a:p>
            <a:pPr marL="747713" indent="-363538">
              <a:spcBef>
                <a:spcPts val="400"/>
              </a:spcBef>
              <a:buSzPts val="2000"/>
              <a:buNone/>
            </a:pPr>
            <a:r>
              <a:rPr lang="en-IN" sz="2000" dirty="0">
                <a:solidFill>
                  <a:srgbClr val="007FA3"/>
                </a:solidFill>
              </a:rPr>
              <a:t>c. </a:t>
            </a:r>
            <a:r>
              <a:rPr lang="en-IN" sz="2000" dirty="0"/>
              <a:t>	Physical counts of inventory and reconcile to quantities recorded </a:t>
            </a:r>
          </a:p>
          <a:p>
            <a:pPr marL="393700" indent="-393700">
              <a:spcBef>
                <a:spcPts val="400"/>
              </a:spcBef>
              <a:buSzPts val="2000"/>
              <a:buFont typeface="+mj-lt"/>
              <a:buAutoNum type="arabicPeriod" startAt="3"/>
              <a:tabLst>
                <a:tab pos="717550" algn="l"/>
              </a:tabLst>
            </a:pPr>
            <a:r>
              <a:rPr lang="en-IN" sz="2000" dirty="0">
                <a:solidFill>
                  <a:srgbClr val="007FA3"/>
                </a:solidFill>
              </a:rPr>
              <a:t>a. </a:t>
            </a:r>
            <a:r>
              <a:rPr lang="en-IN" sz="2000" dirty="0"/>
              <a:t>	Reconcile shipping 	documents to sales orders, 	picking lists, and packing 	slips</a:t>
            </a:r>
          </a:p>
          <a:p>
            <a:pPr marL="720725" indent="-336550">
              <a:spcBef>
                <a:spcPts val="400"/>
              </a:spcBef>
              <a:buSzPts val="2000"/>
              <a:buNone/>
            </a:pPr>
            <a:r>
              <a:rPr lang="en-IN" sz="2000" dirty="0">
                <a:solidFill>
                  <a:srgbClr val="007FA3"/>
                </a:solidFill>
              </a:rPr>
              <a:t>b. </a:t>
            </a:r>
            <a:r>
              <a:rPr lang="en-IN" sz="2000" dirty="0"/>
              <a:t>Data entry edit controls</a:t>
            </a:r>
          </a:p>
        </p:txBody>
      </p:sp>
    </p:spTree>
    <p:extLst>
      <p:ext uri="{BB962C8B-B14F-4D97-AF65-F5344CB8AC3E}">
        <p14:creationId xmlns:p14="http://schemas.microsoft.com/office/powerpoint/2010/main" val="2507422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7176" y="152277"/>
            <a:ext cx="8229600" cy="553998"/>
          </a:xfrm>
        </p:spPr>
        <p:txBody>
          <a:bodyPr anchor="ctr">
            <a:noAutofit/>
          </a:bodyPr>
          <a:lstStyle/>
          <a:p>
            <a:r>
              <a:rPr lang="en-IN" sz="3600" dirty="0">
                <a:latin typeface="+mj-lt"/>
              </a:rPr>
              <a:t>Billing Process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77115" y="1010354"/>
            <a:ext cx="3332885" cy="5390445"/>
          </a:xfrm>
        </p:spPr>
        <p:txBody>
          <a:bodyPr>
            <a:noAutofit/>
          </a:bodyPr>
          <a:lstStyle/>
          <a:p>
            <a:pPr lvl="0">
              <a:spcBef>
                <a:spcPts val="0"/>
              </a:spcBef>
              <a:buSzPts val="2400"/>
            </a:pPr>
            <a:r>
              <a:rPr lang="en-IN" sz="2400" dirty="0"/>
              <a:t>Invoicing the customer</a:t>
            </a:r>
          </a:p>
          <a:p>
            <a:pPr lvl="1">
              <a:spcBef>
                <a:spcPts val="1200"/>
              </a:spcBef>
              <a:buSzPts val="2000"/>
            </a:pPr>
            <a:r>
              <a:rPr lang="en-IN" sz="2400" dirty="0"/>
              <a:t>Source document: sales invoice</a:t>
            </a:r>
          </a:p>
          <a:p>
            <a:pPr lvl="0">
              <a:spcBef>
                <a:spcPts val="1200"/>
              </a:spcBef>
              <a:buSzPts val="2400"/>
            </a:pPr>
            <a:r>
              <a:rPr lang="en-IN" sz="2400" dirty="0"/>
              <a:t>Updating accounts receivable</a:t>
            </a:r>
          </a:p>
          <a:p>
            <a:pPr lvl="1">
              <a:spcBef>
                <a:spcPts val="1200"/>
              </a:spcBef>
              <a:buSzPts val="2000"/>
            </a:pPr>
            <a:r>
              <a:rPr lang="en-IN" sz="2400" dirty="0"/>
              <a:t>Source document: credit memo and monthly statements</a:t>
            </a:r>
          </a:p>
        </p:txBody>
      </p:sp>
      <p:sp>
        <p:nvSpPr>
          <p:cNvPr id="4" name="TextBox 3">
            <a:extLst>
              <a:ext uri="{FF2B5EF4-FFF2-40B4-BE49-F238E27FC236}">
                <a16:creationId xmlns:a16="http://schemas.microsoft.com/office/drawing/2014/main" id="{2605B683-CF1A-2DF0-6DC0-79E2C210F962}"/>
              </a:ext>
            </a:extLst>
          </p:cNvPr>
          <p:cNvSpPr txBox="1"/>
          <p:nvPr/>
        </p:nvSpPr>
        <p:spPr>
          <a:xfrm>
            <a:off x="152400" y="5638800"/>
            <a:ext cx="4572000" cy="307777"/>
          </a:xfrm>
          <a:prstGeom prst="rect">
            <a:avLst/>
          </a:prstGeom>
          <a:noFill/>
        </p:spPr>
        <p:txBody>
          <a:bodyPr wrap="square">
            <a:spAutoFit/>
          </a:bodyPr>
          <a:lstStyle/>
          <a:p>
            <a:r>
              <a:rPr lang="en-US" sz="1400" dirty="0"/>
              <a:t>https://www.pandadoc.com/invoice-templates/</a:t>
            </a:r>
          </a:p>
        </p:txBody>
      </p:sp>
      <p:pic>
        <p:nvPicPr>
          <p:cNvPr id="8" name="Picture 7">
            <a:extLst>
              <a:ext uri="{FF2B5EF4-FFF2-40B4-BE49-F238E27FC236}">
                <a16:creationId xmlns:a16="http://schemas.microsoft.com/office/drawing/2014/main" id="{9328A791-FC7C-3ED6-3E1A-72A6DA3714C7}"/>
              </a:ext>
            </a:extLst>
          </p:cNvPr>
          <p:cNvPicPr>
            <a:picLocks noChangeAspect="1"/>
          </p:cNvPicPr>
          <p:nvPr/>
        </p:nvPicPr>
        <p:blipFill>
          <a:blip r:embed="rId3"/>
          <a:stretch>
            <a:fillRect/>
          </a:stretch>
        </p:blipFill>
        <p:spPr>
          <a:xfrm>
            <a:off x="5363310" y="10048"/>
            <a:ext cx="3448821" cy="6858000"/>
          </a:xfrm>
          <a:prstGeom prst="rect">
            <a:avLst/>
          </a:prstGeom>
        </p:spPr>
      </p:pic>
    </p:spTree>
    <p:extLst>
      <p:ext uri="{BB962C8B-B14F-4D97-AF65-F5344CB8AC3E}">
        <p14:creationId xmlns:p14="http://schemas.microsoft.com/office/powerpoint/2010/main" val="2943547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Billing Process </a:t>
            </a:r>
            <a:r>
              <a:rPr lang="en-IN" sz="2800" dirty="0">
                <a:latin typeface="+mj-lt"/>
              </a:rPr>
              <a:t>(2 of 2)</a:t>
            </a:r>
            <a:endParaRPr lang="en-IN" sz="3600" dirty="0">
              <a:latin typeface="+mj-lt"/>
            </a:endParaRP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07777"/>
          </a:xfrm>
          <a:solidFill>
            <a:schemeClr val="bg2"/>
          </a:solidFill>
        </p:spPr>
        <p:txBody>
          <a:bodyPr>
            <a:noAutofit/>
          </a:bodyPr>
          <a:lstStyle/>
          <a:p>
            <a:pPr marL="0" indent="92075">
              <a:buNone/>
            </a:pPr>
            <a:r>
              <a:rPr lang="en-US"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36511"/>
            <a:ext cx="3962400" cy="1215717"/>
          </a:xfrm>
        </p:spPr>
        <p:txBody>
          <a:bodyPr>
            <a:noAutofit/>
          </a:bodyPr>
          <a:lstStyle/>
          <a:p>
            <a:pPr marL="342900" lvl="0" indent="-342900">
              <a:spcBef>
                <a:spcPts val="0"/>
              </a:spcBef>
              <a:buSzPts val="1600"/>
              <a:buFont typeface="Arial"/>
              <a:buAutoNum type="arabicPeriod"/>
            </a:pPr>
            <a:r>
              <a:rPr lang="en-IN" dirty="0"/>
              <a:t>Failure to bill customer</a:t>
            </a:r>
          </a:p>
          <a:p>
            <a:pPr marL="342900" lvl="0" indent="-342900">
              <a:spcBef>
                <a:spcPts val="600"/>
              </a:spcBef>
              <a:buSzPts val="1600"/>
              <a:buFont typeface="Arial"/>
              <a:buAutoNum type="arabicPeriod"/>
            </a:pPr>
            <a:r>
              <a:rPr lang="en-IN" dirty="0"/>
              <a:t>Billing errors</a:t>
            </a:r>
          </a:p>
          <a:p>
            <a:pPr marL="342900" lvl="0" indent="-342900">
              <a:spcBef>
                <a:spcPts val="600"/>
              </a:spcBef>
              <a:buSzPts val="1600"/>
              <a:buFont typeface="Arial"/>
              <a:buAutoNum type="arabicPeriod"/>
            </a:pPr>
            <a:r>
              <a:rPr lang="en-IN" dirty="0"/>
              <a:t>Posting errors in accounts receivable</a:t>
            </a:r>
          </a:p>
          <a:p>
            <a:pPr marL="342900" lvl="0" indent="-342900">
              <a:spcBef>
                <a:spcPts val="600"/>
              </a:spcBef>
              <a:buSzPts val="1600"/>
              <a:buFont typeface="Arial"/>
              <a:buAutoNum type="arabicPeriod"/>
            </a:pPr>
            <a:r>
              <a:rPr lang="en-IN" dirty="0"/>
              <a:t>Inaccurate or invalid credit memos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07777"/>
          </a:xfrm>
          <a:solidFill>
            <a:schemeClr val="bg2"/>
          </a:solidFill>
        </p:spPr>
        <p:txBody>
          <a:bodyPr>
            <a:noAutofit/>
          </a:bodyPr>
          <a:lstStyle/>
          <a:p>
            <a:pPr marL="0" indent="92075">
              <a:spcBef>
                <a:spcPts val="0"/>
              </a:spcBef>
              <a:buSzPts val="2400"/>
              <a:buNone/>
            </a:pPr>
            <a:r>
              <a:rPr lang="en-US"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40053"/>
            <a:ext cx="3939540" cy="4732147"/>
          </a:xfrm>
        </p:spPr>
        <p:txBody>
          <a:bodyPr>
            <a:noAutofit/>
          </a:bodyPr>
          <a:lstStyle/>
          <a:p>
            <a:pPr marL="304800" lvl="0" indent="-304800">
              <a:spcBef>
                <a:spcPts val="0"/>
              </a:spcBef>
              <a:buSzPts val="1600"/>
              <a:buFont typeface="+mj-lt"/>
              <a:buAutoNum type="arabicPeriod"/>
              <a:tabLst>
                <a:tab pos="590550" algn="l"/>
              </a:tabLst>
            </a:pPr>
            <a:r>
              <a:rPr lang="en-IN" dirty="0">
                <a:solidFill>
                  <a:srgbClr val="007FA3"/>
                </a:solidFill>
              </a:rPr>
              <a:t>a.</a:t>
            </a:r>
            <a:r>
              <a:rPr lang="en-IN" dirty="0"/>
              <a:t>	Reconcile invoices with sales orders 	and shipping documents</a:t>
            </a:r>
          </a:p>
          <a:p>
            <a:pPr marL="590550" lvl="0" indent="-285750">
              <a:spcBef>
                <a:spcPts val="200"/>
              </a:spcBef>
              <a:buSzPts val="1600"/>
              <a:buNone/>
            </a:pPr>
            <a:r>
              <a:rPr lang="en-IN" dirty="0">
                <a:solidFill>
                  <a:srgbClr val="007FA3"/>
                </a:solidFill>
              </a:rPr>
              <a:t>b.	</a:t>
            </a:r>
            <a:r>
              <a:rPr lang="en-IN" dirty="0"/>
              <a:t>Separate shipping and billing functions</a:t>
            </a:r>
          </a:p>
          <a:p>
            <a:pPr marL="304800" lvl="0" indent="-304800">
              <a:spcBef>
                <a:spcPts val="400"/>
              </a:spcBef>
              <a:buSzPts val="1600"/>
              <a:buFont typeface="+mj-lt"/>
              <a:buAutoNum type="arabicPeriod" startAt="2"/>
              <a:tabLst>
                <a:tab pos="590550" algn="l"/>
              </a:tabLst>
            </a:pPr>
            <a:r>
              <a:rPr lang="en-IN" dirty="0">
                <a:solidFill>
                  <a:srgbClr val="007FA3"/>
                </a:solidFill>
              </a:rPr>
              <a:t>a.</a:t>
            </a:r>
            <a:r>
              <a:rPr lang="en-IN" dirty="0"/>
              <a:t>	Data entry edit controls</a:t>
            </a:r>
          </a:p>
          <a:p>
            <a:pPr marL="590550" lvl="0" indent="-285750">
              <a:spcBef>
                <a:spcPts val="200"/>
              </a:spcBef>
              <a:buSzPts val="1600"/>
              <a:buNone/>
            </a:pPr>
            <a:r>
              <a:rPr lang="en-IN" dirty="0">
                <a:solidFill>
                  <a:srgbClr val="007FA3"/>
                </a:solidFill>
              </a:rPr>
              <a:t>b.</a:t>
            </a:r>
            <a:r>
              <a:rPr lang="en-IN" dirty="0"/>
              <a:t>	Configure system to automatically enter price data</a:t>
            </a:r>
          </a:p>
          <a:p>
            <a:pPr marL="590550" lvl="0" indent="-285750">
              <a:spcBef>
                <a:spcPts val="200"/>
              </a:spcBef>
              <a:buSzPts val="1600"/>
              <a:buNone/>
            </a:pPr>
            <a:r>
              <a:rPr lang="en-IN" dirty="0">
                <a:solidFill>
                  <a:srgbClr val="007FA3"/>
                </a:solidFill>
              </a:rPr>
              <a:t>c.</a:t>
            </a:r>
            <a:r>
              <a:rPr lang="en-IN" dirty="0"/>
              <a:t>	Data entry edit controls</a:t>
            </a:r>
          </a:p>
          <a:p>
            <a:pPr marL="590550" lvl="0" indent="-285750">
              <a:spcBef>
                <a:spcPts val="200"/>
              </a:spcBef>
              <a:buSzPts val="1600"/>
              <a:buNone/>
            </a:pPr>
            <a:r>
              <a:rPr lang="en-IN" dirty="0">
                <a:solidFill>
                  <a:srgbClr val="007FA3"/>
                </a:solidFill>
              </a:rPr>
              <a:t>d.</a:t>
            </a:r>
            <a:r>
              <a:rPr lang="en-IN" dirty="0"/>
              <a:t>	Reconciliation of shipping documents to sales orders</a:t>
            </a:r>
          </a:p>
          <a:p>
            <a:pPr marL="304800" lvl="0" indent="-304800">
              <a:spcBef>
                <a:spcPts val="400"/>
              </a:spcBef>
              <a:buSzPts val="1600"/>
              <a:buFont typeface="+mj-lt"/>
              <a:buAutoNum type="arabicPeriod" startAt="3"/>
              <a:tabLst>
                <a:tab pos="590550" algn="l"/>
              </a:tabLst>
            </a:pPr>
            <a:r>
              <a:rPr lang="en-IN" dirty="0">
                <a:solidFill>
                  <a:srgbClr val="007FA3"/>
                </a:solidFill>
              </a:rPr>
              <a:t>a.</a:t>
            </a:r>
            <a:r>
              <a:rPr lang="en-IN" dirty="0"/>
              <a:t>	Reconcile subsidiary accounts 	receivable balance to the amount for 	accounts receivable in the general 	ledger</a:t>
            </a:r>
          </a:p>
          <a:p>
            <a:pPr marL="590550" lvl="0" indent="-285750">
              <a:spcBef>
                <a:spcPts val="200"/>
              </a:spcBef>
              <a:buSzPts val="1600"/>
              <a:buNone/>
            </a:pPr>
            <a:r>
              <a:rPr lang="en-IN" dirty="0">
                <a:solidFill>
                  <a:srgbClr val="007FA3"/>
                </a:solidFill>
              </a:rPr>
              <a:t>b.</a:t>
            </a:r>
            <a:r>
              <a:rPr lang="en-IN" dirty="0"/>
              <a:t>	Mail monthly statements to customers</a:t>
            </a:r>
          </a:p>
          <a:p>
            <a:pPr marL="304800" lvl="0" indent="-304800">
              <a:spcBef>
                <a:spcPts val="400"/>
              </a:spcBef>
              <a:buSzPts val="1600"/>
              <a:buFont typeface="+mj-lt"/>
              <a:buAutoNum type="arabicPeriod" startAt="4"/>
              <a:tabLst>
                <a:tab pos="590550" algn="l"/>
              </a:tabLst>
            </a:pPr>
            <a:r>
              <a:rPr lang="en-IN" dirty="0">
                <a:solidFill>
                  <a:srgbClr val="007FA3"/>
                </a:solidFill>
              </a:rPr>
              <a:t>a.</a:t>
            </a:r>
            <a:r>
              <a:rPr lang="en-IN" dirty="0"/>
              <a:t>	Segregation of authorization and 	recording function for credit memos</a:t>
            </a:r>
          </a:p>
        </p:txBody>
      </p:sp>
    </p:spTree>
    <p:extLst>
      <p:ext uri="{BB962C8B-B14F-4D97-AF65-F5344CB8AC3E}">
        <p14:creationId xmlns:p14="http://schemas.microsoft.com/office/powerpoint/2010/main" val="103302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7176" y="152277"/>
            <a:ext cx="8229600" cy="553998"/>
          </a:xfrm>
        </p:spPr>
        <p:txBody>
          <a:bodyPr anchor="ctr">
            <a:noAutofit/>
          </a:bodyPr>
          <a:lstStyle/>
          <a:p>
            <a:r>
              <a:rPr lang="en-IN" sz="3600" dirty="0">
                <a:latin typeface="+mj-lt"/>
              </a:rPr>
              <a:t>Cash Collection Process </a:t>
            </a:r>
            <a:r>
              <a:rPr lang="en-IN" sz="2800" dirty="0">
                <a:latin typeface="+mj-lt"/>
              </a:rPr>
              <a:t>(1 of 2)</a:t>
            </a:r>
            <a:endParaRPr lang="en-IN" sz="3600" dirty="0">
              <a:latin typeface="+mj-lt"/>
            </a:endParaRPr>
          </a:p>
        </p:txBody>
      </p:sp>
      <p:sp>
        <p:nvSpPr>
          <p:cNvPr id="2" name="Content Placeholder 1"/>
          <p:cNvSpPr>
            <a:spLocks noGrp="1"/>
          </p:cNvSpPr>
          <p:nvPr>
            <p:ph idx="13"/>
          </p:nvPr>
        </p:nvSpPr>
        <p:spPr>
          <a:xfrm>
            <a:off x="477115" y="1010354"/>
            <a:ext cx="3028085" cy="5009445"/>
          </a:xfrm>
        </p:spPr>
        <p:txBody>
          <a:bodyPr>
            <a:noAutofit/>
          </a:bodyPr>
          <a:lstStyle/>
          <a:p>
            <a:pPr lvl="0">
              <a:spcBef>
                <a:spcPts val="0"/>
              </a:spcBef>
              <a:buSzPts val="2400"/>
            </a:pPr>
            <a:r>
              <a:rPr lang="en-IN" sz="2400" dirty="0"/>
              <a:t>Process customer payment and update their account balance</a:t>
            </a:r>
          </a:p>
          <a:p>
            <a:pPr lvl="1">
              <a:buSzPts val="2000"/>
            </a:pPr>
            <a:r>
              <a:rPr lang="en-IN" sz="2400" dirty="0"/>
              <a:t>Remittance</a:t>
            </a:r>
          </a:p>
          <a:p>
            <a:pPr lvl="0">
              <a:spcBef>
                <a:spcPts val="600"/>
              </a:spcBef>
              <a:buSzPts val="2400"/>
            </a:pPr>
            <a:r>
              <a:rPr lang="en-IN" sz="2400" dirty="0"/>
              <a:t>Deposit payments to the bank</a:t>
            </a:r>
          </a:p>
        </p:txBody>
      </p:sp>
      <p:pic>
        <p:nvPicPr>
          <p:cNvPr id="4" name="Picture 3">
            <a:extLst>
              <a:ext uri="{FF2B5EF4-FFF2-40B4-BE49-F238E27FC236}">
                <a16:creationId xmlns:a16="http://schemas.microsoft.com/office/drawing/2014/main" id="{842D97F3-8805-0F54-93FF-B9829F3C3AA3}"/>
              </a:ext>
            </a:extLst>
          </p:cNvPr>
          <p:cNvPicPr>
            <a:picLocks noChangeAspect="1"/>
          </p:cNvPicPr>
          <p:nvPr/>
        </p:nvPicPr>
        <p:blipFill>
          <a:blip r:embed="rId3"/>
          <a:stretch>
            <a:fillRect/>
          </a:stretch>
        </p:blipFill>
        <p:spPr>
          <a:xfrm>
            <a:off x="3886200" y="1219200"/>
            <a:ext cx="4953000" cy="3686666"/>
          </a:xfrm>
          <a:prstGeom prst="rect">
            <a:avLst/>
          </a:prstGeom>
        </p:spPr>
      </p:pic>
      <p:sp>
        <p:nvSpPr>
          <p:cNvPr id="6" name="TextBox 5">
            <a:extLst>
              <a:ext uri="{FF2B5EF4-FFF2-40B4-BE49-F238E27FC236}">
                <a16:creationId xmlns:a16="http://schemas.microsoft.com/office/drawing/2014/main" id="{A8FB2B94-9396-2F02-78B7-5DD5B1C70E45}"/>
              </a:ext>
            </a:extLst>
          </p:cNvPr>
          <p:cNvSpPr txBox="1"/>
          <p:nvPr/>
        </p:nvSpPr>
        <p:spPr>
          <a:xfrm>
            <a:off x="228600" y="5829224"/>
            <a:ext cx="7762424" cy="369332"/>
          </a:xfrm>
          <a:prstGeom prst="rect">
            <a:avLst/>
          </a:prstGeom>
          <a:noFill/>
        </p:spPr>
        <p:txBody>
          <a:bodyPr wrap="square">
            <a:spAutoFit/>
          </a:bodyPr>
          <a:lstStyle/>
          <a:p>
            <a:r>
              <a:rPr lang="en-US" dirty="0"/>
              <a:t>https://www.wordstemplates.org/remittance-advice-template/</a:t>
            </a:r>
          </a:p>
        </p:txBody>
      </p:sp>
    </p:spTree>
    <p:extLst>
      <p:ext uri="{BB962C8B-B14F-4D97-AF65-F5344CB8AC3E}">
        <p14:creationId xmlns:p14="http://schemas.microsoft.com/office/powerpoint/2010/main" val="3332619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489" y="153750"/>
            <a:ext cx="8229600" cy="553998"/>
          </a:xfrm>
        </p:spPr>
        <p:txBody>
          <a:bodyPr anchor="ctr">
            <a:noAutofit/>
          </a:bodyPr>
          <a:lstStyle/>
          <a:p>
            <a:r>
              <a:rPr lang="en-IN" sz="3600" dirty="0">
                <a:latin typeface="+mj-lt"/>
              </a:rPr>
              <a:t>Cash Collection Process </a:t>
            </a:r>
            <a:r>
              <a:rPr lang="en-IN" sz="2800" dirty="0">
                <a:latin typeface="+mj-lt"/>
              </a:rPr>
              <a:t>(2 of 2)</a:t>
            </a:r>
            <a:endParaRPr lang="en-IN" sz="3600" dirty="0">
              <a:latin typeface="+mj-lt"/>
            </a:endParaRPr>
          </a:p>
        </p:txBody>
      </p:sp>
      <p:sp>
        <p:nvSpPr>
          <p:cNvPr id="5" name="Content Placeholder 4">
            <a:extLst>
              <a:ext uri="{FF2B5EF4-FFF2-40B4-BE49-F238E27FC236}">
                <a16:creationId xmlns:a16="http://schemas.microsoft.com/office/drawing/2014/main" id="{FB1376DE-C757-43D0-9AEB-2BE07B9FAEC2}"/>
              </a:ext>
            </a:extLst>
          </p:cNvPr>
          <p:cNvSpPr>
            <a:spLocks noGrp="1"/>
          </p:cNvSpPr>
          <p:nvPr>
            <p:ph idx="1"/>
          </p:nvPr>
        </p:nvSpPr>
        <p:spPr>
          <a:xfrm>
            <a:off x="457200" y="1013178"/>
            <a:ext cx="3962400" cy="307777"/>
          </a:xfrm>
          <a:solidFill>
            <a:schemeClr val="bg2"/>
          </a:solidFill>
        </p:spPr>
        <p:txBody>
          <a:bodyPr>
            <a:noAutofit/>
          </a:bodyPr>
          <a:lstStyle/>
          <a:p>
            <a:pPr marL="0" indent="92075">
              <a:buNone/>
            </a:pPr>
            <a:r>
              <a:rPr lang="en-US" sz="2000" b="1" dirty="0">
                <a:solidFill>
                  <a:schemeClr val="bg1"/>
                </a:solidFill>
              </a:rPr>
              <a:t>Threats</a:t>
            </a:r>
          </a:p>
        </p:txBody>
      </p:sp>
      <p:sp>
        <p:nvSpPr>
          <p:cNvPr id="6" name="Content Placeholder 5">
            <a:extLst>
              <a:ext uri="{FF2B5EF4-FFF2-40B4-BE49-F238E27FC236}">
                <a16:creationId xmlns:a16="http://schemas.microsoft.com/office/drawing/2014/main" id="{58B260CE-F49A-4AED-B1FA-674ADAEED15F}"/>
              </a:ext>
            </a:extLst>
          </p:cNvPr>
          <p:cNvSpPr>
            <a:spLocks noGrp="1"/>
          </p:cNvSpPr>
          <p:nvPr>
            <p:ph idx="13"/>
          </p:nvPr>
        </p:nvSpPr>
        <p:spPr>
          <a:xfrm>
            <a:off x="468630" y="1436511"/>
            <a:ext cx="3962400" cy="666849"/>
          </a:xfrm>
        </p:spPr>
        <p:txBody>
          <a:bodyPr>
            <a:noAutofit/>
          </a:bodyPr>
          <a:lstStyle/>
          <a:p>
            <a:pPr marL="342900" lvl="0" indent="-342900">
              <a:spcBef>
                <a:spcPts val="0"/>
              </a:spcBef>
              <a:buSzPts val="1900"/>
              <a:buFont typeface="Arial"/>
              <a:buAutoNum type="arabicPeriod"/>
            </a:pPr>
            <a:r>
              <a:rPr lang="en-IN" sz="2000" dirty="0"/>
              <a:t>Theft of cash</a:t>
            </a:r>
          </a:p>
          <a:p>
            <a:pPr marL="342900" lvl="0" indent="-342900">
              <a:spcBef>
                <a:spcPts val="400"/>
              </a:spcBef>
              <a:buSzPts val="1900"/>
              <a:buFont typeface="Arial"/>
              <a:buAutoNum type="arabicPeriod"/>
            </a:pPr>
            <a:r>
              <a:rPr lang="en-IN" sz="2000" dirty="0"/>
              <a:t>Cashflow problems</a:t>
            </a:r>
          </a:p>
        </p:txBody>
      </p:sp>
      <p:sp>
        <p:nvSpPr>
          <p:cNvPr id="7" name="Content Placeholder 6">
            <a:extLst>
              <a:ext uri="{FF2B5EF4-FFF2-40B4-BE49-F238E27FC236}">
                <a16:creationId xmlns:a16="http://schemas.microsoft.com/office/drawing/2014/main" id="{B94EDBB8-C3AD-4CA9-8400-50AE914FB3C5}"/>
              </a:ext>
            </a:extLst>
          </p:cNvPr>
          <p:cNvSpPr>
            <a:spLocks noGrp="1"/>
          </p:cNvSpPr>
          <p:nvPr>
            <p:ph idx="14"/>
          </p:nvPr>
        </p:nvSpPr>
        <p:spPr>
          <a:xfrm>
            <a:off x="4747260" y="1013416"/>
            <a:ext cx="3939540" cy="307777"/>
          </a:xfrm>
          <a:solidFill>
            <a:schemeClr val="bg2"/>
          </a:solidFill>
        </p:spPr>
        <p:txBody>
          <a:bodyPr>
            <a:noAutofit/>
          </a:bodyPr>
          <a:lstStyle/>
          <a:p>
            <a:pPr marL="0" indent="92075">
              <a:spcBef>
                <a:spcPts val="0"/>
              </a:spcBef>
              <a:buSzPts val="2400"/>
              <a:buNone/>
            </a:pPr>
            <a:r>
              <a:rPr lang="en-US" sz="2000" b="1" dirty="0">
                <a:solidFill>
                  <a:schemeClr val="bg1"/>
                </a:solidFill>
              </a:rPr>
              <a:t>Controls</a:t>
            </a:r>
          </a:p>
        </p:txBody>
      </p:sp>
      <p:sp>
        <p:nvSpPr>
          <p:cNvPr id="8" name="Content Placeholder 7">
            <a:extLst>
              <a:ext uri="{FF2B5EF4-FFF2-40B4-BE49-F238E27FC236}">
                <a16:creationId xmlns:a16="http://schemas.microsoft.com/office/drawing/2014/main" id="{AEAF6867-ACDA-43A8-8F2F-800380280CCF}"/>
              </a:ext>
            </a:extLst>
          </p:cNvPr>
          <p:cNvSpPr>
            <a:spLocks noGrp="1"/>
          </p:cNvSpPr>
          <p:nvPr>
            <p:ph sz="quarter" idx="15"/>
          </p:nvPr>
        </p:nvSpPr>
        <p:spPr>
          <a:xfrm>
            <a:off x="4747260" y="1440053"/>
            <a:ext cx="3939540" cy="4719241"/>
          </a:xfrm>
        </p:spPr>
        <p:txBody>
          <a:bodyPr>
            <a:noAutofit/>
          </a:bodyPr>
          <a:lstStyle/>
          <a:p>
            <a:pPr marL="354013" lvl="0" indent="-354013">
              <a:spcBef>
                <a:spcPts val="0"/>
              </a:spcBef>
              <a:buSzPts val="1900"/>
              <a:buFont typeface="+mj-lt"/>
              <a:buAutoNum type="arabicPeriod"/>
              <a:tabLst>
                <a:tab pos="717550" algn="l"/>
              </a:tabLst>
            </a:pPr>
            <a:r>
              <a:rPr lang="en-IN" sz="2000" dirty="0">
                <a:solidFill>
                  <a:srgbClr val="007FA3"/>
                </a:solidFill>
              </a:rPr>
              <a:t>a. </a:t>
            </a:r>
            <a:r>
              <a:rPr lang="en-IN" sz="2000" dirty="0"/>
              <a:t>	Proper segregation of cash 	handling and posting to 	customer accounts, 	authorize credit memos, or 	reconcile bank account</a:t>
            </a:r>
          </a:p>
          <a:p>
            <a:pPr marL="0" lvl="0" indent="373063">
              <a:spcBef>
                <a:spcPts val="100"/>
              </a:spcBef>
              <a:buSzPts val="1900"/>
              <a:buNone/>
            </a:pPr>
            <a:r>
              <a:rPr lang="en-IN" sz="2000" dirty="0">
                <a:solidFill>
                  <a:srgbClr val="007FA3"/>
                </a:solidFill>
              </a:rPr>
              <a:t>b. </a:t>
            </a:r>
            <a:r>
              <a:rPr lang="en-IN" sz="2000" dirty="0"/>
              <a:t>Use lockbox</a:t>
            </a:r>
          </a:p>
          <a:p>
            <a:pPr marL="0" lvl="0" indent="384175">
              <a:spcBef>
                <a:spcPts val="100"/>
              </a:spcBef>
              <a:buSzPts val="1900"/>
              <a:buNone/>
            </a:pPr>
            <a:r>
              <a:rPr lang="en-IN" sz="2000" dirty="0">
                <a:solidFill>
                  <a:srgbClr val="007FA3"/>
                </a:solidFill>
              </a:rPr>
              <a:t>c. </a:t>
            </a:r>
            <a:r>
              <a:rPr lang="en-IN" sz="2000" dirty="0"/>
              <a:t>Immediately open mail,</a:t>
            </a:r>
          </a:p>
          <a:p>
            <a:pPr marL="688975" lvl="0" indent="-196850">
              <a:spcBef>
                <a:spcPts val="100"/>
              </a:spcBef>
              <a:buSzPts val="1900"/>
              <a:buNone/>
            </a:pPr>
            <a:r>
              <a:rPr lang="en-IN" sz="2000" dirty="0"/>
              <a:t>	prompt</a:t>
            </a:r>
          </a:p>
          <a:p>
            <a:pPr marL="688975" lvl="0" indent="-196850">
              <a:spcBef>
                <a:spcPts val="100"/>
              </a:spcBef>
              <a:buSzPts val="1900"/>
              <a:buNone/>
            </a:pPr>
            <a:r>
              <a:rPr lang="en-IN" sz="2000" dirty="0"/>
              <a:t>	endorsement and deposit all cash</a:t>
            </a:r>
          </a:p>
          <a:p>
            <a:pPr marL="109538" lvl="0" indent="0">
              <a:spcBef>
                <a:spcPts val="100"/>
              </a:spcBef>
              <a:buSzPts val="1900"/>
              <a:buNone/>
              <a:tabLst>
                <a:tab pos="698500" algn="l"/>
              </a:tabLst>
            </a:pPr>
            <a:r>
              <a:rPr lang="en-IN" sz="2000" dirty="0"/>
              <a:t>	receipts daily</a:t>
            </a:r>
          </a:p>
          <a:p>
            <a:pPr marL="0" lvl="0" indent="344488">
              <a:spcBef>
                <a:spcPts val="100"/>
              </a:spcBef>
              <a:buSzPts val="1900"/>
              <a:buNone/>
            </a:pPr>
            <a:r>
              <a:rPr lang="en-IN" sz="2000" dirty="0">
                <a:solidFill>
                  <a:srgbClr val="007FA3"/>
                </a:solidFill>
              </a:rPr>
              <a:t>d. </a:t>
            </a:r>
            <a:r>
              <a:rPr lang="en-IN" sz="2000" dirty="0"/>
              <a:t>Use cash registers</a:t>
            </a:r>
          </a:p>
          <a:p>
            <a:pPr marL="363538" lvl="0" indent="-363538">
              <a:spcBef>
                <a:spcPts val="100"/>
              </a:spcBef>
              <a:buSzPts val="1900"/>
              <a:buFont typeface="+mj-lt"/>
              <a:buAutoNum type="arabicPeriod" startAt="2"/>
              <a:tabLst>
                <a:tab pos="717550" algn="l"/>
              </a:tabLst>
            </a:pPr>
            <a:r>
              <a:rPr lang="en-IN" sz="2000" dirty="0">
                <a:solidFill>
                  <a:srgbClr val="007FA3"/>
                </a:solidFill>
              </a:rPr>
              <a:t>a. </a:t>
            </a:r>
            <a:r>
              <a:rPr lang="en-IN" sz="2000" dirty="0"/>
              <a:t>	Lockbox</a:t>
            </a:r>
          </a:p>
          <a:p>
            <a:pPr marL="0" lvl="0" indent="373063">
              <a:spcBef>
                <a:spcPts val="100"/>
              </a:spcBef>
              <a:buSzPts val="1900"/>
              <a:buNone/>
            </a:pPr>
            <a:r>
              <a:rPr lang="en-IN" sz="2000" dirty="0">
                <a:solidFill>
                  <a:srgbClr val="007FA3"/>
                </a:solidFill>
              </a:rPr>
              <a:t>b. </a:t>
            </a:r>
            <a:r>
              <a:rPr lang="en-IN" sz="2000" dirty="0"/>
              <a:t>Discounts for early payment</a:t>
            </a:r>
          </a:p>
          <a:p>
            <a:pPr marL="0" lvl="0" indent="403225">
              <a:spcBef>
                <a:spcPts val="100"/>
              </a:spcBef>
              <a:buSzPts val="1900"/>
              <a:buNone/>
            </a:pPr>
            <a:r>
              <a:rPr lang="en-IN" sz="2000" dirty="0">
                <a:solidFill>
                  <a:srgbClr val="007FA3"/>
                </a:solidFill>
              </a:rPr>
              <a:t>c. </a:t>
            </a:r>
            <a:r>
              <a:rPr lang="en-IN" sz="2000" dirty="0"/>
              <a:t>Cash flow budgeting</a:t>
            </a:r>
          </a:p>
        </p:txBody>
      </p:sp>
    </p:spTree>
    <p:extLst>
      <p:ext uri="{BB962C8B-B14F-4D97-AF65-F5344CB8AC3E}">
        <p14:creationId xmlns:p14="http://schemas.microsoft.com/office/powerpoint/2010/main" val="152356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68086" y="98920"/>
            <a:ext cx="8229600" cy="689037"/>
          </a:xfrm>
        </p:spPr>
        <p:txBody>
          <a:bodyPr anchor="ctr">
            <a:noAutofit/>
          </a:bodyPr>
          <a:lstStyle/>
          <a:p>
            <a:r>
              <a:rPr lang="en-IN" sz="3600" dirty="0">
                <a:latin typeface="+mj-lt"/>
              </a:rPr>
              <a:t>Key Terms</a:t>
            </a:r>
          </a:p>
        </p:txBody>
      </p:sp>
      <p:sp>
        <p:nvSpPr>
          <p:cNvPr id="2" name="Content Placeholder 1"/>
          <p:cNvSpPr>
            <a:spLocks noGrp="1"/>
          </p:cNvSpPr>
          <p:nvPr>
            <p:ph idx="1"/>
          </p:nvPr>
        </p:nvSpPr>
        <p:spPr>
          <a:xfrm>
            <a:off x="468922" y="1000648"/>
            <a:ext cx="4103078" cy="4561952"/>
          </a:xfrm>
        </p:spPr>
        <p:txBody>
          <a:bodyPr wrap="square">
            <a:noAutofit/>
          </a:bodyPr>
          <a:lstStyle/>
          <a:p>
            <a:pPr lvl="0">
              <a:spcBef>
                <a:spcPts val="0"/>
              </a:spcBef>
              <a:buSzPct val="100000"/>
            </a:pPr>
            <a:r>
              <a:rPr lang="en-IN" sz="1800" dirty="0"/>
              <a:t>Revenue cycle</a:t>
            </a:r>
          </a:p>
          <a:p>
            <a:pPr lvl="0">
              <a:spcBef>
                <a:spcPts val="600"/>
              </a:spcBef>
              <a:buSzPct val="100000"/>
            </a:pPr>
            <a:r>
              <a:rPr lang="en-IN" sz="1800" dirty="0"/>
              <a:t>Sales order</a:t>
            </a:r>
          </a:p>
          <a:p>
            <a:pPr lvl="0">
              <a:spcBef>
                <a:spcPts val="600"/>
              </a:spcBef>
              <a:buSzPct val="100000"/>
            </a:pPr>
            <a:r>
              <a:rPr lang="en-IN" sz="1800" dirty="0"/>
              <a:t>Electronic data interchange (</a:t>
            </a:r>
            <a:r>
              <a:rPr lang="en-IN" sz="1800" spc="-250" dirty="0"/>
              <a:t>E D </a:t>
            </a:r>
            <a:r>
              <a:rPr lang="en-IN" sz="1800" dirty="0"/>
              <a:t>I)</a:t>
            </a:r>
          </a:p>
          <a:p>
            <a:pPr lvl="0">
              <a:spcBef>
                <a:spcPts val="600"/>
              </a:spcBef>
              <a:buSzPct val="100000"/>
            </a:pPr>
            <a:r>
              <a:rPr lang="en-IN" sz="1800" dirty="0"/>
              <a:t>Credit limit</a:t>
            </a:r>
          </a:p>
          <a:p>
            <a:pPr lvl="0">
              <a:spcBef>
                <a:spcPts val="600"/>
              </a:spcBef>
              <a:buSzPct val="100000"/>
            </a:pPr>
            <a:r>
              <a:rPr lang="en-IN" sz="1800" dirty="0"/>
              <a:t>Accounts receivable aging report</a:t>
            </a:r>
          </a:p>
          <a:p>
            <a:pPr lvl="0">
              <a:spcBef>
                <a:spcPts val="600"/>
              </a:spcBef>
              <a:buSzPct val="100000"/>
            </a:pPr>
            <a:r>
              <a:rPr lang="en-IN" sz="1800" dirty="0"/>
              <a:t>Back order</a:t>
            </a:r>
          </a:p>
          <a:p>
            <a:pPr lvl="0">
              <a:spcBef>
                <a:spcPts val="600"/>
              </a:spcBef>
              <a:buSzPct val="100000"/>
            </a:pPr>
            <a:r>
              <a:rPr lang="en-IN" sz="1800" dirty="0"/>
              <a:t>Picking ticket</a:t>
            </a:r>
          </a:p>
          <a:p>
            <a:pPr lvl="0">
              <a:spcBef>
                <a:spcPts val="600"/>
              </a:spcBef>
              <a:buSzPct val="100000"/>
            </a:pPr>
            <a:r>
              <a:rPr lang="en-IN" sz="1800" dirty="0"/>
              <a:t>Customer relationship management systems (</a:t>
            </a:r>
            <a:r>
              <a:rPr lang="en-IN" sz="1800" spc="-250" dirty="0"/>
              <a:t>C R </a:t>
            </a:r>
            <a:r>
              <a:rPr lang="en-IN" sz="1800" dirty="0"/>
              <a:t>M)</a:t>
            </a:r>
          </a:p>
          <a:p>
            <a:pPr lvl="0">
              <a:spcBef>
                <a:spcPts val="600"/>
              </a:spcBef>
              <a:buSzPct val="100000"/>
            </a:pPr>
            <a:r>
              <a:rPr lang="en-IN" sz="1800" dirty="0"/>
              <a:t>Packing slip</a:t>
            </a:r>
          </a:p>
          <a:p>
            <a:pPr lvl="0">
              <a:spcBef>
                <a:spcPts val="600"/>
              </a:spcBef>
              <a:buSzPct val="100000"/>
            </a:pPr>
            <a:r>
              <a:rPr lang="en-IN" sz="1800" dirty="0"/>
              <a:t>Bill of lading</a:t>
            </a:r>
          </a:p>
          <a:p>
            <a:pPr lvl="0">
              <a:spcBef>
                <a:spcPts val="600"/>
              </a:spcBef>
              <a:buSzPct val="100000"/>
            </a:pPr>
            <a:r>
              <a:rPr lang="en-IN" sz="1800" dirty="0"/>
              <a:t>Sales invoice</a:t>
            </a:r>
          </a:p>
          <a:p>
            <a:pPr lvl="0">
              <a:spcBef>
                <a:spcPts val="600"/>
              </a:spcBef>
              <a:buSzPct val="100000"/>
            </a:pPr>
            <a:r>
              <a:rPr lang="en-IN" sz="1800" dirty="0"/>
              <a:t>Open-invoice method</a:t>
            </a:r>
          </a:p>
        </p:txBody>
      </p:sp>
      <p:sp>
        <p:nvSpPr>
          <p:cNvPr id="3" name="Content Placeholder 2"/>
          <p:cNvSpPr>
            <a:spLocks noGrp="1"/>
          </p:cNvSpPr>
          <p:nvPr>
            <p:ph idx="13"/>
          </p:nvPr>
        </p:nvSpPr>
        <p:spPr>
          <a:xfrm>
            <a:off x="4800600" y="1006186"/>
            <a:ext cx="3886200" cy="4785014"/>
          </a:xfrm>
        </p:spPr>
        <p:txBody>
          <a:bodyPr>
            <a:noAutofit/>
          </a:bodyPr>
          <a:lstStyle/>
          <a:p>
            <a:pPr lvl="0">
              <a:spcBef>
                <a:spcPts val="0"/>
              </a:spcBef>
              <a:buSzPct val="100000"/>
            </a:pPr>
            <a:r>
              <a:rPr lang="en-US" sz="1800" dirty="0"/>
              <a:t>Remittance advice</a:t>
            </a:r>
          </a:p>
          <a:p>
            <a:pPr lvl="0">
              <a:spcBef>
                <a:spcPts val="600"/>
              </a:spcBef>
              <a:buSzPct val="100000"/>
            </a:pPr>
            <a:r>
              <a:rPr lang="en-US" sz="1800" dirty="0"/>
              <a:t>Balance-forward method</a:t>
            </a:r>
          </a:p>
          <a:p>
            <a:pPr lvl="0">
              <a:spcBef>
                <a:spcPts val="600"/>
              </a:spcBef>
              <a:buSzPct val="100000"/>
            </a:pPr>
            <a:r>
              <a:rPr lang="en-US" sz="1800" dirty="0"/>
              <a:t>Monthly statement</a:t>
            </a:r>
          </a:p>
          <a:p>
            <a:pPr lvl="0">
              <a:spcBef>
                <a:spcPts val="600"/>
              </a:spcBef>
              <a:buSzPct val="100000"/>
            </a:pPr>
            <a:r>
              <a:rPr lang="en-US" sz="1800" dirty="0"/>
              <a:t>Cycle billing</a:t>
            </a:r>
          </a:p>
          <a:p>
            <a:pPr lvl="0">
              <a:spcBef>
                <a:spcPts val="600"/>
              </a:spcBef>
              <a:buSzPct val="100000"/>
            </a:pPr>
            <a:r>
              <a:rPr lang="en-US" sz="1800" dirty="0"/>
              <a:t>Credit memo</a:t>
            </a:r>
          </a:p>
          <a:p>
            <a:pPr lvl="0">
              <a:spcBef>
                <a:spcPts val="600"/>
              </a:spcBef>
              <a:buSzPct val="100000"/>
            </a:pPr>
            <a:r>
              <a:rPr lang="en-US" sz="1800" dirty="0"/>
              <a:t>Remittance list</a:t>
            </a:r>
          </a:p>
          <a:p>
            <a:pPr lvl="0">
              <a:spcBef>
                <a:spcPts val="600"/>
              </a:spcBef>
              <a:buSzPct val="100000"/>
            </a:pPr>
            <a:r>
              <a:rPr lang="en-US" sz="1800" dirty="0"/>
              <a:t>Lockbox</a:t>
            </a:r>
          </a:p>
          <a:p>
            <a:pPr lvl="0">
              <a:spcBef>
                <a:spcPts val="600"/>
              </a:spcBef>
              <a:buSzPct val="100000"/>
            </a:pPr>
            <a:r>
              <a:rPr lang="en-US" sz="1800" dirty="0"/>
              <a:t>Electronic lockbox</a:t>
            </a:r>
          </a:p>
          <a:p>
            <a:pPr lvl="0">
              <a:spcBef>
                <a:spcPts val="600"/>
              </a:spcBef>
              <a:buSzPct val="100000"/>
            </a:pPr>
            <a:r>
              <a:rPr lang="en-US" sz="1800" dirty="0"/>
              <a:t>Electronic funds transfer (</a:t>
            </a:r>
            <a:r>
              <a:rPr lang="en-US" sz="1800" spc="-250" dirty="0"/>
              <a:t>E F </a:t>
            </a:r>
            <a:r>
              <a:rPr lang="en-US" sz="1800" dirty="0"/>
              <a:t>T)</a:t>
            </a:r>
          </a:p>
          <a:p>
            <a:pPr lvl="0">
              <a:spcBef>
                <a:spcPts val="600"/>
              </a:spcBef>
              <a:buSzPct val="100000"/>
            </a:pPr>
            <a:r>
              <a:rPr lang="en-US" sz="1800" dirty="0"/>
              <a:t>Financial electronic data interchange (</a:t>
            </a:r>
            <a:r>
              <a:rPr lang="en-US" sz="1800" spc="-250" dirty="0"/>
              <a:t>F E D </a:t>
            </a:r>
            <a:r>
              <a:rPr lang="en-US" sz="1800" dirty="0"/>
              <a:t>I)</a:t>
            </a:r>
          </a:p>
          <a:p>
            <a:pPr lvl="0">
              <a:spcBef>
                <a:spcPts val="600"/>
              </a:spcBef>
              <a:buSzPct val="100000"/>
            </a:pPr>
            <a:r>
              <a:rPr lang="en-US" sz="1800" dirty="0"/>
              <a:t>Universal payment identification code (</a:t>
            </a:r>
            <a:r>
              <a:rPr lang="en-US" sz="1800" spc="-250" dirty="0"/>
              <a:t>U P I </a:t>
            </a:r>
            <a:r>
              <a:rPr lang="en-US" sz="1800" dirty="0"/>
              <a:t>C)</a:t>
            </a:r>
          </a:p>
          <a:p>
            <a:pPr lvl="0">
              <a:spcBef>
                <a:spcPts val="600"/>
              </a:spcBef>
              <a:buSzPct val="100000"/>
            </a:pPr>
            <a:r>
              <a:rPr lang="en-US" sz="1800" dirty="0"/>
              <a:t>Cash flow budget</a:t>
            </a:r>
          </a:p>
        </p:txBody>
      </p:sp>
    </p:spTree>
    <p:extLst>
      <p:ext uri="{BB962C8B-B14F-4D97-AF65-F5344CB8AC3E}">
        <p14:creationId xmlns:p14="http://schemas.microsoft.com/office/powerpoint/2010/main" val="42171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32"/>
            <a:ext cx="8229600" cy="553998"/>
          </a:xfrm>
        </p:spPr>
        <p:txBody>
          <a:bodyPr wrap="square">
            <a:spAutoFit/>
          </a:bodyPr>
          <a:lstStyle/>
          <a:p>
            <a:r>
              <a:rPr lang="en-US" sz="3600" dirty="0">
                <a:latin typeface="+mj-lt"/>
              </a:rPr>
              <a:t>Copyright</a:t>
            </a:r>
            <a:endParaRPr lang="en-US" sz="3600" b="0" dirty="0">
              <a:latin typeface="+mj-lt"/>
            </a:endParaRPr>
          </a:p>
        </p:txBody>
      </p:sp>
      <p:pic>
        <p:nvPicPr>
          <p:cNvPr id="10" name="Picture Placeholder 9" descr="Warning">
            <a:extLst>
              <a:ext uri="{FF2B5EF4-FFF2-40B4-BE49-F238E27FC236}">
                <a16:creationId xmlns:a16="http://schemas.microsoft.com/office/drawing/2014/main" id="{916ED080-4A7D-4795-B4C6-665358BE6EAE}"/>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tretch>
            <a:fillRect/>
          </a:stretch>
        </p:blipFill>
        <p:spPr>
          <a:xfrm>
            <a:off x="557060" y="2286000"/>
            <a:ext cx="1347940" cy="1347940"/>
          </a:xfrm>
          <a:prstGeom prst="rect">
            <a:avLst/>
          </a:prstGeom>
        </p:spPr>
      </p:pic>
      <p:sp>
        <p:nvSpPr>
          <p:cNvPr id="3" name="Content Placeholder 2">
            <a:extLst>
              <a:ext uri="{FF2B5EF4-FFF2-40B4-BE49-F238E27FC236}">
                <a16:creationId xmlns:a16="http://schemas.microsoft.com/office/drawing/2014/main" id="{DF9C7A11-9888-4F7B-B711-91904077BD8C}"/>
              </a:ext>
            </a:extLst>
          </p:cNvPr>
          <p:cNvSpPr>
            <a:spLocks noGrp="1"/>
          </p:cNvSpPr>
          <p:nvPr>
            <p:ph idx="1"/>
          </p:nvPr>
        </p:nvSpPr>
        <p:spPr>
          <a:xfrm>
            <a:off x="2277035" y="1609165"/>
            <a:ext cx="6400800" cy="3262432"/>
          </a:xfrm>
          <a:ln w="28575">
            <a:solidFill>
              <a:schemeClr val="tx1"/>
            </a:solidFill>
          </a:ln>
        </p:spPr>
        <p:txBody>
          <a:bodyPr lIns="274320" tIns="274320" rIns="274320" bIns="274320"/>
          <a:lstStyle/>
          <a:p>
            <a:pPr marL="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651771386"/>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26532</TotalTime>
  <Words>1576</Words>
  <Application>Microsoft Macintosh PowerPoint</Application>
  <PresentationFormat>On-screen Show (4:3)</PresentationFormat>
  <Paragraphs>232</Paragraphs>
  <Slides>16</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Arial</vt:lpstr>
      <vt:lpstr>Arial(Body)</vt:lpstr>
      <vt:lpstr>Noto Sans Symbols</vt:lpstr>
      <vt:lpstr>Times New Roman</vt:lpstr>
      <vt:lpstr>Verdana</vt:lpstr>
      <vt:lpstr>Wingdings</vt:lpstr>
      <vt:lpstr>508 Lecture</vt:lpstr>
      <vt:lpstr>1_508 Lecture</vt:lpstr>
      <vt:lpstr>Accounting Information Systems</vt:lpstr>
      <vt:lpstr>Learning Objectives </vt:lpstr>
      <vt:lpstr>Revenue Cycle Artifacts</vt:lpstr>
      <vt:lpstr>Revenue Cycle Activities</vt:lpstr>
      <vt:lpstr>PowerPoint Presentation</vt:lpstr>
      <vt:lpstr>General Threats and Controls to Revenue Cycle</vt:lpstr>
      <vt:lpstr>Sales Order Entry Processing Steps</vt:lpstr>
      <vt:lpstr>Sales Order Entry Processing</vt:lpstr>
      <vt:lpstr>Shipping Process (1 of 2)</vt:lpstr>
      <vt:lpstr>Shipping Process (2 of 2)</vt:lpstr>
      <vt:lpstr>Billing Process (1 of 2)</vt:lpstr>
      <vt:lpstr>Billing Process (2 of 2)</vt:lpstr>
      <vt:lpstr>Cash Collection Process (1 of 2)</vt:lpstr>
      <vt:lpstr>Cash Collection Process (2 of 2)</vt:lpstr>
      <vt:lpstr>Key Terms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Information Systems, Fifteenth Edition, Chapter 14, The Revenue Cycle: Sales to Cash Collections</dc:title>
  <dc:subject/>
  <dc:creator>Romney</dc:creator>
  <cp:keywords>Automotive</cp:keywords>
  <cp:lastModifiedBy>Nathan Garrett</cp:lastModifiedBy>
  <cp:revision>5107</cp:revision>
  <dcterms:created xsi:type="dcterms:W3CDTF">2014-07-14T20:04:21Z</dcterms:created>
  <dcterms:modified xsi:type="dcterms:W3CDTF">2025-07-22T13:07:35Z</dcterms:modified>
</cp:coreProperties>
</file>