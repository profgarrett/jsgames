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7" r:id="rId2"/>
  </p:sldMasterIdLst>
  <p:notesMasterIdLst>
    <p:notesMasterId r:id="rId25"/>
  </p:notesMasterIdLst>
  <p:handoutMasterIdLst>
    <p:handoutMasterId r:id="rId26"/>
  </p:handoutMasterIdLst>
  <p:sldIdLst>
    <p:sldId id="330" r:id="rId3"/>
    <p:sldId id="1718" r:id="rId4"/>
    <p:sldId id="1088" r:id="rId5"/>
    <p:sldId id="1724" r:id="rId6"/>
    <p:sldId id="1719" r:id="rId7"/>
    <p:sldId id="1720" r:id="rId8"/>
    <p:sldId id="1721" r:id="rId9"/>
    <p:sldId id="1725" r:id="rId10"/>
    <p:sldId id="1722" r:id="rId11"/>
    <p:sldId id="1723" r:id="rId12"/>
    <p:sldId id="1710" r:id="rId13"/>
    <p:sldId id="1711" r:id="rId14"/>
    <p:sldId id="1726" r:id="rId15"/>
    <p:sldId id="1712" r:id="rId16"/>
    <p:sldId id="1727" r:id="rId17"/>
    <p:sldId id="1713" r:id="rId18"/>
    <p:sldId id="1728" r:id="rId19"/>
    <p:sldId id="1714" r:id="rId20"/>
    <p:sldId id="1715" r:id="rId21"/>
    <p:sldId id="1716" r:id="rId22"/>
    <p:sldId id="1717" r:id="rId23"/>
    <p:sldId id="1704"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orient="horz" pos="384">
          <p15:clr>
            <a:srgbClr val="A4A3A4"/>
          </p15:clr>
        </p15:guide>
        <p15:guide id="5" orient="horz" pos="144">
          <p15:clr>
            <a:srgbClr val="A4A3A4"/>
          </p15:clr>
        </p15:guide>
        <p15:guide id="7" orient="horz" pos="624">
          <p15:clr>
            <a:srgbClr val="A4A3A4"/>
          </p15:clr>
        </p15:guide>
        <p15:guide id="9" pos="288">
          <p15:clr>
            <a:srgbClr val="A4A3A4"/>
          </p15:clr>
        </p15:guide>
        <p15:guide id="10" pos="5472">
          <p15:clr>
            <a:srgbClr val="A4A3A4"/>
          </p15:clr>
        </p15:guide>
        <p15:guide id="11" orient="horz" pos="39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Thamizharasan Dhanaseelan" initials="TD"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autoAdjust="0"/>
    <p:restoredTop sz="80864" autoAdjust="0"/>
  </p:normalViewPr>
  <p:slideViewPr>
    <p:cSldViewPr>
      <p:cViewPr varScale="1">
        <p:scale>
          <a:sx n="101" d="100"/>
          <a:sy n="101" d="100"/>
        </p:scale>
        <p:origin x="1144" y="192"/>
      </p:cViewPr>
      <p:guideLst>
        <p:guide pos="2880"/>
        <p:guide orient="horz" pos="384"/>
        <p:guide orient="horz" pos="144"/>
        <p:guide orient="horz" pos="624"/>
        <p:guide pos="288"/>
        <p:guide pos="5472"/>
        <p:guide orient="horz" pos="3984"/>
      </p:guideLst>
    </p:cSldViewPr>
  </p:slideViewPr>
  <p:outlineViewPr>
    <p:cViewPr>
      <p:scale>
        <a:sx n="50" d="100"/>
        <a:sy n="50" d="100"/>
      </p:scale>
      <p:origin x="0" y="-16704"/>
    </p:cViewPr>
  </p:outlineViewPr>
  <p:notesTextViewPr>
    <p:cViewPr>
      <p:scale>
        <a:sx n="1" d="1"/>
        <a:sy n="1" d="1"/>
      </p:scale>
      <p:origin x="0" y="0"/>
    </p:cViewPr>
  </p:notesTextViewPr>
  <p:sorterViewPr>
    <p:cViewPr>
      <p:scale>
        <a:sx n="120" d="100"/>
        <a:sy n="120"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366130-BD0A-4A47-ADC2-7ED700AF4E45}"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US"/>
        </a:p>
      </dgm:t>
    </dgm:pt>
    <dgm:pt modelId="{FBCF9A12-7F98-446C-ADF1-18E671CCF337}">
      <dgm:prSet phldrT="[Text]"/>
      <dgm:spPr/>
      <dgm:t>
        <a:bodyPr/>
        <a:lstStyle/>
        <a:p>
          <a:r>
            <a:rPr lang="en-US" dirty="0"/>
            <a:t>Analyze source documents</a:t>
          </a:r>
        </a:p>
      </dgm:t>
    </dgm:pt>
    <dgm:pt modelId="{1CE48269-2E54-4357-85DF-EDE562D940FA}" type="parTrans" cxnId="{FBCC249D-8DF5-4A09-9302-0A53F775AFA4}">
      <dgm:prSet/>
      <dgm:spPr/>
      <dgm:t>
        <a:bodyPr/>
        <a:lstStyle/>
        <a:p>
          <a:endParaRPr lang="en-US"/>
        </a:p>
      </dgm:t>
    </dgm:pt>
    <dgm:pt modelId="{B571E1D8-F956-4EAE-94A2-97762AC33FED}" type="sibTrans" cxnId="{FBCC249D-8DF5-4A09-9302-0A53F775AFA4}">
      <dgm:prSet/>
      <dgm:spPr/>
      <dgm:t>
        <a:bodyPr/>
        <a:lstStyle/>
        <a:p>
          <a:endParaRPr lang="en-US"/>
        </a:p>
      </dgm:t>
    </dgm:pt>
    <dgm:pt modelId="{A47294AA-D24C-405F-87E2-4E015072C3B9}">
      <dgm:prSet phldrT="[Text]"/>
      <dgm:spPr/>
      <dgm:t>
        <a:bodyPr/>
        <a:lstStyle/>
        <a:p>
          <a:r>
            <a:rPr lang="en-US" dirty="0"/>
            <a:t>Transactions into Journal</a:t>
          </a:r>
        </a:p>
      </dgm:t>
    </dgm:pt>
    <dgm:pt modelId="{6944E8B4-B33D-4B21-88DE-F7E7370D0EFB}" type="parTrans" cxnId="{0E5BB5B9-B045-43F7-B6CA-97720E696139}">
      <dgm:prSet/>
      <dgm:spPr/>
      <dgm:t>
        <a:bodyPr/>
        <a:lstStyle/>
        <a:p>
          <a:endParaRPr lang="en-US"/>
        </a:p>
      </dgm:t>
    </dgm:pt>
    <dgm:pt modelId="{ED737DA0-69E2-4546-A3CD-8F6F1DEF7E01}" type="sibTrans" cxnId="{0E5BB5B9-B045-43F7-B6CA-97720E696139}">
      <dgm:prSet/>
      <dgm:spPr/>
      <dgm:t>
        <a:bodyPr/>
        <a:lstStyle/>
        <a:p>
          <a:endParaRPr lang="en-US"/>
        </a:p>
      </dgm:t>
    </dgm:pt>
    <dgm:pt modelId="{DFC421A3-63A1-42D8-AE8C-417AA3DDBE30}">
      <dgm:prSet phldrT="[Text]"/>
      <dgm:spPr/>
      <dgm:t>
        <a:bodyPr/>
        <a:lstStyle/>
        <a:p>
          <a:r>
            <a:rPr lang="en-US" dirty="0"/>
            <a:t>Journal to General Ledger</a:t>
          </a:r>
        </a:p>
      </dgm:t>
    </dgm:pt>
    <dgm:pt modelId="{0A13DCCB-846F-405E-BD53-426FE288022D}" type="parTrans" cxnId="{CE941E02-42D5-443D-9FE0-ED97440DD454}">
      <dgm:prSet/>
      <dgm:spPr/>
      <dgm:t>
        <a:bodyPr/>
        <a:lstStyle/>
        <a:p>
          <a:endParaRPr lang="en-US"/>
        </a:p>
      </dgm:t>
    </dgm:pt>
    <dgm:pt modelId="{0B693C40-91D0-4B8E-AF96-2CD52DA04075}" type="sibTrans" cxnId="{CE941E02-42D5-443D-9FE0-ED97440DD454}">
      <dgm:prSet/>
      <dgm:spPr/>
      <dgm:t>
        <a:bodyPr/>
        <a:lstStyle/>
        <a:p>
          <a:endParaRPr lang="en-US"/>
        </a:p>
      </dgm:t>
    </dgm:pt>
    <dgm:pt modelId="{C4610C1B-1681-471C-B952-14E133DA3570}">
      <dgm:prSet phldrT="[Text]"/>
      <dgm:spPr/>
      <dgm:t>
        <a:bodyPr/>
        <a:lstStyle/>
        <a:p>
          <a:r>
            <a:rPr lang="en-US" dirty="0"/>
            <a:t>End of period adjusting entries</a:t>
          </a:r>
        </a:p>
      </dgm:t>
    </dgm:pt>
    <dgm:pt modelId="{972EF49A-06CB-455F-8750-E0FF5DDF12BA}" type="parTrans" cxnId="{DBC743C9-3343-4D6C-9C8E-406C4CAEC112}">
      <dgm:prSet/>
      <dgm:spPr/>
      <dgm:t>
        <a:bodyPr/>
        <a:lstStyle/>
        <a:p>
          <a:endParaRPr lang="en-US"/>
        </a:p>
      </dgm:t>
    </dgm:pt>
    <dgm:pt modelId="{980EC728-D3C3-494C-B4AB-A30A3EA51EED}" type="sibTrans" cxnId="{DBC743C9-3343-4D6C-9C8E-406C4CAEC112}">
      <dgm:prSet/>
      <dgm:spPr/>
      <dgm:t>
        <a:bodyPr/>
        <a:lstStyle/>
        <a:p>
          <a:endParaRPr lang="en-US"/>
        </a:p>
      </dgm:t>
    </dgm:pt>
    <dgm:pt modelId="{71B20A49-1F1F-4F91-BBA7-BC0CCEB85F70}">
      <dgm:prSet phldrT="[Text]"/>
      <dgm:spPr/>
      <dgm:t>
        <a:bodyPr/>
        <a:lstStyle/>
        <a:p>
          <a:r>
            <a:rPr lang="en-US" dirty="0"/>
            <a:t>Prepare Trial Balance</a:t>
          </a:r>
        </a:p>
      </dgm:t>
    </dgm:pt>
    <dgm:pt modelId="{234970DD-E351-4E30-A8F7-44D95B06B49B}" type="parTrans" cxnId="{241F2CE5-C39C-460C-9E0F-5DBE85936099}">
      <dgm:prSet/>
      <dgm:spPr/>
      <dgm:t>
        <a:bodyPr/>
        <a:lstStyle/>
        <a:p>
          <a:endParaRPr lang="en-US"/>
        </a:p>
      </dgm:t>
    </dgm:pt>
    <dgm:pt modelId="{8F58984D-F6A5-479A-8E16-F79B5ADEFDDA}" type="sibTrans" cxnId="{241F2CE5-C39C-460C-9E0F-5DBE85936099}">
      <dgm:prSet/>
      <dgm:spPr/>
      <dgm:t>
        <a:bodyPr/>
        <a:lstStyle/>
        <a:p>
          <a:endParaRPr lang="en-US"/>
        </a:p>
      </dgm:t>
    </dgm:pt>
    <dgm:pt modelId="{CFD363D3-F3FB-4B0E-A866-88D07DA3F68F}">
      <dgm:prSet phldrT="[Text]"/>
      <dgm:spPr/>
      <dgm:t>
        <a:bodyPr/>
        <a:lstStyle/>
        <a:p>
          <a:r>
            <a:rPr lang="en-US" dirty="0"/>
            <a:t>Prepare Financial Statement</a:t>
          </a:r>
        </a:p>
      </dgm:t>
    </dgm:pt>
    <dgm:pt modelId="{01CFA98E-0FEA-4D6F-A142-7C48DFFA9638}" type="parTrans" cxnId="{B1B7BBFA-363E-4669-8B18-3739CF5E51D3}">
      <dgm:prSet/>
      <dgm:spPr/>
      <dgm:t>
        <a:bodyPr/>
        <a:lstStyle/>
        <a:p>
          <a:endParaRPr lang="en-US"/>
        </a:p>
      </dgm:t>
    </dgm:pt>
    <dgm:pt modelId="{AA2599A9-338F-4B40-AE6A-B96CC5E1DDF3}" type="sibTrans" cxnId="{B1B7BBFA-363E-4669-8B18-3739CF5E51D3}">
      <dgm:prSet/>
      <dgm:spPr/>
      <dgm:t>
        <a:bodyPr/>
        <a:lstStyle/>
        <a:p>
          <a:endParaRPr lang="en-US"/>
        </a:p>
      </dgm:t>
    </dgm:pt>
    <dgm:pt modelId="{6C672A29-F2AD-4506-BA6E-65EE73F8014B}">
      <dgm:prSet phldrT="[Text]"/>
      <dgm:spPr/>
      <dgm:t>
        <a:bodyPr/>
        <a:lstStyle/>
        <a:p>
          <a:r>
            <a:rPr lang="en-US" dirty="0"/>
            <a:t>Closing entries</a:t>
          </a:r>
        </a:p>
      </dgm:t>
    </dgm:pt>
    <dgm:pt modelId="{BA027C59-9661-45D2-8431-DF72561B8397}" type="parTrans" cxnId="{9BAAF855-7D5C-48D3-89D8-C63607C37DD4}">
      <dgm:prSet/>
      <dgm:spPr/>
      <dgm:t>
        <a:bodyPr/>
        <a:lstStyle/>
        <a:p>
          <a:endParaRPr lang="en-US"/>
        </a:p>
      </dgm:t>
    </dgm:pt>
    <dgm:pt modelId="{1B9735B3-3B7C-4C2E-9E7A-6CC90407D397}" type="sibTrans" cxnId="{9BAAF855-7D5C-48D3-89D8-C63607C37DD4}">
      <dgm:prSet/>
      <dgm:spPr/>
      <dgm:t>
        <a:bodyPr/>
        <a:lstStyle/>
        <a:p>
          <a:endParaRPr lang="en-US"/>
        </a:p>
      </dgm:t>
    </dgm:pt>
    <dgm:pt modelId="{266B2CBA-43A3-447A-98C4-E4D7A19CB644}" type="pres">
      <dgm:prSet presAssocID="{B5366130-BD0A-4A47-ADC2-7ED700AF4E45}" presName="rootnode" presStyleCnt="0">
        <dgm:presLayoutVars>
          <dgm:chMax/>
          <dgm:chPref/>
          <dgm:dir/>
          <dgm:animLvl val="lvl"/>
        </dgm:presLayoutVars>
      </dgm:prSet>
      <dgm:spPr/>
    </dgm:pt>
    <dgm:pt modelId="{EF7AF04A-95C9-4A9B-BB4E-8E7B18443F06}" type="pres">
      <dgm:prSet presAssocID="{FBCF9A12-7F98-446C-ADF1-18E671CCF337}" presName="composite" presStyleCnt="0"/>
      <dgm:spPr/>
    </dgm:pt>
    <dgm:pt modelId="{044FE12E-EE4B-4FAA-A7D2-D3808586EC13}" type="pres">
      <dgm:prSet presAssocID="{FBCF9A12-7F98-446C-ADF1-18E671CCF337}" presName="bentUpArrow1" presStyleLbl="alignImgPlace1" presStyleIdx="0" presStyleCnt="6"/>
      <dgm:spPr/>
    </dgm:pt>
    <dgm:pt modelId="{082B7F6D-43F4-466B-B767-2C1F9469B647}" type="pres">
      <dgm:prSet presAssocID="{FBCF9A12-7F98-446C-ADF1-18E671CCF337}" presName="ParentText" presStyleLbl="node1" presStyleIdx="0" presStyleCnt="7">
        <dgm:presLayoutVars>
          <dgm:chMax val="1"/>
          <dgm:chPref val="1"/>
          <dgm:bulletEnabled val="1"/>
        </dgm:presLayoutVars>
      </dgm:prSet>
      <dgm:spPr/>
    </dgm:pt>
    <dgm:pt modelId="{D69B1AEC-74FF-440D-83F1-DECCCB651F8A}" type="pres">
      <dgm:prSet presAssocID="{FBCF9A12-7F98-446C-ADF1-18E671CCF337}" presName="ChildText" presStyleLbl="revTx" presStyleIdx="0" presStyleCnt="6">
        <dgm:presLayoutVars>
          <dgm:chMax val="0"/>
          <dgm:chPref val="0"/>
          <dgm:bulletEnabled val="1"/>
        </dgm:presLayoutVars>
      </dgm:prSet>
      <dgm:spPr/>
    </dgm:pt>
    <dgm:pt modelId="{C3B70B63-4360-4F48-8227-87720D1489FA}" type="pres">
      <dgm:prSet presAssocID="{B571E1D8-F956-4EAE-94A2-97762AC33FED}" presName="sibTrans" presStyleCnt="0"/>
      <dgm:spPr/>
    </dgm:pt>
    <dgm:pt modelId="{6A952269-6445-46B3-9BB9-52A52B0FC52D}" type="pres">
      <dgm:prSet presAssocID="{A47294AA-D24C-405F-87E2-4E015072C3B9}" presName="composite" presStyleCnt="0"/>
      <dgm:spPr/>
    </dgm:pt>
    <dgm:pt modelId="{23C80483-1BC9-4120-8A2D-D0EF93B7E2DE}" type="pres">
      <dgm:prSet presAssocID="{A47294AA-D24C-405F-87E2-4E015072C3B9}" presName="bentUpArrow1" presStyleLbl="alignImgPlace1" presStyleIdx="1" presStyleCnt="6"/>
      <dgm:spPr/>
    </dgm:pt>
    <dgm:pt modelId="{DF3CA0B0-4D5A-40C4-B355-3ACAE19CBBEA}" type="pres">
      <dgm:prSet presAssocID="{A47294AA-D24C-405F-87E2-4E015072C3B9}" presName="ParentText" presStyleLbl="node1" presStyleIdx="1" presStyleCnt="7">
        <dgm:presLayoutVars>
          <dgm:chMax val="1"/>
          <dgm:chPref val="1"/>
          <dgm:bulletEnabled val="1"/>
        </dgm:presLayoutVars>
      </dgm:prSet>
      <dgm:spPr/>
    </dgm:pt>
    <dgm:pt modelId="{20C4A695-949D-4C54-83CD-73A56128D02D}" type="pres">
      <dgm:prSet presAssocID="{A47294AA-D24C-405F-87E2-4E015072C3B9}" presName="ChildText" presStyleLbl="revTx" presStyleIdx="1" presStyleCnt="6">
        <dgm:presLayoutVars>
          <dgm:chMax val="0"/>
          <dgm:chPref val="0"/>
          <dgm:bulletEnabled val="1"/>
        </dgm:presLayoutVars>
      </dgm:prSet>
      <dgm:spPr/>
    </dgm:pt>
    <dgm:pt modelId="{6E510853-A29A-48E5-A3E8-B2A111700F90}" type="pres">
      <dgm:prSet presAssocID="{ED737DA0-69E2-4546-A3CD-8F6F1DEF7E01}" presName="sibTrans" presStyleCnt="0"/>
      <dgm:spPr/>
    </dgm:pt>
    <dgm:pt modelId="{78E504F7-BF0B-4A45-8743-32EDF012D533}" type="pres">
      <dgm:prSet presAssocID="{DFC421A3-63A1-42D8-AE8C-417AA3DDBE30}" presName="composite" presStyleCnt="0"/>
      <dgm:spPr/>
    </dgm:pt>
    <dgm:pt modelId="{4C24F86A-093F-4F47-980A-E44B5B47DDF0}" type="pres">
      <dgm:prSet presAssocID="{DFC421A3-63A1-42D8-AE8C-417AA3DDBE30}" presName="bentUpArrow1" presStyleLbl="alignImgPlace1" presStyleIdx="2" presStyleCnt="6"/>
      <dgm:spPr/>
    </dgm:pt>
    <dgm:pt modelId="{0FE8A553-1639-4104-8D3A-46641040D7EF}" type="pres">
      <dgm:prSet presAssocID="{DFC421A3-63A1-42D8-AE8C-417AA3DDBE30}" presName="ParentText" presStyleLbl="node1" presStyleIdx="2" presStyleCnt="7">
        <dgm:presLayoutVars>
          <dgm:chMax val="1"/>
          <dgm:chPref val="1"/>
          <dgm:bulletEnabled val="1"/>
        </dgm:presLayoutVars>
      </dgm:prSet>
      <dgm:spPr/>
    </dgm:pt>
    <dgm:pt modelId="{AEEFC722-6F20-4412-9907-F61D71FA8319}" type="pres">
      <dgm:prSet presAssocID="{DFC421A3-63A1-42D8-AE8C-417AA3DDBE30}" presName="ChildText" presStyleLbl="revTx" presStyleIdx="2" presStyleCnt="6">
        <dgm:presLayoutVars>
          <dgm:chMax val="0"/>
          <dgm:chPref val="0"/>
          <dgm:bulletEnabled val="1"/>
        </dgm:presLayoutVars>
      </dgm:prSet>
      <dgm:spPr/>
    </dgm:pt>
    <dgm:pt modelId="{97B9C73B-B406-4F78-BE61-1C68765106F1}" type="pres">
      <dgm:prSet presAssocID="{0B693C40-91D0-4B8E-AF96-2CD52DA04075}" presName="sibTrans" presStyleCnt="0"/>
      <dgm:spPr/>
    </dgm:pt>
    <dgm:pt modelId="{318A2B1D-B540-4308-AD1E-8551B17487D5}" type="pres">
      <dgm:prSet presAssocID="{C4610C1B-1681-471C-B952-14E133DA3570}" presName="composite" presStyleCnt="0"/>
      <dgm:spPr/>
    </dgm:pt>
    <dgm:pt modelId="{6CD63CA6-A35B-461C-9E4D-E6E65397C2CD}" type="pres">
      <dgm:prSet presAssocID="{C4610C1B-1681-471C-B952-14E133DA3570}" presName="bentUpArrow1" presStyleLbl="alignImgPlace1" presStyleIdx="3" presStyleCnt="6"/>
      <dgm:spPr/>
    </dgm:pt>
    <dgm:pt modelId="{70669228-FB1A-4CFD-A48C-69E1690AA85A}" type="pres">
      <dgm:prSet presAssocID="{C4610C1B-1681-471C-B952-14E133DA3570}" presName="ParentText" presStyleLbl="node1" presStyleIdx="3" presStyleCnt="7">
        <dgm:presLayoutVars>
          <dgm:chMax val="1"/>
          <dgm:chPref val="1"/>
          <dgm:bulletEnabled val="1"/>
        </dgm:presLayoutVars>
      </dgm:prSet>
      <dgm:spPr/>
    </dgm:pt>
    <dgm:pt modelId="{524C9AF2-6F62-42EF-A662-5A46910C58F1}" type="pres">
      <dgm:prSet presAssocID="{C4610C1B-1681-471C-B952-14E133DA3570}" presName="ChildText" presStyleLbl="revTx" presStyleIdx="3" presStyleCnt="6">
        <dgm:presLayoutVars>
          <dgm:chMax val="0"/>
          <dgm:chPref val="0"/>
          <dgm:bulletEnabled val="1"/>
        </dgm:presLayoutVars>
      </dgm:prSet>
      <dgm:spPr/>
    </dgm:pt>
    <dgm:pt modelId="{43DF0EE5-8D5B-4EF0-8F88-D7633B7C4E23}" type="pres">
      <dgm:prSet presAssocID="{980EC728-D3C3-494C-B4AB-A30A3EA51EED}" presName="sibTrans" presStyleCnt="0"/>
      <dgm:spPr/>
    </dgm:pt>
    <dgm:pt modelId="{1038F978-A1F1-4E1C-887B-4BDB645E4A35}" type="pres">
      <dgm:prSet presAssocID="{71B20A49-1F1F-4F91-BBA7-BC0CCEB85F70}" presName="composite" presStyleCnt="0"/>
      <dgm:spPr/>
    </dgm:pt>
    <dgm:pt modelId="{F313DA0D-6BB2-41B0-B7E7-AE20F217CF24}" type="pres">
      <dgm:prSet presAssocID="{71B20A49-1F1F-4F91-BBA7-BC0CCEB85F70}" presName="bentUpArrow1" presStyleLbl="alignImgPlace1" presStyleIdx="4" presStyleCnt="6"/>
      <dgm:spPr/>
    </dgm:pt>
    <dgm:pt modelId="{7968322E-DD78-4CD3-8D30-2079E7633AEC}" type="pres">
      <dgm:prSet presAssocID="{71B20A49-1F1F-4F91-BBA7-BC0CCEB85F70}" presName="ParentText" presStyleLbl="node1" presStyleIdx="4" presStyleCnt="7">
        <dgm:presLayoutVars>
          <dgm:chMax val="1"/>
          <dgm:chPref val="1"/>
          <dgm:bulletEnabled val="1"/>
        </dgm:presLayoutVars>
      </dgm:prSet>
      <dgm:spPr/>
    </dgm:pt>
    <dgm:pt modelId="{22F68F24-69FC-47F0-B29A-F72BF2B6C0F8}" type="pres">
      <dgm:prSet presAssocID="{71B20A49-1F1F-4F91-BBA7-BC0CCEB85F70}" presName="ChildText" presStyleLbl="revTx" presStyleIdx="4" presStyleCnt="6">
        <dgm:presLayoutVars>
          <dgm:chMax val="0"/>
          <dgm:chPref val="0"/>
          <dgm:bulletEnabled val="1"/>
        </dgm:presLayoutVars>
      </dgm:prSet>
      <dgm:spPr/>
    </dgm:pt>
    <dgm:pt modelId="{78953012-5C59-4D52-9FF8-3919214EA553}" type="pres">
      <dgm:prSet presAssocID="{8F58984D-F6A5-479A-8E16-F79B5ADEFDDA}" presName="sibTrans" presStyleCnt="0"/>
      <dgm:spPr/>
    </dgm:pt>
    <dgm:pt modelId="{09CD6E0A-A881-430A-90A8-1207A5752739}" type="pres">
      <dgm:prSet presAssocID="{CFD363D3-F3FB-4B0E-A866-88D07DA3F68F}" presName="composite" presStyleCnt="0"/>
      <dgm:spPr/>
    </dgm:pt>
    <dgm:pt modelId="{13EB15F7-83EA-4574-AB0C-3E628AF5BCE6}" type="pres">
      <dgm:prSet presAssocID="{CFD363D3-F3FB-4B0E-A866-88D07DA3F68F}" presName="bentUpArrow1" presStyleLbl="alignImgPlace1" presStyleIdx="5" presStyleCnt="6"/>
      <dgm:spPr/>
    </dgm:pt>
    <dgm:pt modelId="{6D98B3E6-73F3-42DA-A800-29DDF350A04E}" type="pres">
      <dgm:prSet presAssocID="{CFD363D3-F3FB-4B0E-A866-88D07DA3F68F}" presName="ParentText" presStyleLbl="node1" presStyleIdx="5" presStyleCnt="7">
        <dgm:presLayoutVars>
          <dgm:chMax val="1"/>
          <dgm:chPref val="1"/>
          <dgm:bulletEnabled val="1"/>
        </dgm:presLayoutVars>
      </dgm:prSet>
      <dgm:spPr/>
    </dgm:pt>
    <dgm:pt modelId="{922FFBF3-0AB6-4645-9879-C553C04CA038}" type="pres">
      <dgm:prSet presAssocID="{CFD363D3-F3FB-4B0E-A866-88D07DA3F68F}" presName="ChildText" presStyleLbl="revTx" presStyleIdx="5" presStyleCnt="6">
        <dgm:presLayoutVars>
          <dgm:chMax val="0"/>
          <dgm:chPref val="0"/>
          <dgm:bulletEnabled val="1"/>
        </dgm:presLayoutVars>
      </dgm:prSet>
      <dgm:spPr/>
    </dgm:pt>
    <dgm:pt modelId="{81D729F7-5320-4DE3-85F4-D5EDA3222028}" type="pres">
      <dgm:prSet presAssocID="{AA2599A9-338F-4B40-AE6A-B96CC5E1DDF3}" presName="sibTrans" presStyleCnt="0"/>
      <dgm:spPr/>
    </dgm:pt>
    <dgm:pt modelId="{93A2E0F0-6B9B-459D-AE9C-D0E09A208E30}" type="pres">
      <dgm:prSet presAssocID="{6C672A29-F2AD-4506-BA6E-65EE73F8014B}" presName="composite" presStyleCnt="0"/>
      <dgm:spPr/>
    </dgm:pt>
    <dgm:pt modelId="{1D4E3C90-E6FB-4005-AA02-EDD142147859}" type="pres">
      <dgm:prSet presAssocID="{6C672A29-F2AD-4506-BA6E-65EE73F8014B}" presName="ParentText" presStyleLbl="node1" presStyleIdx="6" presStyleCnt="7">
        <dgm:presLayoutVars>
          <dgm:chMax val="1"/>
          <dgm:chPref val="1"/>
          <dgm:bulletEnabled val="1"/>
        </dgm:presLayoutVars>
      </dgm:prSet>
      <dgm:spPr/>
    </dgm:pt>
  </dgm:ptLst>
  <dgm:cxnLst>
    <dgm:cxn modelId="{CE941E02-42D5-443D-9FE0-ED97440DD454}" srcId="{B5366130-BD0A-4A47-ADC2-7ED700AF4E45}" destId="{DFC421A3-63A1-42D8-AE8C-417AA3DDBE30}" srcOrd="2" destOrd="0" parTransId="{0A13DCCB-846F-405E-BD53-426FE288022D}" sibTransId="{0B693C40-91D0-4B8E-AF96-2CD52DA04075}"/>
    <dgm:cxn modelId="{9BAAF855-7D5C-48D3-89D8-C63607C37DD4}" srcId="{B5366130-BD0A-4A47-ADC2-7ED700AF4E45}" destId="{6C672A29-F2AD-4506-BA6E-65EE73F8014B}" srcOrd="6" destOrd="0" parTransId="{BA027C59-9661-45D2-8431-DF72561B8397}" sibTransId="{1B9735B3-3B7C-4C2E-9E7A-6CC90407D397}"/>
    <dgm:cxn modelId="{C9CED766-B1EA-434B-8C5F-C2C6301BC443}" type="presOf" srcId="{FBCF9A12-7F98-446C-ADF1-18E671CCF337}" destId="{082B7F6D-43F4-466B-B767-2C1F9469B647}" srcOrd="0" destOrd="0" presId="urn:microsoft.com/office/officeart/2005/8/layout/StepDownProcess"/>
    <dgm:cxn modelId="{D1FCE866-1788-4254-9DFA-DE949DFD23FB}" type="presOf" srcId="{C4610C1B-1681-471C-B952-14E133DA3570}" destId="{70669228-FB1A-4CFD-A48C-69E1690AA85A}" srcOrd="0" destOrd="0" presId="urn:microsoft.com/office/officeart/2005/8/layout/StepDownProcess"/>
    <dgm:cxn modelId="{581E7A6B-1332-48A9-82EB-111028201A54}" type="presOf" srcId="{A47294AA-D24C-405F-87E2-4E015072C3B9}" destId="{DF3CA0B0-4D5A-40C4-B355-3ACAE19CBBEA}" srcOrd="0" destOrd="0" presId="urn:microsoft.com/office/officeart/2005/8/layout/StepDownProcess"/>
    <dgm:cxn modelId="{33BC6C7A-96ED-429A-AEB0-F8EAAA963518}" type="presOf" srcId="{71B20A49-1F1F-4F91-BBA7-BC0CCEB85F70}" destId="{7968322E-DD78-4CD3-8D30-2079E7633AEC}" srcOrd="0" destOrd="0" presId="urn:microsoft.com/office/officeart/2005/8/layout/StepDownProcess"/>
    <dgm:cxn modelId="{3CE8D688-80AE-4EA0-A9D6-962146B7D5BA}" type="presOf" srcId="{B5366130-BD0A-4A47-ADC2-7ED700AF4E45}" destId="{266B2CBA-43A3-447A-98C4-E4D7A19CB644}" srcOrd="0" destOrd="0" presId="urn:microsoft.com/office/officeart/2005/8/layout/StepDownProcess"/>
    <dgm:cxn modelId="{3805DC8F-6DAF-4961-B437-98957B98F6F8}" type="presOf" srcId="{CFD363D3-F3FB-4B0E-A866-88D07DA3F68F}" destId="{6D98B3E6-73F3-42DA-A800-29DDF350A04E}" srcOrd="0" destOrd="0" presId="urn:microsoft.com/office/officeart/2005/8/layout/StepDownProcess"/>
    <dgm:cxn modelId="{FBCC249D-8DF5-4A09-9302-0A53F775AFA4}" srcId="{B5366130-BD0A-4A47-ADC2-7ED700AF4E45}" destId="{FBCF9A12-7F98-446C-ADF1-18E671CCF337}" srcOrd="0" destOrd="0" parTransId="{1CE48269-2E54-4357-85DF-EDE562D940FA}" sibTransId="{B571E1D8-F956-4EAE-94A2-97762AC33FED}"/>
    <dgm:cxn modelId="{0E5BB5B9-B045-43F7-B6CA-97720E696139}" srcId="{B5366130-BD0A-4A47-ADC2-7ED700AF4E45}" destId="{A47294AA-D24C-405F-87E2-4E015072C3B9}" srcOrd="1" destOrd="0" parTransId="{6944E8B4-B33D-4B21-88DE-F7E7370D0EFB}" sibTransId="{ED737DA0-69E2-4546-A3CD-8F6F1DEF7E01}"/>
    <dgm:cxn modelId="{9C0671C1-FB30-48E9-8966-254544FC2EF4}" type="presOf" srcId="{DFC421A3-63A1-42D8-AE8C-417AA3DDBE30}" destId="{0FE8A553-1639-4104-8D3A-46641040D7EF}" srcOrd="0" destOrd="0" presId="urn:microsoft.com/office/officeart/2005/8/layout/StepDownProcess"/>
    <dgm:cxn modelId="{DBC743C9-3343-4D6C-9C8E-406C4CAEC112}" srcId="{B5366130-BD0A-4A47-ADC2-7ED700AF4E45}" destId="{C4610C1B-1681-471C-B952-14E133DA3570}" srcOrd="3" destOrd="0" parTransId="{972EF49A-06CB-455F-8750-E0FF5DDF12BA}" sibTransId="{980EC728-D3C3-494C-B4AB-A30A3EA51EED}"/>
    <dgm:cxn modelId="{241F2CE5-C39C-460C-9E0F-5DBE85936099}" srcId="{B5366130-BD0A-4A47-ADC2-7ED700AF4E45}" destId="{71B20A49-1F1F-4F91-BBA7-BC0CCEB85F70}" srcOrd="4" destOrd="0" parTransId="{234970DD-E351-4E30-A8F7-44D95B06B49B}" sibTransId="{8F58984D-F6A5-479A-8E16-F79B5ADEFDDA}"/>
    <dgm:cxn modelId="{DE586BF2-5CCB-432E-A539-2A31245DB73C}" type="presOf" srcId="{6C672A29-F2AD-4506-BA6E-65EE73F8014B}" destId="{1D4E3C90-E6FB-4005-AA02-EDD142147859}" srcOrd="0" destOrd="0" presId="urn:microsoft.com/office/officeart/2005/8/layout/StepDownProcess"/>
    <dgm:cxn modelId="{B1B7BBFA-363E-4669-8B18-3739CF5E51D3}" srcId="{B5366130-BD0A-4A47-ADC2-7ED700AF4E45}" destId="{CFD363D3-F3FB-4B0E-A866-88D07DA3F68F}" srcOrd="5" destOrd="0" parTransId="{01CFA98E-0FEA-4D6F-A142-7C48DFFA9638}" sibTransId="{AA2599A9-338F-4B40-AE6A-B96CC5E1DDF3}"/>
    <dgm:cxn modelId="{4A161C07-3C29-401E-995E-7F49958F9E93}" type="presParOf" srcId="{266B2CBA-43A3-447A-98C4-E4D7A19CB644}" destId="{EF7AF04A-95C9-4A9B-BB4E-8E7B18443F06}" srcOrd="0" destOrd="0" presId="urn:microsoft.com/office/officeart/2005/8/layout/StepDownProcess"/>
    <dgm:cxn modelId="{89A7F3F5-D7C3-4C32-8898-8D12BEBF82A0}" type="presParOf" srcId="{EF7AF04A-95C9-4A9B-BB4E-8E7B18443F06}" destId="{044FE12E-EE4B-4FAA-A7D2-D3808586EC13}" srcOrd="0" destOrd="0" presId="urn:microsoft.com/office/officeart/2005/8/layout/StepDownProcess"/>
    <dgm:cxn modelId="{AC0BB645-9C55-47FF-B85C-6E4D4D5ABCCC}" type="presParOf" srcId="{EF7AF04A-95C9-4A9B-BB4E-8E7B18443F06}" destId="{082B7F6D-43F4-466B-B767-2C1F9469B647}" srcOrd="1" destOrd="0" presId="urn:microsoft.com/office/officeart/2005/8/layout/StepDownProcess"/>
    <dgm:cxn modelId="{A23658C3-C977-496C-A80D-671E7D497B95}" type="presParOf" srcId="{EF7AF04A-95C9-4A9B-BB4E-8E7B18443F06}" destId="{D69B1AEC-74FF-440D-83F1-DECCCB651F8A}" srcOrd="2" destOrd="0" presId="urn:microsoft.com/office/officeart/2005/8/layout/StepDownProcess"/>
    <dgm:cxn modelId="{2CC7722E-99FD-4392-A663-1EB482D725C6}" type="presParOf" srcId="{266B2CBA-43A3-447A-98C4-E4D7A19CB644}" destId="{C3B70B63-4360-4F48-8227-87720D1489FA}" srcOrd="1" destOrd="0" presId="urn:microsoft.com/office/officeart/2005/8/layout/StepDownProcess"/>
    <dgm:cxn modelId="{4E7D030E-1F12-4562-B0C6-3A62C9B92E04}" type="presParOf" srcId="{266B2CBA-43A3-447A-98C4-E4D7A19CB644}" destId="{6A952269-6445-46B3-9BB9-52A52B0FC52D}" srcOrd="2" destOrd="0" presId="urn:microsoft.com/office/officeart/2005/8/layout/StepDownProcess"/>
    <dgm:cxn modelId="{FBE61509-0531-4347-A5BC-AE9206F20DF8}" type="presParOf" srcId="{6A952269-6445-46B3-9BB9-52A52B0FC52D}" destId="{23C80483-1BC9-4120-8A2D-D0EF93B7E2DE}" srcOrd="0" destOrd="0" presId="urn:microsoft.com/office/officeart/2005/8/layout/StepDownProcess"/>
    <dgm:cxn modelId="{752711A0-A58B-413C-8921-3BDF97A7059E}" type="presParOf" srcId="{6A952269-6445-46B3-9BB9-52A52B0FC52D}" destId="{DF3CA0B0-4D5A-40C4-B355-3ACAE19CBBEA}" srcOrd="1" destOrd="0" presId="urn:microsoft.com/office/officeart/2005/8/layout/StepDownProcess"/>
    <dgm:cxn modelId="{248029BF-929A-491E-82EF-BF129C1ACF44}" type="presParOf" srcId="{6A952269-6445-46B3-9BB9-52A52B0FC52D}" destId="{20C4A695-949D-4C54-83CD-73A56128D02D}" srcOrd="2" destOrd="0" presId="urn:microsoft.com/office/officeart/2005/8/layout/StepDownProcess"/>
    <dgm:cxn modelId="{16669D2F-3E00-40D6-AE06-39419D6BF9BD}" type="presParOf" srcId="{266B2CBA-43A3-447A-98C4-E4D7A19CB644}" destId="{6E510853-A29A-48E5-A3E8-B2A111700F90}" srcOrd="3" destOrd="0" presId="urn:microsoft.com/office/officeart/2005/8/layout/StepDownProcess"/>
    <dgm:cxn modelId="{997358AA-9ECE-42B6-9D01-1C40FC4187D9}" type="presParOf" srcId="{266B2CBA-43A3-447A-98C4-E4D7A19CB644}" destId="{78E504F7-BF0B-4A45-8743-32EDF012D533}" srcOrd="4" destOrd="0" presId="urn:microsoft.com/office/officeart/2005/8/layout/StepDownProcess"/>
    <dgm:cxn modelId="{4E16C251-316A-4C89-A02F-98905325945F}" type="presParOf" srcId="{78E504F7-BF0B-4A45-8743-32EDF012D533}" destId="{4C24F86A-093F-4F47-980A-E44B5B47DDF0}" srcOrd="0" destOrd="0" presId="urn:microsoft.com/office/officeart/2005/8/layout/StepDownProcess"/>
    <dgm:cxn modelId="{C240E681-CF7B-4A19-A333-DD741E953282}" type="presParOf" srcId="{78E504F7-BF0B-4A45-8743-32EDF012D533}" destId="{0FE8A553-1639-4104-8D3A-46641040D7EF}" srcOrd="1" destOrd="0" presId="urn:microsoft.com/office/officeart/2005/8/layout/StepDownProcess"/>
    <dgm:cxn modelId="{C608E410-07FA-456E-945B-1559C7535CF9}" type="presParOf" srcId="{78E504F7-BF0B-4A45-8743-32EDF012D533}" destId="{AEEFC722-6F20-4412-9907-F61D71FA8319}" srcOrd="2" destOrd="0" presId="urn:microsoft.com/office/officeart/2005/8/layout/StepDownProcess"/>
    <dgm:cxn modelId="{1CB4E0DB-9A7E-4869-9BFB-BC5325D80F41}" type="presParOf" srcId="{266B2CBA-43A3-447A-98C4-E4D7A19CB644}" destId="{97B9C73B-B406-4F78-BE61-1C68765106F1}" srcOrd="5" destOrd="0" presId="urn:microsoft.com/office/officeart/2005/8/layout/StepDownProcess"/>
    <dgm:cxn modelId="{3180AEAF-1D59-44E0-8A5E-E877FC35480E}" type="presParOf" srcId="{266B2CBA-43A3-447A-98C4-E4D7A19CB644}" destId="{318A2B1D-B540-4308-AD1E-8551B17487D5}" srcOrd="6" destOrd="0" presId="urn:microsoft.com/office/officeart/2005/8/layout/StepDownProcess"/>
    <dgm:cxn modelId="{D5B90279-0EA0-436D-945C-8F71DF8D8450}" type="presParOf" srcId="{318A2B1D-B540-4308-AD1E-8551B17487D5}" destId="{6CD63CA6-A35B-461C-9E4D-E6E65397C2CD}" srcOrd="0" destOrd="0" presId="urn:microsoft.com/office/officeart/2005/8/layout/StepDownProcess"/>
    <dgm:cxn modelId="{9281396A-4B03-47DD-A775-BD68E410FA49}" type="presParOf" srcId="{318A2B1D-B540-4308-AD1E-8551B17487D5}" destId="{70669228-FB1A-4CFD-A48C-69E1690AA85A}" srcOrd="1" destOrd="0" presId="urn:microsoft.com/office/officeart/2005/8/layout/StepDownProcess"/>
    <dgm:cxn modelId="{A7FC5436-DA20-4FE3-AE6C-D5BCC22F2D07}" type="presParOf" srcId="{318A2B1D-B540-4308-AD1E-8551B17487D5}" destId="{524C9AF2-6F62-42EF-A662-5A46910C58F1}" srcOrd="2" destOrd="0" presId="urn:microsoft.com/office/officeart/2005/8/layout/StepDownProcess"/>
    <dgm:cxn modelId="{1184D5F2-5508-4B38-89FF-BB16409B9652}" type="presParOf" srcId="{266B2CBA-43A3-447A-98C4-E4D7A19CB644}" destId="{43DF0EE5-8D5B-4EF0-8F88-D7633B7C4E23}" srcOrd="7" destOrd="0" presId="urn:microsoft.com/office/officeart/2005/8/layout/StepDownProcess"/>
    <dgm:cxn modelId="{76511C9E-FFED-49F2-A7F7-66910DE2E426}" type="presParOf" srcId="{266B2CBA-43A3-447A-98C4-E4D7A19CB644}" destId="{1038F978-A1F1-4E1C-887B-4BDB645E4A35}" srcOrd="8" destOrd="0" presId="urn:microsoft.com/office/officeart/2005/8/layout/StepDownProcess"/>
    <dgm:cxn modelId="{A34C527B-9522-4658-80F7-9D91E16CFA41}" type="presParOf" srcId="{1038F978-A1F1-4E1C-887B-4BDB645E4A35}" destId="{F313DA0D-6BB2-41B0-B7E7-AE20F217CF24}" srcOrd="0" destOrd="0" presId="urn:microsoft.com/office/officeart/2005/8/layout/StepDownProcess"/>
    <dgm:cxn modelId="{00E967C3-67BA-4E7F-863B-6EC876403279}" type="presParOf" srcId="{1038F978-A1F1-4E1C-887B-4BDB645E4A35}" destId="{7968322E-DD78-4CD3-8D30-2079E7633AEC}" srcOrd="1" destOrd="0" presId="urn:microsoft.com/office/officeart/2005/8/layout/StepDownProcess"/>
    <dgm:cxn modelId="{31434246-0416-4718-90D8-3726D70DBC55}" type="presParOf" srcId="{1038F978-A1F1-4E1C-887B-4BDB645E4A35}" destId="{22F68F24-69FC-47F0-B29A-F72BF2B6C0F8}" srcOrd="2" destOrd="0" presId="urn:microsoft.com/office/officeart/2005/8/layout/StepDownProcess"/>
    <dgm:cxn modelId="{FE049370-57C7-4270-8837-679A41BCD8A9}" type="presParOf" srcId="{266B2CBA-43A3-447A-98C4-E4D7A19CB644}" destId="{78953012-5C59-4D52-9FF8-3919214EA553}" srcOrd="9" destOrd="0" presId="urn:microsoft.com/office/officeart/2005/8/layout/StepDownProcess"/>
    <dgm:cxn modelId="{3F3C7BC7-CCCE-45C0-81D3-DF0B3D343D53}" type="presParOf" srcId="{266B2CBA-43A3-447A-98C4-E4D7A19CB644}" destId="{09CD6E0A-A881-430A-90A8-1207A5752739}" srcOrd="10" destOrd="0" presId="urn:microsoft.com/office/officeart/2005/8/layout/StepDownProcess"/>
    <dgm:cxn modelId="{0462B1C0-3B74-4EC5-8E8E-0069432F50DA}" type="presParOf" srcId="{09CD6E0A-A881-430A-90A8-1207A5752739}" destId="{13EB15F7-83EA-4574-AB0C-3E628AF5BCE6}" srcOrd="0" destOrd="0" presId="urn:microsoft.com/office/officeart/2005/8/layout/StepDownProcess"/>
    <dgm:cxn modelId="{FCBFC4D5-292C-4894-A1AC-386DDA2709B2}" type="presParOf" srcId="{09CD6E0A-A881-430A-90A8-1207A5752739}" destId="{6D98B3E6-73F3-42DA-A800-29DDF350A04E}" srcOrd="1" destOrd="0" presId="urn:microsoft.com/office/officeart/2005/8/layout/StepDownProcess"/>
    <dgm:cxn modelId="{668AE8B4-A674-4C53-839A-A6ACB0FA5E69}" type="presParOf" srcId="{09CD6E0A-A881-430A-90A8-1207A5752739}" destId="{922FFBF3-0AB6-4645-9879-C553C04CA038}" srcOrd="2" destOrd="0" presId="urn:microsoft.com/office/officeart/2005/8/layout/StepDownProcess"/>
    <dgm:cxn modelId="{84E87635-3488-4A7B-918D-7228947D75C5}" type="presParOf" srcId="{266B2CBA-43A3-447A-98C4-E4D7A19CB644}" destId="{81D729F7-5320-4DE3-85F4-D5EDA3222028}" srcOrd="11" destOrd="0" presId="urn:microsoft.com/office/officeart/2005/8/layout/StepDownProcess"/>
    <dgm:cxn modelId="{5F93668F-C725-42F8-946C-E894F0D84A2C}" type="presParOf" srcId="{266B2CBA-43A3-447A-98C4-E4D7A19CB644}" destId="{93A2E0F0-6B9B-459D-AE9C-D0E09A208E30}" srcOrd="12" destOrd="0" presId="urn:microsoft.com/office/officeart/2005/8/layout/StepDownProcess"/>
    <dgm:cxn modelId="{5F004842-39F7-4AAA-B893-523AF2749AB1}" type="presParOf" srcId="{93A2E0F0-6B9B-459D-AE9C-D0E09A208E30}" destId="{1D4E3C90-E6FB-4005-AA02-EDD142147859}"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4FE12E-EE4B-4FAA-A7D2-D3808586EC13}">
      <dsp:nvSpPr>
        <dsp:cNvPr id="0" name=""/>
        <dsp:cNvSpPr/>
      </dsp:nvSpPr>
      <dsp:spPr>
        <a:xfrm rot="5400000">
          <a:off x="1088326" y="689931"/>
          <a:ext cx="587301" cy="668621"/>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82B7F6D-43F4-466B-B767-2C1F9469B647}">
      <dsp:nvSpPr>
        <dsp:cNvPr id="0" name=""/>
        <dsp:cNvSpPr/>
      </dsp:nvSpPr>
      <dsp:spPr>
        <a:xfrm>
          <a:off x="932727" y="38896"/>
          <a:ext cx="988669" cy="69203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Analyze source documents</a:t>
          </a:r>
        </a:p>
      </dsp:txBody>
      <dsp:txXfrm>
        <a:off x="966515" y="72684"/>
        <a:ext cx="921093" cy="624460"/>
      </dsp:txXfrm>
    </dsp:sp>
    <dsp:sp modelId="{D69B1AEC-74FF-440D-83F1-DECCCB651F8A}">
      <dsp:nvSpPr>
        <dsp:cNvPr id="0" name=""/>
        <dsp:cNvSpPr/>
      </dsp:nvSpPr>
      <dsp:spPr>
        <a:xfrm>
          <a:off x="1921397" y="104897"/>
          <a:ext cx="719064" cy="559334"/>
        </a:xfrm>
        <a:prstGeom prst="rect">
          <a:avLst/>
        </a:prstGeom>
        <a:noFill/>
        <a:ln>
          <a:noFill/>
        </a:ln>
        <a:effectLst/>
      </dsp:spPr>
      <dsp:style>
        <a:lnRef idx="0">
          <a:scrgbClr r="0" g="0" b="0"/>
        </a:lnRef>
        <a:fillRef idx="0">
          <a:scrgbClr r="0" g="0" b="0"/>
        </a:fillRef>
        <a:effectRef idx="0">
          <a:scrgbClr r="0" g="0" b="0"/>
        </a:effectRef>
        <a:fontRef idx="minor"/>
      </dsp:style>
    </dsp:sp>
    <dsp:sp modelId="{23C80483-1BC9-4120-8A2D-D0EF93B7E2DE}">
      <dsp:nvSpPr>
        <dsp:cNvPr id="0" name=""/>
        <dsp:cNvSpPr/>
      </dsp:nvSpPr>
      <dsp:spPr>
        <a:xfrm rot="5400000">
          <a:off x="1908039" y="1467317"/>
          <a:ext cx="587301" cy="668621"/>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F3CA0B0-4D5A-40C4-B355-3ACAE19CBBEA}">
      <dsp:nvSpPr>
        <dsp:cNvPr id="0" name=""/>
        <dsp:cNvSpPr/>
      </dsp:nvSpPr>
      <dsp:spPr>
        <a:xfrm>
          <a:off x="1752440" y="816281"/>
          <a:ext cx="988669" cy="69203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Transactions into Journal</a:t>
          </a:r>
        </a:p>
      </dsp:txBody>
      <dsp:txXfrm>
        <a:off x="1786228" y="850069"/>
        <a:ext cx="921093" cy="624460"/>
      </dsp:txXfrm>
    </dsp:sp>
    <dsp:sp modelId="{20C4A695-949D-4C54-83CD-73A56128D02D}">
      <dsp:nvSpPr>
        <dsp:cNvPr id="0" name=""/>
        <dsp:cNvSpPr/>
      </dsp:nvSpPr>
      <dsp:spPr>
        <a:xfrm>
          <a:off x="2741110" y="882283"/>
          <a:ext cx="719064" cy="559334"/>
        </a:xfrm>
        <a:prstGeom prst="rect">
          <a:avLst/>
        </a:prstGeom>
        <a:noFill/>
        <a:ln>
          <a:noFill/>
        </a:ln>
        <a:effectLst/>
      </dsp:spPr>
      <dsp:style>
        <a:lnRef idx="0">
          <a:scrgbClr r="0" g="0" b="0"/>
        </a:lnRef>
        <a:fillRef idx="0">
          <a:scrgbClr r="0" g="0" b="0"/>
        </a:fillRef>
        <a:effectRef idx="0">
          <a:scrgbClr r="0" g="0" b="0"/>
        </a:effectRef>
        <a:fontRef idx="minor"/>
      </dsp:style>
    </dsp:sp>
    <dsp:sp modelId="{4C24F86A-093F-4F47-980A-E44B5B47DDF0}">
      <dsp:nvSpPr>
        <dsp:cNvPr id="0" name=""/>
        <dsp:cNvSpPr/>
      </dsp:nvSpPr>
      <dsp:spPr>
        <a:xfrm rot="5400000">
          <a:off x="2727751" y="2244703"/>
          <a:ext cx="587301" cy="668621"/>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FE8A553-1639-4104-8D3A-46641040D7EF}">
      <dsp:nvSpPr>
        <dsp:cNvPr id="0" name=""/>
        <dsp:cNvSpPr/>
      </dsp:nvSpPr>
      <dsp:spPr>
        <a:xfrm>
          <a:off x="2572152" y="1593667"/>
          <a:ext cx="988669" cy="69203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Journal to General Ledger</a:t>
          </a:r>
        </a:p>
      </dsp:txBody>
      <dsp:txXfrm>
        <a:off x="2605940" y="1627455"/>
        <a:ext cx="921093" cy="624460"/>
      </dsp:txXfrm>
    </dsp:sp>
    <dsp:sp modelId="{AEEFC722-6F20-4412-9907-F61D71FA8319}">
      <dsp:nvSpPr>
        <dsp:cNvPr id="0" name=""/>
        <dsp:cNvSpPr/>
      </dsp:nvSpPr>
      <dsp:spPr>
        <a:xfrm>
          <a:off x="3560822" y="1659669"/>
          <a:ext cx="719064" cy="559334"/>
        </a:xfrm>
        <a:prstGeom prst="rect">
          <a:avLst/>
        </a:prstGeom>
        <a:noFill/>
        <a:ln>
          <a:noFill/>
        </a:ln>
        <a:effectLst/>
      </dsp:spPr>
      <dsp:style>
        <a:lnRef idx="0">
          <a:scrgbClr r="0" g="0" b="0"/>
        </a:lnRef>
        <a:fillRef idx="0">
          <a:scrgbClr r="0" g="0" b="0"/>
        </a:fillRef>
        <a:effectRef idx="0">
          <a:scrgbClr r="0" g="0" b="0"/>
        </a:effectRef>
        <a:fontRef idx="minor"/>
      </dsp:style>
    </dsp:sp>
    <dsp:sp modelId="{6CD63CA6-A35B-461C-9E4D-E6E65397C2CD}">
      <dsp:nvSpPr>
        <dsp:cNvPr id="0" name=""/>
        <dsp:cNvSpPr/>
      </dsp:nvSpPr>
      <dsp:spPr>
        <a:xfrm rot="5400000">
          <a:off x="3547464" y="3022089"/>
          <a:ext cx="587301" cy="668621"/>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0669228-FB1A-4CFD-A48C-69E1690AA85A}">
      <dsp:nvSpPr>
        <dsp:cNvPr id="0" name=""/>
        <dsp:cNvSpPr/>
      </dsp:nvSpPr>
      <dsp:spPr>
        <a:xfrm>
          <a:off x="3391865" y="2371053"/>
          <a:ext cx="988669" cy="69203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End of period adjusting entries</a:t>
          </a:r>
        </a:p>
      </dsp:txBody>
      <dsp:txXfrm>
        <a:off x="3425653" y="2404841"/>
        <a:ext cx="921093" cy="624460"/>
      </dsp:txXfrm>
    </dsp:sp>
    <dsp:sp modelId="{524C9AF2-6F62-42EF-A662-5A46910C58F1}">
      <dsp:nvSpPr>
        <dsp:cNvPr id="0" name=""/>
        <dsp:cNvSpPr/>
      </dsp:nvSpPr>
      <dsp:spPr>
        <a:xfrm>
          <a:off x="4380534" y="2437055"/>
          <a:ext cx="719064" cy="559334"/>
        </a:xfrm>
        <a:prstGeom prst="rect">
          <a:avLst/>
        </a:prstGeom>
        <a:noFill/>
        <a:ln>
          <a:noFill/>
        </a:ln>
        <a:effectLst/>
      </dsp:spPr>
      <dsp:style>
        <a:lnRef idx="0">
          <a:scrgbClr r="0" g="0" b="0"/>
        </a:lnRef>
        <a:fillRef idx="0">
          <a:scrgbClr r="0" g="0" b="0"/>
        </a:fillRef>
        <a:effectRef idx="0">
          <a:scrgbClr r="0" g="0" b="0"/>
        </a:effectRef>
        <a:fontRef idx="minor"/>
      </dsp:style>
    </dsp:sp>
    <dsp:sp modelId="{F313DA0D-6BB2-41B0-B7E7-AE20F217CF24}">
      <dsp:nvSpPr>
        <dsp:cNvPr id="0" name=""/>
        <dsp:cNvSpPr/>
      </dsp:nvSpPr>
      <dsp:spPr>
        <a:xfrm rot="5400000">
          <a:off x="4367176" y="3799474"/>
          <a:ext cx="587301" cy="668621"/>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968322E-DD78-4CD3-8D30-2079E7633AEC}">
      <dsp:nvSpPr>
        <dsp:cNvPr id="0" name=""/>
        <dsp:cNvSpPr/>
      </dsp:nvSpPr>
      <dsp:spPr>
        <a:xfrm>
          <a:off x="4211577" y="3148439"/>
          <a:ext cx="988669" cy="69203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Prepare Trial Balance</a:t>
          </a:r>
        </a:p>
      </dsp:txBody>
      <dsp:txXfrm>
        <a:off x="4245365" y="3182227"/>
        <a:ext cx="921093" cy="624460"/>
      </dsp:txXfrm>
    </dsp:sp>
    <dsp:sp modelId="{22F68F24-69FC-47F0-B29A-F72BF2B6C0F8}">
      <dsp:nvSpPr>
        <dsp:cNvPr id="0" name=""/>
        <dsp:cNvSpPr/>
      </dsp:nvSpPr>
      <dsp:spPr>
        <a:xfrm>
          <a:off x="5200247" y="3214440"/>
          <a:ext cx="719064" cy="559334"/>
        </a:xfrm>
        <a:prstGeom prst="rect">
          <a:avLst/>
        </a:prstGeom>
        <a:noFill/>
        <a:ln>
          <a:noFill/>
        </a:ln>
        <a:effectLst/>
      </dsp:spPr>
      <dsp:style>
        <a:lnRef idx="0">
          <a:scrgbClr r="0" g="0" b="0"/>
        </a:lnRef>
        <a:fillRef idx="0">
          <a:scrgbClr r="0" g="0" b="0"/>
        </a:fillRef>
        <a:effectRef idx="0">
          <a:scrgbClr r="0" g="0" b="0"/>
        </a:effectRef>
        <a:fontRef idx="minor"/>
      </dsp:style>
    </dsp:sp>
    <dsp:sp modelId="{13EB15F7-83EA-4574-AB0C-3E628AF5BCE6}">
      <dsp:nvSpPr>
        <dsp:cNvPr id="0" name=""/>
        <dsp:cNvSpPr/>
      </dsp:nvSpPr>
      <dsp:spPr>
        <a:xfrm rot="5400000">
          <a:off x="5186889" y="4576860"/>
          <a:ext cx="587301" cy="668621"/>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D98B3E6-73F3-42DA-A800-29DDF350A04E}">
      <dsp:nvSpPr>
        <dsp:cNvPr id="0" name=""/>
        <dsp:cNvSpPr/>
      </dsp:nvSpPr>
      <dsp:spPr>
        <a:xfrm>
          <a:off x="5031289" y="3925825"/>
          <a:ext cx="988669" cy="69203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Prepare Financial Statement</a:t>
          </a:r>
        </a:p>
      </dsp:txBody>
      <dsp:txXfrm>
        <a:off x="5065077" y="3959613"/>
        <a:ext cx="921093" cy="624460"/>
      </dsp:txXfrm>
    </dsp:sp>
    <dsp:sp modelId="{922FFBF3-0AB6-4645-9879-C553C04CA038}">
      <dsp:nvSpPr>
        <dsp:cNvPr id="0" name=""/>
        <dsp:cNvSpPr/>
      </dsp:nvSpPr>
      <dsp:spPr>
        <a:xfrm>
          <a:off x="6019959" y="3991826"/>
          <a:ext cx="719064" cy="559334"/>
        </a:xfrm>
        <a:prstGeom prst="rect">
          <a:avLst/>
        </a:prstGeom>
        <a:noFill/>
        <a:ln>
          <a:noFill/>
        </a:ln>
        <a:effectLst/>
      </dsp:spPr>
      <dsp:style>
        <a:lnRef idx="0">
          <a:scrgbClr r="0" g="0" b="0"/>
        </a:lnRef>
        <a:fillRef idx="0">
          <a:scrgbClr r="0" g="0" b="0"/>
        </a:fillRef>
        <a:effectRef idx="0">
          <a:scrgbClr r="0" g="0" b="0"/>
        </a:effectRef>
        <a:fontRef idx="minor"/>
      </dsp:style>
    </dsp:sp>
    <dsp:sp modelId="{1D4E3C90-E6FB-4005-AA02-EDD142147859}">
      <dsp:nvSpPr>
        <dsp:cNvPr id="0" name=""/>
        <dsp:cNvSpPr/>
      </dsp:nvSpPr>
      <dsp:spPr>
        <a:xfrm>
          <a:off x="5851002" y="4703210"/>
          <a:ext cx="988669" cy="69203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Closing entries</a:t>
          </a:r>
        </a:p>
      </dsp:txBody>
      <dsp:txXfrm>
        <a:off x="5884790" y="4736998"/>
        <a:ext cx="921093" cy="624460"/>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1/20/26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1/20/26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chapter is a good overview of the details that will be forthcoming in the text. This is also a good opportunity to put the class in perspective and how it relates to the other financial accounting courses that the students are taking. For example, students taking financial accounting classes understand the transaction focusing only on the proper debit and credit accounts and how the financial statements are prepared. This chapter provides a good pathway to connect those concepts from the journal entries to understanding the flow of the accounting information in a system from the detailed level, data from source documents, to </a:t>
            </a:r>
            <a:r>
              <a:rPr lang="en-IN" dirty="0" err="1"/>
              <a:t>subledgers</a:t>
            </a:r>
            <a:r>
              <a:rPr lang="en-IN" dirty="0"/>
              <a:t> and the general ledger and then to the financial statements or management reports necessary to make business decisions.</a:t>
            </a:r>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The data processing cycle is a descriptive means of demonstrating the operations performed on data to make the information meaningful for decisions. Using the revenue cycle as an example, the data input would include the sales activity between the company and the customer involving the resources of inventory and cash (when money is ultimately collected from the customer). </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Walking through the basic activities found on Table 2-1 in the text for the revenue cycle involves the sales order as the initial source document for the data input. This information is stored and often updated once other activities occur for this transaction in the revenue cycle such as an update to the sales record when the order is shipped from the warehouse. As seen in Table 2-1, the various activities that occur throughout the revenue cycle can impact the sales record and require updating of new information once that activity happens. The information that management can retrieve from the AIS can be in the form of reports such as Customer Sales Report.</a:t>
            </a:r>
          </a:p>
        </p:txBody>
      </p:sp>
      <p:sp>
        <p:nvSpPr>
          <p:cNvPr id="4" name="Slide Number Placeholder 3"/>
          <p:cNvSpPr>
            <a:spLocks noGrp="1"/>
          </p:cNvSpPr>
          <p:nvPr>
            <p:ph type="sldNum" sz="quarter" idx="10"/>
          </p:nvPr>
        </p:nvSpPr>
        <p:spPr/>
        <p:txBody>
          <a:bodyPr/>
          <a:lstStyle/>
          <a:p>
            <a:fld id="{A73D6722-9B4D-4E29-B226-C325925A8118}" type="slidenum">
              <a:rPr lang="en-US" smtClean="0"/>
              <a:t>3</a:t>
            </a:fld>
            <a:endParaRPr lang="en-US" dirty="0"/>
          </a:p>
        </p:txBody>
      </p:sp>
    </p:spTree>
    <p:extLst>
      <p:ext uri="{BB962C8B-B14F-4D97-AF65-F5344CB8AC3E}">
        <p14:creationId xmlns:p14="http://schemas.microsoft.com/office/powerpoint/2010/main" val="54166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5</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6</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It is important to emphasize Table 2-1 in the text as this sets the stage for understanding the transaction cycles and the source documents associated with those activities in the transaction cycle. A solid foundational understanding of:</a:t>
            </a:r>
          </a:p>
          <a:p>
            <a:pPr marL="0" lvl="0" indent="0" algn="l" rtl="0">
              <a:spcBef>
                <a:spcPts val="0"/>
              </a:spcBef>
              <a:spcAft>
                <a:spcPts val="0"/>
              </a:spcAft>
              <a:buNone/>
            </a:pPr>
            <a:r>
              <a:rPr lang="en-US" dirty="0"/>
              <a:t>Activities</a:t>
            </a:r>
          </a:p>
          <a:p>
            <a:pPr marL="0" lvl="0" indent="0" algn="l" rtl="0">
              <a:spcBef>
                <a:spcPts val="0"/>
              </a:spcBef>
              <a:spcAft>
                <a:spcPts val="0"/>
              </a:spcAft>
              <a:buNone/>
            </a:pPr>
            <a:r>
              <a:rPr lang="en-US" dirty="0"/>
              <a:t>Source documents associated with the activity</a:t>
            </a:r>
          </a:p>
          <a:p>
            <a:pPr marL="0" lvl="0" indent="0" algn="l" rtl="0">
              <a:spcBef>
                <a:spcPts val="0"/>
              </a:spcBef>
              <a:spcAft>
                <a:spcPts val="0"/>
              </a:spcAft>
              <a:buNone/>
            </a:pPr>
            <a:r>
              <a:rPr lang="en-US" dirty="0"/>
              <a:t>Information flows (i.e., debit and credit postings in the ledger)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helps the students understand how to establish controls for this information in the subsequent chapters. For example, the text in Chapter 2 does mention that prenumbering documents is a good control. A good question to ask students is why do they think prenumbering of the source documents would be important to have in an organization? This gets them thinking more intuitively based on their own experiences as a consumer and it may not make learning controls seem like memorizing a list and seem more like something that a student can think about as they understand the details and fit it to a bigger picture.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Another good class discussion is thinking about all the data that is collected using sensors (e.g., RFID tags). How much of this data would be important for the organization to capture?</a:t>
            </a:r>
          </a:p>
        </p:txBody>
      </p:sp>
      <p:sp>
        <p:nvSpPr>
          <p:cNvPr id="4" name="Slide Number Placeholder 3"/>
          <p:cNvSpPr>
            <a:spLocks noGrp="1"/>
          </p:cNvSpPr>
          <p:nvPr>
            <p:ph type="sldNum" sz="quarter" idx="10"/>
          </p:nvPr>
        </p:nvSpPr>
        <p:spPr/>
        <p:txBody>
          <a:bodyPr/>
          <a:lstStyle/>
          <a:p>
            <a:fld id="{A73D6722-9B4D-4E29-B226-C325925A8118}" type="slidenum">
              <a:rPr lang="en-US" smtClean="0"/>
              <a:t>7</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Figure 2.2 on page 37 is a great example of showing students how to follow a transaction to the various subledgers and the general ledger. This helps them visualize the structure of how data is stored in an AIS. </a:t>
            </a:r>
          </a:p>
        </p:txBody>
      </p:sp>
      <p:sp>
        <p:nvSpPr>
          <p:cNvPr id="4" name="Slide Number Placeholder 3"/>
          <p:cNvSpPr>
            <a:spLocks noGrp="1"/>
          </p:cNvSpPr>
          <p:nvPr>
            <p:ph type="sldNum" sz="quarter" idx="10"/>
          </p:nvPr>
        </p:nvSpPr>
        <p:spPr/>
        <p:txBody>
          <a:bodyPr/>
          <a:lstStyle/>
          <a:p>
            <a:fld id="{A73D6722-9B4D-4E29-B226-C325925A8118}" type="slidenum">
              <a:rPr lang="en-US" smtClean="0"/>
              <a:t>9</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The importance of data storage cannot be stressed enough. Many organizations change and evolve, but rarely do accountants have the luxury to really think ahead to organize how they want the information to be stored. Yet many AIS allow you to run special reports based on the coding schemas in the chart of accounts. For example, if your organization is expanding, is it important to have individual location financials as well as roll them up into regional financials? The coding schema of the chart of accounts, if not well thought out, can limit an organization and cause additional work; however, if the schema is well thought out, it can be more efficient to get the information to management.</a:t>
            </a:r>
          </a:p>
        </p:txBody>
      </p:sp>
      <p:sp>
        <p:nvSpPr>
          <p:cNvPr id="4" name="Slide Number Placeholder 3"/>
          <p:cNvSpPr>
            <a:spLocks noGrp="1"/>
          </p:cNvSpPr>
          <p:nvPr>
            <p:ph type="sldNum" sz="quarter" idx="10"/>
          </p:nvPr>
        </p:nvSpPr>
        <p:spPr/>
        <p:txBody>
          <a:bodyPr/>
          <a:lstStyle/>
          <a:p>
            <a:fld id="{A73D6722-9B4D-4E29-B226-C325925A8118}" type="slidenum">
              <a:rPr lang="en-US" smtClean="0"/>
              <a:t>10</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Figure 2-2 from the text shows how the different ledgers and journals are used to trace the path of one transaction found in Table 2-3 (invoice # 156 from KDR Builders). This example should also reinforce the accounting knowledge for the student as they may understand the debit and credit of a sale transaction but not necessarily understand how the AIS would store that transactional data.</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A good question to ask the students is why are there transactional journals and </a:t>
            </a:r>
            <a:r>
              <a:rPr lang="en-IN" dirty="0" err="1"/>
              <a:t>subledgers</a:t>
            </a:r>
            <a:r>
              <a:rPr lang="en-IN" dirty="0"/>
              <a:t> and not just one big general ledger? As they may have learned in their introductory accounting class, this becomes a very large file and it is easier to parcel out the information that is specific to the transaction (e.g., sales or purchasing) and the associated subsidiary ledgers.</a:t>
            </a:r>
          </a:p>
          <a:p>
            <a:pPr marL="0" lvl="0" indent="0" algn="l" rtl="0">
              <a:spcBef>
                <a:spcPts val="0"/>
              </a:spcBef>
              <a:spcAft>
                <a:spcPts val="0"/>
              </a:spcAft>
              <a:buNone/>
            </a:pPr>
            <a:endParaRPr lang="en-US" dirty="0"/>
          </a:p>
          <a:p>
            <a:pPr marL="0" lvl="0" indent="0" algn="l" rtl="0">
              <a:spcBef>
                <a:spcPts val="0"/>
              </a:spcBef>
              <a:spcAft>
                <a:spcPts val="0"/>
              </a:spcAft>
              <a:buNone/>
            </a:pPr>
            <a:r>
              <a:rPr lang="en-US" sz="1200" b="0" kern="1200" dirty="0">
                <a:solidFill>
                  <a:schemeClr val="tx1"/>
                </a:solidFill>
                <a:effectLst/>
                <a:latin typeface="+mn-lt"/>
                <a:ea typeface="+mn-ea"/>
                <a:cs typeface="+mn-cs"/>
              </a:rPr>
              <a:t>Long Description:</a:t>
            </a:r>
          </a:p>
          <a:p>
            <a:r>
              <a:rPr lang="en-US" sz="1200" kern="1200" dirty="0">
                <a:solidFill>
                  <a:schemeClr val="tx1"/>
                </a:solidFill>
                <a:effectLst/>
                <a:latin typeface="+mn-lt"/>
                <a:ea typeface="+mn-ea"/>
                <a:cs typeface="+mn-cs"/>
              </a:rPr>
              <a:t>The diagram shows four types of accounts, “Sales journal,” “General ledger of credit sales,” “General ledger of accounts receivable,” and “Accounts receivable subsidiary ledger.” Each credit sale is recorded in the sales journal, and each sales journal entry is posted to the appropriate customer account in the accounts receivable subsidiary ledger. The recording and posting of the credit sale are linked to particular entries in all the four accounts through arrows.</a:t>
            </a:r>
            <a:endParaRPr lang="en-IN" dirty="0">
              <a:effectLst/>
            </a:endParaRPr>
          </a:p>
          <a:p>
            <a:r>
              <a:rPr lang="en-US" sz="1200" kern="1200" dirty="0">
                <a:solidFill>
                  <a:schemeClr val="tx1"/>
                </a:solidFill>
                <a:effectLst/>
                <a:latin typeface="+mn-lt"/>
                <a:ea typeface="+mn-ea"/>
                <a:cs typeface="+mn-cs"/>
              </a:rPr>
              <a:t> </a:t>
            </a:r>
            <a:endParaRPr lang="en-IN" dirty="0">
              <a:effectLst/>
            </a:endParaRPr>
          </a:p>
          <a:p>
            <a:r>
              <a:rPr lang="en-US" sz="1200" kern="1200" dirty="0">
                <a:solidFill>
                  <a:schemeClr val="tx1"/>
                </a:solidFill>
                <a:effectLst/>
                <a:latin typeface="+mn-lt"/>
                <a:ea typeface="+mn-ea"/>
                <a:cs typeface="+mn-cs"/>
              </a:rPr>
              <a:t>It further shows the following linking and audit trail between the entries of different accounts:</a:t>
            </a:r>
            <a:endParaRPr lang="en-IN" dirty="0">
              <a:effectLst/>
            </a:endParaRPr>
          </a:p>
          <a:p>
            <a:r>
              <a:rPr lang="en-US" sz="1200" kern="1200" dirty="0">
                <a:solidFill>
                  <a:schemeClr val="tx1"/>
                </a:solidFill>
                <a:effectLst/>
                <a:latin typeface="+mn-lt"/>
                <a:ea typeface="+mn-ea"/>
                <a:cs typeface="+mn-cs"/>
              </a:rPr>
              <a:t> </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sales journal (S J) of linked to page 5, post reference S J 5 in general ledgers (Accounts Receivable and Credit Sales), and post reference S J 5 in general ledgers accounts receivable subsidiary ledger.</a:t>
            </a:r>
            <a:endParaRPr lang="en-IN"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An amount of individual sale of 1,876.50 dollars to K D R Builders in the sales journal on October 15 is linked to the debit for as 1,876.50 dollars in the accounts receivable subsidiary ledger.</a:t>
            </a:r>
            <a:endParaRPr lang="en-IN"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general ledger for accounts receivable shows an entry on October 15 as sales of 15,511.00 dollars (debit) with post reference as S J 5 (sales journal, page 5).</a:t>
            </a:r>
            <a:endParaRPr lang="en-IN"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general ledger for credit sales shows an entry on October 15 as sales of 15,511.00 dollars (credit) with post reference as S J 5 (sales journal, page 5).</a:t>
            </a:r>
            <a:endParaRPr lang="en-IN"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accounts receivable subsidiary ledger for KDR Builders shows an entry on October 15 as sales of 1,876.50 dollars (debit) with post reference as S J 5 (sales journal, page 5).</a:t>
            </a:r>
            <a:endParaRPr lang="en-IN" b="0" dirty="0"/>
          </a:p>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11</a:t>
            </a:fld>
            <a:endParaRPr lang="en-US" dirty="0"/>
          </a:p>
        </p:txBody>
      </p:sp>
    </p:spTree>
    <p:extLst>
      <p:ext uri="{BB962C8B-B14F-4D97-AF65-F5344CB8AC3E}">
        <p14:creationId xmlns:p14="http://schemas.microsoft.com/office/powerpoint/2010/main" val="21245875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Its important to understand how the data aggregates as this will be useful in subsequent chapters for designing query (questions) of the data or reports. </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Students should be thinking about what information is in master files and what would be in transaction files. It is helpful to refer to slide 2-5 such that master files usually include “resource” and “people” data (i.e., inventory master files store information of all items the company sells) and the transaction file is the activity or event data that is captured (i.e., sales transactions).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Thus, there is the following hierarchy:</a:t>
            </a:r>
          </a:p>
          <a:p>
            <a:pPr marL="0" lvl="0" indent="0" algn="l" rtl="0">
              <a:spcBef>
                <a:spcPts val="0"/>
              </a:spcBef>
              <a:spcAft>
                <a:spcPts val="0"/>
              </a:spcAft>
              <a:buNone/>
            </a:pPr>
            <a:r>
              <a:rPr lang="en-IN" dirty="0"/>
              <a:t>Database includes</a:t>
            </a:r>
          </a:p>
          <a:p>
            <a:pPr marL="0" lvl="0" indent="0" algn="l" rtl="0">
              <a:spcBef>
                <a:spcPts val="0"/>
              </a:spcBef>
              <a:spcAft>
                <a:spcPts val="0"/>
              </a:spcAft>
              <a:buNone/>
            </a:pPr>
            <a:r>
              <a:rPr lang="en-IN" dirty="0"/>
              <a:t>	Files (master/transaction) which include</a:t>
            </a:r>
          </a:p>
          <a:p>
            <a:pPr marL="0" lvl="0" indent="0" algn="l" rtl="0">
              <a:spcBef>
                <a:spcPts val="0"/>
              </a:spcBef>
              <a:spcAft>
                <a:spcPts val="0"/>
              </a:spcAft>
              <a:buNone/>
            </a:pPr>
            <a:r>
              <a:rPr lang="en-IN" dirty="0"/>
              <a:t>		Records (entities) which include</a:t>
            </a:r>
          </a:p>
          <a:p>
            <a:pPr marL="0" lvl="0" indent="0" algn="l" rtl="0">
              <a:spcBef>
                <a:spcPts val="0"/>
              </a:spcBef>
              <a:spcAft>
                <a:spcPts val="0"/>
              </a:spcAft>
              <a:buNone/>
            </a:pPr>
            <a:r>
              <a:rPr lang="en-IN" dirty="0"/>
              <a:t>			Attributes (individual fields)</a:t>
            </a:r>
          </a:p>
          <a:p>
            <a:r>
              <a:rPr lang="en-US" sz="1200" b="0" kern="1200" dirty="0">
                <a:solidFill>
                  <a:schemeClr val="tx1"/>
                </a:solidFill>
                <a:effectLst/>
                <a:latin typeface="+mn-lt"/>
                <a:ea typeface="+mn-ea"/>
                <a:cs typeface="+mn-cs"/>
              </a:rPr>
              <a:t>Long Description:</a:t>
            </a:r>
          </a:p>
          <a:p>
            <a:r>
              <a:rPr lang="en-US" sz="1200" kern="1200" dirty="0">
                <a:solidFill>
                  <a:schemeClr val="tx1"/>
                </a:solidFill>
                <a:effectLst/>
                <a:latin typeface="+mn-lt"/>
                <a:ea typeface="+mn-ea"/>
                <a:cs typeface="+mn-cs"/>
              </a:rPr>
              <a:t>The table shows the elements of data storage with three entries or three records. It has five columns denoting “Attributes” and three rows denoting “Three Entities or Three Records.” The attributes are as follows: “Customer Number,” “Customer Name,” “Address,” “Credit Limit,” and “Balance.” </a:t>
            </a:r>
            <a:endParaRPr lang="en-IN" dirty="0">
              <a:effectLst/>
            </a:endParaRPr>
          </a:p>
          <a:p>
            <a:r>
              <a:rPr lang="en-US" sz="1200" kern="1200" dirty="0">
                <a:solidFill>
                  <a:schemeClr val="tx1"/>
                </a:solidFill>
                <a:effectLst/>
                <a:latin typeface="+mn-lt"/>
                <a:ea typeface="+mn-ea"/>
                <a:cs typeface="+mn-cs"/>
              </a:rPr>
              <a:t> </a:t>
            </a:r>
            <a:endParaRPr lang="en-IN" dirty="0">
              <a:effectLst/>
            </a:endParaRPr>
          </a:p>
          <a:p>
            <a:r>
              <a:rPr lang="en-US" sz="1200" kern="1200" dirty="0">
                <a:solidFill>
                  <a:schemeClr val="tx1"/>
                </a:solidFill>
                <a:effectLst/>
                <a:latin typeface="+mn-lt"/>
                <a:ea typeface="+mn-ea"/>
                <a:cs typeface="+mn-cs"/>
              </a:rPr>
              <a:t>Each attribute has a data field filled with data values. The data values for different attributes in the table are as follows:</a:t>
            </a:r>
            <a:endParaRPr lang="en-IN" dirty="0">
              <a:effectLst/>
            </a:endParaRPr>
          </a:p>
          <a:p>
            <a:r>
              <a:rPr lang="en-US" sz="1200" kern="1200" dirty="0">
                <a:solidFill>
                  <a:schemeClr val="tx1"/>
                </a:solidFill>
                <a:effectLst/>
                <a:latin typeface="+mn-lt"/>
                <a:ea typeface="+mn-ea"/>
                <a:cs typeface="+mn-cs"/>
              </a:rPr>
              <a:t> </a:t>
            </a:r>
            <a:endParaRPr lang="en-IN" dirty="0">
              <a:effectLst/>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First entry: Customer Number, 19283; Customer Name, XYZ; Company; Address, P.O. Box 7; Credit Limit, 30,000; Balance, 24,750.</a:t>
            </a:r>
            <a:endParaRPr lang="en-IN"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Second entry: Customer Number, 35794; Customer Name, ABC Company; Address, 233 Lotus Avenue; Credit Limit, 45,000; Balance, 12,000.</a:t>
            </a:r>
            <a:endParaRPr lang="en-IN"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Third entry: Customer Number, 56987; Customer Name, QRS Company; Address, 356 Book Road; Credit Limit, 25,000; Balance, 24,900.</a:t>
            </a: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12</a:t>
            </a:fld>
            <a:endParaRPr lang="en-US" dirty="0"/>
          </a:p>
        </p:txBody>
      </p:sp>
    </p:spTree>
    <p:extLst>
      <p:ext uri="{BB962C8B-B14F-4D97-AF65-F5344CB8AC3E}">
        <p14:creationId xmlns:p14="http://schemas.microsoft.com/office/powerpoint/2010/main" val="5677262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14</a:t>
            </a:fld>
            <a:endParaRPr lang="en-US" dirty="0"/>
          </a:p>
        </p:txBody>
      </p:sp>
    </p:spTree>
    <p:extLst>
      <p:ext uri="{BB962C8B-B14F-4D97-AF65-F5344CB8AC3E}">
        <p14:creationId xmlns:p14="http://schemas.microsoft.com/office/powerpoint/2010/main" val="537753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Queries are shown in Chapter 4 and are a very useful tool used in accounting to get specific information out of a database.</a:t>
            </a:r>
          </a:p>
        </p:txBody>
      </p:sp>
      <p:sp>
        <p:nvSpPr>
          <p:cNvPr id="4" name="Slide Number Placeholder 3"/>
          <p:cNvSpPr>
            <a:spLocks noGrp="1"/>
          </p:cNvSpPr>
          <p:nvPr>
            <p:ph type="sldNum" sz="quarter" idx="10"/>
          </p:nvPr>
        </p:nvSpPr>
        <p:spPr/>
        <p:txBody>
          <a:bodyPr/>
          <a:lstStyle/>
          <a:p>
            <a:fld id="{A73D6722-9B4D-4E29-B226-C325925A8118}" type="slidenum">
              <a:rPr lang="en-US" smtClean="0"/>
              <a:t>16</a:t>
            </a:fld>
            <a:endParaRPr lang="en-US" dirty="0"/>
          </a:p>
        </p:txBody>
      </p:sp>
    </p:spTree>
    <p:extLst>
      <p:ext uri="{BB962C8B-B14F-4D97-AF65-F5344CB8AC3E}">
        <p14:creationId xmlns:p14="http://schemas.microsoft.com/office/powerpoint/2010/main" val="422345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is a good place to emphasize that good internal controls are necessary, as an integrated database has the benefit of inputting data once in the system; if that input is inaccurate, it will be useless. That is why most people only have access to certain portions of the system and that good data entry controls are necessary.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18</a:t>
            </a:fld>
            <a:endParaRPr lang="en-US" dirty="0"/>
          </a:p>
        </p:txBody>
      </p:sp>
    </p:spTree>
    <p:extLst>
      <p:ext uri="{BB962C8B-B14F-4D97-AF65-F5344CB8AC3E}">
        <p14:creationId xmlns:p14="http://schemas.microsoft.com/office/powerpoint/2010/main" val="427955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19</a:t>
            </a:fld>
            <a:endParaRPr lang="en-US" dirty="0"/>
          </a:p>
        </p:txBody>
      </p:sp>
    </p:spTree>
    <p:extLst>
      <p:ext uri="{BB962C8B-B14F-4D97-AF65-F5344CB8AC3E}">
        <p14:creationId xmlns:p14="http://schemas.microsoft.com/office/powerpoint/2010/main" val="2322266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Although there are many advantages of an ERP system and most companies small and large use some form of an ERP system, understanding the issues of implementation can determine a successful ERP implementation from a failed implementation.</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Most notable, a business process will need to map to the ERP software, and</a:t>
            </a:r>
            <a:r>
              <a:rPr lang="en-IN" baseline="0" dirty="0"/>
              <a:t> </a:t>
            </a:r>
            <a:r>
              <a:rPr lang="en-IN" dirty="0"/>
              <a:t>management will need to determine if they want to customize the ERP software or standardize their business process to fit the ERP system.</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A good discussion question is to ask students why they think user resistance occurs and how can this be mitigated if they were a manager handling the ERP implementation? Although there will be many answers in this discussion, one important takeaway is to highlight that training and support as well as communication of the change that will occur will help employees understand the change and also feel supported. A great article to bring into the classroom is from Harvard Business Review on change management (</a:t>
            </a:r>
            <a:r>
              <a:rPr lang="en-IN" dirty="0" err="1"/>
              <a:t>Kanter</a:t>
            </a:r>
            <a:r>
              <a:rPr lang="en-IN" dirty="0"/>
              <a:t> September 25, 2012). Access via https://hbr.org/2012/09/ten-reasons-people-resist-chang.</a:t>
            </a:r>
          </a:p>
        </p:txBody>
      </p:sp>
      <p:sp>
        <p:nvSpPr>
          <p:cNvPr id="4" name="Slide Number Placeholder 3"/>
          <p:cNvSpPr>
            <a:spLocks noGrp="1"/>
          </p:cNvSpPr>
          <p:nvPr>
            <p:ph type="sldNum" sz="quarter" idx="10"/>
          </p:nvPr>
        </p:nvSpPr>
        <p:spPr/>
        <p:txBody>
          <a:bodyPr/>
          <a:lstStyle/>
          <a:p>
            <a:fld id="{A73D6722-9B4D-4E29-B226-C325925A8118}" type="slidenum">
              <a:rPr lang="en-US" smtClean="0"/>
              <a:t>20</a:t>
            </a:fld>
            <a:endParaRPr lang="en-US" dirty="0"/>
          </a:p>
        </p:txBody>
      </p:sp>
    </p:spTree>
    <p:extLst>
      <p:ext uri="{BB962C8B-B14F-4D97-AF65-F5344CB8AC3E}">
        <p14:creationId xmlns:p14="http://schemas.microsoft.com/office/powerpoint/2010/main" val="12106043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21</a:t>
            </a:fld>
            <a:endParaRPr lang="en-US" dirty="0"/>
          </a:p>
        </p:txBody>
      </p:sp>
    </p:spTree>
    <p:extLst>
      <p:ext uri="{BB962C8B-B14F-4D97-AF65-F5344CB8AC3E}">
        <p14:creationId xmlns:p14="http://schemas.microsoft.com/office/powerpoint/2010/main" val="22893639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10"/>
          </p:nvPr>
        </p:nvSpPr>
        <p:spPr/>
        <p:txBody>
          <a:bodyPr/>
          <a:lstStyle/>
          <a:p>
            <a:fld id="{A73D6722-9B4D-4E29-B226-C325925A8118}" type="slidenum">
              <a:rPr lang="en-US" smtClean="0"/>
              <a:t>22</a:t>
            </a:fld>
            <a:endParaRPr lang="en-US" dirty="0"/>
          </a:p>
        </p:txBody>
      </p:sp>
    </p:spTree>
    <p:extLst>
      <p:ext uri="{BB962C8B-B14F-4D97-AF65-F5344CB8AC3E}">
        <p14:creationId xmlns:p14="http://schemas.microsoft.com/office/powerpoint/2010/main" val="1890788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3046453"/>
            <a:ext cx="7772400" cy="553998"/>
          </a:xfrm>
        </p:spPr>
        <p:txBody>
          <a:bodyPr anchor="b">
            <a:sp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276999"/>
          </a:xfrm>
        </p:spPr>
        <p:txBody>
          <a:bodyPr>
            <a:sp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9DF6EFB-3F44-496C-A842-1E0B3D3B975A}" type="datetimeFigureOut">
              <a:rPr lang="en-US" smtClean="0"/>
              <a:t>1/20/26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spAutoFit/>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1/20/26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7"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121090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p:txBody>
          <a:bodyPr>
            <a:spAutoFit/>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1/20/26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7520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
        <p:nvSpPr>
          <p:cNvPr id="12"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30213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18379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077231"/>
            <a:ext cx="7772400" cy="523220"/>
          </a:xfrm>
        </p:spPr>
        <p:txBody>
          <a:bodyPr anchor="b">
            <a:sp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1/20/26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1/20/26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1/20/26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1915389572"/>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4" name="Date Placeholder 3"/>
          <p:cNvSpPr>
            <a:spLocks noGrp="1"/>
          </p:cNvSpPr>
          <p:nvPr>
            <p:ph type="dt" sz="half" idx="11"/>
          </p:nvPr>
        </p:nvSpPr>
        <p:spPr/>
        <p:txBody>
          <a:bodyPr/>
          <a:lstStyle/>
          <a:p>
            <a:fld id="{A9DF6EFB-3F44-496C-A842-1E0B3D3B975A}" type="datetimeFigureOut">
              <a:rPr lang="en-US" smtClean="0"/>
              <a:pPr/>
              <a:t>1/20/26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655843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1"/>
          </p:nvPr>
        </p:nvSpPr>
        <p:spPr/>
        <p:txBody>
          <a:bodyPr/>
          <a:lstStyle/>
          <a:p>
            <a:fld id="{A9DF6EFB-3F44-496C-A842-1E0B3D3B975A}" type="datetimeFigureOut">
              <a:rPr lang="en-US" smtClean="0"/>
              <a:pPr/>
              <a:t>1/20/26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187741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1/20/26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481892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1/20/26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101757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78795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99993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0258967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3810000" y="6425684"/>
            <a:ext cx="4866589" cy="184666"/>
          </a:xfrm>
          <a:prstGeom prst="rect">
            <a:avLst/>
          </a:prstGeom>
        </p:spPr>
        <p:txBody>
          <a:bodyPr vert="horz" lIns="0" tIns="0" rIns="0" bIns="0" rtlCol="0" anchor="b">
            <a:noAutofit/>
          </a:bodyPr>
          <a:lstStyle>
            <a:defPPr>
              <a:defRPr lang="en-US"/>
            </a:defPPr>
            <a:lvl1pPr marL="0" indent="0" algn="r" defTabSz="914400" rtl="0" eaLnBrk="1" latinLnBrk="0" hangingPunct="1">
              <a:buNone/>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3051578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1/20/26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5157198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1/20/26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12" name="Picture Placeholder 11"/>
          <p:cNvSpPr>
            <a:spLocks noGrp="1"/>
          </p:cNvSpPr>
          <p:nvPr>
            <p:ph type="pic" sz="quarter" idx="13"/>
          </p:nvPr>
        </p:nvSpPr>
        <p:spPr>
          <a:xfrm>
            <a:off x="533400" y="2514600"/>
            <a:ext cx="8153400" cy="1066800"/>
          </a:xfrm>
        </p:spPr>
        <p:txBody>
          <a:bodyPr/>
          <a:lstStyle/>
          <a:p>
            <a:endParaRPr lang="en-IN"/>
          </a:p>
        </p:txBody>
      </p:sp>
      <p:sp>
        <p:nvSpPr>
          <p:cNvPr id="14" name="Text Placeholder 13"/>
          <p:cNvSpPr>
            <a:spLocks noGrp="1"/>
          </p:cNvSpPr>
          <p:nvPr>
            <p:ph type="body" sz="quarter" idx="14"/>
          </p:nvPr>
        </p:nvSpPr>
        <p:spPr>
          <a:xfrm>
            <a:off x="1066800" y="3810000"/>
            <a:ext cx="6858000" cy="137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5"/>
          <p:cNvSpPr>
            <a:spLocks noGrp="1"/>
          </p:cNvSpPr>
          <p:nvPr>
            <p:ph sz="quarter" idx="15"/>
          </p:nvPr>
        </p:nvSpPr>
        <p:spPr>
          <a:xfrm>
            <a:off x="1143000" y="5257800"/>
            <a:ext cx="4648200" cy="6096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8578532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1/20/26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9387441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98_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Body)"/>
                <a:ea typeface="Arial(Body)"/>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51" name="Shape 5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Body)"/>
                <a:ea typeface="Arial(Body)"/>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IN" dirty="0"/>
          </a:p>
        </p:txBody>
      </p:sp>
      <p:sp>
        <p:nvSpPr>
          <p:cNvPr id="52" name="Shape 5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atin typeface="Arial(Body)"/>
              </a:defRPr>
            </a:lvl1pPr>
          </a:lstStyle>
          <a:p>
            <a:pPr algn="r">
              <a:buSzPct val="25000"/>
            </a:pPr>
            <a:fld id="{00000000-1234-1234-1234-123412341234}" type="slidenum">
              <a:rPr lang="en-US" sz="900" smtClean="0">
                <a:solidFill>
                  <a:schemeClr val="lt1"/>
                </a:solidFill>
              </a:rPr>
              <a:pPr algn="r">
                <a:buSzPct val="25000"/>
              </a:pPr>
              <a:t>‹#›</a:t>
            </a:fld>
            <a:endParaRPr lang="en-US" sz="900" dirty="0">
              <a:solidFill>
                <a:schemeClr val="lt1"/>
              </a:solidFill>
            </a:endParaRPr>
          </a:p>
        </p:txBody>
      </p:sp>
    </p:spTree>
    <p:extLst>
      <p:ext uri="{BB962C8B-B14F-4D97-AF65-F5344CB8AC3E}">
        <p14:creationId xmlns:p14="http://schemas.microsoft.com/office/powerpoint/2010/main" val="21705162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1/20/26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2201388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emf"/><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58654"/>
            <a:ext cx="8229600" cy="553998"/>
          </a:xfrm>
          <a:prstGeom prst="rect">
            <a:avLst/>
          </a:prstGeom>
        </p:spPr>
        <p:txBody>
          <a:bodyPr vert="horz" lIns="0" tIns="0" rIns="0" bIns="0" rtlCol="0" anchor="b">
            <a:spAutoFit/>
          </a:bodyPr>
          <a:lstStyle/>
          <a:p>
            <a:r>
              <a:rPr lang="en-US" dirty="0"/>
              <a:t>Click to edit Master title style</a:t>
            </a:r>
          </a:p>
        </p:txBody>
      </p:sp>
      <p:sp>
        <p:nvSpPr>
          <p:cNvPr id="3" name="Text Placeholder 2"/>
          <p:cNvSpPr>
            <a:spLocks noGrp="1"/>
          </p:cNvSpPr>
          <p:nvPr>
            <p:ph type="body" idx="1"/>
          </p:nvPr>
        </p:nvSpPr>
        <p:spPr>
          <a:xfrm>
            <a:off x="457200" y="1600200"/>
            <a:ext cx="8229600" cy="2677656"/>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1/20/26</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60" r:id="rId4"/>
    <p:sldLayoutId id="2147483662" r:id="rId5"/>
    <p:sldLayoutId id="2147483661" r:id="rId6"/>
    <p:sldLayoutId id="2147483663" r:id="rId7"/>
    <p:sldLayoutId id="2147483651" r:id="rId8"/>
    <p:sldLayoutId id="2147483654" r:id="rId9"/>
    <p:sldLayoutId id="2147483655" r:id="rId10"/>
    <p:sldLayoutId id="2147483699" r:id="rId11"/>
  </p:sldLayoutIdLst>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1/20/26</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54764469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98" r:id="rId13"/>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hyperlink" Target="https://kawazoe.antzblog.com/2013/08/27/birthday-brunch-acme-bar-and-coffee/" TargetMode="External"/><Relationship Id="rId3" Type="http://schemas.openxmlformats.org/officeDocument/2006/relationships/diagramLayout" Target="../diagrams/layout1.xml"/><Relationship Id="rId7" Type="http://schemas.openxmlformats.org/officeDocument/2006/relationships/image" Target="../media/image5.jpeg"/><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hyperlink" Target="https://creativecommons.org/licenses/by-nc-nd/3.0/"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becentsable.net/2015/01/peets-coffee-coupon.html/" TargetMode="External"/><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s://www.becentsable.net/2015/01/peets-coffee-coupon.html/" TargetMode="External"/><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hyperlink" Target="https://www.becentsable.net/2015/01/peets-coffee-coupon.html/" TargetMode="External"/><Relationship Id="rId2" Type="http://schemas.openxmlformats.org/officeDocument/2006/relationships/image" Target="../media/image6.jpg"/><Relationship Id="rId1" Type="http://schemas.openxmlformats.org/officeDocument/2006/relationships/slideLayout" Target="../slideLayouts/slideLayout14.xml"/><Relationship Id="rId4" Type="http://schemas.openxmlformats.org/officeDocument/2006/relationships/hyperlink" Target="https://creativecommons.org/licenses/by/3.0/"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hyperlink" Target="https://www.becentsable.net/2015/01/peets-coffee-coupon.html/" TargetMode="External"/><Relationship Id="rId2" Type="http://schemas.openxmlformats.org/officeDocument/2006/relationships/image" Target="../media/image6.jpg"/><Relationship Id="rId1" Type="http://schemas.openxmlformats.org/officeDocument/2006/relationships/slideLayout" Target="../slideLayouts/slideLayout14.xml"/><Relationship Id="rId4" Type="http://schemas.openxmlformats.org/officeDocument/2006/relationships/hyperlink" Target="https://creativecommons.org/licenses/by/3.0/"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hyperlink" Target="https://quizlet.com/760658523/ais-chapter-2-master-v-transaction-file-examples-flash-cards" TargetMode="External"/><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hyperlink" Target="https://quizlet.com/653892696/ais-chapter-2-terms-flash-cards/"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4.xml"/><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61934" y="117302"/>
            <a:ext cx="8272730" cy="590349"/>
          </a:xfrm>
        </p:spPr>
        <p:txBody>
          <a:bodyPr wrap="square" lIns="0" tIns="18000" rIns="0" bIns="18000" anchor="ctr" anchorCtr="0">
            <a:spAutoFit/>
          </a:bodyPr>
          <a:lstStyle/>
          <a:p>
            <a:r>
              <a:rPr lang="en-US" noProof="0" dirty="0"/>
              <a:t>Accounting Information Systems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64643" y="932927"/>
            <a:ext cx="1958194" cy="344128"/>
          </a:xfrm>
        </p:spPr>
        <p:txBody>
          <a:bodyPr wrap="square" lIns="0" tIns="18000" rIns="0" bIns="18000" anchor="ctr" anchorCtr="0">
            <a:spAutoFit/>
          </a:bodyPr>
          <a:lstStyle/>
          <a:p>
            <a:r>
              <a:rPr lang="en-US" sz="2000" noProof="0" dirty="0">
                <a:solidFill>
                  <a:srgbClr val="007FA3"/>
                </a:solidFill>
                <a:latin typeface="Arial" panose="020B0604020202020204" pitchFamily="34" charset="0"/>
                <a:cs typeface="Arial" panose="020B0604020202020204" pitchFamily="34" charset="0"/>
              </a:rPr>
              <a:t>Sixteenth Edition</a:t>
            </a:r>
            <a:endParaRPr lang="en-US" noProof="0" dirty="0">
              <a:latin typeface="Arial" panose="020B0604020202020204" pitchFamily="34" charset="0"/>
              <a:cs typeface="Arial" panose="020B0604020202020204" pitchFamily="34" charset="0"/>
            </a:endParaRPr>
          </a:p>
        </p:txBody>
      </p:sp>
      <p:pic>
        <p:nvPicPr>
          <p:cNvPr id="9" name="Picture 8" descr="Front Cover: Accounting Information Systems, Sixteenth Edition by Romney, Steinbart, Summers and Wood.">
            <a:extLst>
              <a:ext uri="{FF2B5EF4-FFF2-40B4-BE49-F238E27FC236}">
                <a16:creationId xmlns:a16="http://schemas.microsoft.com/office/drawing/2014/main" id="{474D169D-DDD8-4DAB-92C6-0DAC8CD369D1}"/>
              </a:ext>
            </a:extLst>
          </p:cNvPr>
          <p:cNvPicPr>
            <a:picLocks noChangeAspect="1"/>
          </p:cNvPicPr>
          <p:nvPr/>
        </p:nvPicPr>
        <p:blipFill>
          <a:blip r:embed="rId3"/>
          <a:stretch>
            <a:fillRect/>
          </a:stretch>
        </p:blipFill>
        <p:spPr>
          <a:xfrm>
            <a:off x="384200" y="1386673"/>
            <a:ext cx="3892191" cy="4978953"/>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2000" y="2430301"/>
            <a:ext cx="1874982" cy="498016"/>
          </a:xfrm>
        </p:spPr>
        <p:txBody>
          <a:bodyPr wrap="square" lIns="0" tIns="18000" rIns="0" bIns="18000" anchor="ctr" anchorCtr="0">
            <a:spAutoFit/>
          </a:bodyPr>
          <a:lstStyle/>
          <a:p>
            <a:pPr marL="0"/>
            <a:r>
              <a:rPr lang="en-US" noProof="0" dirty="0">
                <a:latin typeface="Arial" panose="020B0604020202020204" pitchFamily="34" charset="0"/>
                <a:cs typeface="Arial" panose="020B0604020202020204" pitchFamily="34" charset="0"/>
              </a:rPr>
              <a:t>Chapter 2</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82048" y="3076626"/>
            <a:ext cx="4140200" cy="1052014"/>
          </a:xfrm>
        </p:spPr>
        <p:txBody>
          <a:bodyPr wrap="square" lIns="0" tIns="18000" rIns="0" bIns="18000" anchor="ctr" anchorCtr="0">
            <a:spAutoFit/>
          </a:bodyPr>
          <a:lstStyle/>
          <a:p>
            <a:pPr marL="0"/>
            <a:r>
              <a:rPr lang="en-US" dirty="0">
                <a:latin typeface="Arial" panose="020B0604020202020204" pitchFamily="34" charset="0"/>
                <a:cs typeface="Arial" panose="020B0604020202020204" pitchFamily="34" charset="0"/>
              </a:rPr>
              <a:t>Overview of Transaction Processing and Enterprise Resource Planning Systems</a:t>
            </a:r>
            <a:endParaRPr lang="en-US" noProof="0" dirty="0">
              <a:latin typeface="Arial" panose="020B0604020202020204" pitchFamily="34" charset="0"/>
              <a:cs typeface="Arial" panose="020B0604020202020204" pitchFamily="34" charset="0"/>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169825" y="6425373"/>
            <a:ext cx="6589712" cy="221018"/>
          </a:xfrm>
        </p:spPr>
        <p:txBody>
          <a:bodyPr lIns="0" tIns="18000" rIns="0" bIns="18000" anchor="ctr" anchorCtr="0">
            <a:spAutoFit/>
          </a:bodyPr>
          <a:lstStyle/>
          <a:p>
            <a:r>
              <a:rPr lang="en-US" altLang="en-US" sz="1200" b="0" noProof="0" dirty="0">
                <a:latin typeface="Verdana"/>
                <a:ea typeface="Verdana" panose="020B0604030504040204" pitchFamily="34" charset="0"/>
                <a:cs typeface="Verdana" panose="020B0604030504040204" pitchFamily="34" charset="0"/>
              </a:rPr>
              <a:t>Copyright © 2024, 2021, 2018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15346"/>
            <a:ext cx="8229600" cy="618079"/>
          </a:xfrm>
        </p:spPr>
        <p:txBody>
          <a:bodyPr anchor="ctr">
            <a:noAutofit/>
          </a:bodyPr>
          <a:lstStyle/>
          <a:p>
            <a:r>
              <a:rPr lang="en-IN" sz="3600" dirty="0">
                <a:latin typeface="+mj-lt"/>
              </a:rPr>
              <a:t>Learning Objectives</a:t>
            </a:r>
          </a:p>
        </p:txBody>
      </p:sp>
      <p:sp>
        <p:nvSpPr>
          <p:cNvPr id="2" name="Content Placeholder 1"/>
          <p:cNvSpPr>
            <a:spLocks noGrp="1"/>
          </p:cNvSpPr>
          <p:nvPr>
            <p:ph idx="13"/>
          </p:nvPr>
        </p:nvSpPr>
        <p:spPr>
          <a:xfrm>
            <a:off x="457200" y="990600"/>
            <a:ext cx="8229600" cy="2514600"/>
          </a:xfrm>
        </p:spPr>
        <p:txBody>
          <a:bodyPr/>
          <a:lstStyle/>
          <a:p>
            <a:pPr lvl="0">
              <a:buSzPts val="2400"/>
            </a:pPr>
            <a:r>
              <a:rPr lang="en-IN" sz="2400" dirty="0"/>
              <a:t>Describe the data processing cycle used to process transactions, including how data is input, stored, and processed and how information is output. </a:t>
            </a:r>
          </a:p>
          <a:p>
            <a:pPr lvl="0">
              <a:buSzPts val="2400"/>
            </a:pPr>
            <a:r>
              <a:rPr lang="en-IN" sz="2400" dirty="0"/>
              <a:t>Discuss how organizations use enterprise resource planning (</a:t>
            </a:r>
            <a:r>
              <a:rPr lang="en-IN" sz="2400" spc="-300" dirty="0"/>
              <a:t>E R </a:t>
            </a:r>
            <a:r>
              <a:rPr lang="en-IN" sz="2400" dirty="0"/>
              <a:t>P) systems to process transactions and provide information.</a:t>
            </a:r>
          </a:p>
        </p:txBody>
      </p:sp>
    </p:spTree>
    <p:extLst>
      <p:ext uri="{BB962C8B-B14F-4D97-AF65-F5344CB8AC3E}">
        <p14:creationId xmlns:p14="http://schemas.microsoft.com/office/powerpoint/2010/main" val="2560582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2910"/>
            <a:ext cx="8229600" cy="553998"/>
          </a:xfrm>
        </p:spPr>
        <p:txBody>
          <a:bodyPr>
            <a:spAutoFit/>
          </a:bodyPr>
          <a:lstStyle/>
          <a:p>
            <a:r>
              <a:rPr lang="en-US" dirty="0"/>
              <a:t>Figure 2.1 The Data Processing Cycle</a:t>
            </a:r>
            <a:endParaRPr lang="en-IN" dirty="0">
              <a:latin typeface="+mj-lt"/>
            </a:endParaRPr>
          </a:p>
        </p:txBody>
      </p:sp>
      <p:pic>
        <p:nvPicPr>
          <p:cNvPr id="12" name="Picture Placeholder 11" descr="A flow diagram shows the steps involved in the data processing cycle. The steps are as follows: Data input, Data storage, Data processing, and Information output."/>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482322" y="1001110"/>
            <a:ext cx="8194782" cy="2968746"/>
          </a:xfrm>
          <a:prstGeom prst="rect">
            <a:avLst/>
          </a:prstGeom>
        </p:spPr>
      </p:pic>
    </p:spTree>
    <p:extLst>
      <p:ext uri="{BB962C8B-B14F-4D97-AF65-F5344CB8AC3E}">
        <p14:creationId xmlns:p14="http://schemas.microsoft.com/office/powerpoint/2010/main" val="1044660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E90840-97A8-42D4-AA22-806E54247CA6}"/>
              </a:ext>
            </a:extLst>
          </p:cNvPr>
          <p:cNvSpPr>
            <a:spLocks noGrp="1"/>
          </p:cNvSpPr>
          <p:nvPr>
            <p:ph type="title"/>
          </p:nvPr>
        </p:nvSpPr>
        <p:spPr>
          <a:xfrm>
            <a:off x="457200" y="457200"/>
            <a:ext cx="8229600" cy="553998"/>
          </a:xfrm>
        </p:spPr>
        <p:txBody>
          <a:bodyPr/>
          <a:lstStyle/>
          <a:p>
            <a:r>
              <a:rPr lang="en-US" dirty="0"/>
              <a:t>Accounting Cycle</a:t>
            </a:r>
          </a:p>
        </p:txBody>
      </p:sp>
      <p:graphicFrame>
        <p:nvGraphicFramePr>
          <p:cNvPr id="7" name="Diagram 6">
            <a:extLst>
              <a:ext uri="{FF2B5EF4-FFF2-40B4-BE49-F238E27FC236}">
                <a16:creationId xmlns:a16="http://schemas.microsoft.com/office/drawing/2014/main" id="{A54697BC-8EB7-472B-BAC5-A43915E905B9}"/>
              </a:ext>
            </a:extLst>
          </p:cNvPr>
          <p:cNvGraphicFramePr/>
          <p:nvPr>
            <p:extLst>
              <p:ext uri="{D42A27DB-BD31-4B8C-83A1-F6EECF244321}">
                <p14:modId xmlns:p14="http://schemas.microsoft.com/office/powerpoint/2010/main" val="3174964910"/>
              </p:ext>
            </p:extLst>
          </p:nvPr>
        </p:nvGraphicFramePr>
        <p:xfrm>
          <a:off x="914400" y="1219200"/>
          <a:ext cx="7772400" cy="54341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Picture 8" descr="A picture containing table, cup&#10;&#10;Description automatically generated">
            <a:extLst>
              <a:ext uri="{FF2B5EF4-FFF2-40B4-BE49-F238E27FC236}">
                <a16:creationId xmlns:a16="http://schemas.microsoft.com/office/drawing/2014/main" id="{6B845185-B3DC-420F-B968-1CA5A302D3E7}"/>
              </a:ext>
            </a:extLst>
          </p:cNvPr>
          <p:cNvPicPr>
            <a:picLocks noChangeAspect="1"/>
          </p:cNvPicPr>
          <p:nvPr/>
        </p:nvPicPr>
        <p:blipFill>
          <a:blip r:embed="rId7" cstate="print">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5257800" y="512446"/>
            <a:ext cx="3124200" cy="2335850"/>
          </a:xfrm>
          <a:prstGeom prst="rect">
            <a:avLst/>
          </a:prstGeom>
        </p:spPr>
      </p:pic>
      <p:sp>
        <p:nvSpPr>
          <p:cNvPr id="10" name="TextBox 9">
            <a:extLst>
              <a:ext uri="{FF2B5EF4-FFF2-40B4-BE49-F238E27FC236}">
                <a16:creationId xmlns:a16="http://schemas.microsoft.com/office/drawing/2014/main" id="{C5FC498E-D7B6-40A7-A99D-E7C3816D73B5}"/>
              </a:ext>
            </a:extLst>
          </p:cNvPr>
          <p:cNvSpPr txBox="1"/>
          <p:nvPr/>
        </p:nvSpPr>
        <p:spPr>
          <a:xfrm>
            <a:off x="0" y="6847318"/>
            <a:ext cx="9144000" cy="230832"/>
          </a:xfrm>
          <a:prstGeom prst="rect">
            <a:avLst/>
          </a:prstGeom>
          <a:noFill/>
        </p:spPr>
        <p:txBody>
          <a:bodyPr wrap="square" rtlCol="0">
            <a:spAutoFit/>
          </a:bodyPr>
          <a:lstStyle/>
          <a:p>
            <a:r>
              <a:rPr lang="en-US" sz="900">
                <a:hlinkClick r:id="rId8" tooltip="https://kawazoe.antzblog.com/2013/08/27/birthday-brunch-acme-bar-and-coffee/"/>
              </a:rPr>
              <a:t>This Photo</a:t>
            </a:r>
            <a:r>
              <a:rPr lang="en-US" sz="900"/>
              <a:t> by Unknown Author is licensed under </a:t>
            </a:r>
            <a:r>
              <a:rPr lang="en-US" sz="900">
                <a:hlinkClick r:id="rId9" tooltip="https://creativecommons.org/licenses/by-nc-nd/3.0/"/>
              </a:rPr>
              <a:t>CC BY-NC-ND</a:t>
            </a:r>
            <a:endParaRPr lang="en-US" sz="900"/>
          </a:p>
        </p:txBody>
      </p:sp>
    </p:spTree>
    <p:extLst>
      <p:ext uri="{BB962C8B-B14F-4D97-AF65-F5344CB8AC3E}">
        <p14:creationId xmlns:p14="http://schemas.microsoft.com/office/powerpoint/2010/main" val="4255375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15346"/>
            <a:ext cx="8229600" cy="618079"/>
          </a:xfrm>
        </p:spPr>
        <p:txBody>
          <a:bodyPr anchor="ctr">
            <a:noAutofit/>
          </a:bodyPr>
          <a:lstStyle/>
          <a:p>
            <a:r>
              <a:rPr lang="en-IN" dirty="0"/>
              <a:t>Data Input</a:t>
            </a:r>
            <a:endParaRPr lang="en-IN" sz="3600" dirty="0">
              <a:latin typeface="+mj-lt"/>
            </a:endParaRPr>
          </a:p>
        </p:txBody>
      </p:sp>
      <p:sp>
        <p:nvSpPr>
          <p:cNvPr id="2" name="Content Placeholder 1"/>
          <p:cNvSpPr>
            <a:spLocks noGrp="1"/>
          </p:cNvSpPr>
          <p:nvPr>
            <p:ph idx="13"/>
          </p:nvPr>
        </p:nvSpPr>
        <p:spPr>
          <a:xfrm>
            <a:off x="457200" y="990600"/>
            <a:ext cx="8229600" cy="2793072"/>
          </a:xfrm>
        </p:spPr>
        <p:txBody>
          <a:bodyPr/>
          <a:lstStyle/>
          <a:p>
            <a:pPr marL="109728" lvl="0" indent="0">
              <a:buSzPts val="2400"/>
              <a:buNone/>
            </a:pPr>
            <a:r>
              <a:rPr lang="en-IN" sz="2400" dirty="0"/>
              <a:t>Steps in getting input are:</a:t>
            </a:r>
          </a:p>
          <a:p>
            <a:pPr marL="479425" indent="-342900">
              <a:buSzPct val="100000"/>
            </a:pPr>
            <a:r>
              <a:rPr lang="en-IN" sz="2400" b="1" dirty="0"/>
              <a:t>Capture transaction data </a:t>
            </a:r>
            <a:r>
              <a:rPr lang="en-IN" sz="2400" dirty="0"/>
              <a:t>triggered by a business activity (event).</a:t>
            </a:r>
          </a:p>
          <a:p>
            <a:pPr marL="479425" indent="-342900">
              <a:buSzPct val="100000"/>
            </a:pPr>
            <a:r>
              <a:rPr lang="en-IN" sz="2400" dirty="0"/>
              <a:t>Make sure captured data are </a:t>
            </a:r>
            <a:r>
              <a:rPr lang="en-IN" sz="2400" b="1" dirty="0"/>
              <a:t>accurate and complete</a:t>
            </a:r>
            <a:r>
              <a:rPr lang="en-IN" sz="2400" dirty="0"/>
              <a:t>.</a:t>
            </a:r>
          </a:p>
          <a:p>
            <a:pPr marL="479425" indent="-342900">
              <a:buSzPct val="100000"/>
            </a:pPr>
            <a:r>
              <a:rPr lang="en-IN" sz="2400" dirty="0"/>
              <a:t>Ensure company </a:t>
            </a:r>
            <a:r>
              <a:rPr lang="en-IN" sz="2400" b="1" dirty="0"/>
              <a:t>policies</a:t>
            </a:r>
            <a:r>
              <a:rPr lang="en-IN" sz="2400" dirty="0"/>
              <a:t> are followed (e.g., approval of transaction).</a:t>
            </a:r>
          </a:p>
        </p:txBody>
      </p:sp>
    </p:spTree>
    <p:extLst>
      <p:ext uri="{BB962C8B-B14F-4D97-AF65-F5344CB8AC3E}">
        <p14:creationId xmlns:p14="http://schemas.microsoft.com/office/powerpoint/2010/main" val="792995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15346"/>
            <a:ext cx="8229600" cy="618079"/>
          </a:xfrm>
        </p:spPr>
        <p:txBody>
          <a:bodyPr anchor="ctr">
            <a:noAutofit/>
          </a:bodyPr>
          <a:lstStyle/>
          <a:p>
            <a:r>
              <a:rPr lang="en-IN" dirty="0"/>
              <a:t>Data Capture</a:t>
            </a:r>
            <a:endParaRPr lang="en-IN" sz="3600" dirty="0">
              <a:latin typeface="+mj-lt"/>
            </a:endParaRPr>
          </a:p>
        </p:txBody>
      </p:sp>
      <p:sp>
        <p:nvSpPr>
          <p:cNvPr id="2" name="Content Placeholder 1"/>
          <p:cNvSpPr>
            <a:spLocks noGrp="1"/>
          </p:cNvSpPr>
          <p:nvPr>
            <p:ph idx="13"/>
          </p:nvPr>
        </p:nvSpPr>
        <p:spPr>
          <a:xfrm>
            <a:off x="457200" y="990600"/>
            <a:ext cx="8229600" cy="2985433"/>
          </a:xfrm>
        </p:spPr>
        <p:txBody>
          <a:bodyPr/>
          <a:lstStyle/>
          <a:p>
            <a:pPr lvl="0">
              <a:buSzPts val="2400"/>
            </a:pPr>
            <a:r>
              <a:rPr lang="en-IN" sz="2400" dirty="0"/>
              <a:t>Information collected for an activity includes:</a:t>
            </a:r>
          </a:p>
          <a:p>
            <a:pPr lvl="1">
              <a:spcBef>
                <a:spcPts val="1500"/>
              </a:spcBef>
              <a:buSzPct val="100000"/>
            </a:pPr>
            <a:r>
              <a:rPr lang="en-IN" sz="2400" b="1" dirty="0"/>
              <a:t>Activity</a:t>
            </a:r>
            <a:r>
              <a:rPr lang="en-IN" sz="2400" dirty="0"/>
              <a:t> of interest (e.g., sale)</a:t>
            </a:r>
          </a:p>
          <a:p>
            <a:pPr lvl="1">
              <a:spcBef>
                <a:spcPts val="1500"/>
              </a:spcBef>
              <a:buSzPct val="100000"/>
            </a:pPr>
            <a:r>
              <a:rPr lang="en-IN" sz="2400" b="1" dirty="0"/>
              <a:t>Resources </a:t>
            </a:r>
            <a:r>
              <a:rPr lang="en-IN" sz="2400" dirty="0"/>
              <a:t>affected (e.g., inventory and cash)</a:t>
            </a:r>
          </a:p>
          <a:p>
            <a:pPr lvl="1">
              <a:spcBef>
                <a:spcPts val="1500"/>
              </a:spcBef>
              <a:buSzPct val="100000"/>
            </a:pPr>
            <a:r>
              <a:rPr lang="en-IN" sz="2400" b="1" dirty="0"/>
              <a:t>People </a:t>
            </a:r>
            <a:r>
              <a:rPr lang="en-IN" sz="2400" dirty="0"/>
              <a:t>who participated in the activity (e.g., customer and employee)</a:t>
            </a:r>
          </a:p>
          <a:p>
            <a:pPr lvl="0">
              <a:buSzPts val="2400"/>
            </a:pPr>
            <a:r>
              <a:rPr lang="en-IN" sz="2400" dirty="0"/>
              <a:t>Information comes from </a:t>
            </a:r>
            <a:r>
              <a:rPr lang="en-IN" sz="2400" b="1" dirty="0"/>
              <a:t>source documents.</a:t>
            </a:r>
          </a:p>
        </p:txBody>
      </p:sp>
    </p:spTree>
    <p:extLst>
      <p:ext uri="{BB962C8B-B14F-4D97-AF65-F5344CB8AC3E}">
        <p14:creationId xmlns:p14="http://schemas.microsoft.com/office/powerpoint/2010/main" val="277071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15346"/>
            <a:ext cx="8229600" cy="618079"/>
          </a:xfrm>
        </p:spPr>
        <p:txBody>
          <a:bodyPr anchor="ctr">
            <a:noAutofit/>
          </a:bodyPr>
          <a:lstStyle/>
          <a:p>
            <a:r>
              <a:rPr lang="en-IN" dirty="0"/>
              <a:t>Source Documents</a:t>
            </a:r>
            <a:endParaRPr lang="en-IN" sz="3600" dirty="0">
              <a:latin typeface="+mj-lt"/>
            </a:endParaRPr>
          </a:p>
        </p:txBody>
      </p:sp>
      <p:sp>
        <p:nvSpPr>
          <p:cNvPr id="2" name="Content Placeholder 1"/>
          <p:cNvSpPr>
            <a:spLocks noGrp="1"/>
          </p:cNvSpPr>
          <p:nvPr>
            <p:ph idx="13"/>
          </p:nvPr>
        </p:nvSpPr>
        <p:spPr>
          <a:xfrm>
            <a:off x="457200" y="990600"/>
            <a:ext cx="8229600" cy="2895600"/>
          </a:xfrm>
        </p:spPr>
        <p:txBody>
          <a:bodyPr/>
          <a:lstStyle/>
          <a:p>
            <a:pPr marL="479425" indent="-342900">
              <a:buSzPts val="2400"/>
            </a:pPr>
            <a:r>
              <a:rPr lang="en-IN" sz="2400" dirty="0"/>
              <a:t>Captures data at the source when the transaction takes place</a:t>
            </a:r>
          </a:p>
          <a:p>
            <a:pPr lvl="1">
              <a:spcBef>
                <a:spcPts val="1500"/>
              </a:spcBef>
              <a:buSzPct val="100000"/>
            </a:pPr>
            <a:r>
              <a:rPr lang="en-IN" sz="2400" b="1" dirty="0"/>
              <a:t>Paper</a:t>
            </a:r>
            <a:r>
              <a:rPr lang="en-IN" sz="2400" dirty="0"/>
              <a:t> source documents</a:t>
            </a:r>
          </a:p>
          <a:p>
            <a:pPr lvl="1">
              <a:spcBef>
                <a:spcPts val="1500"/>
              </a:spcBef>
              <a:buSzPct val="100000"/>
            </a:pPr>
            <a:r>
              <a:rPr lang="en-IN" sz="2400" b="1" dirty="0"/>
              <a:t>Turnaround </a:t>
            </a:r>
            <a:r>
              <a:rPr lang="en-IN" sz="2400" dirty="0"/>
              <a:t>documents</a:t>
            </a:r>
          </a:p>
          <a:p>
            <a:pPr lvl="1">
              <a:spcBef>
                <a:spcPts val="1500"/>
              </a:spcBef>
              <a:buSzPct val="100000"/>
            </a:pPr>
            <a:r>
              <a:rPr lang="en-IN" sz="2400" dirty="0"/>
              <a:t>Source data automation (captured data from machines, e.g., </a:t>
            </a:r>
            <a:r>
              <a:rPr lang="en-IN" sz="2400" b="1" dirty="0"/>
              <a:t>point-of-sale </a:t>
            </a:r>
            <a:r>
              <a:rPr lang="en-IN" sz="2400" dirty="0"/>
              <a:t>scanners at grocery store)</a:t>
            </a:r>
          </a:p>
        </p:txBody>
      </p:sp>
    </p:spTree>
    <p:extLst>
      <p:ext uri="{BB962C8B-B14F-4D97-AF65-F5344CB8AC3E}">
        <p14:creationId xmlns:p14="http://schemas.microsoft.com/office/powerpoint/2010/main" val="1561211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ouple of cups of coffee on a saucer&#10;&#10;Description automatically generated with low confidence">
            <a:extLst>
              <a:ext uri="{FF2B5EF4-FFF2-40B4-BE49-F238E27FC236}">
                <a16:creationId xmlns:a16="http://schemas.microsoft.com/office/drawing/2014/main" id="{C1383C84-6D6A-49BD-8123-CCBC5BF8A6A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900944" y="1410984"/>
            <a:ext cx="2799627" cy="3846816"/>
          </a:xfrm>
          <a:prstGeom prst="rect">
            <a:avLst/>
          </a:prstGeom>
        </p:spPr>
      </p:pic>
      <p:sp>
        <p:nvSpPr>
          <p:cNvPr id="7" name="TextBox 6">
            <a:extLst>
              <a:ext uri="{FF2B5EF4-FFF2-40B4-BE49-F238E27FC236}">
                <a16:creationId xmlns:a16="http://schemas.microsoft.com/office/drawing/2014/main" id="{862B98E6-749F-43F2-AAA5-42B00E4C56D4}"/>
              </a:ext>
            </a:extLst>
          </p:cNvPr>
          <p:cNvSpPr txBox="1"/>
          <p:nvPr/>
        </p:nvSpPr>
        <p:spPr>
          <a:xfrm>
            <a:off x="5900944" y="5356132"/>
            <a:ext cx="4991100" cy="230832"/>
          </a:xfrm>
          <a:prstGeom prst="rect">
            <a:avLst/>
          </a:prstGeom>
          <a:noFill/>
        </p:spPr>
        <p:txBody>
          <a:bodyPr wrap="square" rtlCol="0">
            <a:spAutoFit/>
          </a:bodyPr>
          <a:lstStyle/>
          <a:p>
            <a:r>
              <a:rPr lang="en-US" sz="900" dirty="0">
                <a:hlinkClick r:id="rId3" tooltip="https://www.becentsable.net/2015/01/peets-coffee-coupon.html/"/>
              </a:rPr>
              <a:t>This Photo</a:t>
            </a:r>
            <a:r>
              <a:rPr lang="en-US" sz="900" dirty="0"/>
              <a:t> by Unknown Author is licensed under </a:t>
            </a:r>
            <a:r>
              <a:rPr lang="en-US" sz="900" dirty="0">
                <a:hlinkClick r:id="rId4" tooltip="https://creativecommons.org/licenses/by/3.0/"/>
              </a:rPr>
              <a:t>CC BY</a:t>
            </a:r>
            <a:endParaRPr lang="en-US" sz="900" dirty="0"/>
          </a:p>
        </p:txBody>
      </p:sp>
      <p:sp>
        <p:nvSpPr>
          <p:cNvPr id="8" name="Title 7">
            <a:extLst>
              <a:ext uri="{FF2B5EF4-FFF2-40B4-BE49-F238E27FC236}">
                <a16:creationId xmlns:a16="http://schemas.microsoft.com/office/drawing/2014/main" id="{76E42A20-98E2-41F5-A670-4EF51C20A9AB}"/>
              </a:ext>
            </a:extLst>
          </p:cNvPr>
          <p:cNvSpPr>
            <a:spLocks noGrp="1"/>
          </p:cNvSpPr>
          <p:nvPr>
            <p:ph type="title"/>
          </p:nvPr>
        </p:nvSpPr>
        <p:spPr>
          <a:xfrm>
            <a:off x="470971" y="459358"/>
            <a:ext cx="8229600" cy="553998"/>
          </a:xfrm>
        </p:spPr>
        <p:txBody>
          <a:bodyPr/>
          <a:lstStyle/>
          <a:p>
            <a:r>
              <a:rPr lang="en-US" dirty="0"/>
              <a:t>ABC End of Month Entries (part 1)</a:t>
            </a:r>
          </a:p>
        </p:txBody>
      </p:sp>
      <p:sp>
        <p:nvSpPr>
          <p:cNvPr id="9" name="Content Placeholder 8">
            <a:extLst>
              <a:ext uri="{FF2B5EF4-FFF2-40B4-BE49-F238E27FC236}">
                <a16:creationId xmlns:a16="http://schemas.microsoft.com/office/drawing/2014/main" id="{E31E153B-3F71-41FC-B4EC-F3F6BA2A6E2D}"/>
              </a:ext>
            </a:extLst>
          </p:cNvPr>
          <p:cNvSpPr>
            <a:spLocks noGrp="1"/>
          </p:cNvSpPr>
          <p:nvPr>
            <p:ph idx="1"/>
          </p:nvPr>
        </p:nvSpPr>
        <p:spPr>
          <a:xfrm>
            <a:off x="457200" y="1410984"/>
            <a:ext cx="5181600" cy="4939814"/>
          </a:xfrm>
        </p:spPr>
        <p:txBody>
          <a:bodyPr/>
          <a:lstStyle/>
          <a:p>
            <a:r>
              <a:rPr lang="en-US" dirty="0"/>
              <a:t>Coffee Mug Sales</a:t>
            </a:r>
          </a:p>
          <a:p>
            <a:pPr lvl="1"/>
            <a:r>
              <a:rPr lang="en-US" dirty="0"/>
              <a:t>Sales are made via a 3</a:t>
            </a:r>
            <a:r>
              <a:rPr lang="en-US" baseline="30000" dirty="0"/>
              <a:t>rd</a:t>
            </a:r>
            <a:r>
              <a:rPr lang="en-US" dirty="0"/>
              <a:t> party eCommerce website.</a:t>
            </a:r>
          </a:p>
          <a:p>
            <a:pPr lvl="1"/>
            <a:r>
              <a:rPr lang="en-US" dirty="0"/>
              <a:t>Mugs are automatically shipped from distributor to customer without any company interaction. </a:t>
            </a:r>
          </a:p>
          <a:p>
            <a:pPr lvl="1"/>
            <a:r>
              <a:rPr lang="en-US" dirty="0"/>
              <a:t>Payments are made with a credit card at time of sale</a:t>
            </a:r>
          </a:p>
          <a:p>
            <a:pPr lvl="1"/>
            <a:r>
              <a:rPr lang="en-US" dirty="0"/>
              <a:t>To limit fraud, new customers are limited to 10 orders per month. </a:t>
            </a:r>
          </a:p>
          <a:p>
            <a:pPr lvl="1"/>
            <a:r>
              <a:rPr lang="en-US" dirty="0"/>
              <a:t>A manual review of all chargebacks happens every month to identify risk factors.</a:t>
            </a:r>
          </a:p>
          <a:p>
            <a:endParaRPr lang="en-US" dirty="0"/>
          </a:p>
          <a:p>
            <a:r>
              <a:rPr lang="en-US" dirty="0"/>
              <a:t>Identify:</a:t>
            </a:r>
          </a:p>
          <a:p>
            <a:pPr lvl="1"/>
            <a:r>
              <a:rPr lang="en-US" dirty="0"/>
              <a:t>Process for entering sales data </a:t>
            </a:r>
          </a:p>
          <a:p>
            <a:pPr lvl="1"/>
            <a:r>
              <a:rPr lang="en-US" dirty="0"/>
              <a:t>Source documents</a:t>
            </a:r>
          </a:p>
          <a:p>
            <a:pPr lvl="1"/>
            <a:r>
              <a:rPr lang="en-US" dirty="0"/>
              <a:t>Verifying accuracy &amp; policies</a:t>
            </a:r>
          </a:p>
        </p:txBody>
      </p:sp>
    </p:spTree>
    <p:extLst>
      <p:ext uri="{BB962C8B-B14F-4D97-AF65-F5344CB8AC3E}">
        <p14:creationId xmlns:p14="http://schemas.microsoft.com/office/powerpoint/2010/main" val="3495558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52400"/>
            <a:ext cx="8229600" cy="553998"/>
          </a:xfrm>
        </p:spPr>
        <p:txBody>
          <a:bodyPr anchor="ctr">
            <a:noAutofit/>
          </a:bodyPr>
          <a:lstStyle/>
          <a:p>
            <a:r>
              <a:rPr lang="en-IN" dirty="0"/>
              <a:t>Data Storage</a:t>
            </a:r>
            <a:endParaRPr lang="en-IN" sz="3600" dirty="0">
              <a:latin typeface="+mj-lt"/>
            </a:endParaRPr>
          </a:p>
        </p:txBody>
      </p:sp>
      <p:sp>
        <p:nvSpPr>
          <p:cNvPr id="2" name="Content Placeholder 1"/>
          <p:cNvSpPr>
            <a:spLocks noGrp="1"/>
          </p:cNvSpPr>
          <p:nvPr>
            <p:ph idx="1"/>
          </p:nvPr>
        </p:nvSpPr>
        <p:spPr>
          <a:xfrm>
            <a:off x="457200" y="884237"/>
            <a:ext cx="8229600" cy="2600712"/>
          </a:xfrm>
        </p:spPr>
        <p:txBody>
          <a:bodyPr/>
          <a:lstStyle/>
          <a:p>
            <a:pPr>
              <a:spcBef>
                <a:spcPts val="0"/>
              </a:spcBef>
              <a:buSzPct val="100000"/>
            </a:pPr>
            <a:r>
              <a:rPr lang="en-IN" sz="2400" dirty="0"/>
              <a:t>Data organization</a:t>
            </a:r>
          </a:p>
          <a:p>
            <a:pPr lvl="1">
              <a:buSzPct val="100000"/>
            </a:pPr>
            <a:r>
              <a:rPr lang="en-IN" sz="2400" dirty="0"/>
              <a:t>Chart of accounts</a:t>
            </a:r>
          </a:p>
          <a:p>
            <a:pPr lvl="2">
              <a:buSzPct val="100000"/>
            </a:pPr>
            <a:r>
              <a:rPr lang="en-IN" sz="2400" dirty="0"/>
              <a:t>Coding schemas</a:t>
            </a:r>
          </a:p>
          <a:p>
            <a:pPr lvl="1">
              <a:buSzPct val="100000"/>
            </a:pPr>
            <a:r>
              <a:rPr lang="en-IN" sz="2400" dirty="0"/>
              <a:t>Transaction journals (e.g., Sales)</a:t>
            </a:r>
          </a:p>
          <a:p>
            <a:pPr lvl="1">
              <a:buSzPct val="100000"/>
            </a:pPr>
            <a:r>
              <a:rPr lang="en-IN" sz="2400" dirty="0"/>
              <a:t>Subsidiary ledgers (e.g., Accounts receivable)</a:t>
            </a:r>
          </a:p>
          <a:p>
            <a:pPr lvl="1">
              <a:buSzPct val="100000"/>
            </a:pPr>
            <a:r>
              <a:rPr lang="en-IN" sz="2400" dirty="0"/>
              <a:t>General ledger</a:t>
            </a:r>
          </a:p>
        </p:txBody>
      </p:sp>
      <p:sp>
        <p:nvSpPr>
          <p:cNvPr id="3" name="Content Placeholder 2"/>
          <p:cNvSpPr>
            <a:spLocks noGrp="1"/>
          </p:cNvSpPr>
          <p:nvPr>
            <p:ph idx="13"/>
          </p:nvPr>
        </p:nvSpPr>
        <p:spPr>
          <a:xfrm>
            <a:off x="457200" y="4366736"/>
            <a:ext cx="8229600" cy="738664"/>
          </a:xfrm>
        </p:spPr>
        <p:txBody>
          <a:bodyPr/>
          <a:lstStyle/>
          <a:p>
            <a:pPr marL="400050" lvl="2" indent="0">
              <a:spcBef>
                <a:spcPts val="1500"/>
              </a:spcBef>
              <a:buNone/>
            </a:pPr>
            <a:r>
              <a:rPr lang="en-IN" sz="2400" dirty="0"/>
              <a:t>Note: With the above, one can trace the path of the transaction (audit trail)</a:t>
            </a:r>
          </a:p>
        </p:txBody>
      </p:sp>
    </p:spTree>
    <p:extLst>
      <p:ext uri="{BB962C8B-B14F-4D97-AF65-F5344CB8AC3E}">
        <p14:creationId xmlns:p14="http://schemas.microsoft.com/office/powerpoint/2010/main" val="4040610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52400"/>
            <a:ext cx="8229600" cy="553998"/>
          </a:xfrm>
        </p:spPr>
        <p:txBody>
          <a:bodyPr anchor="ctr">
            <a:noAutofit/>
          </a:bodyPr>
          <a:lstStyle/>
          <a:p>
            <a:r>
              <a:rPr lang="en-IN" dirty="0"/>
              <a:t>Coding Techniques</a:t>
            </a:r>
            <a:endParaRPr lang="en-IN" sz="3600" dirty="0">
              <a:latin typeface="+mj-lt"/>
            </a:endParaRPr>
          </a:p>
        </p:txBody>
      </p:sp>
      <p:sp>
        <p:nvSpPr>
          <p:cNvPr id="2" name="Content Placeholder 1"/>
          <p:cNvSpPr>
            <a:spLocks noGrp="1"/>
          </p:cNvSpPr>
          <p:nvPr>
            <p:ph idx="1"/>
          </p:nvPr>
        </p:nvSpPr>
        <p:spPr>
          <a:xfrm>
            <a:off x="457200" y="884237"/>
            <a:ext cx="8229600" cy="4270400"/>
          </a:xfrm>
        </p:spPr>
        <p:txBody>
          <a:bodyPr/>
          <a:lstStyle/>
          <a:p>
            <a:pPr marL="338138" lvl="0" indent="-255588">
              <a:buSzPts val="2400"/>
            </a:pPr>
            <a:r>
              <a:rPr lang="en-IN" sz="2400" b="1" dirty="0"/>
              <a:t>Sequence codes</a:t>
            </a:r>
            <a:r>
              <a:rPr lang="en-IN" sz="2400" dirty="0"/>
              <a:t>—items numbered consecutively to account for all items (i.e., </a:t>
            </a:r>
            <a:r>
              <a:rPr lang="en-IN" sz="2400" dirty="0" err="1"/>
              <a:t>prenumbered</a:t>
            </a:r>
            <a:r>
              <a:rPr lang="en-IN" sz="2400" dirty="0"/>
              <a:t> forms)</a:t>
            </a:r>
          </a:p>
          <a:p>
            <a:pPr marL="338138" lvl="0" indent="-255588">
              <a:buSzPts val="2400"/>
            </a:pPr>
            <a:r>
              <a:rPr lang="en-IN" sz="2400" b="1" dirty="0"/>
              <a:t>Block code</a:t>
            </a:r>
            <a:r>
              <a:rPr lang="en-IN" sz="2400" dirty="0"/>
              <a:t>—blocks of numbers reserved for specific categories of data (i.e., product numbers that start with a 2 are refrigerators)</a:t>
            </a:r>
          </a:p>
          <a:p>
            <a:pPr marL="338138" lvl="0" indent="-255588">
              <a:buSzPts val="2400"/>
            </a:pPr>
            <a:r>
              <a:rPr lang="en-IN" sz="2400" b="1" dirty="0"/>
              <a:t>Group codes</a:t>
            </a:r>
            <a:r>
              <a:rPr lang="en-IN" sz="2400" dirty="0"/>
              <a:t>—two or more subgroups of digits used to code items (i.e., car </a:t>
            </a:r>
            <a:r>
              <a:rPr lang="en-IN" sz="2400" spc="-300" dirty="0"/>
              <a:t>V I </a:t>
            </a:r>
            <a:r>
              <a:rPr lang="en-IN" sz="2400" dirty="0"/>
              <a:t>N #’s)</a:t>
            </a:r>
          </a:p>
          <a:p>
            <a:pPr marL="338138" lvl="0" indent="-255588">
              <a:buSzPts val="2400"/>
            </a:pPr>
            <a:r>
              <a:rPr lang="en-IN" sz="2400" b="1" dirty="0"/>
              <a:t>Mnemonic codes</a:t>
            </a:r>
            <a:r>
              <a:rPr lang="en-IN" sz="2400" dirty="0"/>
              <a:t>—letters and numbers interspersed to identify an item (i.e. Dry300W05 is low end (300), white (W) dryer (</a:t>
            </a:r>
            <a:r>
              <a:rPr lang="en-IN" sz="2400" spc="-300" dirty="0"/>
              <a:t>D R </a:t>
            </a:r>
            <a:r>
              <a:rPr lang="en-IN" sz="2400" dirty="0"/>
              <a:t>Y) made by Sears (05))</a:t>
            </a:r>
          </a:p>
        </p:txBody>
      </p:sp>
    </p:spTree>
    <p:extLst>
      <p:ext uri="{BB962C8B-B14F-4D97-AF65-F5344CB8AC3E}">
        <p14:creationId xmlns:p14="http://schemas.microsoft.com/office/powerpoint/2010/main" val="1702188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742" y="171450"/>
            <a:ext cx="8229600" cy="1076690"/>
          </a:xfrm>
        </p:spPr>
        <p:txBody>
          <a:bodyPr>
            <a:noAutofit/>
          </a:bodyPr>
          <a:lstStyle/>
          <a:p>
            <a:r>
              <a:rPr lang="en-US" dirty="0"/>
              <a:t>Figure 2.2 </a:t>
            </a:r>
            <a:r>
              <a:rPr lang="en-IN" dirty="0"/>
              <a:t>Recording and Posting a Credit Sale</a:t>
            </a:r>
            <a:endParaRPr lang="en-IN" dirty="0">
              <a:latin typeface="+mj-lt"/>
            </a:endParaRPr>
          </a:p>
        </p:txBody>
      </p:sp>
      <p:pic>
        <p:nvPicPr>
          <p:cNvPr id="3" name="Picture Placeholder 2" descr="A diagram illustrates the recording and posting of a credit sale, and an audit trail by providing posting references and document numbers.&#10;Long description is available in notes, press F6"/>
          <p:cNvPicPr>
            <a:picLocks noGrp="1" noChangeAspect="1"/>
          </p:cNvPicPr>
          <p:nvPr>
            <p:ph type="pic" sz="quarter" idx="14"/>
          </p:nvPr>
        </p:nvPicPr>
        <p:blipFill>
          <a:blip r:embed="rId3" cstate="print">
            <a:extLst>
              <a:ext uri="{28A0092B-C50C-407E-A947-70E740481C1C}">
                <a14:useLocalDpi xmlns:a14="http://schemas.microsoft.com/office/drawing/2010/main" val="0"/>
              </a:ext>
            </a:extLst>
          </a:blip>
          <a:stretch>
            <a:fillRect/>
          </a:stretch>
        </p:blipFill>
        <p:spPr>
          <a:xfrm>
            <a:off x="609600" y="1371600"/>
            <a:ext cx="3467004" cy="4927821"/>
          </a:xfrm>
          <a:prstGeom prst="rect">
            <a:avLst/>
          </a:prstGeom>
        </p:spPr>
      </p:pic>
      <p:sp>
        <p:nvSpPr>
          <p:cNvPr id="4" name="Content Placeholder 3"/>
          <p:cNvSpPr>
            <a:spLocks noGrp="1"/>
          </p:cNvSpPr>
          <p:nvPr>
            <p:ph idx="1"/>
          </p:nvPr>
        </p:nvSpPr>
        <p:spPr>
          <a:xfrm>
            <a:off x="4572000" y="1406604"/>
            <a:ext cx="4114800" cy="1107996"/>
          </a:xfrm>
        </p:spPr>
        <p:txBody>
          <a:bodyPr/>
          <a:lstStyle/>
          <a:p>
            <a:pPr marL="0" indent="0">
              <a:buNone/>
            </a:pPr>
            <a:r>
              <a:rPr lang="en-IN" sz="2400" dirty="0"/>
              <a:t>Audit trail for Invoice #156 for $1,876.50 sold to </a:t>
            </a:r>
            <a:r>
              <a:rPr lang="en-IN" sz="2400" spc="-300" dirty="0"/>
              <a:t>K D </a:t>
            </a:r>
            <a:r>
              <a:rPr lang="en-IN" sz="2400" dirty="0"/>
              <a:t>R Builders</a:t>
            </a:r>
          </a:p>
        </p:txBody>
      </p:sp>
    </p:spTree>
    <p:extLst>
      <p:ext uri="{BB962C8B-B14F-4D97-AF65-F5344CB8AC3E}">
        <p14:creationId xmlns:p14="http://schemas.microsoft.com/office/powerpoint/2010/main" val="3237605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742" y="108332"/>
            <a:ext cx="8229600" cy="607764"/>
          </a:xfrm>
        </p:spPr>
        <p:txBody>
          <a:bodyPr>
            <a:noAutofit/>
          </a:bodyPr>
          <a:lstStyle/>
          <a:p>
            <a:r>
              <a:rPr lang="en-US" dirty="0"/>
              <a:t>Figure 2.3 Data Storage Elements</a:t>
            </a:r>
            <a:endParaRPr lang="en-IN" dirty="0">
              <a:latin typeface="+mj-lt"/>
            </a:endParaRPr>
          </a:p>
        </p:txBody>
      </p:sp>
      <p:sp>
        <p:nvSpPr>
          <p:cNvPr id="4" name="Content Placeholder 3"/>
          <p:cNvSpPr>
            <a:spLocks noGrp="1"/>
          </p:cNvSpPr>
          <p:nvPr>
            <p:ph idx="1"/>
          </p:nvPr>
        </p:nvSpPr>
        <p:spPr>
          <a:xfrm>
            <a:off x="477742" y="942975"/>
            <a:ext cx="8209058" cy="369332"/>
          </a:xfrm>
        </p:spPr>
        <p:txBody>
          <a:bodyPr/>
          <a:lstStyle/>
          <a:p>
            <a:pPr lvl="0">
              <a:spcBef>
                <a:spcPts val="0"/>
              </a:spcBef>
              <a:buSzPts val="2400"/>
            </a:pPr>
            <a:r>
              <a:rPr lang="en-IN" sz="2400" dirty="0"/>
              <a:t>Data is stored in </a:t>
            </a:r>
            <a:r>
              <a:rPr lang="en-IN" sz="2400" b="1" dirty="0"/>
              <a:t>master</a:t>
            </a:r>
            <a:r>
              <a:rPr lang="en-IN" sz="2400" dirty="0"/>
              <a:t> files or </a:t>
            </a:r>
            <a:r>
              <a:rPr lang="en-IN" sz="2400" b="1" dirty="0"/>
              <a:t>transaction </a:t>
            </a:r>
            <a:r>
              <a:rPr lang="en-IN" sz="2400" dirty="0"/>
              <a:t>files.</a:t>
            </a:r>
          </a:p>
        </p:txBody>
      </p:sp>
      <p:pic>
        <p:nvPicPr>
          <p:cNvPr id="5" name="Picture Placeholder 4" descr="A table shows the elements of data storage.&#10;Long description is available in notes, press F6"/>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b="27621"/>
          <a:stretch/>
        </p:blipFill>
        <p:spPr>
          <a:xfrm>
            <a:off x="501166" y="1786568"/>
            <a:ext cx="8141669" cy="3520487"/>
          </a:xfrm>
          <a:prstGeom prst="rect">
            <a:avLst/>
          </a:prstGeom>
        </p:spPr>
      </p:pic>
    </p:spTree>
    <p:extLst>
      <p:ext uri="{BB962C8B-B14F-4D97-AF65-F5344CB8AC3E}">
        <p14:creationId xmlns:p14="http://schemas.microsoft.com/office/powerpoint/2010/main" val="1728870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ouple of cups of coffee on a saucer&#10;&#10;Description automatically generated with low confidence">
            <a:extLst>
              <a:ext uri="{FF2B5EF4-FFF2-40B4-BE49-F238E27FC236}">
                <a16:creationId xmlns:a16="http://schemas.microsoft.com/office/drawing/2014/main" id="{C1383C84-6D6A-49BD-8123-CCBC5BF8A6A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900944" y="1410984"/>
            <a:ext cx="2799627" cy="3846816"/>
          </a:xfrm>
          <a:prstGeom prst="rect">
            <a:avLst/>
          </a:prstGeom>
        </p:spPr>
      </p:pic>
      <p:sp>
        <p:nvSpPr>
          <p:cNvPr id="7" name="TextBox 6">
            <a:extLst>
              <a:ext uri="{FF2B5EF4-FFF2-40B4-BE49-F238E27FC236}">
                <a16:creationId xmlns:a16="http://schemas.microsoft.com/office/drawing/2014/main" id="{862B98E6-749F-43F2-AAA5-42B00E4C56D4}"/>
              </a:ext>
            </a:extLst>
          </p:cNvPr>
          <p:cNvSpPr txBox="1"/>
          <p:nvPr/>
        </p:nvSpPr>
        <p:spPr>
          <a:xfrm>
            <a:off x="5900944" y="5356132"/>
            <a:ext cx="4991100" cy="230832"/>
          </a:xfrm>
          <a:prstGeom prst="rect">
            <a:avLst/>
          </a:prstGeom>
          <a:noFill/>
        </p:spPr>
        <p:txBody>
          <a:bodyPr wrap="square" rtlCol="0">
            <a:spAutoFit/>
          </a:bodyPr>
          <a:lstStyle/>
          <a:p>
            <a:r>
              <a:rPr lang="en-US" sz="900" dirty="0">
                <a:hlinkClick r:id="rId3" tooltip="https://www.becentsable.net/2015/01/peets-coffee-coupon.html/"/>
              </a:rPr>
              <a:t>This Photo</a:t>
            </a:r>
            <a:r>
              <a:rPr lang="en-US" sz="900" dirty="0"/>
              <a:t> by Unknown Author is licensed under </a:t>
            </a:r>
            <a:r>
              <a:rPr lang="en-US" sz="900" dirty="0">
                <a:hlinkClick r:id="rId4" tooltip="https://creativecommons.org/licenses/by/3.0/"/>
              </a:rPr>
              <a:t>CC BY</a:t>
            </a:r>
            <a:endParaRPr lang="en-US" sz="900" dirty="0"/>
          </a:p>
        </p:txBody>
      </p:sp>
      <p:sp>
        <p:nvSpPr>
          <p:cNvPr id="8" name="Title 7">
            <a:extLst>
              <a:ext uri="{FF2B5EF4-FFF2-40B4-BE49-F238E27FC236}">
                <a16:creationId xmlns:a16="http://schemas.microsoft.com/office/drawing/2014/main" id="{76E42A20-98E2-41F5-A670-4EF51C20A9AB}"/>
              </a:ext>
            </a:extLst>
          </p:cNvPr>
          <p:cNvSpPr>
            <a:spLocks noGrp="1"/>
          </p:cNvSpPr>
          <p:nvPr>
            <p:ph type="title"/>
          </p:nvPr>
        </p:nvSpPr>
        <p:spPr>
          <a:xfrm>
            <a:off x="470971" y="459358"/>
            <a:ext cx="8229600" cy="553998"/>
          </a:xfrm>
        </p:spPr>
        <p:txBody>
          <a:bodyPr/>
          <a:lstStyle/>
          <a:p>
            <a:r>
              <a:rPr lang="en-US" dirty="0"/>
              <a:t>ABC End of Month Entries (part 2)</a:t>
            </a:r>
          </a:p>
        </p:txBody>
      </p:sp>
      <p:sp>
        <p:nvSpPr>
          <p:cNvPr id="9" name="Content Placeholder 8">
            <a:extLst>
              <a:ext uri="{FF2B5EF4-FFF2-40B4-BE49-F238E27FC236}">
                <a16:creationId xmlns:a16="http://schemas.microsoft.com/office/drawing/2014/main" id="{E31E153B-3F71-41FC-B4EC-F3F6BA2A6E2D}"/>
              </a:ext>
            </a:extLst>
          </p:cNvPr>
          <p:cNvSpPr>
            <a:spLocks noGrp="1"/>
          </p:cNvSpPr>
          <p:nvPr>
            <p:ph idx="1"/>
          </p:nvPr>
        </p:nvSpPr>
        <p:spPr>
          <a:xfrm>
            <a:off x="457200" y="1410984"/>
            <a:ext cx="5181600" cy="4555093"/>
          </a:xfrm>
        </p:spPr>
        <p:txBody>
          <a:bodyPr/>
          <a:lstStyle/>
          <a:p>
            <a:r>
              <a:rPr lang="en-US" sz="1100" dirty="0"/>
              <a:t>Coffee Mug Sales</a:t>
            </a:r>
          </a:p>
          <a:p>
            <a:pPr lvl="1"/>
            <a:r>
              <a:rPr lang="en-US" sz="1100" dirty="0"/>
              <a:t>Sales are made via a 3</a:t>
            </a:r>
            <a:r>
              <a:rPr lang="en-US" sz="1100" baseline="30000" dirty="0"/>
              <a:t>rd</a:t>
            </a:r>
            <a:r>
              <a:rPr lang="en-US" sz="1100" dirty="0"/>
              <a:t> party eCommerce website.</a:t>
            </a:r>
          </a:p>
          <a:p>
            <a:pPr lvl="1"/>
            <a:r>
              <a:rPr lang="en-US" sz="1100" dirty="0"/>
              <a:t>Mugs are automatically shipped from distributor to customer without any company interaction. </a:t>
            </a:r>
          </a:p>
          <a:p>
            <a:pPr lvl="1"/>
            <a:r>
              <a:rPr lang="en-US" sz="1100" dirty="0"/>
              <a:t>Payments are made with a credit card at time of sale</a:t>
            </a:r>
          </a:p>
          <a:p>
            <a:pPr lvl="1"/>
            <a:r>
              <a:rPr lang="en-US" sz="1100" dirty="0"/>
              <a:t>To limit fraud, new customers are limited to 10 orders per month. </a:t>
            </a:r>
          </a:p>
          <a:p>
            <a:pPr lvl="1"/>
            <a:r>
              <a:rPr lang="en-US" sz="1100" dirty="0"/>
              <a:t>A manual review of all chargebacks happens every month to identify risk factors.</a:t>
            </a:r>
          </a:p>
          <a:p>
            <a:endParaRPr lang="en-US" dirty="0"/>
          </a:p>
          <a:p>
            <a:r>
              <a:rPr lang="en-US" dirty="0"/>
              <a:t>Identify :</a:t>
            </a:r>
          </a:p>
          <a:p>
            <a:pPr lvl="1"/>
            <a:r>
              <a:rPr lang="en-US" dirty="0"/>
              <a:t>Storage method </a:t>
            </a:r>
          </a:p>
          <a:p>
            <a:pPr lvl="1"/>
            <a:r>
              <a:rPr lang="en-US" dirty="0"/>
              <a:t>Accounts </a:t>
            </a:r>
          </a:p>
          <a:p>
            <a:pPr lvl="1"/>
            <a:r>
              <a:rPr lang="en-US" dirty="0"/>
              <a:t>Master and transaction files</a:t>
            </a:r>
          </a:p>
          <a:p>
            <a:pPr lvl="1"/>
            <a:r>
              <a:rPr lang="en-US" dirty="0"/>
              <a:t>Coding schemes</a:t>
            </a:r>
          </a:p>
          <a:p>
            <a:pPr lvl="1"/>
            <a:endParaRPr lang="en-US" dirty="0"/>
          </a:p>
          <a:p>
            <a:pPr lvl="1"/>
            <a:endParaRPr lang="en-US" dirty="0"/>
          </a:p>
        </p:txBody>
      </p:sp>
    </p:spTree>
    <p:extLst>
      <p:ext uri="{BB962C8B-B14F-4D97-AF65-F5344CB8AC3E}">
        <p14:creationId xmlns:p14="http://schemas.microsoft.com/office/powerpoint/2010/main" val="2396148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0942"/>
            <a:ext cx="8229600" cy="546628"/>
          </a:xfrm>
        </p:spPr>
        <p:txBody>
          <a:bodyPr>
            <a:noAutofit/>
          </a:bodyPr>
          <a:lstStyle/>
          <a:p>
            <a:r>
              <a:rPr lang="en-US" dirty="0">
                <a:latin typeface="+mj-lt"/>
              </a:rPr>
              <a:t>Data Processing</a:t>
            </a:r>
            <a:endParaRPr lang="en-IN" dirty="0">
              <a:latin typeface="+mj-lt"/>
            </a:endParaRPr>
          </a:p>
        </p:txBody>
      </p:sp>
      <p:sp>
        <p:nvSpPr>
          <p:cNvPr id="2" name="Content Placeholder 1"/>
          <p:cNvSpPr>
            <a:spLocks noGrp="1"/>
          </p:cNvSpPr>
          <p:nvPr>
            <p:ph idx="13"/>
          </p:nvPr>
        </p:nvSpPr>
        <p:spPr>
          <a:xfrm>
            <a:off x="468086" y="990600"/>
            <a:ext cx="8229600" cy="2667000"/>
          </a:xfrm>
        </p:spPr>
        <p:txBody>
          <a:bodyPr/>
          <a:lstStyle/>
          <a:p>
            <a:pPr marL="0" indent="0">
              <a:buSzPts val="2400"/>
              <a:buNone/>
            </a:pPr>
            <a:r>
              <a:rPr lang="en-IN" sz="2400" dirty="0"/>
              <a:t>Four types of processing (</a:t>
            </a:r>
            <a:r>
              <a:rPr lang="en-IN" sz="2400" spc="-300" dirty="0"/>
              <a:t>C R U </a:t>
            </a:r>
            <a:r>
              <a:rPr lang="en-IN" sz="2400" dirty="0"/>
              <a:t>D):</a:t>
            </a:r>
            <a:endParaRPr lang="en-IN" sz="2400" dirty="0">
              <a:solidFill>
                <a:srgbClr val="007FA3"/>
              </a:solidFill>
            </a:endParaRPr>
          </a:p>
          <a:p>
            <a:pPr>
              <a:buSzPts val="2400"/>
            </a:pPr>
            <a:r>
              <a:rPr lang="en-IN" sz="2400" b="1" dirty="0">
                <a:solidFill>
                  <a:srgbClr val="007FA3"/>
                </a:solidFill>
              </a:rPr>
              <a:t>C</a:t>
            </a:r>
            <a:r>
              <a:rPr lang="en-IN" sz="2400" b="1" dirty="0"/>
              <a:t>reating</a:t>
            </a:r>
            <a:r>
              <a:rPr lang="en-IN" sz="2400" dirty="0"/>
              <a:t> new records (e.g., adding a customer)</a:t>
            </a:r>
          </a:p>
          <a:p>
            <a:pPr>
              <a:buSzPts val="2400"/>
            </a:pPr>
            <a:r>
              <a:rPr lang="en-IN" sz="2400" b="1" dirty="0">
                <a:solidFill>
                  <a:srgbClr val="007FA3"/>
                </a:solidFill>
              </a:rPr>
              <a:t>R</a:t>
            </a:r>
            <a:r>
              <a:rPr lang="en-IN" sz="2400" b="1" dirty="0"/>
              <a:t>eading</a:t>
            </a:r>
            <a:r>
              <a:rPr lang="en-IN" sz="2400" dirty="0"/>
              <a:t> existing data</a:t>
            </a:r>
          </a:p>
          <a:p>
            <a:pPr>
              <a:buSzPts val="2400"/>
            </a:pPr>
            <a:r>
              <a:rPr lang="en-IN" sz="2400" b="1" dirty="0">
                <a:solidFill>
                  <a:srgbClr val="007FA3"/>
                </a:solidFill>
              </a:rPr>
              <a:t>U</a:t>
            </a:r>
            <a:r>
              <a:rPr lang="en-IN" sz="2400" b="1" dirty="0"/>
              <a:t>pdating </a:t>
            </a:r>
            <a:r>
              <a:rPr lang="en-IN" sz="2400" dirty="0"/>
              <a:t>previous record or data</a:t>
            </a:r>
          </a:p>
          <a:p>
            <a:pPr>
              <a:buSzPts val="2400"/>
            </a:pPr>
            <a:r>
              <a:rPr lang="en-IN" sz="2400" b="1" dirty="0">
                <a:solidFill>
                  <a:srgbClr val="007FA3"/>
                </a:solidFill>
              </a:rPr>
              <a:t>D</a:t>
            </a:r>
            <a:r>
              <a:rPr lang="en-IN" sz="2400" b="1" dirty="0"/>
              <a:t>eleting </a:t>
            </a:r>
            <a:r>
              <a:rPr lang="en-IN" sz="2400" dirty="0"/>
              <a:t>data</a:t>
            </a:r>
          </a:p>
        </p:txBody>
      </p:sp>
      <p:sp>
        <p:nvSpPr>
          <p:cNvPr id="3" name="Content Placeholder 2"/>
          <p:cNvSpPr>
            <a:spLocks noGrp="1"/>
          </p:cNvSpPr>
          <p:nvPr>
            <p:ph idx="14"/>
          </p:nvPr>
        </p:nvSpPr>
        <p:spPr>
          <a:xfrm>
            <a:off x="468086" y="3733800"/>
            <a:ext cx="8218714" cy="1143000"/>
          </a:xfrm>
        </p:spPr>
        <p:txBody>
          <a:bodyPr/>
          <a:lstStyle/>
          <a:p>
            <a:pPr marL="0" indent="0">
              <a:buNone/>
            </a:pPr>
            <a:r>
              <a:rPr lang="en-IN" sz="2400" dirty="0"/>
              <a:t>Data processing can be </a:t>
            </a:r>
            <a:r>
              <a:rPr lang="en-IN" sz="2400" b="1" dirty="0"/>
              <a:t>batch processed </a:t>
            </a:r>
            <a:r>
              <a:rPr lang="en-IN" sz="2400" dirty="0"/>
              <a:t>(e.g., post records at the end of the business day) or in </a:t>
            </a:r>
            <a:r>
              <a:rPr lang="en-IN" sz="2400" b="1" dirty="0"/>
              <a:t>real-time </a:t>
            </a:r>
            <a:r>
              <a:rPr lang="en-IN" sz="2400" dirty="0"/>
              <a:t>(process as it occurs).</a:t>
            </a:r>
          </a:p>
        </p:txBody>
      </p:sp>
    </p:spTree>
    <p:extLst>
      <p:ext uri="{BB962C8B-B14F-4D97-AF65-F5344CB8AC3E}">
        <p14:creationId xmlns:p14="http://schemas.microsoft.com/office/powerpoint/2010/main" val="1553125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ouple of cups of coffee on a saucer&#10;&#10;Description automatically generated with low confidence">
            <a:extLst>
              <a:ext uri="{FF2B5EF4-FFF2-40B4-BE49-F238E27FC236}">
                <a16:creationId xmlns:a16="http://schemas.microsoft.com/office/drawing/2014/main" id="{C1383C84-6D6A-49BD-8123-CCBC5BF8A6A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900944" y="1410984"/>
            <a:ext cx="2799627" cy="3846816"/>
          </a:xfrm>
          <a:prstGeom prst="rect">
            <a:avLst/>
          </a:prstGeom>
        </p:spPr>
      </p:pic>
      <p:sp>
        <p:nvSpPr>
          <p:cNvPr id="7" name="TextBox 6">
            <a:extLst>
              <a:ext uri="{FF2B5EF4-FFF2-40B4-BE49-F238E27FC236}">
                <a16:creationId xmlns:a16="http://schemas.microsoft.com/office/drawing/2014/main" id="{862B98E6-749F-43F2-AAA5-42B00E4C56D4}"/>
              </a:ext>
            </a:extLst>
          </p:cNvPr>
          <p:cNvSpPr txBox="1"/>
          <p:nvPr/>
        </p:nvSpPr>
        <p:spPr>
          <a:xfrm>
            <a:off x="5900944" y="5356132"/>
            <a:ext cx="4991100" cy="230832"/>
          </a:xfrm>
          <a:prstGeom prst="rect">
            <a:avLst/>
          </a:prstGeom>
          <a:noFill/>
        </p:spPr>
        <p:txBody>
          <a:bodyPr wrap="square" rtlCol="0">
            <a:spAutoFit/>
          </a:bodyPr>
          <a:lstStyle/>
          <a:p>
            <a:r>
              <a:rPr lang="en-US" sz="900" dirty="0">
                <a:hlinkClick r:id="rId3" tooltip="https://www.becentsable.net/2015/01/peets-coffee-coupon.html/"/>
              </a:rPr>
              <a:t>This Photo</a:t>
            </a:r>
            <a:r>
              <a:rPr lang="en-US" sz="900" dirty="0"/>
              <a:t> by Unknown Author is licensed under </a:t>
            </a:r>
            <a:r>
              <a:rPr lang="en-US" sz="900" dirty="0">
                <a:hlinkClick r:id="rId4" tooltip="https://creativecommons.org/licenses/by/3.0/"/>
              </a:rPr>
              <a:t>CC BY</a:t>
            </a:r>
            <a:endParaRPr lang="en-US" sz="900" dirty="0"/>
          </a:p>
        </p:txBody>
      </p:sp>
      <p:sp>
        <p:nvSpPr>
          <p:cNvPr id="8" name="Title 7">
            <a:extLst>
              <a:ext uri="{FF2B5EF4-FFF2-40B4-BE49-F238E27FC236}">
                <a16:creationId xmlns:a16="http://schemas.microsoft.com/office/drawing/2014/main" id="{76E42A20-98E2-41F5-A670-4EF51C20A9AB}"/>
              </a:ext>
            </a:extLst>
          </p:cNvPr>
          <p:cNvSpPr>
            <a:spLocks noGrp="1"/>
          </p:cNvSpPr>
          <p:nvPr>
            <p:ph type="title"/>
          </p:nvPr>
        </p:nvSpPr>
        <p:spPr>
          <a:xfrm>
            <a:off x="470971" y="459358"/>
            <a:ext cx="8229600" cy="553998"/>
          </a:xfrm>
        </p:spPr>
        <p:txBody>
          <a:bodyPr/>
          <a:lstStyle/>
          <a:p>
            <a:r>
              <a:rPr lang="en-US" dirty="0"/>
              <a:t>ABC End of Month Entries (part 3)</a:t>
            </a:r>
          </a:p>
        </p:txBody>
      </p:sp>
      <p:sp>
        <p:nvSpPr>
          <p:cNvPr id="9" name="Content Placeholder 8">
            <a:extLst>
              <a:ext uri="{FF2B5EF4-FFF2-40B4-BE49-F238E27FC236}">
                <a16:creationId xmlns:a16="http://schemas.microsoft.com/office/drawing/2014/main" id="{E31E153B-3F71-41FC-B4EC-F3F6BA2A6E2D}"/>
              </a:ext>
            </a:extLst>
          </p:cNvPr>
          <p:cNvSpPr>
            <a:spLocks noGrp="1"/>
          </p:cNvSpPr>
          <p:nvPr>
            <p:ph idx="1"/>
          </p:nvPr>
        </p:nvSpPr>
        <p:spPr>
          <a:xfrm>
            <a:off x="457200" y="1410984"/>
            <a:ext cx="5181600" cy="4555093"/>
          </a:xfrm>
        </p:spPr>
        <p:txBody>
          <a:bodyPr/>
          <a:lstStyle/>
          <a:p>
            <a:r>
              <a:rPr lang="en-US" sz="1100" dirty="0"/>
              <a:t>Coffee Mug Sales</a:t>
            </a:r>
          </a:p>
          <a:p>
            <a:pPr lvl="1"/>
            <a:r>
              <a:rPr lang="en-US" sz="1100" dirty="0"/>
              <a:t>Sales are made via a 3</a:t>
            </a:r>
            <a:r>
              <a:rPr lang="en-US" sz="1100" baseline="30000" dirty="0"/>
              <a:t>rd</a:t>
            </a:r>
            <a:r>
              <a:rPr lang="en-US" sz="1100" dirty="0"/>
              <a:t> party eCommerce website.</a:t>
            </a:r>
          </a:p>
          <a:p>
            <a:pPr lvl="1"/>
            <a:r>
              <a:rPr lang="en-US" sz="1100" dirty="0"/>
              <a:t>Mugs are automatically shipped from distributor to customer without any company interaction. </a:t>
            </a:r>
          </a:p>
          <a:p>
            <a:pPr lvl="1"/>
            <a:r>
              <a:rPr lang="en-US" sz="1100" dirty="0"/>
              <a:t>Payments are made with a credit card at time of sale</a:t>
            </a:r>
          </a:p>
          <a:p>
            <a:pPr lvl="1"/>
            <a:r>
              <a:rPr lang="en-US" sz="1100" dirty="0"/>
              <a:t>To limit fraud, new customers are limited to 10 orders per month. </a:t>
            </a:r>
          </a:p>
          <a:p>
            <a:pPr lvl="1"/>
            <a:r>
              <a:rPr lang="en-US" sz="1100" dirty="0"/>
              <a:t>A manual review of all chargebacks happens every month to identify risk factors.</a:t>
            </a:r>
          </a:p>
          <a:p>
            <a:endParaRPr lang="en-US" dirty="0"/>
          </a:p>
          <a:p>
            <a:r>
              <a:rPr lang="en-US" dirty="0"/>
              <a:t>Identify staff permissions for:</a:t>
            </a:r>
          </a:p>
          <a:p>
            <a:pPr lvl="1"/>
            <a:r>
              <a:rPr lang="en-US" dirty="0"/>
              <a:t>Create</a:t>
            </a:r>
          </a:p>
          <a:p>
            <a:pPr lvl="1"/>
            <a:r>
              <a:rPr lang="en-US" dirty="0"/>
              <a:t>Read</a:t>
            </a:r>
          </a:p>
          <a:p>
            <a:pPr lvl="1"/>
            <a:r>
              <a:rPr lang="en-US" dirty="0"/>
              <a:t>Update </a:t>
            </a:r>
          </a:p>
          <a:p>
            <a:pPr lvl="1"/>
            <a:r>
              <a:rPr lang="en-US" dirty="0"/>
              <a:t>Delete</a:t>
            </a:r>
          </a:p>
          <a:p>
            <a:pPr lvl="1"/>
            <a:endParaRPr lang="en-US" dirty="0"/>
          </a:p>
          <a:p>
            <a:pPr lvl="1"/>
            <a:endParaRPr lang="en-US" dirty="0"/>
          </a:p>
        </p:txBody>
      </p:sp>
    </p:spTree>
    <p:extLst>
      <p:ext uri="{BB962C8B-B14F-4D97-AF65-F5344CB8AC3E}">
        <p14:creationId xmlns:p14="http://schemas.microsoft.com/office/powerpoint/2010/main" val="2068427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0942"/>
            <a:ext cx="8229600" cy="546628"/>
          </a:xfrm>
        </p:spPr>
        <p:txBody>
          <a:bodyPr>
            <a:noAutofit/>
          </a:bodyPr>
          <a:lstStyle/>
          <a:p>
            <a:r>
              <a:rPr lang="en-US" dirty="0">
                <a:latin typeface="+mj-lt"/>
              </a:rPr>
              <a:t>Information Output</a:t>
            </a:r>
            <a:endParaRPr lang="en-IN" dirty="0">
              <a:latin typeface="+mj-lt"/>
            </a:endParaRPr>
          </a:p>
        </p:txBody>
      </p:sp>
      <p:sp>
        <p:nvSpPr>
          <p:cNvPr id="2" name="Content Placeholder 1"/>
          <p:cNvSpPr>
            <a:spLocks noGrp="1"/>
          </p:cNvSpPr>
          <p:nvPr>
            <p:ph idx="13"/>
          </p:nvPr>
        </p:nvSpPr>
        <p:spPr>
          <a:xfrm>
            <a:off x="468086" y="990600"/>
            <a:ext cx="8229600" cy="3581400"/>
          </a:xfrm>
        </p:spPr>
        <p:txBody>
          <a:bodyPr/>
          <a:lstStyle/>
          <a:p>
            <a:pPr marL="136525" indent="0">
              <a:buSzPts val="2400"/>
              <a:buNone/>
            </a:pPr>
            <a:r>
              <a:rPr lang="en-IN" sz="2400" dirty="0"/>
              <a:t>The data stored in the database files can be viewed</a:t>
            </a:r>
          </a:p>
          <a:p>
            <a:pPr marL="392113" lvl="0" indent="-255588">
              <a:buSzPts val="2400"/>
            </a:pPr>
            <a:r>
              <a:rPr lang="en-IN" sz="2400" dirty="0"/>
              <a:t>Online (soft copy)</a:t>
            </a:r>
          </a:p>
          <a:p>
            <a:pPr marL="392113" lvl="0" indent="-255588">
              <a:buSzPts val="2400"/>
            </a:pPr>
            <a:r>
              <a:rPr lang="en-IN" sz="2400" dirty="0"/>
              <a:t>Printed out (hard copy)</a:t>
            </a:r>
          </a:p>
          <a:p>
            <a:pPr lvl="1">
              <a:spcBef>
                <a:spcPts val="1500"/>
              </a:spcBef>
              <a:buSzPct val="100000"/>
            </a:pPr>
            <a:r>
              <a:rPr lang="en-IN" sz="2400" dirty="0"/>
              <a:t>Document (e.g., sales invoice)</a:t>
            </a:r>
          </a:p>
          <a:p>
            <a:pPr lvl="1">
              <a:spcBef>
                <a:spcPts val="1500"/>
              </a:spcBef>
              <a:buSzPct val="100000"/>
            </a:pPr>
            <a:r>
              <a:rPr lang="en-IN" sz="2400" b="1" dirty="0"/>
              <a:t>Report </a:t>
            </a:r>
            <a:r>
              <a:rPr lang="en-IN" sz="2400" dirty="0"/>
              <a:t>(e.g., monthly sales report)</a:t>
            </a:r>
          </a:p>
          <a:p>
            <a:pPr lvl="1">
              <a:spcBef>
                <a:spcPts val="1500"/>
              </a:spcBef>
              <a:buSzPct val="100000"/>
            </a:pPr>
            <a:r>
              <a:rPr lang="en-IN" sz="2400" b="1" dirty="0"/>
              <a:t>Query</a:t>
            </a:r>
            <a:r>
              <a:rPr lang="en-IN" sz="2400" dirty="0"/>
              <a:t> (question for specific information in a database, e.g., Which division had the most sales for the month?)</a:t>
            </a:r>
          </a:p>
        </p:txBody>
      </p:sp>
    </p:spTree>
    <p:extLst>
      <p:ext uri="{BB962C8B-B14F-4D97-AF65-F5344CB8AC3E}">
        <p14:creationId xmlns:p14="http://schemas.microsoft.com/office/powerpoint/2010/main" val="697565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ouple of cups of coffee on a saucer&#10;&#10;Description automatically generated with low confidence">
            <a:extLst>
              <a:ext uri="{FF2B5EF4-FFF2-40B4-BE49-F238E27FC236}">
                <a16:creationId xmlns:a16="http://schemas.microsoft.com/office/drawing/2014/main" id="{C1383C84-6D6A-49BD-8123-CCBC5BF8A6A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900944" y="1410984"/>
            <a:ext cx="2799627" cy="3846816"/>
          </a:xfrm>
          <a:prstGeom prst="rect">
            <a:avLst/>
          </a:prstGeom>
        </p:spPr>
      </p:pic>
      <p:sp>
        <p:nvSpPr>
          <p:cNvPr id="7" name="TextBox 6">
            <a:extLst>
              <a:ext uri="{FF2B5EF4-FFF2-40B4-BE49-F238E27FC236}">
                <a16:creationId xmlns:a16="http://schemas.microsoft.com/office/drawing/2014/main" id="{862B98E6-749F-43F2-AAA5-42B00E4C56D4}"/>
              </a:ext>
            </a:extLst>
          </p:cNvPr>
          <p:cNvSpPr txBox="1"/>
          <p:nvPr/>
        </p:nvSpPr>
        <p:spPr>
          <a:xfrm>
            <a:off x="5900944" y="5356132"/>
            <a:ext cx="4991100" cy="230832"/>
          </a:xfrm>
          <a:prstGeom prst="rect">
            <a:avLst/>
          </a:prstGeom>
          <a:noFill/>
        </p:spPr>
        <p:txBody>
          <a:bodyPr wrap="square" rtlCol="0">
            <a:spAutoFit/>
          </a:bodyPr>
          <a:lstStyle/>
          <a:p>
            <a:r>
              <a:rPr lang="en-US" sz="900" dirty="0">
                <a:hlinkClick r:id="rId3" tooltip="https://www.becentsable.net/2015/01/peets-coffee-coupon.html/"/>
              </a:rPr>
              <a:t>This Photo</a:t>
            </a:r>
            <a:r>
              <a:rPr lang="en-US" sz="900" dirty="0"/>
              <a:t> by Unknown Author is licensed under </a:t>
            </a:r>
            <a:r>
              <a:rPr lang="en-US" sz="900" dirty="0">
                <a:hlinkClick r:id="rId4" tooltip="https://creativecommons.org/licenses/by/3.0/"/>
              </a:rPr>
              <a:t>CC BY</a:t>
            </a:r>
            <a:endParaRPr lang="en-US" sz="900" dirty="0"/>
          </a:p>
        </p:txBody>
      </p:sp>
      <p:sp>
        <p:nvSpPr>
          <p:cNvPr id="8" name="Title 7">
            <a:extLst>
              <a:ext uri="{FF2B5EF4-FFF2-40B4-BE49-F238E27FC236}">
                <a16:creationId xmlns:a16="http://schemas.microsoft.com/office/drawing/2014/main" id="{76E42A20-98E2-41F5-A670-4EF51C20A9AB}"/>
              </a:ext>
            </a:extLst>
          </p:cNvPr>
          <p:cNvSpPr>
            <a:spLocks noGrp="1"/>
          </p:cNvSpPr>
          <p:nvPr>
            <p:ph type="title"/>
          </p:nvPr>
        </p:nvSpPr>
        <p:spPr>
          <a:xfrm>
            <a:off x="470971" y="459358"/>
            <a:ext cx="8229600" cy="553998"/>
          </a:xfrm>
        </p:spPr>
        <p:txBody>
          <a:bodyPr/>
          <a:lstStyle/>
          <a:p>
            <a:r>
              <a:rPr lang="en-US" dirty="0"/>
              <a:t>ABC End of Month Entries (part 4)</a:t>
            </a:r>
          </a:p>
        </p:txBody>
      </p:sp>
      <p:sp>
        <p:nvSpPr>
          <p:cNvPr id="9" name="Content Placeholder 8">
            <a:extLst>
              <a:ext uri="{FF2B5EF4-FFF2-40B4-BE49-F238E27FC236}">
                <a16:creationId xmlns:a16="http://schemas.microsoft.com/office/drawing/2014/main" id="{E31E153B-3F71-41FC-B4EC-F3F6BA2A6E2D}"/>
              </a:ext>
            </a:extLst>
          </p:cNvPr>
          <p:cNvSpPr>
            <a:spLocks noGrp="1"/>
          </p:cNvSpPr>
          <p:nvPr>
            <p:ph idx="1"/>
          </p:nvPr>
        </p:nvSpPr>
        <p:spPr>
          <a:xfrm>
            <a:off x="457200" y="1410984"/>
            <a:ext cx="5181600" cy="4555093"/>
          </a:xfrm>
        </p:spPr>
        <p:txBody>
          <a:bodyPr/>
          <a:lstStyle/>
          <a:p>
            <a:r>
              <a:rPr lang="en-US" sz="1100" dirty="0"/>
              <a:t>Coffee Mug Sales</a:t>
            </a:r>
          </a:p>
          <a:p>
            <a:pPr lvl="1"/>
            <a:r>
              <a:rPr lang="en-US" sz="1100" dirty="0"/>
              <a:t>Sales are made via a 3</a:t>
            </a:r>
            <a:r>
              <a:rPr lang="en-US" sz="1100" baseline="30000" dirty="0"/>
              <a:t>rd</a:t>
            </a:r>
            <a:r>
              <a:rPr lang="en-US" sz="1100" dirty="0"/>
              <a:t> party eCommerce website.</a:t>
            </a:r>
          </a:p>
          <a:p>
            <a:pPr lvl="1"/>
            <a:r>
              <a:rPr lang="en-US" sz="1100" dirty="0"/>
              <a:t>Mugs are automatically shipped from distributor to customer without any company interaction. </a:t>
            </a:r>
          </a:p>
          <a:p>
            <a:pPr lvl="1"/>
            <a:r>
              <a:rPr lang="en-US" sz="1100" dirty="0"/>
              <a:t>Payments are made with a credit card at time of sale</a:t>
            </a:r>
          </a:p>
          <a:p>
            <a:pPr lvl="1"/>
            <a:r>
              <a:rPr lang="en-US" sz="1100" dirty="0"/>
              <a:t>To limit fraud, new customers are limited to 10 orders per month. </a:t>
            </a:r>
          </a:p>
          <a:p>
            <a:pPr lvl="1"/>
            <a:r>
              <a:rPr lang="en-US" sz="1100" dirty="0"/>
              <a:t>A manual review of all chargebacks happens every month to identify risk factors.</a:t>
            </a:r>
          </a:p>
          <a:p>
            <a:endParaRPr lang="en-US" dirty="0"/>
          </a:p>
          <a:p>
            <a:r>
              <a:rPr lang="en-US" dirty="0"/>
              <a:t>Identify :</a:t>
            </a:r>
          </a:p>
          <a:p>
            <a:pPr lvl="1"/>
            <a:r>
              <a:rPr lang="en-US" dirty="0"/>
              <a:t>Documents</a:t>
            </a:r>
          </a:p>
          <a:p>
            <a:pPr lvl="1"/>
            <a:r>
              <a:rPr lang="en-US" dirty="0"/>
              <a:t>Reports</a:t>
            </a:r>
          </a:p>
          <a:p>
            <a:pPr lvl="1"/>
            <a:r>
              <a:rPr lang="en-US" dirty="0"/>
              <a:t>Queries</a:t>
            </a:r>
          </a:p>
          <a:p>
            <a:pPr lvl="1"/>
            <a:endParaRPr lang="en-US" dirty="0"/>
          </a:p>
          <a:p>
            <a:pPr lvl="1"/>
            <a:endParaRPr lang="en-US" dirty="0"/>
          </a:p>
        </p:txBody>
      </p:sp>
    </p:spTree>
    <p:extLst>
      <p:ext uri="{BB962C8B-B14F-4D97-AF65-F5344CB8AC3E}">
        <p14:creationId xmlns:p14="http://schemas.microsoft.com/office/powerpoint/2010/main" val="1884044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95946"/>
            <a:ext cx="8229600" cy="1012370"/>
          </a:xfrm>
        </p:spPr>
        <p:txBody>
          <a:bodyPr>
            <a:noAutofit/>
          </a:bodyPr>
          <a:lstStyle/>
          <a:p>
            <a:r>
              <a:rPr lang="en-US" dirty="0">
                <a:latin typeface="+mj-lt"/>
              </a:rPr>
              <a:t>Enterprise Resource Planning (</a:t>
            </a:r>
            <a:r>
              <a:rPr lang="en-US" spc="-400" dirty="0">
                <a:latin typeface="+mj-lt"/>
              </a:rPr>
              <a:t>E R </a:t>
            </a:r>
            <a:r>
              <a:rPr lang="en-US" dirty="0">
                <a:latin typeface="+mj-lt"/>
              </a:rPr>
              <a:t>P) Systems</a:t>
            </a:r>
            <a:endParaRPr lang="en-IN" dirty="0">
              <a:latin typeface="+mj-lt"/>
            </a:endParaRPr>
          </a:p>
        </p:txBody>
      </p:sp>
      <p:sp>
        <p:nvSpPr>
          <p:cNvPr id="2" name="Content Placeholder 1"/>
          <p:cNvSpPr>
            <a:spLocks noGrp="1"/>
          </p:cNvSpPr>
          <p:nvPr>
            <p:ph idx="13"/>
          </p:nvPr>
        </p:nvSpPr>
        <p:spPr>
          <a:xfrm>
            <a:off x="457200" y="1371600"/>
            <a:ext cx="8229600" cy="3276600"/>
          </a:xfrm>
        </p:spPr>
        <p:txBody>
          <a:bodyPr/>
          <a:lstStyle/>
          <a:p>
            <a:pPr>
              <a:buSzPts val="2400"/>
            </a:pPr>
            <a:r>
              <a:rPr lang="en-IN" sz="2400" dirty="0"/>
              <a:t>Integrates activities from the entire organization </a:t>
            </a:r>
          </a:p>
          <a:p>
            <a:pPr lvl="1">
              <a:spcBef>
                <a:spcPts val="1500"/>
              </a:spcBef>
              <a:buSzPts val="2400"/>
            </a:pPr>
            <a:r>
              <a:rPr lang="en-IN" sz="2400" dirty="0"/>
              <a:t>Revenue Cycle</a:t>
            </a:r>
          </a:p>
          <a:p>
            <a:pPr lvl="1">
              <a:spcBef>
                <a:spcPts val="1500"/>
              </a:spcBef>
              <a:buSzPts val="2400"/>
            </a:pPr>
            <a:r>
              <a:rPr lang="en-IN" sz="2400" dirty="0"/>
              <a:t>Expenditure Cycle</a:t>
            </a:r>
          </a:p>
          <a:p>
            <a:pPr lvl="1">
              <a:spcBef>
                <a:spcPts val="1500"/>
              </a:spcBef>
              <a:buSzPts val="2400"/>
            </a:pPr>
            <a:r>
              <a:rPr lang="en-IN" sz="2400" dirty="0"/>
              <a:t>Production Cycle</a:t>
            </a:r>
          </a:p>
          <a:p>
            <a:pPr lvl="1">
              <a:spcBef>
                <a:spcPts val="1500"/>
              </a:spcBef>
              <a:buSzPts val="2400"/>
            </a:pPr>
            <a:r>
              <a:rPr lang="en-IN" sz="2400" dirty="0"/>
              <a:t>H/R Payroll Cycle</a:t>
            </a:r>
          </a:p>
          <a:p>
            <a:pPr lvl="1">
              <a:spcBef>
                <a:spcPts val="1500"/>
              </a:spcBef>
              <a:buSzPts val="2400"/>
            </a:pPr>
            <a:r>
              <a:rPr lang="en-IN" sz="2400" b="1" dirty="0"/>
              <a:t>General Ledger and Reporting System</a:t>
            </a:r>
          </a:p>
        </p:txBody>
      </p:sp>
    </p:spTree>
    <p:extLst>
      <p:ext uri="{BB962C8B-B14F-4D97-AF65-F5344CB8AC3E}">
        <p14:creationId xmlns:p14="http://schemas.microsoft.com/office/powerpoint/2010/main" val="36675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85058"/>
            <a:ext cx="8229600" cy="522516"/>
          </a:xfrm>
        </p:spPr>
        <p:txBody>
          <a:bodyPr>
            <a:noAutofit/>
          </a:bodyPr>
          <a:lstStyle/>
          <a:p>
            <a:r>
              <a:rPr lang="en-US" dirty="0">
                <a:latin typeface="+mj-lt"/>
              </a:rPr>
              <a:t>Advantages of </a:t>
            </a:r>
            <a:r>
              <a:rPr lang="en-US" spc="-400" dirty="0">
                <a:latin typeface="+mj-lt"/>
              </a:rPr>
              <a:t>E R </a:t>
            </a:r>
            <a:r>
              <a:rPr lang="en-US" dirty="0">
                <a:latin typeface="+mj-lt"/>
              </a:rPr>
              <a:t>P System</a:t>
            </a:r>
            <a:endParaRPr lang="en-IN" dirty="0">
              <a:latin typeface="+mj-lt"/>
            </a:endParaRPr>
          </a:p>
        </p:txBody>
      </p:sp>
      <p:sp>
        <p:nvSpPr>
          <p:cNvPr id="2" name="Content Placeholder 1"/>
          <p:cNvSpPr>
            <a:spLocks noGrp="1"/>
          </p:cNvSpPr>
          <p:nvPr>
            <p:ph idx="13"/>
          </p:nvPr>
        </p:nvSpPr>
        <p:spPr>
          <a:xfrm>
            <a:off x="457200" y="925286"/>
            <a:ext cx="8229600" cy="4876800"/>
          </a:xfrm>
        </p:spPr>
        <p:txBody>
          <a:bodyPr/>
          <a:lstStyle/>
          <a:p>
            <a:pPr lvl="0">
              <a:spcBef>
                <a:spcPts val="0"/>
              </a:spcBef>
              <a:buSzPts val="2400"/>
            </a:pPr>
            <a:r>
              <a:rPr lang="en-IN" sz="2400" dirty="0"/>
              <a:t>Integrated enterprise-wide single view of the organization’s data which streamlines the flow of information</a:t>
            </a:r>
          </a:p>
          <a:p>
            <a:pPr lvl="0">
              <a:spcBef>
                <a:spcPts val="500"/>
              </a:spcBef>
              <a:buSzPts val="2400"/>
            </a:pPr>
            <a:r>
              <a:rPr lang="en-IN" sz="2400" dirty="0"/>
              <a:t>Data captured once (i.e., no longer need sales to enter data about a customer and then accounting to enter same customer data for invoicing)</a:t>
            </a:r>
          </a:p>
          <a:p>
            <a:pPr lvl="0">
              <a:spcBef>
                <a:spcPts val="500"/>
              </a:spcBef>
              <a:buSzPts val="2400"/>
            </a:pPr>
            <a:r>
              <a:rPr lang="en-IN" sz="2400" dirty="0"/>
              <a:t>Greater visibility and monitoring capabilities for management</a:t>
            </a:r>
          </a:p>
          <a:p>
            <a:pPr lvl="0">
              <a:spcBef>
                <a:spcPts val="500"/>
              </a:spcBef>
              <a:buSzPts val="2400"/>
            </a:pPr>
            <a:r>
              <a:rPr lang="en-IN" sz="2400" dirty="0"/>
              <a:t>Improve access of control of the data through security settings</a:t>
            </a:r>
          </a:p>
          <a:p>
            <a:pPr lvl="0">
              <a:spcBef>
                <a:spcPts val="500"/>
              </a:spcBef>
              <a:buSzPts val="2400"/>
            </a:pPr>
            <a:r>
              <a:rPr lang="en-IN" sz="2400" dirty="0"/>
              <a:t>Standardization of procedures and reports</a:t>
            </a:r>
          </a:p>
          <a:p>
            <a:pPr lvl="0">
              <a:spcBef>
                <a:spcPts val="500"/>
              </a:spcBef>
              <a:buSzPts val="2400"/>
            </a:pPr>
            <a:r>
              <a:rPr lang="en-IN" sz="2400" dirty="0"/>
              <a:t>Improves customer service</a:t>
            </a:r>
          </a:p>
          <a:p>
            <a:pPr lvl="0">
              <a:spcBef>
                <a:spcPts val="500"/>
              </a:spcBef>
              <a:buSzPts val="2400"/>
            </a:pPr>
            <a:r>
              <a:rPr lang="en-IN" sz="2400" dirty="0"/>
              <a:t>Increases productivity through automation</a:t>
            </a:r>
          </a:p>
        </p:txBody>
      </p:sp>
    </p:spTree>
    <p:extLst>
      <p:ext uri="{BB962C8B-B14F-4D97-AF65-F5344CB8AC3E}">
        <p14:creationId xmlns:p14="http://schemas.microsoft.com/office/powerpoint/2010/main" val="2749812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85058"/>
            <a:ext cx="8229600" cy="522516"/>
          </a:xfrm>
        </p:spPr>
        <p:txBody>
          <a:bodyPr>
            <a:noAutofit/>
          </a:bodyPr>
          <a:lstStyle/>
          <a:p>
            <a:r>
              <a:rPr lang="en-US" dirty="0">
                <a:latin typeface="+mj-lt"/>
              </a:rPr>
              <a:t>Disadvantages of </a:t>
            </a:r>
            <a:r>
              <a:rPr lang="en-US" spc="-350" dirty="0">
                <a:latin typeface="+mj-lt"/>
              </a:rPr>
              <a:t>E R </a:t>
            </a:r>
            <a:r>
              <a:rPr lang="en-US" dirty="0">
                <a:latin typeface="+mj-lt"/>
              </a:rPr>
              <a:t>P System</a:t>
            </a:r>
            <a:endParaRPr lang="en-IN" dirty="0">
              <a:latin typeface="+mj-lt"/>
            </a:endParaRPr>
          </a:p>
        </p:txBody>
      </p:sp>
      <p:sp>
        <p:nvSpPr>
          <p:cNvPr id="2" name="Content Placeholder 1"/>
          <p:cNvSpPr>
            <a:spLocks noGrp="1"/>
          </p:cNvSpPr>
          <p:nvPr>
            <p:ph idx="13"/>
          </p:nvPr>
        </p:nvSpPr>
        <p:spPr>
          <a:xfrm>
            <a:off x="457200" y="925286"/>
            <a:ext cx="8229600" cy="3037114"/>
          </a:xfrm>
        </p:spPr>
        <p:txBody>
          <a:bodyPr/>
          <a:lstStyle/>
          <a:p>
            <a:pPr marL="338138" lvl="0" indent="-255588">
              <a:buSzPts val="2400"/>
            </a:pPr>
            <a:r>
              <a:rPr lang="en-IN" sz="2400" dirty="0"/>
              <a:t>Costly</a:t>
            </a:r>
          </a:p>
          <a:p>
            <a:pPr marL="338138" lvl="0" indent="-255588">
              <a:buSzPts val="2400"/>
            </a:pPr>
            <a:r>
              <a:rPr lang="en-IN" sz="2400" dirty="0"/>
              <a:t>Significant amount of time to implement</a:t>
            </a:r>
          </a:p>
          <a:p>
            <a:pPr marL="338138" lvl="0" indent="-255588">
              <a:buSzPts val="2400"/>
            </a:pPr>
            <a:r>
              <a:rPr lang="en-IN" sz="2400" dirty="0"/>
              <a:t>Customizing or standardizing a business process</a:t>
            </a:r>
          </a:p>
          <a:p>
            <a:pPr marL="338138" lvl="0" indent="-255588">
              <a:buSzPts val="2400"/>
            </a:pPr>
            <a:r>
              <a:rPr lang="en-IN" sz="2400" dirty="0"/>
              <a:t>Complexity </a:t>
            </a:r>
          </a:p>
          <a:p>
            <a:pPr marL="338138" lvl="0" indent="-255588">
              <a:buSzPts val="2400"/>
            </a:pPr>
            <a:r>
              <a:rPr lang="en-IN" sz="2400" dirty="0"/>
              <a:t>User resistance (learning new things is sometimes hard for employees)</a:t>
            </a:r>
          </a:p>
        </p:txBody>
      </p:sp>
    </p:spTree>
    <p:extLst>
      <p:ext uri="{BB962C8B-B14F-4D97-AF65-F5344CB8AC3E}">
        <p14:creationId xmlns:p14="http://schemas.microsoft.com/office/powerpoint/2010/main" val="355877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228600"/>
            <a:ext cx="8229600" cy="474452"/>
          </a:xfrm>
        </p:spPr>
        <p:txBody>
          <a:bodyPr>
            <a:noAutofit/>
          </a:bodyPr>
          <a:lstStyle/>
          <a:p>
            <a:r>
              <a:rPr lang="en-US" dirty="0">
                <a:latin typeface="+mj-lt"/>
              </a:rPr>
              <a:t>Key Terms</a:t>
            </a:r>
            <a:endParaRPr lang="en-IN" dirty="0">
              <a:latin typeface="+mj-lt"/>
            </a:endParaRPr>
          </a:p>
        </p:txBody>
      </p:sp>
      <p:sp>
        <p:nvSpPr>
          <p:cNvPr id="6" name="TextBox 5">
            <a:extLst>
              <a:ext uri="{FF2B5EF4-FFF2-40B4-BE49-F238E27FC236}">
                <a16:creationId xmlns:a16="http://schemas.microsoft.com/office/drawing/2014/main" id="{B9827233-6383-4C22-A357-A559E5CAB713}"/>
              </a:ext>
            </a:extLst>
          </p:cNvPr>
          <p:cNvSpPr txBox="1"/>
          <p:nvPr/>
        </p:nvSpPr>
        <p:spPr>
          <a:xfrm>
            <a:off x="381000" y="3105834"/>
            <a:ext cx="8218714" cy="646331"/>
          </a:xfrm>
          <a:prstGeom prst="rect">
            <a:avLst/>
          </a:prstGeom>
          <a:noFill/>
        </p:spPr>
        <p:txBody>
          <a:bodyPr wrap="square">
            <a:spAutoFit/>
          </a:bodyPr>
          <a:lstStyle/>
          <a:p>
            <a:r>
              <a:rPr lang="en-US" dirty="0">
                <a:hlinkClick r:id="rId3"/>
              </a:rPr>
              <a:t>https://quizlet.com/760658523/ais-chapter-2-master-v-transaction-file-examples-flash-cards</a:t>
            </a:r>
            <a:r>
              <a:rPr lang="en-US" dirty="0"/>
              <a:t> </a:t>
            </a:r>
          </a:p>
        </p:txBody>
      </p:sp>
      <p:sp>
        <p:nvSpPr>
          <p:cNvPr id="12" name="TextBox 11">
            <a:extLst>
              <a:ext uri="{FF2B5EF4-FFF2-40B4-BE49-F238E27FC236}">
                <a16:creationId xmlns:a16="http://schemas.microsoft.com/office/drawing/2014/main" id="{8B041E05-99D4-41E6-AA47-F50F7D01AF27}"/>
              </a:ext>
            </a:extLst>
          </p:cNvPr>
          <p:cNvSpPr txBox="1"/>
          <p:nvPr/>
        </p:nvSpPr>
        <p:spPr>
          <a:xfrm>
            <a:off x="370114" y="2485685"/>
            <a:ext cx="7848600" cy="369332"/>
          </a:xfrm>
          <a:prstGeom prst="rect">
            <a:avLst/>
          </a:prstGeom>
          <a:noFill/>
        </p:spPr>
        <p:txBody>
          <a:bodyPr wrap="square">
            <a:spAutoFit/>
          </a:bodyPr>
          <a:lstStyle/>
          <a:p>
            <a:r>
              <a:rPr lang="en-US" dirty="0">
                <a:hlinkClick r:id="rId4"/>
              </a:rPr>
              <a:t>https://quizlet.com/653892696/ais-chapter-2-terms-flash-cards/</a:t>
            </a:r>
            <a:r>
              <a:rPr lang="en-US" dirty="0"/>
              <a:t> </a:t>
            </a:r>
          </a:p>
        </p:txBody>
      </p:sp>
    </p:spTree>
    <p:extLst>
      <p:ext uri="{BB962C8B-B14F-4D97-AF65-F5344CB8AC3E}">
        <p14:creationId xmlns:p14="http://schemas.microsoft.com/office/powerpoint/2010/main" val="145409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732"/>
            <a:ext cx="8229600" cy="553998"/>
          </a:xfrm>
        </p:spPr>
        <p:txBody>
          <a:bodyPr wrap="square">
            <a:spAutoFit/>
          </a:bodyPr>
          <a:lstStyle/>
          <a:p>
            <a:r>
              <a:rPr lang="en-US" sz="3600" dirty="0">
                <a:latin typeface="+mj-lt"/>
              </a:rPr>
              <a:t>Copyright</a:t>
            </a:r>
            <a:endParaRPr lang="en-US" sz="3600" b="0" dirty="0">
              <a:latin typeface="+mj-lt"/>
            </a:endParaRPr>
          </a:p>
        </p:txBody>
      </p:sp>
      <p:pic>
        <p:nvPicPr>
          <p:cNvPr id="10" name="Picture Placeholder 9" descr="Warning">
            <a:extLst>
              <a:ext uri="{FF2B5EF4-FFF2-40B4-BE49-F238E27FC236}">
                <a16:creationId xmlns:a16="http://schemas.microsoft.com/office/drawing/2014/main" id="{916ED080-4A7D-4795-B4C6-665358BE6EAE}"/>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tretch>
            <a:fillRect/>
          </a:stretch>
        </p:blipFill>
        <p:spPr>
          <a:xfrm>
            <a:off x="557060" y="2286000"/>
            <a:ext cx="1347940" cy="1347940"/>
          </a:xfrm>
          <a:prstGeom prst="rect">
            <a:avLst/>
          </a:prstGeom>
        </p:spPr>
      </p:pic>
      <p:sp>
        <p:nvSpPr>
          <p:cNvPr id="3" name="Content Placeholder 2">
            <a:extLst>
              <a:ext uri="{FF2B5EF4-FFF2-40B4-BE49-F238E27FC236}">
                <a16:creationId xmlns:a16="http://schemas.microsoft.com/office/drawing/2014/main" id="{DF9C7A11-9888-4F7B-B711-91904077BD8C}"/>
              </a:ext>
            </a:extLst>
          </p:cNvPr>
          <p:cNvSpPr>
            <a:spLocks noGrp="1"/>
          </p:cNvSpPr>
          <p:nvPr>
            <p:ph idx="1"/>
          </p:nvPr>
        </p:nvSpPr>
        <p:spPr>
          <a:xfrm>
            <a:off x="2277035" y="1609165"/>
            <a:ext cx="6400800" cy="3262432"/>
          </a:xfrm>
          <a:ln w="28575">
            <a:solidFill>
              <a:schemeClr val="tx1"/>
            </a:solidFill>
          </a:ln>
        </p:spPr>
        <p:txBody>
          <a:bodyPr lIns="274320" tIns="274320" rIns="274320" bIns="274320"/>
          <a:lstStyle/>
          <a:p>
            <a:pPr marL="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651771386"/>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25212</TotalTime>
  <Words>2992</Words>
  <Application>Microsoft Macintosh PowerPoint</Application>
  <PresentationFormat>On-screen Show (4:3)</PresentationFormat>
  <Paragraphs>218</Paragraphs>
  <Slides>22</Slides>
  <Notes>17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22</vt:i4>
      </vt:variant>
    </vt:vector>
  </HeadingPairs>
  <TitlesOfParts>
    <vt:vector size="30" baseType="lpstr">
      <vt:lpstr>Arial</vt:lpstr>
      <vt:lpstr>Arial(Body)</vt:lpstr>
      <vt:lpstr>Noto Sans Symbols</vt:lpstr>
      <vt:lpstr>Times New Roman</vt:lpstr>
      <vt:lpstr>Verdana</vt:lpstr>
      <vt:lpstr>Wingdings</vt:lpstr>
      <vt:lpstr>508 Lecture</vt:lpstr>
      <vt:lpstr>1_508 Lecture</vt:lpstr>
      <vt:lpstr>Accounting Information Systems</vt:lpstr>
      <vt:lpstr>Learning Objectives</vt:lpstr>
      <vt:lpstr>Figure 2.1 The Data Processing Cycle</vt:lpstr>
      <vt:lpstr>Accounting Cycle</vt:lpstr>
      <vt:lpstr>Data Input</vt:lpstr>
      <vt:lpstr>Data Capture</vt:lpstr>
      <vt:lpstr>Source Documents</vt:lpstr>
      <vt:lpstr>ABC End of Month Entries (part 1)</vt:lpstr>
      <vt:lpstr>Data Storage</vt:lpstr>
      <vt:lpstr>Coding Techniques</vt:lpstr>
      <vt:lpstr>Figure 2.2 Recording and Posting a Credit Sale</vt:lpstr>
      <vt:lpstr>Figure 2.3 Data Storage Elements</vt:lpstr>
      <vt:lpstr>ABC End of Month Entries (part 2)</vt:lpstr>
      <vt:lpstr>Data Processing</vt:lpstr>
      <vt:lpstr>ABC End of Month Entries (part 3)</vt:lpstr>
      <vt:lpstr>Information Output</vt:lpstr>
      <vt:lpstr>ABC End of Month Entries (part 4)</vt:lpstr>
      <vt:lpstr>Enterprise Resource Planning (E R P) Systems</vt:lpstr>
      <vt:lpstr>Advantages of E R P System</vt:lpstr>
      <vt:lpstr>Disadvantages of E R P System</vt:lpstr>
      <vt:lpstr>Key Terms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Information Systems, Fifteenth Edition, Chapter 2, Overview of Transaction Processing and Enterprise Resource Planning Systems</dc:title>
  <dc:subject/>
  <dc:creator>Romney</dc:creator>
  <cp:keywords>Automotive</cp:keywords>
  <cp:lastModifiedBy>Nathan Garrett</cp:lastModifiedBy>
  <cp:revision>4953</cp:revision>
  <dcterms:created xsi:type="dcterms:W3CDTF">2014-07-14T20:04:21Z</dcterms:created>
  <dcterms:modified xsi:type="dcterms:W3CDTF">2026-01-20T12:56:51Z</dcterms:modified>
</cp:coreProperties>
</file>